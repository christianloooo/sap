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89ca9088054baf" /><Relationship Type="http://schemas.openxmlformats.org/officeDocument/2006/relationships/extended-properties" Target="/docProps/app.xml" Id="Rd814a2e275d04aa3" /><Relationship Type="http://schemas.openxmlformats.org/officeDocument/2006/relationships/officeDocument" Target="/ppt/presentation.xml" Id="R76f6c5ad753b4e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60d1e6ffe44036"/>
  </p:sldMasterIdLst>
  <p:notesMasterIdLst>
    <p:notesMasterId xmlns:r="http://schemas.openxmlformats.org/officeDocument/2006/relationships" r:id="Rcf48daf0263d4c8f"/>
  </p:notesMasterIdLst>
  <p:sldIdLst>
    <p:sldId xmlns:r="http://schemas.openxmlformats.org/officeDocument/2006/relationships" id="256" r:id="Rcb1debcbe73d41d8"/>
    <p:sldId xmlns:r="http://schemas.openxmlformats.org/officeDocument/2006/relationships" id="257" r:id="R8b4a44f0e76d4d9d"/>
    <p:sldId xmlns:r="http://schemas.openxmlformats.org/officeDocument/2006/relationships" id="258" r:id="R4aeb952ff5634038"/>
    <p:sldId xmlns:r="http://schemas.openxmlformats.org/officeDocument/2006/relationships" id="259" r:id="R1cdbed6d6a8649e2"/>
    <p:sldId xmlns:r="http://schemas.openxmlformats.org/officeDocument/2006/relationships" id="260" r:id="R6c135f06acde4d5d"/>
    <p:sldId xmlns:r="http://schemas.openxmlformats.org/officeDocument/2006/relationships" id="261" r:id="Ra57c64bb477542c5"/>
    <p:sldId xmlns:r="http://schemas.openxmlformats.org/officeDocument/2006/relationships" id="262" r:id="R5527d0b18ae04397"/>
    <p:sldId xmlns:r="http://schemas.openxmlformats.org/officeDocument/2006/relationships" id="263" r:id="R3bae032fa94a4366"/>
    <p:sldId xmlns:r="http://schemas.openxmlformats.org/officeDocument/2006/relationships" id="264" r:id="R9de5aa2e47ea4ec1"/>
    <p:sldId xmlns:r="http://schemas.openxmlformats.org/officeDocument/2006/relationships" id="265" r:id="R071d29c708054c01"/>
    <p:sldId xmlns:r="http://schemas.openxmlformats.org/officeDocument/2006/relationships" id="266" r:id="R303f958324bd4741"/>
    <p:sldId xmlns:r="http://schemas.openxmlformats.org/officeDocument/2006/relationships" id="267" r:id="Re5dbc66fcfd04848"/>
    <p:sldId xmlns:r="http://schemas.openxmlformats.org/officeDocument/2006/relationships" id="268" r:id="R839f4c1ee1694ac5"/>
    <p:sldId xmlns:r="http://schemas.openxmlformats.org/officeDocument/2006/relationships" id="269" r:id="R0902d6fc332c4d20"/>
    <p:sldId xmlns:r="http://schemas.openxmlformats.org/officeDocument/2006/relationships" id="270" r:id="R27c8512d16b84589"/>
    <p:sldId xmlns:r="http://schemas.openxmlformats.org/officeDocument/2006/relationships" id="271" r:id="R0aaf4b66bad8473a"/>
    <p:sldId xmlns:r="http://schemas.openxmlformats.org/officeDocument/2006/relationships" id="272" r:id="R5f9d39504b994869"/>
    <p:sldId xmlns:r="http://schemas.openxmlformats.org/officeDocument/2006/relationships" id="273" r:id="R84de522e72754dce"/>
    <p:sldId xmlns:r="http://schemas.openxmlformats.org/officeDocument/2006/relationships" id="274" r:id="R48176ca1b3b2404a"/>
    <p:sldId xmlns:r="http://schemas.openxmlformats.org/officeDocument/2006/relationships" id="275" r:id="Rfc595a7cac224776"/>
    <p:sldId xmlns:r="http://schemas.openxmlformats.org/officeDocument/2006/relationships" id="276" r:id="R7963432b4b054539"/>
    <p:sldId xmlns:r="http://schemas.openxmlformats.org/officeDocument/2006/relationships" id="277" r:id="R9e5f922fd9b845e0"/>
    <p:sldId xmlns:r="http://schemas.openxmlformats.org/officeDocument/2006/relationships" id="278" r:id="R5bb04c9364c74991"/>
    <p:sldId xmlns:r="http://schemas.openxmlformats.org/officeDocument/2006/relationships" id="279" r:id="R38c12bc50c1e472d"/>
    <p:sldId xmlns:r="http://schemas.openxmlformats.org/officeDocument/2006/relationships" id="280" r:id="R9d47c846cbf44776"/>
    <p:sldId xmlns:r="http://schemas.openxmlformats.org/officeDocument/2006/relationships" id="281" r:id="Rafc8ab0ebb2d4c0c"/>
    <p:sldId xmlns:r="http://schemas.openxmlformats.org/officeDocument/2006/relationships" id="282" r:id="Rf7109a45cc554ae8"/>
    <p:sldId xmlns:r="http://schemas.openxmlformats.org/officeDocument/2006/relationships" id="283" r:id="R780b319df54e4589"/>
    <p:sldId xmlns:r="http://schemas.openxmlformats.org/officeDocument/2006/relationships" id="284" r:id="R920007aee74f4d64"/>
    <p:sldId xmlns:r="http://schemas.openxmlformats.org/officeDocument/2006/relationships" id="285" r:id="R27ad06328b4c4988"/>
    <p:sldId xmlns:r="http://schemas.openxmlformats.org/officeDocument/2006/relationships" id="286" r:id="R8195ee23af8946ef"/>
    <p:sldId xmlns:r="http://schemas.openxmlformats.org/officeDocument/2006/relationships" id="287" r:id="R95f360b6521840ea"/>
    <p:sldId xmlns:r="http://schemas.openxmlformats.org/officeDocument/2006/relationships" id="288" r:id="Rebcec19df3e740c2"/>
    <p:sldId xmlns:r="http://schemas.openxmlformats.org/officeDocument/2006/relationships" id="289" r:id="R41e6856cfd5d4b42"/>
    <p:sldId xmlns:r="http://schemas.openxmlformats.org/officeDocument/2006/relationships" id="290" r:id="R327043096f7f4407"/>
    <p:sldId xmlns:r="http://schemas.openxmlformats.org/officeDocument/2006/relationships" id="291" r:id="Rb7b338bad40449e8"/>
    <p:sldId xmlns:r="http://schemas.openxmlformats.org/officeDocument/2006/relationships" id="292" r:id="R1ad0cc9128894746"/>
    <p:sldId xmlns:r="http://schemas.openxmlformats.org/officeDocument/2006/relationships" id="293" r:id="R048e9c46377b477b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4cc4e21d8d4a5f" /><Relationship Type="http://schemas.openxmlformats.org/officeDocument/2006/relationships/slideMaster" Target="/ppt/slideMasters/slideMaster1.xml" Id="R1b60d1e6ffe44036" /><Relationship Type="http://schemas.openxmlformats.org/officeDocument/2006/relationships/notesMaster" Target="/ppt/notesMasters/notesMaster1.xml" Id="Rcf48daf0263d4c8f" /><Relationship Type="http://schemas.openxmlformats.org/officeDocument/2006/relationships/presProps" Target="/ppt/presProps.xml" Id="R5ac042903a81449c" /><Relationship Type="http://schemas.openxmlformats.org/officeDocument/2006/relationships/tableStyles" Target="/ppt/tableStyles.xml" Id="R40ee743df1614c1e" /><Relationship Type="http://schemas.openxmlformats.org/officeDocument/2006/relationships/slide" Target="/ppt/slides/slide1.xml" Id="Rcb1debcbe73d41d8" /><Relationship Type="http://schemas.openxmlformats.org/officeDocument/2006/relationships/slide" Target="/ppt/slides/slide2.xml" Id="R8b4a44f0e76d4d9d" /><Relationship Type="http://schemas.openxmlformats.org/officeDocument/2006/relationships/slide" Target="/ppt/slides/slide3.xml" Id="R4aeb952ff5634038" /><Relationship Type="http://schemas.openxmlformats.org/officeDocument/2006/relationships/slide" Target="/ppt/slides/slide4.xml" Id="R1cdbed6d6a8649e2" /><Relationship Type="http://schemas.openxmlformats.org/officeDocument/2006/relationships/slide" Target="/ppt/slides/slide5.xml" Id="R6c135f06acde4d5d" /><Relationship Type="http://schemas.openxmlformats.org/officeDocument/2006/relationships/slide" Target="/ppt/slides/slide6.xml" Id="Ra57c64bb477542c5" /><Relationship Type="http://schemas.openxmlformats.org/officeDocument/2006/relationships/slide" Target="/ppt/slides/slide7.xml" Id="R5527d0b18ae04397" /><Relationship Type="http://schemas.openxmlformats.org/officeDocument/2006/relationships/slide" Target="/ppt/slides/slide8.xml" Id="R3bae032fa94a4366" /><Relationship Type="http://schemas.openxmlformats.org/officeDocument/2006/relationships/slide" Target="/ppt/slides/slide9.xml" Id="R9de5aa2e47ea4ec1" /><Relationship Type="http://schemas.openxmlformats.org/officeDocument/2006/relationships/slide" Target="/ppt/slides/slide10.xml" Id="R071d29c708054c01" /><Relationship Type="http://schemas.openxmlformats.org/officeDocument/2006/relationships/slide" Target="/ppt/slides/slide11.xml" Id="R303f958324bd4741" /><Relationship Type="http://schemas.openxmlformats.org/officeDocument/2006/relationships/slide" Target="/ppt/slides/slide12.xml" Id="Re5dbc66fcfd04848" /><Relationship Type="http://schemas.openxmlformats.org/officeDocument/2006/relationships/slide" Target="/ppt/slides/slide13.xml" Id="R839f4c1ee1694ac5" /><Relationship Type="http://schemas.openxmlformats.org/officeDocument/2006/relationships/slide" Target="/ppt/slides/slide14.xml" Id="R0902d6fc332c4d20" /><Relationship Type="http://schemas.openxmlformats.org/officeDocument/2006/relationships/slide" Target="/ppt/slides/slide15.xml" Id="R27c8512d16b84589" /><Relationship Type="http://schemas.openxmlformats.org/officeDocument/2006/relationships/slide" Target="/ppt/slides/slide16.xml" Id="R0aaf4b66bad8473a" /><Relationship Type="http://schemas.openxmlformats.org/officeDocument/2006/relationships/slide" Target="/ppt/slides/slide17.xml" Id="R5f9d39504b994869" /><Relationship Type="http://schemas.openxmlformats.org/officeDocument/2006/relationships/slide" Target="/ppt/slides/slide18.xml" Id="R84de522e72754dce" /><Relationship Type="http://schemas.openxmlformats.org/officeDocument/2006/relationships/slide" Target="/ppt/slides/slide19.xml" Id="R48176ca1b3b2404a" /><Relationship Type="http://schemas.openxmlformats.org/officeDocument/2006/relationships/slide" Target="/ppt/slides/slide20.xml" Id="Rfc595a7cac224776" /><Relationship Type="http://schemas.openxmlformats.org/officeDocument/2006/relationships/slide" Target="/ppt/slides/slide21.xml" Id="R7963432b4b054539" /><Relationship Type="http://schemas.openxmlformats.org/officeDocument/2006/relationships/slide" Target="/ppt/slides/slide22.xml" Id="R9e5f922fd9b845e0" /><Relationship Type="http://schemas.openxmlformats.org/officeDocument/2006/relationships/slide" Target="/ppt/slides/slide23.xml" Id="R5bb04c9364c74991" /><Relationship Type="http://schemas.openxmlformats.org/officeDocument/2006/relationships/slide" Target="/ppt/slides/slide24.xml" Id="R38c12bc50c1e472d" /><Relationship Type="http://schemas.openxmlformats.org/officeDocument/2006/relationships/slide" Target="/ppt/slides/slide25.xml" Id="R9d47c846cbf44776" /><Relationship Type="http://schemas.openxmlformats.org/officeDocument/2006/relationships/slide" Target="/ppt/slides/slide26.xml" Id="Rafc8ab0ebb2d4c0c" /><Relationship Type="http://schemas.openxmlformats.org/officeDocument/2006/relationships/slide" Target="/ppt/slides/slide27.xml" Id="Rf7109a45cc554ae8" /><Relationship Type="http://schemas.openxmlformats.org/officeDocument/2006/relationships/slide" Target="/ppt/slides/slide28.xml" Id="R780b319df54e4589" /><Relationship Type="http://schemas.openxmlformats.org/officeDocument/2006/relationships/slide" Target="/ppt/slides/slide29.xml" Id="R920007aee74f4d64" /><Relationship Type="http://schemas.openxmlformats.org/officeDocument/2006/relationships/slide" Target="/ppt/slides/slide30.xml" Id="R27ad06328b4c4988" /><Relationship Type="http://schemas.openxmlformats.org/officeDocument/2006/relationships/slide" Target="/ppt/slides/slide31.xml" Id="R8195ee23af8946ef" /><Relationship Type="http://schemas.openxmlformats.org/officeDocument/2006/relationships/slide" Target="/ppt/slides/slide32.xml" Id="R95f360b6521840ea" /><Relationship Type="http://schemas.openxmlformats.org/officeDocument/2006/relationships/slide" Target="/ppt/slides/slide33.xml" Id="Rebcec19df3e740c2" /><Relationship Type="http://schemas.openxmlformats.org/officeDocument/2006/relationships/slide" Target="/ppt/slides/slide34.xml" Id="R41e6856cfd5d4b42" /><Relationship Type="http://schemas.openxmlformats.org/officeDocument/2006/relationships/slide" Target="/ppt/slides/slide35.xml" Id="R327043096f7f4407" /><Relationship Type="http://schemas.openxmlformats.org/officeDocument/2006/relationships/slide" Target="/ppt/slides/slide36.xml" Id="Rb7b338bad40449e8" /><Relationship Type="http://schemas.openxmlformats.org/officeDocument/2006/relationships/slide" Target="/ppt/slides/slide37.xml" Id="R1ad0cc9128894746" /><Relationship Type="http://schemas.openxmlformats.org/officeDocument/2006/relationships/slide" Target="/ppt/slides/slide38.xml" Id="R048e9c46377b47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806aea3c4945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d28c95abd44922" /><Relationship Type="http://schemas.openxmlformats.org/officeDocument/2006/relationships/notesMaster" Target="/ppt/notesMasters/notesMaster1.xml" Id="Rf05beca99aba4f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0609c811cf447f" /><Relationship Type="http://schemas.openxmlformats.org/officeDocument/2006/relationships/notesMaster" Target="/ppt/notesMasters/notesMaster1.xml" Id="R115a96606d5844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9ad287effa4b4b" /><Relationship Type="http://schemas.openxmlformats.org/officeDocument/2006/relationships/notesMaster" Target="/ppt/notesMasters/notesMaster1.xml" Id="Rb953519b634944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04c51b8b514331" /><Relationship Type="http://schemas.openxmlformats.org/officeDocument/2006/relationships/notesMaster" Target="/ppt/notesMasters/notesMaster1.xml" Id="Rc6a4118e7e4e46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dcb4d3bf4c4c7d" /><Relationship Type="http://schemas.openxmlformats.org/officeDocument/2006/relationships/notesMaster" Target="/ppt/notesMasters/notesMaster1.xml" Id="Rb5861c05e19c49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6b3ed1ce014aec" /><Relationship Type="http://schemas.openxmlformats.org/officeDocument/2006/relationships/notesMaster" Target="/ppt/notesMasters/notesMaster1.xml" Id="R00d90122e71943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13b9f8da994686" /><Relationship Type="http://schemas.openxmlformats.org/officeDocument/2006/relationships/notesMaster" Target="/ppt/notesMasters/notesMaster1.xml" Id="Rca21782d27b34c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8ea0d1c043402a" /><Relationship Type="http://schemas.openxmlformats.org/officeDocument/2006/relationships/notesMaster" Target="/ppt/notesMasters/notesMaster1.xml" Id="R0009451245a541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61ba6d912b4a9f" /><Relationship Type="http://schemas.openxmlformats.org/officeDocument/2006/relationships/notesMaster" Target="/ppt/notesMasters/notesMaster1.xml" Id="Rdf5e7e7d4bfa42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7764f7ad1f4b04" /><Relationship Type="http://schemas.openxmlformats.org/officeDocument/2006/relationships/notesMaster" Target="/ppt/notesMasters/notesMaster1.xml" Id="Rda73f5af686740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1e789ba1f1473b" /><Relationship Type="http://schemas.openxmlformats.org/officeDocument/2006/relationships/notesMaster" Target="/ppt/notesMasters/notesMaster1.xml" Id="R5e33f602137245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b1aaabdafd4bfb" /><Relationship Type="http://schemas.openxmlformats.org/officeDocument/2006/relationships/notesMaster" Target="/ppt/notesMasters/notesMaster1.xml" Id="R8737ec3039ff43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81f999974d4a4e" /><Relationship Type="http://schemas.openxmlformats.org/officeDocument/2006/relationships/notesMaster" Target="/ppt/notesMasters/notesMaster1.xml" Id="R1e4a4e67220949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aeffc0b26b4bac" /><Relationship Type="http://schemas.openxmlformats.org/officeDocument/2006/relationships/notesMaster" Target="/ppt/notesMasters/notesMaster1.xml" Id="R96c21529cb7848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052eadaef345fa" /><Relationship Type="http://schemas.openxmlformats.org/officeDocument/2006/relationships/notesMaster" Target="/ppt/notesMasters/notesMaster1.xml" Id="R6aabd592085146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ef7b6c31944ce1" /><Relationship Type="http://schemas.openxmlformats.org/officeDocument/2006/relationships/notesMaster" Target="/ppt/notesMasters/notesMaster1.xml" Id="Ra63113f1df1b41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f8006ba77441f2" /><Relationship Type="http://schemas.openxmlformats.org/officeDocument/2006/relationships/notesMaster" Target="/ppt/notesMasters/notesMaster1.xml" Id="R119bce2296734d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912328c5d34b02" /><Relationship Type="http://schemas.openxmlformats.org/officeDocument/2006/relationships/notesMaster" Target="/ppt/notesMasters/notesMaster1.xml" Id="R7cd37068708c47f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788c8eea594229" /><Relationship Type="http://schemas.openxmlformats.org/officeDocument/2006/relationships/notesMaster" Target="/ppt/notesMasters/notesMaster1.xml" Id="Rf77967ec93f249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cb167796f24536" /><Relationship Type="http://schemas.openxmlformats.org/officeDocument/2006/relationships/notesMaster" Target="/ppt/notesMasters/notesMaster1.xml" Id="R86d5630eebd248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0875fb801034b42" /><Relationship Type="http://schemas.openxmlformats.org/officeDocument/2006/relationships/notesMaster" Target="/ppt/notesMasters/notesMaster1.xml" Id="R191af6b47d7946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35df9608c246f5" /><Relationship Type="http://schemas.openxmlformats.org/officeDocument/2006/relationships/notesMaster" Target="/ppt/notesMasters/notesMaster1.xml" Id="R620bb4ea3e8f4f8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4205181b5343cc" /><Relationship Type="http://schemas.openxmlformats.org/officeDocument/2006/relationships/notesMaster" Target="/ppt/notesMasters/notesMaster1.xml" Id="R6ffd8e558da14a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e3f8b32f033419b" /><Relationship Type="http://schemas.openxmlformats.org/officeDocument/2006/relationships/notesMaster" Target="/ppt/notesMasters/notesMaster1.xml" Id="R888877d49bdf4ba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ed73a2f2aa4317" /><Relationship Type="http://schemas.openxmlformats.org/officeDocument/2006/relationships/notesMaster" Target="/ppt/notesMasters/notesMaster1.xml" Id="Ree930f5946a040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7938fd7d610444e" /><Relationship Type="http://schemas.openxmlformats.org/officeDocument/2006/relationships/notesMaster" Target="/ppt/notesMasters/notesMaster1.xml" Id="R717d8e67a639459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b4eef859caa4b7f" /><Relationship Type="http://schemas.openxmlformats.org/officeDocument/2006/relationships/notesMaster" Target="/ppt/notesMasters/notesMaster1.xml" Id="R3ef8bd6cfd4040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e103a2957f436c" /><Relationship Type="http://schemas.openxmlformats.org/officeDocument/2006/relationships/notesMaster" Target="/ppt/notesMasters/notesMaster1.xml" Id="Rdc57f2b25e074ce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32fb59c190248cb" /><Relationship Type="http://schemas.openxmlformats.org/officeDocument/2006/relationships/notesMaster" Target="/ppt/notesMasters/notesMaster1.xml" Id="Rdff676f84b1245a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3cb6e19dd9c422c" /><Relationship Type="http://schemas.openxmlformats.org/officeDocument/2006/relationships/notesMaster" Target="/ppt/notesMasters/notesMaster1.xml" Id="R8eced3b6e868434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0a3f592c95a44df" /><Relationship Type="http://schemas.openxmlformats.org/officeDocument/2006/relationships/notesMaster" Target="/ppt/notesMasters/notesMaster1.xml" Id="R2d3c84c9b11945a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98bb0b9555442ad" /><Relationship Type="http://schemas.openxmlformats.org/officeDocument/2006/relationships/notesMaster" Target="/ppt/notesMasters/notesMaster1.xml" Id="Rec6f87209e44417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a731fe39aef4321" /><Relationship Type="http://schemas.openxmlformats.org/officeDocument/2006/relationships/notesMaster" Target="/ppt/notesMasters/notesMaster1.xml" Id="R45804d2fbeef4f9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fe6c1aa33e140d8" /><Relationship Type="http://schemas.openxmlformats.org/officeDocument/2006/relationships/notesMaster" Target="/ppt/notesMasters/notesMaster1.xml" Id="R688ac41c1c0c471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465a7eb28204cc1" /><Relationship Type="http://schemas.openxmlformats.org/officeDocument/2006/relationships/notesMaster" Target="/ppt/notesMasters/notesMaster1.xml" Id="R3e9c162350bf441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55b1ae963954f65" /><Relationship Type="http://schemas.openxmlformats.org/officeDocument/2006/relationships/notesMaster" Target="/ppt/notesMasters/notesMaster1.xml" Id="R5f969cc3eba14ad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2aef729ceda4c74" /><Relationship Type="http://schemas.openxmlformats.org/officeDocument/2006/relationships/notesMaster" Target="/ppt/notesMasters/notesMaster1.xml" Id="Rc8580318085c4f3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59021bff4d74ec4" /><Relationship Type="http://schemas.openxmlformats.org/officeDocument/2006/relationships/notesMaster" Target="/ppt/notesMasters/notesMaster1.xml" Id="R91990da4f2c244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Open with the case: how can SAP close the gap between a demand shift and a business response?</a:t>
            </a:r>
          </a:p>
          <a:p xmlns:a="http://schemas.openxmlformats.org/drawingml/2006/main">
            <a:r>
              <a:t>- Focus on apparel merchandise planners. Sales record completed purchases; missed interest can disappear before the next planning cycle.</a:t>
            </a:r>
          </a:p>
          <a:p xmlns:a="http://schemas.openxmlformats.org/drawingml/2006/main">
            <a:r>
              <a:t>- Our answer is one product, SAP Retail Signal, with three connected parts.</a:t>
            </a:r>
          </a:p>
          <a:p xmlns:a="http://schemas.openxmlformats.org/drawingml/2006/main">
            <a:r>
              <a:t>- Sources: Product+ 2026 Case Package, pp. 3–5; Launchpad report, pp. 2–4.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- 12 seconds. SAP spans finance, procurement, supply chain and customer experience. Existing customers offer an initial route to market.</a:t>
            </a:r>
          </a:p>
          <a:p xmlns:a="http://schemas.openxmlformats.org/drawingml/2006/main">
            <a:r>
              <a:t>- These counts are different scopes; they cannot be added together.</a:t>
            </a:r>
          </a:p>
          <a:p xmlns:a="http://schemas.openxmlformats.org/drawingml/2006/main">
            <a:r>
              <a:t>- Sources: supplied case, p. 3; https://www.sap.com/engage/future-of-retail.html (accessed 25 Oct 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Today’s workflow can involve sales reports, separate website analytics and supplier emails before a planner reconciles stock.</a:t>
            </a:r>
          </a:p>
          <a:p xmlns:a="http://schemas.openxmlformats.org/drawingml/2006/main">
            <a:r>
              <a:t>- The case establishes fragmented data and time pressure; it does not quantify the delay. We will measure that baseline.</a:t>
            </a:r>
          </a:p>
          <a:p xmlns:a="http://schemas.openxmlformats.org/drawingml/2006/main">
            <a:r>
              <a:t>- Sources: case, p. 4; Launchpad, recommendations 1–3.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- 25 seconds. Bob is accountable for availability, but he must reconstruct the situation across teams.</a:t>
            </a:r>
          </a:p>
          <a:p xmlns:a="http://schemas.openxmlformats.org/drawingml/2006/main">
            <a:r>
              <a:t>- This is a persona scenario, not a customer interview or measured time study.</a:t>
            </a:r>
          </a:p>
          <a:p xmlns:a="http://schemas.openxmlformats.org/drawingml/2006/main">
            <a:r>
              <a:t>- The 80-unit seven-day demand scenario leaves a 72-unit gap after 8 on hand. Low conversion does not establish a fit problem.</a:t>
            </a:r>
          </a:p>
          <a:p xmlns:a="http://schemas.openxmlformats.org/drawingml/2006/main">
            <a:r>
              <a:t>- Sources: current Retail Signal prototype; Launchpad report, pp. 3–4.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- 90 seconds. Play the recommendation walkthrough on this slide, or open the supplied MP4.</a:t>
            </a:r>
          </a:p>
          <a:p xmlns:a="http://schemas.openxmlformats.org/drawingml/2006/main">
            <a:r>
              <a:t>- The video demonstrates all three parts of one product. It uses real captures of our working website.</a:t>
            </a:r>
          </a:p>
          <a:p xmlns:a="http://schemas.openxmlformats.org/drawingml/2006/main">
            <a:r>
              <a:t>- Part 1: compare 240 try-ons with 43 purchases, then investigate availability, fit or price instead of guessing the cause.</a:t>
            </a:r>
          </a:p>
          <a:p xmlns:a="http://schemas.openxmlformats.org/drawingml/2006/main">
            <a:r>
              <a:t>- Part 2: 162 qualified out-of-stock sessions × assumed 15% conversion, rounded down, gives 24 scenario units for Online West. These are not confirmed orders.</a:t>
            </a:r>
          </a:p>
          <a:p xmlns:a="http://schemas.openxmlformats.org/drawingml/2006/main">
            <a:r>
              <a:t>- Part 3: inspect material rates, apply a gas shortage and ask the assistant to explain added costs and margin effects. Then compare immediate stock transfer with later supplier replenishment.</a:t>
            </a:r>
          </a:p>
          <a:p xmlns:a="http://schemas.openxmlformats.org/drawingml/2006/main">
            <a:r>
              <a:t>- No live RFID, retailer analytics, SAP tenant or SAP Joule service is connected.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Recommendation 1 needs specialist hardware rather than SAP manufacturing its own readers. Use Zebra readers, Avery Dennison tags and regional distribution.</a:t>
            </a:r>
          </a:p>
          <a:p xmlns:a="http://schemas.openxmlformats.org/drawingml/2006/main">
            <a:r>
              <a:t>- Radio-frequency identification, or RFID, identifies tagged garments using radio waves. Room-zone calibration is essential to avoid counting adjacent racks.</a:t>
            </a:r>
          </a:p>
          <a:p xmlns:a="http://schemas.openxmlformats.org/drawingml/2006/main">
            <a:r>
              <a:t>- Start with already tagged assortments; tag economics for new assortments are excluded from the base quote and must be priced.</a:t>
            </a:r>
          </a:p>
          <a:p xmlns:a="http://schemas.openxmlformats.org/drawingml/2006/main">
            <a:r>
              <a:t>- Capability sources: https://www.zebra.com/us/en/products/rfid/rfid-readers.html ; https://rfid.averydennison.com/en/home/industry-segments/retail/apparel-and-fashion.html ; https://careers.ingrammicro.com/en/locations/ ; https://www.tdsynnex.com/us/en/where-we-are.html ; https://redingtongroup.com/about-us/global-presence/ . All accessed 25 Oct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Bob can evaluate a 40-unit transfer at a modeled cost of 60 dollars.</a:t>
            </a:r>
          </a:p>
          <a:p xmlns:a="http://schemas.openxmlformats.org/drawingml/2006/main">
            <a:r>
              <a:t>- Coverage rises from 8 of 80 to 48 of 80. Thirty-two units remain uncovered: the tool makes the residual problem visible.</a:t>
            </a:r>
          </a:p>
          <a:p xmlns:a="http://schemas.openxmlformats.org/drawingml/2006/main">
            <a:r>
              <a:t>- Approval does not create inventory. Goods issue moves stock into transit; goods receipt adds destination sellable stock.</a:t>
            </a:r>
          </a:p>
          <a:p xmlns:a="http://schemas.openxmlformats.org/drawingml/2006/main">
            <a:r>
              <a:t>- Source: prototype seeded transfer scenario, ERT-CRM-M.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Total addressable market, TAM, is modeled annual software spend. SAM narrows that to chains we could initially serve. SOM is the share we aim to win; 150 accounts is an ambitious scenario, not a forecast.</a:t>
            </a:r>
          </a:p>
          <a:p xmlns:a="http://schemas.openxmlformats.org/drawingml/2006/main">
            <a:r>
              <a:t>- We use a 100-store reference contract. A real account list and willingness-to-pay interviews are needed before funding scale.</a:t>
            </a:r>
          </a:p>
          <a:p xmlns:a="http://schemas.openxmlformats.org/drawingml/2006/main">
            <a:r>
              <a:t>- Context: the Launchpad cites US$957B fashion e-commerce in 2026; Shopify corroborates a US$957.31B Statista projection. Consumer sales are not software TAM.</a:t>
            </a:r>
          </a:p>
          <a:p xmlns:a="http://schemas.openxmlformats.org/drawingml/2006/main">
            <a:r>
              <a:t>- Source: https://www.shopify.com/uk/enterprise/blog/ecommerce-fashion-industry ; SAP retail footprint source on slide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RFID fitting-room insight and AI inventory planning already exist. We are not claiming to invent these categories or to have features competitors lack.</a:t>
            </a:r>
          </a:p>
          <a:p xmlns:a="http://schemas.openxmlformats.org/drawingml/2006/main">
            <a:r>
              <a:t>- The case for Retail Signal is a focused experience joining early intent with SAP operational decisions. If an existing SAP deployment already solves the workflow, extend it instead of selling duplicate software.</a:t>
            </a:r>
          </a:p>
          <a:p xmlns:a="http://schemas.openxmlformats.org/drawingml/2006/main">
            <a:r>
              <a:t>- Sources: https://www.sensormatic.com/de_de/TrueVUE-Inventory-Intel/TrueVUE-Fitting-Room ; https://www.oracle.com/retail/ ; https://blueyonder.com/solutions/retail-planning ; https://www.sap.com/products/scm/integrated-business-planning.html ; https://www.sap.com/products/crm/customer-activity-repository.html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Like an ecosystem of compatible devices, SAP’s appeal is that another tool can work with systems the retailer already uses. This still requires integration work and licensing.</a:t>
            </a:r>
          </a:p>
          <a:p xmlns:a="http://schemas.openxmlformats.org/drawingml/2006/main">
            <a:r>
              <a:t>- Our data advantage is business context, not unrestricted access to every customer’s records. Customer data use for AI improvement is governed by service agreements; new development can require additional consent. External model providers do not receive training rights by default.</a:t>
            </a:r>
          </a:p>
          <a:p xmlns:a="http://schemas.openxmlformats.org/drawingml/2006/main">
            <a:r>
              <a:t>- Sources: SAP Integration Suite https://www.sap.com/products/technology-platform/integration-suite.html ; SAP responsible AI https://www.sap.com/products/artificial-intelligence/ai-ethics.html ; https://learning.sap.com/courses/building-confidence-in-ai-with-sap/does-ai-train-on-my-data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- 12 seconds. Our strongest asset is the fit with SAP execution; our weakest point is that commercial value and integrations remain unproven.</a:t>
            </a:r>
          </a:p>
          <a:p xmlns:a="http://schemas.openxmlformats.org/drawingml/2006/main">
            <a:r>
              <a:t>- Competition, integration effort and adoption should shape the pilot, not be hidden behind an AI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- 15 seconds. The most important dependency is a common product and location identifier. Without it, the tool may recommend stock the business cannot actually move.</a:t>
            </a:r>
          </a:p>
          <a:p xmlns:a="http://schemas.openxmlformats.org/drawingml/2006/main">
            <a:r>
              <a:t>- BTP means Business Technology Platform; Integration Suite connects systems through controlled interfaces, or APIs. A production service needs authentication, monitoring, retry safety and tenant-specific field mapping.</a:t>
            </a:r>
          </a:p>
          <a:p xmlns:a="http://schemas.openxmlformats.org/drawingml/2006/main">
            <a:r>
              <a:t>- Sources: SAP Integration Suite, CAR and IBP official product documentation, cited in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These are the three biggest risks: bad decisions from weak data, loss of shopper trust, and a product that does not repay its cost.</a:t>
            </a:r>
          </a:p>
          <a:p xmlns:a="http://schemas.openxmlformats.org/drawingml/2006/main">
            <a:r>
              <a:t>- Human approval and transaction reconciliation prevent an explanation from becoming an unverified stock movement.</a:t>
            </a:r>
          </a:p>
          <a:p xmlns:a="http://schemas.openxmlformats.org/drawingml/2006/main">
            <a:r>
              <a:t>- Privacy controls require a local legal review; proposed retention is seven days for raw garment events and 90 days for aggregates, subject to that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Adoption requires an explicit bargain. Bob gets speed, while the source store keeps a reserve and the CFO keeps spending authority.</a:t>
            </a:r>
          </a:p>
          <a:p xmlns:a="http://schemas.openxmlformats.org/drawingml/2006/main">
            <a:r>
              <a:t>- Marketing can promote availability improvements only after results are measured. Procurement validates supplier alternatives; Joule cannot approve a new vendor.</a:t>
            </a:r>
          </a:p>
          <a:p xmlns:a="http://schemas.openxmlformats.org/drawingml/2006/main">
            <a:r>
              <a:t>- SAP owns the software roadmap; partners own installation and first-line device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- 15 seconds. We prioritize online demand and shared stock first because they avoid hardware lead time. Then validate RFID in selected stores and introduce supply-cost scenarios.</a:t>
            </a:r>
          </a:p>
          <a:p xmlns:a="http://schemas.openxmlformats.org/drawingml/2006/main">
            <a:r>
              <a:t>- Baseline demo rates and material-consumption assumptions are illustrative. Public commodity benchmarks are not the retailer’s contract prices.</a:t>
            </a:r>
          </a:p>
          <a:p xmlns:a="http://schemas.openxmlformats.org/drawingml/2006/main">
            <a:r>
              <a:t>- Existing stock does not vanish when new production is constrained.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Start with interviews and a two-week baseline, then shadow mode: calculate recommendations without executing them.</a:t>
            </a:r>
          </a:p>
          <a:p xmlns:a="http://schemas.openxmlformats.org/drawingml/2006/main">
            <a:r>
              <a:t>- Hardware qualification can proceed alongside digital integration. If devices are delayed, digital and supply workflows continue; RFID claims wait.</a:t>
            </a:r>
          </a:p>
          <a:p xmlns:a="http://schemas.openxmlformats.org/drawingml/2006/main">
            <a:r>
              <a:t>- Scale to a 100-store customer only after week 12. Wider commercial rollout takes additional quarters, separate from pilot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- 18 seconds. Measure both median and 90th-percentile response time so an average cannot hide slow exceptions.</a:t>
            </a:r>
          </a:p>
          <a:p xmlns:a="http://schemas.openxmlformats.org/drawingml/2006/main">
            <a:r>
              <a:t>- Track signal freshness, recommendation acceptance with reasons, stockout sessions, realized contribution and shopper complaints.</a:t>
            </a:r>
          </a:p>
          <a:p xmlns:a="http://schemas.openxmlformats.org/drawingml/2006/main">
            <a:r>
              <a:t>- CFO owns financial verification; analyst owns matched-store measurement; operations owns stock accuracy. If the pilot is underpowered, extend measurement rather than claim causal uplift.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- 20 seconds. The reference price covers the one product with all three parts. RFID is activated only at equipped stores.</a:t>
            </a:r>
          </a:p>
          <a:p xmlns:a="http://schemas.openxmlformats.org/drawingml/2006/main">
            <a:r>
              <a:t>- Of each 8,000-dollar hardware and installation invoice, 5,000 goes to equipment/tag suppliers, 1,000 to distribution and 2,000 to deployment. SAP earns no hardware margin in this model.</a:t>
            </a:r>
          </a:p>
          <a:p xmlns:a="http://schemas.openxmlformats.org/drawingml/2006/main">
            <a:r>
              <a:t>- Of 75,000 onboarding, SAP retains 15,000 and the delivery partner receives 60,000. All are assumptions, not negotiated terms.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- 25 seconds. Separate productive capacity from cash savings. One percent incremental sales at a 45 percent contribution margin yields 450,000 dollars; time freed is worth 364,000 only if productively redeployed.</a:t>
            </a:r>
          </a:p>
          <a:p xmlns:a="http://schemas.openxmlformats.org/drawingml/2006/main">
            <a:r>
              <a:t>- Economic net annual value is 464,000, but cash-only net is 100,000. Upfront 235,000 means 6.1-month economic payback versus 28.2 months cash-only.</a:t>
            </a:r>
          </a:p>
          <a:p xmlns:a="http://schemas.openxmlformats.org/drawingml/2006/main">
            <a:r>
              <a:t>- The base model fails our 24-month cash gate. We must prove at least 1.04% uplift, lower price/cost, or documented cash savings before scale. This is why the pilot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- 25 seconds. Annual recurring revenue at the end of year 3 is 52.5 million; recognized year-3 revenue is 38.1 million because new customers arrive throughout the year.</a:t>
            </a:r>
          </a:p>
          <a:p xmlns:a="http://schemas.openxmlformats.org/drawingml/2006/main">
            <a:r>
              <a:t>- This is a product contribution model before tax, financing, corporate allocations and working capital. Costs include customer acquisition and the proposed pilot in year-one spending.</a:t>
            </a:r>
          </a:p>
          <a:p xmlns:a="http://schemas.openxmlformats.org/drawingml/2006/main">
            <a:r>
              <a:t>- Zero churn and 150 wins are optimistic assumptions. Renewal-only break-even is approximately 23 full-year customers at the year-two fixed cost. Sensitivities are in the appendix.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- 12 seconds. The value is the shorter gap between a qualified signal and a verified business response.</a:t>
            </a:r>
          </a:p>
          <a:p xmlns:a="http://schemas.openxmlformats.org/drawingml/2006/main">
            <a:r>
              <a:t>- Better business context can make Joule more useful, while people retain accountability for consequential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- 18 seconds. Our ask is a capped 250,000-dollar pilot, a named retailer sponsor and sandbox access.</a:t>
            </a:r>
          </a:p>
          <a:p xmlns:a="http://schemas.openxmlformats.org/drawingml/2006/main">
            <a:r>
              <a:t>- The budget covers 80,000 hardware, 80,000 integration, 50,000 product analytics, 20,000 training and 20,000 contingency.</a:t>
            </a:r>
          </a:p>
          <a:p xmlns:a="http://schemas.openxmlformats.org/drawingml/2006/main">
            <a:r>
              <a:t>- End with the decision: prove the response workflow and retailer economics before scaling. SAP Retail Signal makes an early signal useful by connecting it to action.</a:t>
            </a:r>
          </a:p>
          <a:p xmlns:a="http://schemas.openxmlformats.org/drawingml/2006/main">
            <a:r>
              <a:t>- Total planned main-deck time: 480 seconds including the 90-second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All values on this slide are modeling assumptions created for the pitch, not data supplied as actual customer results.</a:t>
            </a:r>
          </a:p>
          <a:p xmlns:a="http://schemas.openxmlformats.org/drawingml/2006/main">
            <a:r>
              <a:t>- Prices exclude sales taxes, new item-tag programs and financing. Existing retailer SAP licenses are assumed. Incremental SAP infrastructure and usage costs must be confirmed; if not included in the negotiated subscription they worsen ROI.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First-year economic benefit 814,000; cost 585,000; economic surplus 229,000; first-year ROI = 229,000 / 585,000 = 39.1%.</a:t>
            </a:r>
          </a:p>
          <a:p xmlns:a="http://schemas.openxmlformats.org/drawingml/2006/main">
            <a:r>
              <a:t>- Cash-only first-year surplus = 450,000 − 585,000 = −135,000. At the base assumptions, scale should not be approved on economic value alone.</a:t>
            </a:r>
          </a:p>
          <a:p xmlns:a="http://schemas.openxmlformats.org/drawingml/2006/main">
            <a:r>
              <a:t>- No discounting, depreciation, tax, inflation or working-capital benefit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Formulas: cash net = sales × uplift × 45% − 350,000. Economic net adds 364,000 capacity value. Upfront is 235,000.</a:t>
            </a:r>
          </a:p>
          <a:p xmlns:a="http://schemas.openxmlformats.org/drawingml/2006/main">
            <a:r>
              <a:t>- Cash renewal break-even = 350,000 / (100,000,000 × .45).</a:t>
            </a:r>
          </a:p>
          <a:p xmlns:a="http://schemas.openxmlformats.org/drawingml/2006/main">
            <a:r>
              <a:t>- 24-month gate = (350,000 + 235,000/2) / 45,000,000 = 1.0389%.</a:t>
            </a:r>
          </a:p>
          <a:p xmlns:a="http://schemas.openxmlformats.org/drawingml/2006/main">
            <a:r>
              <a:t>- Year-one break-even = (350,000 + 235,000) / 45,000,000 = 1.3%.</a:t>
            </a:r>
          </a:p>
          <a:p xmlns:a="http://schemas.openxmlformats.org/drawingml/2006/main">
            <a:r>
              <a:t>- At 0.5% uplift, economic payback = 235,000 / 239,000 × 12 = 11.8 months, illustrating why cash and capacity must be separated.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Hardware and installation are customer-funded and separately invoiced by partners in a full rollout.</a:t>
            </a:r>
          </a:p>
          <a:p xmlns:a="http://schemas.openxmlformats.org/drawingml/2006/main">
            <a:r>
              <a:t>- The illustrative 12-week pilot is SAP-funded, so the hardware part of that pilot is a SAP program cost instead.</a:t>
            </a:r>
          </a:p>
          <a:p xmlns:a="http://schemas.openxmlformats.org/drawingml/2006/main">
            <a:r>
              <a:t>- A new garment tagging program, replacements, local duties, service levels and any channel referral fees require separate pricing. Do not present this allocation as a quote from Zebra or Avery Dennison.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Revenue assumes recurring software delivered throughout the year, all wins at a midyear average, and no churn or expansion. Services use net coordination fees, not gross pass-through.</a:t>
            </a:r>
          </a:p>
          <a:p xmlns:a="http://schemas.openxmlformats.org/drawingml/2006/main">
            <a:r>
              <a:t>- Commercial principal-versus-agent treatment must be reviewed by finance. This is a simplified product model, not an IFRS revenue-recognition conclusion.</a:t>
            </a:r>
          </a:p>
          <a:p xmlns:a="http://schemas.openxmlformats.org/drawingml/2006/main">
            <a:r>
              <a:t>- Fixed costs include staffing, sales, acquisition, operations and the CAD 250k pilot. Hardware margins, tax, corporate allocations and financing are excluded.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Slower wins uses average customers 5, 25, 60 and new accounts 10, 30, 40 with the same 5M / 6M / 8M fixed costs.</a:t>
            </a:r>
          </a:p>
          <a:p xmlns:a="http://schemas.openxmlformats.org/drawingml/2006/main">
            <a:r>
              <a:t>- Price-pressure case keeps base adoption but price falls to 300k and COGS rises to 35%.</a:t>
            </a:r>
          </a:p>
          <a:p xmlns:a="http://schemas.openxmlformats.org/drawingml/2006/main">
            <a:r>
              <a:t>- Stalled case: ending accounts 20,20,20, average 10,20,20; new20,0,0; contributions −2.075M,−0.75M,−2.75M. Cumulative −5.575M.</a:t>
            </a:r>
          </a:p>
          <a:p xmlns:a="http://schemas.openxmlformats.org/drawingml/2006/main">
            <a:r>
              <a:t>- Losses are plausible if sales stall; scale spending should follow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hardware line is a trial budget, not a committed ten-store purchase. Timing depends on device availability and local approvals.</a:t>
            </a:r>
          </a:p>
          <a:p xmlns:a="http://schemas.openxmlformats.org/drawingml/2006/main">
            <a:r>
              <a:t>- Customer staff time and existing SAP licenses are contributions assumed outside this SAP program budget. Confirm their costs with the design partner.</a:t>
            </a:r>
          </a:p>
          <a:p xmlns:a="http://schemas.openxmlformats.org/drawingml/2006/main">
            <a:r>
              <a:t>- Week-two gate: data and privacy feasibility. Week-five gate: reliable shadow recommendations. Week-eight gate: safe actions. Week-twelve gate: adoption, response time and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The prototype uses React for the interface, TypeScript for typed code, Vite for development/building, and UI5 web components for SAP-style controls.</a:t>
            </a:r>
          </a:p>
          <a:p xmlns:a="http://schemas.openxmlformats.org/drawingml/2006/main">
            <a:r>
              <a:t>- localStorage is browser storage; it is useful for a demo but not a secure multi-user system of record.</a:t>
            </a:r>
          </a:p>
          <a:p xmlns:a="http://schemas.openxmlformats.org/drawingml/2006/main">
            <a:r>
              <a:t>- The public market endpoint retrieves a fixed set of benchmark series and caches observations. Dates and currencies remain visible. It is not a live supplier quote feed or a news prediction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CAR is Customer Activity Repository, a place to harmonize retail transaction data. S/4HANA is enterprise resource planning software, or ERP, holding business records and operations.</a:t>
            </a:r>
          </a:p>
          <a:p xmlns:a="http://schemas.openxmlformats.org/drawingml/2006/main">
            <a:r>
              <a:t>- IBP means Integrated Business Planning. Commerce Cloud runs digital commerce. BTP is the platform for extensions; Integration Suite connects systems.</a:t>
            </a:r>
          </a:p>
          <a:p xmlns:a="http://schemas.openxmlformats.org/drawingml/2006/main">
            <a:r>
              <a:t>- Sources: https://www.sap.com/products/crm/customer-activity-repository.html ; https://learning.sap.com/products/s4hana-cloud ; https://www.sap.com/products/crm/commerce-cloud.html ; https://www.sap.com/products/scm/integrated-business-planning.html ; https://www.sap.com/products/technology-platform/integration-suite.html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Proposal and approval reserve available stock but do not physically move it. Goods issue records dispatch; goods receipt records arrival.</a:t>
            </a:r>
          </a:p>
          <a:p xmlns:a="http://schemas.openxmlformats.org/drawingml/2006/main">
            <a:r>
              <a:t>- Baseline exposure: (80 − 8) × 39 = CAD 2,808 retail value. After feasible receipt: (80 − 48) × 39 = CAD 1,248. This is not realized revenue.</a:t>
            </a:r>
          </a:p>
          <a:p xmlns:a="http://schemas.openxmlformats.org/drawingml/2006/main">
            <a:r>
              <a:t>- A 70% lost-sale assumption gives CAD 1,965.60 versus 873.60 estimated foregone sales. Do not present the CAD 1,092 difference as profit or observed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Fitting-room counts are aggregated item interactions, not identified customers. POS means point of sale, the checkout system.</a:t>
            </a:r>
          </a:p>
          <a:p xmlns:a="http://schemas.openxmlformats.org/drawingml/2006/main">
            <a:r>
              <a:t>- Conversion is purchases divided by interactions. A low ratio may reflect availability, fit, price, merchandising or measurement errors.</a:t>
            </a:r>
          </a:p>
          <a:p xmlns:a="http://schemas.openxmlformats.org/drawingml/2006/main">
            <a:r>
              <a:t>- Digital inference should use historical conversion where possible, a range rather than false precision, and bot/agent classification rather than silently treating all machine traffic as worthless.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Base cost already includes existing energy; only the uplift is added. Supplier pass-through is how much added supplier cost reaches the retailer, not a retail price increase.</a:t>
            </a:r>
          </a:p>
          <a:p xmlns:a="http://schemas.openxmlformats.org/drawingml/2006/main">
            <a:r>
              <a:t>- Weighted margin is calculated from revenue and costs across completed units; do not average SKU percentages unweighted.</a:t>
            </a:r>
          </a:p>
          <a:p xmlns:a="http://schemas.openxmlformats.org/drawingml/2006/main">
            <a:r>
              <a:t>- The separate timeline estimates foregone sales using current stock and hypothetical receipts. Do not add that sales estimate to the cohort gross-profit reduction.</a:t>
            </a:r>
          </a:p>
          <a:p xmlns:a="http://schemas.openxmlformats.org/drawingml/2006/main">
            <a:r>
              <a:t>- Public benchmark: https://fred.stlouisfed.org/series/PNGASUSUSDM ; benchmark currency/market differs from the illustrative Canadian purchase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Statista’s apparel page was not retrievable in this review. The Launchpad’s US$1.92T apparel estimate is therefore not used as a verified slide claim.</a:t>
            </a:r>
          </a:p>
          <a:p xmlns:a="http://schemas.openxmlformats.org/drawingml/2006/main">
            <a:r>
              <a:t>- US$957B online fashion and US$1.92T all-channel apparel have different category definitions; dividing them would be misleading.</a:t>
            </a:r>
          </a:p>
          <a:p xmlns:a="http://schemas.openxmlformats.org/drawingml/2006/main">
            <a:r>
              <a:t>- Market account counts, pricing, benefits, adoption and all forecast costs are team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This presentation makes no claim of unrestricted cross-customer data pooling or demonstrated model superiority.</a:t>
            </a:r>
          </a:p>
          <a:p xmlns:a="http://schemas.openxmlformats.org/drawingml/2006/main">
            <a:r>
              <a:t>- Grounding means supplying authorized relevant business evidence to an AI response. Training means changing the AI model based on examples. The two are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A distributor’s presence in a country does not establish authorization for a specific Zebra SKU, stock availability, local installation capacity or commercial terms.</a:t>
            </a:r>
          </a:p>
          <a:p xmlns:a="http://schemas.openxmlformats.org/drawingml/2006/main">
            <a:r>
              <a:t>- Procurement must validate those separately before any rollout commitments.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  <a:p xmlns:a="http://schemas.openxmlformats.org/drawingml/2006/main">
            <a:r>
              <a:t>https://careers.ingrammicro.com/en/locations/</a:t>
            </a:r>
          </a:p>
          <a:p xmlns:a="http://schemas.openxmlformats.org/drawingml/2006/main">
            <a:r>
              <a:t>https://www.tdsynnex.com/us/en/where-we-are.html</a:t>
            </a:r>
          </a:p>
          <a:p xmlns:a="http://schemas.openxmlformats.org/drawingml/2006/main">
            <a:r>
              <a:t>https://redingtongroup.com/about-us/global-presence/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Why not just use IBP? Reuse IBP; test whether early intent plus a simpler operational workflow adds incremental value.</a:t>
            </a:r>
          </a:p>
          <a:p xmlns:a="http://schemas.openxmlformats.org/drawingml/2006/main">
            <a:r>
              <a:t>- Is the demo AI? The assistant is deterministic; production SAP Joule access and model evaluation remain future work.</a:t>
            </a:r>
          </a:p>
          <a:p xmlns:a="http://schemas.openxmlformats.org/drawingml/2006/main">
            <a:r>
              <a:t>- Are these customer results? No. Demo figures are seeded; benefits are modeling assumptions.</a:t>
            </a:r>
          </a:p>
          <a:p xmlns:a="http://schemas.openxmlformats.org/drawingml/2006/main">
            <a:r>
              <a:t>- Is the cash ROI good enough? Not yet in the base case. The pilot must prove 1.039% sales uplift or equivalent cost/price improvement to meet 24-month cash payback.</a:t>
            </a:r>
          </a:p>
          <a:p xmlns:a="http://schemas.openxmlformats.org/drawingml/2006/main">
            <a:r>
              <a:t>- What about customer data? Authorized within-tenant grounding first; training only within agreed terms and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inspiration: Copy of Elevate 2026 A T&amp;T.pdf. Pale-blue canvas, blue section headings, structured content panels and bottom navigation adapted for SAP Retail Signal. Arial substitutes for reference IBM Plex Sans in this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de0dbccf146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5235c1a9f4e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dbd65c24c4d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9db96d01a4e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8aedf727243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bff2775f34f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8D16B6-A773-4748-A348-0F5729B3C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5EE436-7EF3-4596-9898-22BE73E076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FB4FFB-7517-4B3B-B20F-89BD397671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CEF3A2-55B6-465B-8E85-AFBA31858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D413D5-35A5-4C56-9BF1-67C6D2DDB8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417CAD-45DF-4D01-90B1-2CC061747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1FFE94-6271-4AF8-9938-68ACCAFE90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56FF83-3C15-4E33-B5DA-90C5776238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3F1182-857E-41CB-8E08-599E0D7B5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064608-4EF0-46DA-A6B8-536682A48F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5755fd41f545b2" /><Relationship Type="http://schemas.openxmlformats.org/officeDocument/2006/relationships/slideLayout" Target="/ppt/slideLayouts/slideLayout1.xml" Id="Rc8bdae6479944c1f" /><Relationship Type="http://schemas.openxmlformats.org/officeDocument/2006/relationships/slideLayout" Target="/ppt/slideLayouts/slideLayout2.xml" Id="Rbb2dc27035bd4ee6" /><Relationship Type="http://schemas.openxmlformats.org/officeDocument/2006/relationships/slideLayout" Target="/ppt/slideLayouts/slideLayout3.xml" Id="Rf829d144c39a4e54" /><Relationship Type="http://schemas.openxmlformats.org/officeDocument/2006/relationships/slideLayout" Target="/ppt/slideLayouts/slideLayout4.xml" Id="R2f6924f4e3684218" /><Relationship Type="http://schemas.openxmlformats.org/officeDocument/2006/relationships/slideLayout" Target="/ppt/slideLayouts/slideLayout5.xml" Id="Rc0e31a0486104567" /><Relationship Type="http://schemas.openxmlformats.org/officeDocument/2006/relationships/slideLayout" Target="/ppt/slideLayouts/slideLayout6.xml" Id="R4b833d34702b4f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dae6479944c1f"/>
    <p:sldLayoutId xmlns:r="http://schemas.openxmlformats.org/officeDocument/2006/relationships" id="2147483650" r:id="Rbb2dc27035bd4ee6"/>
    <p:sldLayoutId xmlns:r="http://schemas.openxmlformats.org/officeDocument/2006/relationships" id="2147483651" r:id="Rf829d144c39a4e54"/>
    <p:sldLayoutId xmlns:r="http://schemas.openxmlformats.org/officeDocument/2006/relationships" id="2147483652" r:id="R2f6924f4e3684218"/>
    <p:sldLayoutId xmlns:r="http://schemas.openxmlformats.org/officeDocument/2006/relationships" id="2147483653" r:id="Rc0e31a0486104567"/>
    <p:sldLayoutId xmlns:r="http://schemas.openxmlformats.org/officeDocument/2006/relationships" id="2147483654" r:id="R4b833d34702b4f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1e276c0eb41f0" /><Relationship Type="http://schemas.openxmlformats.org/officeDocument/2006/relationships/notesSlide" Target="/ppt/notesSlides/notesSlide1.xml" Id="R39d9492dc7cc48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be0619c53d4d06" /><Relationship Type="http://schemas.openxmlformats.org/officeDocument/2006/relationships/notesSlide" Target="/ppt/notesSlides/notesSlide2.xml" Id="R78fab63b677d47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1a443bfd843b2" /><Relationship Type="http://schemas.openxmlformats.org/officeDocument/2006/relationships/notesSlide" Target="/ppt/notesSlides/notesSlide3.xml" Id="Rd225d1138b0843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1875cb8e84d37" /><Relationship Type="http://schemas.openxmlformats.org/officeDocument/2006/relationships/notesSlide" Target="/ppt/notesSlides/notesSlide4.xml" Id="R9876fdf39497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e74109c9d474d" /><Relationship Type="http://schemas.openxmlformats.org/officeDocument/2006/relationships/image" Target="/ppt/media/image.jpeg" Id="Rf7d90961ceef4c7c" /><Relationship Type="http://schemas.openxmlformats.org/officeDocument/2006/relationships/notesSlide" Target="/ppt/notesSlides/notesSlide5.xml" Id="Rc2084bd808cf48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e56cfacb84391" /><Relationship Type="http://schemas.openxmlformats.org/officeDocument/2006/relationships/notesSlide" Target="/ppt/notesSlides/notesSlide6.xml" Id="Rb499144b2a6a4f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cf62b49574de7" /><Relationship Type="http://schemas.openxmlformats.org/officeDocument/2006/relationships/notesSlide" Target="/ppt/notesSlides/notesSlide7.xml" Id="R9a47d12c280b47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d566e8e4734312" /><Relationship Type="http://schemas.openxmlformats.org/officeDocument/2006/relationships/notesSlide" Target="/ppt/notesSlides/notesSlide8.xml" Id="Rda788e20cb5f48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6fef641944a84" /><Relationship Type="http://schemas.openxmlformats.org/officeDocument/2006/relationships/notesSlide" Target="/ppt/notesSlides/notesSlide9.xml" Id="R4144c5ed921040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9bccf064444f3" /><Relationship Type="http://schemas.openxmlformats.org/officeDocument/2006/relationships/notesSlide" Target="/ppt/notesSlides/notesSlide10.xml" Id="Rac8abe5a62ef45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806695400440c" /><Relationship Type="http://schemas.openxmlformats.org/officeDocument/2006/relationships/notesSlide" Target="/ppt/notesSlides/notesSlide11.xml" Id="R508d2dd529804e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d60b5c68e43a3" /><Relationship Type="http://schemas.openxmlformats.org/officeDocument/2006/relationships/notesSlide" Target="/ppt/notesSlides/notesSlide12.xml" Id="Rba9bc617ee5940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fb55f8fe54d80" /><Relationship Type="http://schemas.openxmlformats.org/officeDocument/2006/relationships/notesSlide" Target="/ppt/notesSlides/notesSlide13.xml" Id="R3c20760653fa47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8cc5199264fa8" /><Relationship Type="http://schemas.openxmlformats.org/officeDocument/2006/relationships/notesSlide" Target="/ppt/notesSlides/notesSlide14.xml" Id="R5e1924e9c1e240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5b6b7db254712" /><Relationship Type="http://schemas.openxmlformats.org/officeDocument/2006/relationships/notesSlide" Target="/ppt/notesSlides/notesSlide15.xml" Id="Rc21de45546ed4b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91caf6d9f49db" /><Relationship Type="http://schemas.openxmlformats.org/officeDocument/2006/relationships/notesSlide" Target="/ppt/notesSlides/notesSlide16.xml" Id="R597be4988b7e49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1786794df9400c" /><Relationship Type="http://schemas.openxmlformats.org/officeDocument/2006/relationships/notesSlide" Target="/ppt/notesSlides/notesSlide17.xml" Id="R8b7ebd97e2334e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17013a90842ae" /><Relationship Type="http://schemas.openxmlformats.org/officeDocument/2006/relationships/notesSlide" Target="/ppt/notesSlides/notesSlide18.xml" Id="Re4eb0022947d4c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5e35db5734f3f" /><Relationship Type="http://schemas.openxmlformats.org/officeDocument/2006/relationships/notesSlide" Target="/ppt/notesSlides/notesSlide19.xml" Id="R1d83c66a8bc549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398697db7c4649" /><Relationship Type="http://schemas.openxmlformats.org/officeDocument/2006/relationships/notesSlide" Target="/ppt/notesSlides/notesSlide20.xml" Id="R4f6c986b9fa942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bd41da4f445c8" /><Relationship Type="http://schemas.openxmlformats.org/officeDocument/2006/relationships/notesSlide" Target="/ppt/notesSlides/notesSlide21.xml" Id="Rde830b59df734e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0a4af1d19494a" /><Relationship Type="http://schemas.openxmlformats.org/officeDocument/2006/relationships/notesSlide" Target="/ppt/notesSlides/notesSlide22.xml" Id="Rbcef14ef1a614ce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56e6478b74af8" /><Relationship Type="http://schemas.openxmlformats.org/officeDocument/2006/relationships/notesSlide" Target="/ppt/notesSlides/notesSlide23.xml" Id="Rfd726dfa6199458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10fa939cb483d" /><Relationship Type="http://schemas.openxmlformats.org/officeDocument/2006/relationships/notesSlide" Target="/ppt/notesSlides/notesSlide24.xml" Id="R4f660d5dcd7c41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760bd578c4537" /><Relationship Type="http://schemas.openxmlformats.org/officeDocument/2006/relationships/notesSlide" Target="/ppt/notesSlides/notesSlide25.xml" Id="R724e86e4deb04e2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b701268e54b2a" /><Relationship Type="http://schemas.openxmlformats.org/officeDocument/2006/relationships/notesSlide" Target="/ppt/notesSlides/notesSlide26.xml" Id="R43e16b25b44844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b8a550ae64b89" /><Relationship Type="http://schemas.openxmlformats.org/officeDocument/2006/relationships/notesSlide" Target="/ppt/notesSlides/notesSlide27.xml" Id="R00bffb1716ee413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31092b989b4d53" /><Relationship Type="http://schemas.openxmlformats.org/officeDocument/2006/relationships/notesSlide" Target="/ppt/notesSlides/notesSlide28.xml" Id="R0b7ac196c57b47a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eb686158f4c1c" /><Relationship Type="http://schemas.openxmlformats.org/officeDocument/2006/relationships/notesSlide" Target="/ppt/notesSlides/notesSlide29.xml" Id="R575fc006b55a491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2d64e439047a5" /><Relationship Type="http://schemas.openxmlformats.org/officeDocument/2006/relationships/notesSlide" Target="/ppt/notesSlides/notesSlide30.xml" Id="Rfec4228d45d347c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5893bff794a11" /><Relationship Type="http://schemas.openxmlformats.org/officeDocument/2006/relationships/notesSlide" Target="/ppt/notesSlides/notesSlide31.xml" Id="R5b5e8aa2010846b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a053630b742b3" /><Relationship Type="http://schemas.openxmlformats.org/officeDocument/2006/relationships/notesSlide" Target="/ppt/notesSlides/notesSlide32.xml" Id="R2479d147ee374e6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6278dbc2e4932" /><Relationship Type="http://schemas.openxmlformats.org/officeDocument/2006/relationships/notesSlide" Target="/ppt/notesSlides/notesSlide33.xml" Id="Rea119cbcfc154e4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a3bb32bf14459" /><Relationship Type="http://schemas.openxmlformats.org/officeDocument/2006/relationships/notesSlide" Target="/ppt/notesSlides/notesSlide34.xml" Id="Reb944a6feda747b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e70def1b6f48ed" /><Relationship Type="http://schemas.openxmlformats.org/officeDocument/2006/relationships/notesSlide" Target="/ppt/notesSlides/notesSlide35.xml" Id="R4200af6d50bd41a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c1a22274a4155" /><Relationship Type="http://schemas.openxmlformats.org/officeDocument/2006/relationships/notesSlide" Target="/ppt/notesSlides/notesSlide36.xml" Id="R9ba7658e61a74ee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e4d2e76684449" /><Relationship Type="http://schemas.openxmlformats.org/officeDocument/2006/relationships/notesSlide" Target="/ppt/notesSlides/notesSlide37.xml" Id="R28ba176ec2444b9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8f1377e15b4176" /><Relationship Type="http://schemas.openxmlformats.org/officeDocument/2006/relationships/notesSlide" Target="/ppt/notesSlides/notesSlide38.xml" Id="R5b31ed7223714e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DA390-4DD8-4947-B329-6FA5250B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D1B5A-09D4-49ED-AE63-5BD546A4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28A71-8B59-4158-8CA7-5237C933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Demand shifts before retailers can respond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370F7-E4CB-4A9A-8BBF-8B23F2D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Plus One Braincell · Team 463980 · Product+ 2026 · Competition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B0445-1DD0-42AB-98D2-1C970C37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FBA43-CDB8-442A-930B-FC3C688F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A7560-45B0-4051-912F-42091ABC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C48F2-0CAB-420A-BB06-F5F73A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FCE21-7D7E-4CE9-AFF3-A4DE09C7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85C24-E807-4E63-9B95-1825E8AE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51CB6-59D9-4F4B-BC2C-AF9D0581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13041-481B-4370-B359-28CD6FBE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4B56E-FA91-4B6D-8609-76FE2864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F3D70-4A37-4F73-B8C7-5EF4538C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5F647-6828-43B6-82B7-5B626D88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12E70-93CC-49C2-9C92-142D9B33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238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51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215995"/>
                </a:solidFill>
              </a:defRPr>
            </a:pPr>
            <a:r>
              <a:rPr sz="51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SAP Retail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F783E-F111-4117-9DB3-38795D0B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181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46D59-1743-4E87-B350-86A4F035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11049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might SAP help retailers close the gap between when demand shifts and when the business responds?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C95C3-CD2A-4D18-B003-93EFABCE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52047"/>
                </a:solidFill>
              </a:defRPr>
            </a:pPr>
            <a:r>
              <a:rPr sz="2325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One product connects early customer intent with a decision the business can carry 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FC892-F011-4518-88BE-B0C317A1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34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Apparel merchandisers see transactions. They need to see missed demand and act while it still matters.</a:t>
            </a:r>
          </a:p>
        </p:txBody>
      </p:sp>
    </p:spTree>
    <p:extLst>
      <p:ext uri="{BB962C8B-B14F-4D97-AF65-F5344CB8AC3E}">
        <p14:creationId xmlns:p14="http://schemas.microsoft.com/office/powerpoint/2010/main" val="1909429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3D795-AC83-4ADF-B746-D335F6C0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A663C-12AB-4E60-8A04-5B5A5513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COMPANY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786F0-31D5-4758-B3E9-9705F99D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already supports the retailer’s core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22F86-FD5F-47F8-A3B6-345D1C2D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Customer counts describe SAP’s broader footprint, not the addressable apparel market.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D5571-DCCC-42E6-B696-F3DE8DB3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D3356-997E-47DB-93B4-CE098CE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4D12E-2966-4F28-8644-D17FA676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AE349-6DA9-438E-8D0E-2A6EBA56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1AA83-6B1F-4E76-B665-22DDBA39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2C895-0BD0-48C7-A42D-E3F8F1E2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79C1D-35C0-452D-B679-CB863CD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69E30-1CE2-4530-9A9B-3DD48BDA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E7ACD-3BD1-49C3-AEBB-C667ED05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48F1A-C25B-4FC2-85B2-EB5F3FF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16396-A023-49D7-987A-DE5C3E60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92F92-7C71-48C0-A433-DCF15DD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FECE3-FAC3-407D-B094-EF6F29CB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enterprise 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1FCBD-2F04-4FC2-968B-6CE72D6E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0F1AE-E715-4BB8-B4F8-3340F7FA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440,000+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29C984-2174-45D3-97D2-FA5B0FC8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Case-package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E027E-98FD-4B48-A42A-61A9D0D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F4193-07AC-45FB-9A50-E4783EA7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125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D9629-EC6C-4E3A-8E2A-83D585CD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1BF13-E0A2-488E-BB31-83E63427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24F70-9851-4B9E-9119-D100625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325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Case-package 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01429-1D4E-4F13-A5A4-96EDFB1B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8CD69-894C-42F4-8951-6252C56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retail customers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DFE13-90E1-4615-A844-DE7E2D9C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9E758F-342B-4340-8136-C24C4E91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14,000+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CBCBD6-A8FF-4FC4-AB9A-4506FB87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Future of Retail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3743A-A75A-4DC3-950A-A7D03F6C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28016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1DE3A3-02FE-42B3-AC1A-FA2DCD71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2268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Retail Signal would extend existing transaction, commerce and planning systems with early demand evidence and a shared response workflow.</a:t>
            </a:r>
          </a:p>
        </p:txBody>
      </p:sp>
    </p:spTree>
    <p:extLst>
      <p:ext uri="{BB962C8B-B14F-4D97-AF65-F5344CB8AC3E}">
        <p14:creationId xmlns:p14="http://schemas.microsoft.com/office/powerpoint/2010/main" val="298655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033AA-C194-4D1F-8CB6-1083CA16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3925D-E1F1-4417-ADDD-F9E6B1AF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KEY ISSUES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40CD6-2A58-4B05-8912-47806E9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Three gaps delay the same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1A52C-C31B-40B9-8933-B22C2496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Case-based problem hypothesis. Validate the frequency and cost through planner interviews and a pilot.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9EAE5-1D2A-46E7-BB05-F937F452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FA673-492D-43D2-BDD5-1021FF96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581EF-E5C7-4409-9E79-3646AD86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E05AB-1C7F-4041-8A83-9435C6EE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E9F64-3D2D-41FB-8318-02C6C11A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6EE82-97CD-45E0-B412-2386480D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8061F-3A46-46DB-8896-182A387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3401F-8B04-427E-A47F-48652F0B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5C023-F7D4-4304-A2C3-738386A0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59E7D-7B9E-4E12-9AAF-F859435A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D47AE-01E1-41C1-9654-EA03941F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9DD1D-6CDF-4C9D-960C-A983358F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A3DB2-00D6-44C0-97B8-593E16E2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3829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Interest is invisible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60A01-CB66-4AF6-A474-2E93BE89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4095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B377A-E715-4152-9B4B-E5ABD84A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3562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215995"/>
                </a:solidFill>
              </a:defRPr>
            </a:pPr>
            <a:r>
              <a:rPr sz="49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14CC9-431C-4D87-9EAB-4EAF7B2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562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Store teams see what sold, but not which sizes were tried and left behind.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21513-F07F-429D-AD3E-10B849E4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7165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2D728-B266-4606-9872-A4F8D55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00225"/>
            <a:ext cx="3829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Unmet online demand disappears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E8F08-6B2E-47F0-B40B-D5BB107E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4095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911E8-2301-430A-9A83-3598652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00350"/>
            <a:ext cx="3562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215995"/>
                </a:solidFill>
              </a:defRPr>
            </a:pPr>
            <a:r>
              <a:rPr sz="49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AB36B-B267-4B8F-B39D-E87604DD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90950"/>
            <a:ext cx="3562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Searching an unavailable size can end without a sale or a restock request.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B22A0-EAEA-4B41-9A39-1A66AC9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7165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26C60-C108-451E-8769-F5E70ACB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0225"/>
            <a:ext cx="3829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Supply risk arrives without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043F9-8F1D-4055-A5DB-FD9D36D8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4095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73866-11A9-430A-ACA3-FE9C6A55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3562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215995"/>
                </a:solidFill>
              </a:defRPr>
            </a:pPr>
            <a:r>
              <a:rPr sz="49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0121C-7593-4468-BE69-35A7D1A9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3562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 price or delivery change needs to be traced to affected products, stores and margins.</a:t>
            </a:r>
          </a:p>
        </p:txBody>
      </p:sp>
    </p:spTree>
    <p:extLst>
      <p:ext uri="{BB962C8B-B14F-4D97-AF65-F5344CB8AC3E}">
        <p14:creationId xmlns:p14="http://schemas.microsoft.com/office/powerpoint/2010/main" val="412823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DBB14-47CE-4DED-BF1B-648EEE7B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387C0-97FA-4E04-ABB7-7373BC41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PART 1 · CUSTOMER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36A71-B181-4FB9-A72C-8284ACE8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Meet Bob, before Retail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ECEA4-4ED7-4798-81EC-18C38108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Bob is a fictional persona. Product, supplier and location figures are seeded demo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067EF-6973-4B3E-9F51-B0EB83CB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83527-D39A-4717-AE00-992C101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B13BD-EDAD-454E-9E3F-64F6C698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A92B4-5904-47F1-AB22-EFCAA15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802CD-0887-47B8-BCC4-EABC2431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41B84-348B-4A16-A957-2E47B72D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255D5-EEB1-438C-A81B-22EE7B3D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CEB85-AA9F-44CA-8329-691050CA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5C530-7F43-4832-B075-FE21CC3B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2A982-38DC-443C-8EE2-1A7B5CF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06E95-A108-4E88-852A-4C072687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1488F-C80A-46C4-92AD-9EDCDFCE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C5165-761B-4B69-A5C6-56D0A147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067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1C38A-AF34-4EB9-BFEA-84A25A1B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4290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B2215-2CF5-4005-804D-61887A6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009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56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625" b="1">
                <a:solidFill>
                  <a:srgbClr val="215995"/>
                </a:solidFill>
              </a:defRPr>
            </a:pPr>
            <a:r>
              <a:rPr sz="56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BOB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6079F-D767-4384-864F-9533AC26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2047"/>
                </a:solidFill>
              </a:defRPr>
            </a:pPr>
            <a:r>
              <a:rPr sz="2175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Regional merchandise planner</a:t>
            </a:r>
          </a:p>
          <a:p xmlns:a="http://schemas.openxmlformats.org/drawingml/2006/main">
            <a:pPr algn="ctr">
              <a:defRPr sz="2175" b="1">
                <a:solidFill>
                  <a:srgbClr val="152047"/>
                </a:solidFill>
              </a:defRPr>
            </a:pPr>
            <a:r>
              <a:rPr sz="2175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Fictional 100-store apparel retailer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0A044-947C-4D9F-85A9-D57F999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895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Availability is his job.</a:t>
            </a:r>
          </a:p>
          <a:p xmlns:a="http://schemas.openxmlformats.org/drawingml/2006/main">
            <a:pPr algn="ctr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evidence is scattered.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176D1-633E-4885-BE3F-E10FFF74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2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B5770-FDC2-49F3-A40E-83BC7299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90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9:00   Sales look ordinary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57F1D-4261-462A-A87D-97F5C47F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ADEEA3-9864-4827-99FB-FDC33195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05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cream medium top has only 8 units left in Vancouver.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25C41-9BE2-44CD-97DD-D7D268FE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3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691BB-4740-4180-BE2A-DE6CDC23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1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10:30   The signals live elsewhere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E1EE07-A563-4F7B-9747-254D0EB0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0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57D071-21B2-4979-B082-C2523453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6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240 try-ons, 43 purchases and 162 out-of-stock sessions are not in his sales report.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F2CE82-BD2C-4C31-92EF-A7AE765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64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3D374-1603-45C1-A5F2-410F4D4B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2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Later   The replenishment misses the window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2C262F-6AFB-4D25-8086-4AB7A80D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21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298C1F-9972-4310-B0E9-3A1E13E2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07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primary supplier needs 21 days; Bob still has to locate transferable stock.</a:t>
            </a:r>
          </a:p>
        </p:txBody>
      </p:sp>
    </p:spTree>
    <p:extLst>
      <p:ext uri="{BB962C8B-B14F-4D97-AF65-F5344CB8AC3E}">
        <p14:creationId xmlns:p14="http://schemas.microsoft.com/office/powerpoint/2010/main" val="375414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1E806-6C50-44D3-8E28-9AF128B8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34492-71B0-4234-BD3E-A9F91BB8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RECOMMENDATION DEMO · 90 SECONDS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09981-2841-40B2-83C6-4F8A5175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One product, three connected parts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2D8E7-DD97-433A-A1C8-1E95BE69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Working website with seeded records. Joule-inspired explanations and SAP execution are simulated.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A3E58-60AD-44E9-920E-4CB7A75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0BC6F-8BE2-421D-A408-EE8294DF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A7A8D-2401-4CB3-A4D8-CAB521BB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13FC8-2BBC-4C0B-8AE3-03968C8D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7A140-462C-4BB6-8C06-3F7F262B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DBCA7-9D18-46FB-BABB-C7814348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82ACF-EA67-4D6F-A19E-F34CBD1C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11956-9A67-47B4-A4FD-47744B07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970D7-5F7F-42BA-B72D-D3E70C36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8ABD0-76CC-4F70-AED8-FA7E808A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D390A-6EC5-48A2-B7AD-679A8A23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83137-4C45-47C3-92C1-C07F0BF1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1184B-2FE7-40C8-A0EE-46B604A5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5257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B80D3-A569-45C7-90B5-53E17645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927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1F80B-0F88-4762-A501-EFAD6A8D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52575"/>
            <a:ext cx="901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demonstration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534C7-96A7-4C88-B870-C56325A0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6CE24-1ACB-4168-85FF-D06FD99E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Smart Fitting-Room Demand Signals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079AE-C94D-44E1-BF2E-86E5CE34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E7B83-8257-4AE2-AC03-EC58E9D7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2047"/>
                </a:solidFill>
              </a:defRPr>
            </a:pPr>
            <a:r>
              <a:rPr sz="2025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2  Out-of-Stock Demand Tracker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25ADB-AA61-42DD-A412-2462B76D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72B3F-6D64-4A5C-9FDB-6E63AF71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2047"/>
                </a:solidFill>
              </a:defRPr>
            </a:pPr>
            <a:r>
              <a:rPr sz="2025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3  Supply-Chain Risk and Response View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E4BBB3-1D9E-4AA4-8845-1B19B12746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90961ceef4c7c"/>
          <a:stretch xmlns:a="http://schemas.openxmlformats.org/drawingml/2006/main"/>
        </p:blipFill>
        <p:spPr>
          <a:xfrm xmlns:a="http://schemas.openxmlformats.org/drawingml/2006/main">
            <a:off x="4352671" y="2190750"/>
            <a:ext cx="5677408" cy="41910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13867-DEBE-4206-91BE-F19C2726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76475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15995"/>
                </a:solidFill>
              </a:defRPr>
            </a:pPr>
            <a:r>
              <a:rPr sz="21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90-second walkthrough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AA8E2A-19A4-4C7D-9CB5-70E17605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24200"/>
            <a:ext cx="25146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Use the supplied demo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Joule explains evidence and options in each part.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website uses seeded demo data.</a:t>
            </a:r>
          </a:p>
        </p:txBody>
      </p:sp>
    </p:spTree>
    <p:extLst>
      <p:ext uri="{BB962C8B-B14F-4D97-AF65-F5344CB8AC3E}">
        <p14:creationId xmlns:p14="http://schemas.microsoft.com/office/powerpoint/2010/main" val="999295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B047A-2160-4A49-9DD1-E5023548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85C7F-DB99-4BD0-B5EB-FB169F65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PART 1 · PROPOSED PARTNER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331A8-0BE6-441F-AE81-782696A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Hardware partners and regional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4EBD7-E8A1-4B0B-9642-E7EACB0E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Proposed partners, not signed agreements. Availability, product authorization and RF certification require country-level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AEFE6-B3AB-4C00-BCAD-43F17688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9E9CC-0A87-4812-8488-CDE87386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3E31B-D18D-4D2F-8B39-F3D83466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BDCA2-3E01-40A1-A949-4CA3E6F6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A37D4-7CDF-40B7-8220-9B8C3670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56B09-E6FB-4C30-A731-99348D75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CB826-F5DE-4647-80E8-AF177D3B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14250-8E81-4762-A651-E0273DEF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91D1E-F795-45B3-9DC0-BEC15962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D8BCA-231F-47FF-8AC9-DB6D0A13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0CFE5-57C5-411A-BF46-40D57A0E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C2018-5243-474F-B983-9D0E4B24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280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751B7-A5B9-4366-B623-F6FEDB1E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253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with specialist hardware providers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1730C-344B-4DE6-A9B8-B6F43B9E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1242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Zebra: fixed RFID readers and antennas</a:t>
            </a:r>
          </a:p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Avery Dennison: garment RFID tags and inlays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E43CF-1BD4-4976-87AA-02337D8C023E}"/>
              </a:ext>
            </a:extLst>
          </p:cNvPr>
          <p:cNvGraphicFramePr/>
          <p:nvPr/>
        </p:nvGraphicFramePr>
        <p:xfrm>
          <a:off xmlns:a="http://schemas.openxmlformats.org/drawingml/2006/main" x="457200" y="3076575"/>
          <a:ext xmlns:a="http://schemas.openxmlformats.org/drawingml/2006/main" cx="128016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40480"/>
                <a:gridCol w="4352544"/>
                <a:gridCol w="4608576"/>
              </a:tblGrid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distribution lead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Deployment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North America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Ingram Micro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Latin America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Ingram Micro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Country-qualified integrators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Europe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TD SYNNEX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Asia Pacific / Japan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TD SYNNEX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India / Middle East / Africa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Redington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RFID integrators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3492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A3A88-E9B4-4851-9013-2FC596D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9BFE0-77F7-4A29-B129-9037AD2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PART 2 · CUSTOMER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9EEE4-5AB7-42C6-AF64-E38235D1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Meet Bob, with a response he can 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A9C9D-4174-4C3C-B49D-5380FAEB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Simulation: 8 current units + 40 transfer units = 48 of 80 scenario units covered. Sales recovery is unproven.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734F8-7380-44AF-BE76-00047BC1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8C5F4-D4AB-47D3-92B8-EB075CB1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A2E29-52F8-4F1D-BF75-287D3290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6336B-2755-4253-9919-B60E358B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14300-F3AB-46CE-BA10-703E8222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CE4FE-DE68-422F-91B3-485CF59B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3F336-3F28-44FE-9EDB-2AA313D8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C973F-B671-4F3E-8195-5802E1D2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F82A4-851F-49CE-B1A3-FD35E983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D8252-F8CE-4563-9C69-0C2AA25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60E0D-BA42-49D5-A5C0-8B1262E6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F5178-B5D3-44C1-83DF-D3D924DD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989C4-088E-4E4D-9512-6DF9E072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067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Bob’s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BC871-79D2-4B57-BBB7-542BD3AD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4290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36FFC-3D79-400A-B7D3-2C65A031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009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8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800" b="1">
                <a:solidFill>
                  <a:srgbClr val="215995"/>
                </a:solidFill>
              </a:defRPr>
            </a:pPr>
            <a:r>
              <a:rPr sz="48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10%</a:t>
            </a:r>
          </a:p>
          <a:p xmlns:a="http://schemas.openxmlformats.org/drawingml/2006/main">
            <a:pPr algn="ctr">
              <a:defRPr sz="4800" b="1">
                <a:solidFill>
                  <a:srgbClr val="215995"/>
                </a:solidFill>
              </a:defRPr>
            </a:pPr>
            <a:r>
              <a:rPr sz="48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to</a:t>
            </a:r>
          </a:p>
          <a:p xmlns:a="http://schemas.openxmlformats.org/drawingml/2006/main">
            <a:pPr algn="ctr">
              <a:defRPr sz="4800" b="1">
                <a:solidFill>
                  <a:srgbClr val="215995"/>
                </a:solidFill>
              </a:defRPr>
            </a:pPr>
            <a:r>
              <a:rPr sz="48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4ED04-44AE-468B-9497-40D777EF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52047"/>
                </a:solidFill>
              </a:defRPr>
            </a:pPr>
            <a:r>
              <a:rPr sz="21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Seven-day coverage in the transfer scenario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EA137-145D-42D8-ACF6-934493B0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2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33599-82EA-439F-9A64-12913B4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90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  One evidence trail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26C73-1C61-4896-B571-226FEA82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B9ACB-8C7E-452F-BB16-75D4E2E9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05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Try-ons, online interest, available inventory and supplier lead time share product and location context.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718EB-50BB-4CD0-B77A-494FD14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3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11CBC0-A70F-411F-A063-EF741C18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1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   Compare 40 units at CAD 60 transfer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5F5FAB-28CB-4F80-B5FE-7DB41D6C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0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F7030A-3216-401B-9FCC-F8727174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6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Protect Burnaby’s 36-unit reserve; the nine-day alternative is too late for this seven-day window.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607AF-4D68-41A1-BD5D-F76FBD76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64100"/>
            <a:ext cx="908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66C8A0-7235-4723-97BB-075814F5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2675"/>
            <a:ext cx="882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   Approve, dispatch and confirm receipt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598F91-15CF-4501-B44D-9912C6FF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21300"/>
            <a:ext cx="9086850" cy="106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A824E-409A-4A2D-B222-35EA575E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07025"/>
            <a:ext cx="87439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Only goods receipt makes the 40 transferred units sellable in Vancouver.</a:t>
            </a:r>
          </a:p>
        </p:txBody>
      </p:sp>
    </p:spTree>
    <p:extLst>
      <p:ext uri="{BB962C8B-B14F-4D97-AF65-F5344CB8AC3E}">
        <p14:creationId xmlns:p14="http://schemas.microsoft.com/office/powerpoint/2010/main" val="19707605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2142C-D452-4176-A66E-1F3B43CF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D48EF-CCCA-47CB-B221-4BD9788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MARKET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46B9F-3D73-48D0-A47F-8A2C3974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first buyers are SAP-connected apparel chains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90D11-76E6-43BE-9908-9902E33A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Account counts and contract values are planning assumptions, not verified market counts. 150 customers is 30% of the modeled SAM.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81085-8BFE-4C13-A2C5-FD467504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8F2BB-B6CF-4DB0-A4FB-4E6AC432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C1491-97B8-4A6A-8570-F3B026B4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1FE3A-5550-454B-BB94-810C08F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47975-7CC6-4015-8358-1B27BA0E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80C7A-9CED-491B-BA75-DA939A16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3EE92-9595-4427-80AE-540CEC40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AC23A-0C2F-4A16-832B-0290A69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E5BFB-1964-4EAD-A6CF-B63FDE20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8F628-510B-4CA0-84CE-06E2AFC1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F29FD-0F78-4721-B1F6-7A19C36F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2557D-C995-4A1F-B12E-3E567CB2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247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Primary users: merchandise and inventory planners</a:t>
            </a:r>
          </a:p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Economic buyer: COO / merchandising leader, with CFO approval</a:t>
            </a:r>
          </a:p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First segment: 50–250 stores, online sales and reliable SKU-level stock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F377B-637A-4056-A15F-A86AD270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41DA7-B511-44D2-BA3F-CD887C66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Illustrative TAM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46E33-9082-4C78-80F2-12B98AB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41084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728AE-773B-4F70-9D92-2FF382B6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CAD 1.40B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ABD6B-183E-4009-9586-705F445F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36893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4,000 eligible chains × CAD 350k/year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C2ACE-5CA0-44A5-9288-3130EA8F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3038475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D7857-FE30-42A9-BDC5-6ADE4A20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125" y="3067050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Illustrative SAM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A68CE-E047-4D17-85B4-904B4A2B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3667125"/>
            <a:ext cx="41084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BD75A-75EE-40C2-ADC7-5357B740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3943350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CAD 175M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41F7B-7862-4087-A5B4-B7D49410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325" y="4981575"/>
            <a:ext cx="36893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500 initial serviceable chains × CAD 350k/year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BA346-69D6-437F-A821-A566B4DF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3038475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5DB9E-94C3-4C7F-A5FB-861DA32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67050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Year-3 ending ARR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B90864-A7E0-4199-9A55-043C7504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3667125"/>
            <a:ext cx="41084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503D2B-1C15-4E58-8E3C-79850E60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3943350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CAD 52.5M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A9520-8D5E-4005-8309-F40FA08E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981575"/>
            <a:ext cx="36893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150 customers × CAD 350k/year</a:t>
            </a:r>
          </a:p>
        </p:txBody>
      </p:sp>
    </p:spTree>
    <p:extLst>
      <p:ext uri="{BB962C8B-B14F-4D97-AF65-F5344CB8AC3E}">
        <p14:creationId xmlns:p14="http://schemas.microsoft.com/office/powerpoint/2010/main" val="1012590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B558F-610E-43C8-8688-5BDB18C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CEE4E-A187-492E-89D2-4206BC56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COMPETITOR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2115F-68CD-4C99-A66A-A58B4C3C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Competitors validate the need; integration decides the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2D459-21BA-44B4-9B19-24535BDB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Qualitative positioning from public vendor descriptions. Competitors are commercial offerings; Retail Signal is a prototype.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B2E44-A6A7-4D79-915D-287591EF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32CCD-A074-43FD-8992-4880C635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63CBC-9D4F-4C97-A710-64FBE87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73AC0-8B27-4594-BC04-1575071F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F2734-161F-44CB-B3E8-CF0099DF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81AD8-CBD5-4B9B-960F-BC8D96D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85046-B41D-42C2-B071-0BBD7B48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A22A2-F13B-4141-90A7-7DD0A2CE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C791C-A9BD-470D-9008-3538D6D3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6BC42-B15A-4CDC-9670-496AE1E6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89C6A-991D-4C03-8F0C-35C94B16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0ADB1-C6B0-4736-A0A1-5549EB016B1A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Alternative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Established strength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Retail Signal’s proposed fit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Sensormatic TrueVUE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RFID inventory and fitting-room insight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Use equivalent event inputs in a wider decision workflow.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Oracle Retail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Connected merchandising, inventory and AI planning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Focus on retailers whose execution already runs on SAP.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Blue Yonder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Retail planning, scenarios and network intelligence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Bring early intent to a concise SAP approval workflow.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Existing SAP IBP / CAR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Demand planning and retail transaction context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Extend these products; reuse their planning and data services.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207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09DE2-2ED1-45E2-B8FB-659FA383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3795F-866F-41F3-A189-2055CEAD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COMPETITIVE ADVANTAGE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344B8-530F-4AD9-AA4C-E9F5292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SAP’s ecosystem can shorten the path to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2EF5A-3D7A-410A-BC93-090CEF8B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Proposed architecture. No live SAP integration or cross-customer training is present in this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42B28-9B09-445C-8594-AAE12B42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8CA4F-7F50-40C4-AC4F-D99D4760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5586B-097C-4E9D-A0BB-31F5AA89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18004-96E2-4620-8BDD-7457AD23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2E613-E2F1-4A63-B168-44A9C5DC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7AB8D-832F-4FA5-8388-8BA624CB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127FA-B143-4D6C-AC6D-5A97D91B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11A1B-E180-4513-8624-BA805964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27016-5CA8-4A95-B35B-945FFFC1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45E54-0966-43AB-ADE3-7665A53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1757A-B420-4FEC-953B-744AEB6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B8006-D228-408D-943C-695461E0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1E47B-5358-4B37-BAD2-7390CD7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Connected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05F41-1F3F-4115-AE15-8467BD6E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28016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7F13A-8930-456E-A6CF-09AD3E1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2458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S/4HANA holds stock movements and purchasing. Commerce Cloud contributes online context. IBP supports planning.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2509B-0B9C-4768-8443-1C456C50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53655-40CD-4CDA-92F9-F7838D38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Consistent business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3DDAC-34AA-48AA-ADED-A2958AE2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28016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DE7EC-D0C1-4006-B5E7-E2C91A21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12458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Authorized product, location, cost and supplier data can make recommendations more relevant to the retailer.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71DE2-CB74-4B9F-9423-BDB1E4DE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A6D9E-9972-4824-B78C-E92CF421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 with permission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EFF41-B033-4D4B-90FD-56E92E74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128016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058E3-3BE5-4FC4-85CB-BB053FAB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12458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SAP’s large client base creates a potential learning advantage, subject to contracts, consent and evaluation. More data alone does not prove better accuracy.</a:t>
            </a:r>
          </a:p>
        </p:txBody>
      </p:sp>
    </p:spTree>
    <p:extLst>
      <p:ext uri="{BB962C8B-B14F-4D97-AF65-F5344CB8AC3E}">
        <p14:creationId xmlns:p14="http://schemas.microsoft.com/office/powerpoint/2010/main" val="19437592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739E1-EB4F-4127-8221-171C255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CD77F-A3B3-4983-928C-E0752812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SWOT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B9290-40F9-4ECC-BF86-CF91CFED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SWOT: a credible extension with execution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F9C82-53AE-4AAA-9747-0305CBE4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Strategic assessment by Plus One Braincell; pilot evidence is needed to validate the opportunity.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6791F-8E43-47B8-BFB8-65B5EE7C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80009-E30B-41EC-A041-C12A81B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E053E-3589-4048-86B0-41DEA470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3F9D3-9896-4402-9D8A-35EF091B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2AF52-DDE7-43F4-A2D9-26D90A08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93852-E515-4502-A491-7F9F6880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7C50A-A9A3-47CD-9653-8F3C66B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FAEA9-BE31-4349-9D4C-808AA901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66A27-D833-4DA9-8BAA-D0F5AB7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09B71-3AD1-4FAC-91CE-CB6D5898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77FC2-55FA-410A-AFD3-76A074ED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32888-E248-4170-AA7E-6AD765A9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626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CD504-15CC-460A-A48D-98D5E3F0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STRENGTHS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C1355-49BF-49B5-93D2-38D28BD5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6267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F59E6-0615-46C0-9082-B6E6C535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85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15995"/>
                </a:solidFill>
              </a:defRPr>
            </a:pPr>
            <a:r>
              <a:rPr sz="57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95345-3BCF-4CC6-9A91-A08FE000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47815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Existing SAP workflows</a:t>
            </a:r>
          </a:p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One evidence-to-action experience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82BE3-5AF7-43B6-A46D-7BFFBDFF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33525"/>
            <a:ext cx="626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A7E5D-6F0A-49DF-8BEB-E261A7A8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62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90E13-0400-4C86-839D-65261E3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85975"/>
            <a:ext cx="6267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49825-B782-4454-A128-A7409051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85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15995"/>
                </a:solidFill>
              </a:defRPr>
            </a:pPr>
            <a:r>
              <a:rPr sz="57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653AE-C6C7-440A-A1D4-F341E3BE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47815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Prototype, not production</a:t>
            </a:r>
          </a:p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Hardware and data-quality dependence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8099F-6E9B-46C4-B5AF-07ECBB33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0025"/>
            <a:ext cx="626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53888-BA1C-4454-BD79-D11FEBFF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OPPORTUNITIES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628C5-F2E4-47BA-90AD-730F3EDC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62475"/>
            <a:ext cx="6267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566C0-198E-40EE-83E6-458715BF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85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15995"/>
                </a:solidFill>
              </a:defRPr>
            </a:pPr>
            <a:r>
              <a:rPr sz="57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DED8E7-F1AE-4BAD-A33B-D9B2E9CB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00600"/>
            <a:ext cx="47815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Sell into SAP retail relationships</a:t>
            </a:r>
          </a:p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Prove value on unavailable sizes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08273-F507-4A45-ADBC-6899F975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10025"/>
            <a:ext cx="6267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FA2DA9-AABB-4506-8344-02B5BFD3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C76B72-33EF-4C4B-AF95-8A7E9782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62475"/>
            <a:ext cx="6267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3B6CE5-FD5E-4CC3-ABD0-2D7FC411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0125"/>
            <a:ext cx="85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15995"/>
                </a:solidFill>
              </a:defRPr>
            </a:pPr>
            <a:r>
              <a:rPr sz="570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BE0C2D-DC54-4389-A9CE-55AF028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00600"/>
            <a:ext cx="47815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Strong planning and RFID vendors</a:t>
            </a:r>
          </a:p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Budget pressure and long sales cycles</a:t>
            </a:r>
          </a:p>
        </p:txBody>
      </p:sp>
    </p:spTree>
    <p:extLst>
      <p:ext uri="{BB962C8B-B14F-4D97-AF65-F5344CB8AC3E}">
        <p14:creationId xmlns:p14="http://schemas.microsoft.com/office/powerpoint/2010/main" val="2225290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9AB2E-7AD6-4A45-9CEF-E883611D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97A6C-4554-4AD7-A99E-3716541E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6EE38-4797-489A-B0B8-C306151C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Dependencies come before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78A18-4E40-4CAA-A5A1-87B0F001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Proposed SAP roles: CAR = transaction context; S/4HANA = execution; Commerce = online channel; IBP = planning.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386E9-8493-40BF-AAEC-C8DA1AAE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2781C-735F-4A79-84AC-203DB6DD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72360-58E7-4204-BB06-CE23096A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BD11A-2612-410D-94B0-E163A273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A8616-234F-4CAA-AB81-1848DB3F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63396-8572-46A5-8AC9-D3AD8541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FAAF9-FE9D-4CB1-8FD3-F9E1FB37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E1352-F023-46D4-AD43-D868E47E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DCAAA-0829-432C-8C35-7F6A50D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F997C-3E4A-4004-9006-6BB6F630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83E78-BB9E-4C9C-985B-1EF99B96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3B601-9D56-4CE1-9CA2-56E3E774A38E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Dependency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before pilot actions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Reliable shared records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Match SKU / size / location; reconcile stock and timestamps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Retail IT + data lead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 SAP integration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Tenant sandbox, supported interfaces, roles and audit trail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SAP / retailer integration team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Qualified demand events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RFID zone tests; session deduplication; bot filtering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Hardware + commerce teams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Commercial and privacy terms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Partner quotes, data agreement and retention policy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Procurement + privacy lead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7943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2C11E-CD60-4BF9-8BFA-D9B1BF32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CDA30-AE7E-43B7-A1D6-CF1C522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RISKS AND MITIGATIONS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541ED-0CBA-4BDE-800E-C7B7708B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Three risks could stop the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0E78B-9865-42B4-81B1-9577DA51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Risk owners: retail operations, privacy lead and CFO respectively. Thresholds are proposed pilot gates.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FA65A-7DDD-463D-BB91-24499059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8618B-EB26-4836-AF1F-8C29ED18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23A84-E1B7-4D8B-9029-E68020CB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475FF-97B6-4982-AC24-EBAE5B0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47100-52BC-4E27-9A73-F9620DDD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72128-CD11-4FC3-AD46-26437CDB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F73FA-5A40-474F-A175-12FCB46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79515-43C9-4FC4-8E9D-344E7BE0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C55AA-0863-489D-9F99-1358C8E8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E76C8-2656-4671-97EC-D411919A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0B38E-7682-4DB6-B9F9-46321018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7FCA8-79B2-4E5B-9D01-0EE53C10AEA4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12263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Stop / review trigger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12263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Wrong demand or stale stock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Confidence thresholds; fresh-stock check; planner approval; reconcile receipts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Stock mismatch &gt;2% or repeated bad transfers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263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Fitting-room privacy and trust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Garment events only; no cameras or identities; aggregate; short retention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Unresolved privacy concern or missing approval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12263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Low adoption or weak economics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Planner co-design; top exceptions only; matched comparison; capped pilot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No response-time improvement or no path to positive value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7303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1A093-56B2-4C9A-B8F0-0E918464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E7EEF-2A01-46E8-9DB6-CD61B48F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STAKEHOLDER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DE485-4D3C-4DF9-8C7D-004517BF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Decision rights resolve competing stakeholder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39F9A-AD62-4B11-AA7A-88CB0C58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Escalation: margin or reserve conflict → retail operations leader; data/privacy failure → pause affected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4270E-B700-4CDE-90A9-0EE2CDD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BDF1F-9963-41DD-95B8-32AA80B9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0A63E-BB2B-4546-8A31-1FF21848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A830F-A4D9-4A48-8D9B-0EB2AC52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5A10E-9F57-4B43-B28A-F71DFE31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342EF-9D91-467A-ACA1-51A7F1A5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627D0-E972-4EC4-B15C-3FDBDE6A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3615A-6824-4446-9A43-6F29851B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4BC97-81E5-4F1E-B6A2-DA4D95CA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E3256-00DC-47CC-A934-07B4191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8B40D-D584-4B07-BAB2-AAD756A1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2E7F5-AA59-48EC-9756-18360337C321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Stakeholder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they need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concession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Bob + store managers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Fast action without draining another store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Planner proposes; source manager protects reserve.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CFO / COO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Value, margin and spending control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CFO owns pilot gate and spending limits.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Retail IT + SAP product team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Secure integration and a clear product boundary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Reuse IBP / CAR; IT can block stale or invalid data.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Privacy + shoppers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No personal surveillance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Privacy lead approves collection and retention.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Hardware / service partners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Commercial incentive and support clarity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Partners earn hardware and deployment revenue.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7666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ED2FB-DE41-40FD-9159-61D283AE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EEA44-8071-4C76-9D22-440AD1F8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TRADE-OFFS AND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FC556-F2C2-4CC1-8BCE-D9D29C0A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Trade-offs are deliberate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04AA8-2406-4717-809C-036035D5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Try-ons and searches indicate interest, not guaranteed purchases or the cause of non-purchase.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86356-585B-4E65-B367-F6086887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F072A-5CE2-455C-93FE-6EB53F10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E81C8-4EC3-4B19-8774-30EC6F8A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A7B4E-9D50-4A7A-B90C-11D6F197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2067A-0F83-4B07-842A-76044FF6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D7037-CC03-4443-833E-5B65D137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2D2C6-BF70-4792-8100-5699C7C3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BCD02-7B83-4D31-8B87-2CE22A55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8F26F-0010-4062-9503-6421BE33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DEEB8-57D8-4BA2-AD9D-7038CCE4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F3F18-C1D5-4F6F-8143-9E7C5693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57833-D573-4EC8-B29D-DCA7C084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8436C-2FE9-462D-959B-B745B220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DDECA-2DC5-4BD0-9D0B-17070BB8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55C08-3DD0-450C-8240-713A956E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Slower than full automation; safer while evidence is uncertain.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070D7-60AB-4935-952C-4A6DB30D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6063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D6A79-A28D-4506-8538-8FCA18C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4638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Apparel and existing SAP users first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8AFBB-03AD-4AC4-85BD-7DC882FF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3263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52ED7-758C-4F1F-AF7D-6C07E70E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8988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Narrower reach; lower initial workflow and data complexity.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31E2D-B49D-4EE4-BC05-A872418A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37616-68DB-45D8-8A20-AD343CAE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RFID in selected stores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3EFD52-3F83-40E2-8DE6-96995D14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FAA67-672F-4CFE-851B-ABFDF70B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Less coverage; avoids outfitting every store before value is proven.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2E9ABE-8CC7-4E29-A8BD-8DEC91A6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29238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9B12CD-7829-49EC-BCB5-9E8E20A8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7813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before prediction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C4371C-A774-4F1B-B4C0-4FD7020C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6438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F8E2E3-A438-415D-9D1D-6CD5742E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2163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demo explains scenarios; live news prediction and autonomous procurement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13948498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14F1E-BAF8-41F3-B1DF-14E62A79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992EE-C6AF-45D9-A5F0-731039FF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IMPLEMENTATION TIMELINE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CB197-2D7F-4368-9B34-2E002B8F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 12-week pilot earns the right to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993A1-504D-45BA-9AAE-770913E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Resources: SAP product lead, 2 integration engineers, full-stack engineer, analyst, UX/change lead; retail and partner counterparts.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C0605-2D76-4FC8-BC59-1EA47E13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7BCBD-EBF8-49C6-A08B-2E57213E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627EF-B0E7-4F64-B7C3-ECC013E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1AF04-F84A-44FA-86A6-BA43902E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904A8-4F25-40D7-A811-759DE7A6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6BCB6-D150-47F5-9522-2ABFEFD3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00020-98A2-4F68-B41F-34DEB05A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28867-A12A-46B6-B870-245B0A7C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40514-F1CB-4553-8952-D90CA65A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482D3-7A6A-413D-B058-7D7F6D6B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17629-35FE-459D-80FB-88A2E5F7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1B5E0-9DFC-48B5-888E-0AF508C171A9}"/>
              </a:ext>
            </a:extLst>
          </p:cNvPr>
          <p:cNvGraphicFramePr/>
          <p:nvPr/>
        </p:nvGraphicFramePr>
        <p:xfrm>
          <a:off xmlns:a="http://schemas.openxmlformats.org/drawingml/2006/main" x="457200" y="1647825"/>
          <a:ext xmlns:a="http://schemas.openxmlformats.org/drawingml/2006/main" cx="128016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6272"/>
                <a:gridCol w="3200400"/>
                <a:gridCol w="7424928"/>
              </a:tblGrid>
              <a:tr h="914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Milestone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 and release gate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WEEKS 1–2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Establish trust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 planner interviews; baseline workflow; privacy and stock mapping.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WEEKS 3–5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Connect demand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Online signals and stock read-only; shadow recommendations; hardware zone tests.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WEEKS 6–8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Approve limited actions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 stores; controlled transfers; RFID evidence; reconcile all receipts.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WEEKS 9–12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Measure and decide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Matched-store evaluation; cost scenarios; CFO / COO scale or stop gate.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862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2BE0B-10C6-4E98-95B8-1C029B02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36233-B23C-49D6-81D7-860D5A6F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PILOT KPIs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44C5F-4FED-48C6-AA5F-A9E6BA80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Success means a faster, verified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7EA37-633D-4D92-861B-4660A68C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Targets, not achieved results. Compare pilot with matched stores and pre-pilot baseline; report uncertainty.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CA2E6-9918-4689-9225-61779880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5063B-58E6-4F7F-93EF-6C856C9B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1B09F-DD7B-4920-B3DF-06A72BD5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C35D2-D166-4F26-80D1-1456734D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E554D-3B65-40CB-A30B-A299010F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BDB0B-9F52-4942-97CD-4BE0FFE5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DBE69-8AC2-4445-A722-3D73E6C9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48BA2-F069-43D6-9ADD-87BFFD68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026B1-6957-4634-BB9B-0B846B7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2290A-862C-4729-A83C-1D4D81EF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0DA72-0783-4A7E-BD78-8AED5001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B021E-37B7-45F1-AFD1-BA14DBCA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08493-8472-4E6B-B5FD-BD4FEDF9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median response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F1737-1554-436F-B4EB-626B3AE2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C986E-040B-4803-94B4-100E5B2A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−50%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0FE45-1ADD-4ED6-8310-04768AE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Qualified signal → approved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7BFD8-73DC-4F46-94A6-9D06C557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46046-98A0-47DC-A474-B2B1AAD1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125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inventory reconciliation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6308E5-86D8-4320-AF3B-36945B35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775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9D659-3CED-4377-9C91-50B7EF63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≥98%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B7D8A-1885-45B3-9679-772A8C50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325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Physical / recorded stock agreement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E8693-E2F6-4D57-9439-22A444EE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1714500"/>
            <a:ext cx="410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C613F-A432-46C1-827F-9A9912DF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1743075"/>
            <a:ext cx="384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planner 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0E716-C101-44F7-940A-E10554A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350" y="2343150"/>
            <a:ext cx="41084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B2A1A-37FF-4734-97C6-F48C63E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0" y="2619375"/>
            <a:ext cx="3765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≥70%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90AAF6-2020-4986-8FA7-166FFAD1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657600"/>
            <a:ext cx="36893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52047"/>
                </a:solidFill>
              </a:defRPr>
            </a:pPr>
            <a:r>
              <a:rPr sz="17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Eligible pilot planners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28FEE8-1010-4F39-B600-6D444DDC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28016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D6FC87-CFDC-4BD7-AAB1-CD007C66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2268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52047"/>
                </a:solidFill>
              </a:defRPr>
            </a:pPr>
            <a:r>
              <a:rPr sz="21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Business gate: positive incremental contribution after transfer costs and returns, with a credible cash payback within 24 months at the negotiated price.</a:t>
            </a:r>
          </a:p>
        </p:txBody>
      </p:sp>
    </p:spTree>
    <p:extLst>
      <p:ext uri="{BB962C8B-B14F-4D97-AF65-F5344CB8AC3E}">
        <p14:creationId xmlns:p14="http://schemas.microsoft.com/office/powerpoint/2010/main" val="15540572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1AA94-6717-4791-94C2-359671C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DF8D4-7D3C-4810-A187-7BE3936B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FINANCIALS · PRICING AND REVENUE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D9620-50FD-4312-B52A-4EEE43B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One subscription; partners earn the hardware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FBCC2-3DB2-4F15-84E1-25AA3DA1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Proposed commercial model; quotes and accounting treatment unconfirmed. Existing tagged merchandise assumed; taxes and new tag programs excluded.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55672-E788-4292-8457-299E4BB9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E9E21-F81F-4EDF-B337-59AECF2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27B80-B4D7-4A1F-BF94-BB26E4D7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A6F27-AFAD-4C2A-814A-CDD88C95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503F4-4DD8-435D-8B09-2E32E0F2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73A97-7610-4E9C-AED1-3D3627FD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CF298-DE47-4B02-9F32-6AA1BA1C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CE989-4404-412F-85C5-7ECA7194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EC22F-4C09-4B93-BBDF-64E823BB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D3090-2D0B-439B-A519-D3D13553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4E93E-1409-452A-86BA-25506019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86FE8-D713-440B-A55F-8D3A6D57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412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15995"/>
                </a:solidFill>
              </a:defRPr>
            </a:pPr>
            <a:r>
              <a:rPr sz="412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CAD 350k / year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80945-431E-4A62-B72B-0EAA07A7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95425"/>
            <a:ext cx="523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Reference customer: 100 stores</a:t>
            </a:r>
          </a:p>
          <a:p xmlns:a="http://schemas.openxmlformats.org/drawingml/2006/main">
            <a:pPr algn="l">
              <a:defRPr sz="2025" b="0">
                <a:solidFill>
                  <a:srgbClr val="152047"/>
                </a:solidFill>
              </a:defRPr>
            </a:pPr>
            <a:r>
              <a:rPr sz="202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CAD 50k platform + CAD 3k per store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34E9B-E31F-4C18-AA0F-48B11C73AC84}"/>
              </a:ext>
            </a:extLst>
          </p:cNvPr>
          <p:cNvGraphicFramePr/>
          <p:nvPr/>
        </p:nvGraphicFramePr>
        <p:xfrm>
          <a:off xmlns:a="http://schemas.openxmlformats.org/drawingml/2006/main" x="457200" y="2667000"/>
          <a:ext xmlns:a="http://schemas.openxmlformats.org/drawingml/2006/main" cx="12801600" cy="3686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8321040"/>
              </a:tblGrid>
              <a:tr h="9215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charge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Recipient / split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9215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 8k per equipped store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OEM / tag supplier 62.5% · distributor 12.5% · installer 25%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15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 75k customer onboarding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Delivery partner 80% · SAP coordination fee 20%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9215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product subscription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SAP 100%; partner hardware invoiced separately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4586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D8FFB-8971-45E0-9EF8-D42067F2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E118D-05A3-4B36-B2CA-19D88937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FINANCIALS · REFERENCE CUSTOMER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8DC27-EAE7-48DF-8EF1-4517851A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Retailer value must clear the cash-only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C8355-D060-453F-A0A8-7E8F290E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Illustrative steady-state annual benefits; not measured. Base cash-only payback misses the 24-month scale gate.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7D903-E9FD-4367-8BDD-98D8D701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CA4A2-2ADF-420B-B68E-B77634B8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25051-20CD-46E3-BB99-E99D42CF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957D6-1474-4DBF-81E7-C6300E11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100CC-7405-43C7-9859-C89DAD5F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D1061-43E1-4CFB-945A-35298F55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4DC5E-ED80-42C5-8DB4-D2FDFE00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EB5A8-C608-495D-BF74-8FD54D85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017C5-1D4C-473A-9CE4-26C07962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92953-1648-435F-B3A4-1C9D961E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0BFD5-BC03-448F-82FD-BF8F8D4E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CA4A2-CE08-4EC2-A405-775609288416}"/>
              </a:ext>
            </a:extLst>
          </p:cNvPr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128016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68496"/>
                <a:gridCol w="2176272"/>
                <a:gridCol w="6656832"/>
              </a:tblGrid>
              <a:tr h="6686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value / cost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Recovered-sales 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1% of CAD 100M sales × 45% contribution margin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Planner / store capacity freed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364,000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 h/store/week × 100 × 52 × CAD 35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Subscription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(350,000)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100-store reference price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Upfront deployment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235,000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 RFID stores × CAD 8k + CAD 75k onboarding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625A4-BF24-416F-A56B-CE0BAB30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6276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D4020-5B9E-4B96-9AC0-B4609834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6010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economic payback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CEEE0-3A55-421C-83BA-980FCD1A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15995"/>
                </a:solidFill>
              </a:defRPr>
            </a:pPr>
            <a:r>
              <a:rPr sz="30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6.1 months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DA96A-8885-4699-95E9-3719C7FC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610225"/>
            <a:ext cx="3295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Includes value of time freed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95C24-4F49-45D6-983E-4AD991C6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153025"/>
            <a:ext cx="6276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E3C6A8-11E6-4222-9004-75392AD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181600"/>
            <a:ext cx="6010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cash-only payback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EBE5E-5106-4E74-97F2-2469B9CF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629275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30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215995"/>
                </a:solidFill>
              </a:defRPr>
            </a:pPr>
            <a:r>
              <a:rPr sz="30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28.2 months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79BF5A-2F4F-45FC-A4AC-B4D636C5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610225"/>
            <a:ext cx="32956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Excludes time unless cash is saved</a:t>
            </a:r>
          </a:p>
        </p:txBody>
      </p:sp>
    </p:spTree>
    <p:extLst>
      <p:ext uri="{BB962C8B-B14F-4D97-AF65-F5344CB8AC3E}">
        <p14:creationId xmlns:p14="http://schemas.microsoft.com/office/powerpoint/2010/main" val="12005242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5E6C1-18C2-4143-86BE-7099D663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D52EB-048F-4BC9-BCD9-5F581B0B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FINANCIALS · SAP PRODUCT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91229-01DC-4F71-BDF0-AF432EC3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SAP’s base scenario reaches CAD 38.1M in year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7A958-1C96-4072-8724-CCB2144F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Illustrative, not SAP guidance. Midyear customer wins, no churn, CAD 350k/customer/year; hardware pass-through excluded.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261F4-FE25-471D-B89D-396BD295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4A943-705F-4ABA-B451-A280C06C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472B8-CCB4-49C4-BB87-1D411EDE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1FECF-1A52-4767-80DB-86F51630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3C5BD-A8BD-40A2-AB82-F5C700E9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979C2-360B-4AE3-9DAB-31814570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BFF62-F067-4507-919A-63D24A19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E76AF-8B18-45EF-BB3A-4F511756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978B2-E221-4ED3-96BB-E24CF87F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9E212-3A38-4EF4-AF8B-900418F7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0346E-624F-4EC6-97EE-16DFCC9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B56A2-5AA7-4F30-A81E-7D8D7E4F7659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 millions, unless noted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Ending customers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Average active customers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Subscription revenue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3.50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14.00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36.75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Net onboarding fee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0.30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0.60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1.35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modeled SAP revenue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3.80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14.60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38.10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Hosting / support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(0.88)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(3.50)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(9.19)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/ sales / operations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(5.00)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(6.00)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(8.00)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Operating 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(2.08)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5.10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20.91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1774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1B47B-6DA9-4736-88E6-14C5E276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BF5D6-A5FA-42B1-919B-F10CFC02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VALUE PROPOSITION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811F3-E3D1-4E92-A8F6-158A5A79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Earlier evidence is useful only when teams can 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38DBC-C57D-4271-95B7-AC92E521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One SAP Retail Signal subscription. Shared evidence, shared inventory context and a traceable response.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B3A5D-4277-4F9F-899A-240B2FA3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E080A-C783-4B3A-A96F-E4D946E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8CC6E-B0DB-43FB-9E4B-37EF3AC2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F2F93-7291-498F-8D18-1D059382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73288-86E5-4C8C-B297-DC01EF7F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80969-7F0D-4A32-9F31-5565A9D1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A23F0-8413-4160-9FF9-23A39B72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F4841-AFC9-4A4D-9D0C-B5EF1DBA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A3055-F02E-4DFE-889B-8D4AB65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46679-F381-4A9A-999C-911E96E0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59628-3F2E-4E23-BB4E-84EF75CA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DD6D4-574F-4E9C-A93F-082D306F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1FD8A-4E9D-4733-B3A2-E5FEFDA9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Bob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9154F-151D-4202-957A-0030435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923BA-86DD-45BF-8D95-8E403897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 prioritized decision with evidence, alternatives and a visible owner.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93EB0-6A24-494F-901A-18EE6C2E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6063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E288D-0B28-4FF1-912F-9582C815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4638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the retailer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FBDC4-B276-4B3B-82A1-A77689D4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3263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99773-94A6-44D1-9398-493CA019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8988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Better availability and margin discipline, measured against the cost of responding.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EDF682-5256-4E23-B6AC-B6AAC7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3284B-CE49-4FE5-9312-BE006B4D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shoppers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F359D-3EA2-422F-A4D6-58E913A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1AAED-6185-45D3-AB2E-5E897079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 better chance of finding the right size, without personal fitting-room surveillance.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FA7BCE-898B-49E2-A8DB-EC05194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29238"/>
            <a:ext cx="1280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22CDF-216B-428A-A412-59A305C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7813"/>
            <a:ext cx="1253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SAP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083BA-6464-40F4-8B1D-93E8E2CA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6438"/>
            <a:ext cx="128016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164267-521B-488B-ACF2-D065BFE2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2163"/>
            <a:ext cx="12458700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2047"/>
                </a:solidFill>
              </a:defRPr>
            </a:pPr>
            <a:r>
              <a:rPr sz="18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 focused extension of existing retail workflows and recurring software revenue.</a:t>
            </a:r>
          </a:p>
        </p:txBody>
      </p:sp>
    </p:spTree>
    <p:extLst>
      <p:ext uri="{BB962C8B-B14F-4D97-AF65-F5344CB8AC3E}">
        <p14:creationId xmlns:p14="http://schemas.microsoft.com/office/powerpoint/2010/main" val="7519987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71315-1725-4504-B9BC-550B0041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7F212-EA8E-4CBF-8EBE-5A2DC175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CALL TO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622FE-C98F-4158-BB29-4A769F3B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 pilot decision, with a clear scale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AAA1F-78E9-471C-A89A-862002A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Pilot budget included in year-one operating spend. Funding, customer participation and partners remain proposed.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B2A85-3387-4181-96D8-783850DB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43F56-3822-46DB-B5DD-B14A253F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3B5BF-BA1D-4A7F-80FE-8C6E3982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AA954-EB15-4F1B-AABD-B2FBBCA3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E1D9-1FCC-475C-8A5E-83B41430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253F7-34AA-4682-8B72-CC933D65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9B38D-E83F-47D3-B2A0-C61594B0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66DC8-C247-448A-B0BA-C18A8064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2047"/>
                </a:solidFill>
              </a:defRPr>
            </a:pPr>
            <a:r>
              <a:rPr sz="135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A427E-3918-4200-BA13-C0D0DDAB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2580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78D81-1361-4B16-BAB1-2688D9BD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2866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08002-60AB-4C67-8EBB-D78FBCD6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B3E5B-1170-4E34-BA29-24B1DF27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2197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5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9103B-E58E-49F3-9592-952024A6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686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CAD 250k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987E4-ECBE-4B3D-AA22-5DE788AF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45148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SAP-funded pilot proposal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 weeks · 10 stores · one apparel design partner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B346A-2CFD-46EF-A028-317F3CBF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0225"/>
            <a:ext cx="6762750" cy="412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2047"/>
                </a:solidFill>
              </a:defRPr>
            </a:pPr>
            <a:r>
              <a:rPr sz="24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Approve a capped pilot, name the retail sponsor and agree access to a sandbox.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52047"/>
                </a:solidFill>
              </a:defRPr>
            </a:pPr>
            <a:r>
              <a:rPr sz="2475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Scale when response time improves, stock reconciles and cash payback meets the 24-month gate.</a:t>
            </a:r>
          </a:p>
        </p:txBody>
      </p:sp>
    </p:spTree>
    <p:extLst>
      <p:ext uri="{BB962C8B-B14F-4D97-AF65-F5344CB8AC3E}">
        <p14:creationId xmlns:p14="http://schemas.microsoft.com/office/powerpoint/2010/main" val="2092558487"/>
      </p:ext>
    </p:extLst>
  </p:cSld>
</p:sld>
</file>

<file path=ppt/slides/slide2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B9BE1-D087-4CA3-95A5-CFC4CE14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E7D81-C507-4BE8-911B-19949E70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F0FE4-78EC-4B1C-8EF8-CB0EED63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Financial assumptions and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C6C9E-568C-4930-82FA-B4808091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520E6-F1E1-4290-87B8-4A9D8ACB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6512D-FFA7-4464-93EE-DCA46FF3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0BE8C-C6F2-42AE-A99B-5A2BA321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7E000-E7AE-41C2-8BEE-6F941D0168C1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 assumption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required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Currency / reference customer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CAD; 100 stores; CAD 100M annual sales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Retailer finance data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price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50k platform + CAD 3k/store/year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Willingness-to-pay and procurement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RFID footprint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 of 100 stores; CAD 8k/store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Vendor quote; already tagged inventory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Onboarding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75k total; CAD 15k retained by SAP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Partner scope and signed contract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Retailer uplift / 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1.0% sales; 45% incremental contribution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Matched-store test; net of returns and variable costs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Freed time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 hours/store/week; CAD 35/hour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Time study and redeployment plan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38503"/>
      </p:ext>
    </p:extLst>
  </p:cSld>
</p:sld>
</file>

<file path=ppt/slides/slide2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5AFEA-4BAE-4DB0-8744-09F929B6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F3431-3F14-4AE8-A15F-8CA53856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F1F36-FCDE-48E1-8590-B0AAB364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Retailer calculations: value and payback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B0821-0518-42D8-9530-F498AF9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Simple payback assumes steady-state benefits from day 1; ramp-up lengthens realized payback.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EE15E-84E0-4D1A-8516-11A24BCE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3F8B6-ABB0-4ACC-94BE-B0F4F4B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8B1FF-151E-45BE-8922-727FEA81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26274-59B6-41F6-8EC9-0608010021B3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Formula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 / result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Recovered sales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100,000,000 × 1.0%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1,000,000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Incremental 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1,000,000 × 45%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Capacity value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100 × 2 × 52 × 35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364,000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economic value net of fee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450,000 + 364,000 − 350,000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464,000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cash-only value net of fee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450,000 − 350,000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Upfront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 × 8,000 + 75,000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235,000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61317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Payback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235,000 ÷ annual net × 12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6.1 months economic / 28.2 cash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24663"/>
      </p:ext>
    </p:extLst>
  </p:cSld>
</p:sld>
</file>

<file path=ppt/slides/slide2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BF417-146B-4734-B2E6-DDA6DA3A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B115D-5912-49FC-A2F5-4B452C0E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050F8-5E59-45AC-A6A6-57645D74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Retailer sensitivity and break-even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FE2C2-908A-43FD-A748-ECFA2826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BCDAF-4F0D-407D-AA12-46CF80C0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56B03-03AB-4D3B-B823-306ED5D0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9B424-918E-4BE6-937B-8D658D44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6DBC3-080E-43D1-A9F3-46CA66CF2ED8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Recovered sales uplift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cash net after fee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Cash-only payback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Economic payback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0.5%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−CAD 125k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No payback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11.8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1.0% · base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100k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28.2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6.1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1.5%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325k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8.7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4.1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2.0%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550k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5.1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3.1 months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84302-5624-4610-BB94-9BEAC4C6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249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Renewal cash break-even: 0.778% sales uplift.</a:t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24-month cash payback gate: 1.039% uplift.</a:t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First-year cash break-even: 1.300% uplift.</a:t>
            </a:r>
          </a:p>
        </p:txBody>
      </p:sp>
    </p:spTree>
    <p:extLst>
      <p:ext uri="{BB962C8B-B14F-4D97-AF65-F5344CB8AC3E}">
        <p14:creationId xmlns:p14="http://schemas.microsoft.com/office/powerpoint/2010/main" val="1351261455"/>
      </p:ext>
    </p:extLst>
  </p:cSld>
</p:sld>
</file>

<file path=ppt/slides/slide2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1DD6B-2040-4A38-B956-3F982F9C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34796-A836-4599-92F0-DF05A5E6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770C2-63AF-49F0-90BC-744D5210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Recommendation 1: proposed money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F7D20-59B0-45BA-B9D3-A5730E8E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Illustrative allocations, not manufacturer prices or signed commercial terms. No hardware revenue booked by SAP.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FB1EF-D74E-4C53-902C-BF7522BE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D8097-B216-409A-A992-81B40E4A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FD6BA-6A98-4DB5-AC9B-7335C4B0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B5804-BECE-47A8-88BB-4F2CEC668EC9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08576"/>
                <a:gridCol w="4480560"/>
                <a:gridCol w="1920240"/>
                <a:gridCol w="179222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charge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Recipient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One store hardware + install: CAD 8k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OEM / tag-equipment supplier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62.5%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Same invoice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Regional distributor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12.5%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Same invoice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Installation / device-support partner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25.0%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onboarding: CAD 75k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Delivery / integration partner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80.0%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Same onboarding scope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SAP coordination fee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15,000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20.0%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 subscription: CAD 350k/year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SAP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60477"/>
      </p:ext>
    </p:extLst>
  </p:cSld>
</p:sld>
</file>

<file path=ppt/slides/slide2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F9D52-C637-43F2-8703-4DBF10BA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E2AFC-D6E8-4BE9-83C0-323AB60C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E3598-1727-4B1E-8224-F5A55A95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revenue and cost formulas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B9CF2-240A-4CBE-A3E1-0EF6F2EF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E50C5-63BD-4EAF-9595-A63DF770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91916-2D13-4FAB-8ACC-5EF9DF6F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D13E3-111E-43A5-8908-A71D64B3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9675B-EA55-4C9F-B624-71FB021A192A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1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3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Beginning / new / ending accounts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 / 20 / 20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 / 40 / 60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60 / 90 / 150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Average accounts: begin + ½ new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SaaS: average × CAD 350k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3.500M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14.000M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36.750M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Net service: new × CAD 15k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0.300M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0.600M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1.350M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 cost: SaaS × 25%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0.875M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3.500M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9.1875M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 product / sales / operations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5.000M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6.000M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8.000M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−2.075M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5.100M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20.9125M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504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Cumulative contribution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−2.075M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3.025M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23.9375M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89137"/>
      </p:ext>
    </p:extLst>
  </p:cSld>
</p:sld>
</file>

<file path=ppt/slides/slide2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2EE36-34E9-4753-85E2-82984DF4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868E3-5C94-4103-BCD9-E542C3F3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2543E-ED3A-464D-8B46-106B8C59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downside and concentration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24E76-C108-4587-B0BE-9DD65E4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Scenario analysis, not forecasts. Zero churn is optimistic; renewal, sales cycles and cloud usage require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7216B-9935-401A-A4C8-E90F17C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FBC06-FC6B-4B3E-8EB8-07E20BBD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9B395-D6EF-4064-BEBF-EADB0D99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D1B0B-5B9B-4177-ADCE-0D59ABFC5627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Year-3 ending accounts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Year-3 contribution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3-year cumulative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Base: 20 / 60 / 150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20.91M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23.94M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Slower wins: 10 / 40 / 80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8.35M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5.83M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Price CAD 300k; variable cost 35%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13.83M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13.48M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Stalled after 20 customers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−CAD 2.75M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−CAD 5.58M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B1948-2065-45BD-B33F-983100E2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249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Renewal-only break-even at CAD 6M fixed spend:</a:t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CAD 6M ÷ (CAD 350k × 75%) = 22.9 full-year accounts.</a:t>
            </a:r>
          </a:p>
        </p:txBody>
      </p:sp>
    </p:spTree>
    <p:extLst>
      <p:ext uri="{BB962C8B-B14F-4D97-AF65-F5344CB8AC3E}">
        <p14:creationId xmlns:p14="http://schemas.microsoft.com/office/powerpoint/2010/main" val="1706870103"/>
      </p:ext>
    </p:extLst>
  </p:cSld>
</p:sld>
</file>

<file path=ppt/slides/slide2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6E2E1-2D92-4DBA-BA1E-A49399B4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A86F7-07D5-4DBF-93FC-A88E68A4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18411-6C8C-42C9-A56A-F56FCFE4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Pilot funding and release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132AE-4BB3-484B-8B00-90BB8982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F74CF-416D-46D8-8557-EF9A2F59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9C0F8-B7B5-4D66-8812-EBC6F9D7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B2BFF-0542-4839-96DA-6C004436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1A36F-A1D1-4A4E-A8D1-7ED327EF0506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 of funds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Release condition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10-store hardware trial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Zone accuracy and partner quote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Integration engineering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Sandbox, fields and access approved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+ measurement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Baseline and matched-store design agreed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 + adoption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Named planners and store champions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Contingency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Sponsor approval for actual need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pilot proposal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250,000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Capped; included in Year-1 fixed spending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452382"/>
      </p:ext>
    </p:extLst>
  </p:cSld>
</p:sld>
</file>

<file path=ppt/slides/slide3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E3E32-1485-4D25-85F9-29564CA0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1A459-CEC3-4D1E-B902-7792E75D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20D24-6622-4BE5-9F62-135FE95C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What is implemented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360E8-D08C-404E-8B99-47DDB151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React + TypeScript + UI5 interface. SAP-like styling does not itself establish SAP integration.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48C5F-BAA3-465C-B715-EE64984E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8D84B-BFBF-4420-A72F-62F812F4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63EB0-46E5-4558-8BD5-6B1866BD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95BBF-768A-4076-A32A-F7223A945D14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prototype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Needed for production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Demand evidence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Seeded try-ons, purchases and qualified digital aggregates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Live RFID and commerce collection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Supply and cost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Selectable network, editable demo rates, public benchmarks, shortage simulation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Validated supplier / material / logistics feeds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Assistant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Deterministic explanations and calculations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Authorized SAP Joule orchestration and evaluation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proposal → approve → issue → receipt lifecycle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Authenticated SAP tenant APIs, permissions and reconciliation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17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Storage / security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Browser-local demo state; no business database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Tenant database, identity, access controls and audit storage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664432"/>
      </p:ext>
    </p:extLst>
  </p:cSld>
</p:sld>
</file>

<file path=ppt/slides/slide3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5ED55-CD60-46D3-BAD3-972B7F7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A2025-8814-4289-93EE-314D2B97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3A3AE-9E40-4915-AF07-88A57BC1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Proposed SAP integration responsibilities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7FECF-5476-45D3-9C09-E48599B8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Required products and licenses depend on the retailer’s landscape. Reuse existing planning instead of replacing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A95F3-612E-4589-895C-992EBD73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21AAD-6022-4171-9A47-F385C8D4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E8056-7805-46B5-B442-5D32AAA7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62875-2B71-48F4-9613-C702938C02C1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application / service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the proposed product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status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CAR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Shared sales and retail inventory context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Seeded inputs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S/4HANA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Purchasing, stock transport, issue and receipt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Local workflow simulation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Commerce Cloud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Online events and sellable availability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Seeded events / shared demo stock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IBP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Planning scenarios and approved planning handoff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Export / mapping concept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BTP / Integration Suite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Secure interfaces, event routing and monitoring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Production design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Joule / Business AI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Explain evidence and call approved business actions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Joule-inspired deterministic demo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14831"/>
      </p:ext>
    </p:extLst>
  </p:cSld>
</p:sld>
</file>

<file path=ppt/slides/slide3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53F82-64DD-49AE-886B-A0FADC70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D5230-9AB8-4EAA-A0D1-FA0868E0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0C3C7-6483-4ACF-BD35-C6D49C95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transfer demo: conservation of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340EF-1FF3-43FA-A331-78093220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CAD 60 transfer cost = 40 × CAD 1.50/unit. Two-day transit is an assumption; the 9-day alternative misses the 7-day window.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0F24F-1572-43BE-BD68-23B36D23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35E11-CB06-465B-B487-68E1C6AD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1E73A-CDAF-4A43-BDCA-ABD959EB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5F489-DBD0-4F7B-940D-840BF47A2AFC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04688"/>
                <a:gridCol w="2432304"/>
                <a:gridCol w="2432304"/>
                <a:gridCol w="2432304"/>
              </a:tblGrid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Burnaby physical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 transit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Vancouver sellable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proposal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40-unit proposal / approval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Goods issue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Goods receipt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1041E-C71A-46D9-8EF6-25457893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249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proposal reserves 40 available units and preserves Burnaby’s 36-unit reserve.</a:t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The scenario covers 48 / 80 = 60%; 32 units remain uncovered.</a:t>
            </a:r>
          </a:p>
        </p:txBody>
      </p:sp>
    </p:spTree>
    <p:extLst>
      <p:ext uri="{BB962C8B-B14F-4D97-AF65-F5344CB8AC3E}">
        <p14:creationId xmlns:p14="http://schemas.microsoft.com/office/powerpoint/2010/main" val="1515515912"/>
      </p:ext>
    </p:extLst>
  </p:cSld>
</p:sld>
</file>

<file path=ppt/slides/slide3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6E29F-A8C1-475F-ACC6-E211ECEE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BAA29-F5A4-40BD-B6E3-5D4E17C7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C7CE4-64C9-42EB-9446-1716CAE8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Demand calculations and inference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08996-7B9E-4429-95D8-619ACD82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4F695-63E1-40BD-B155-0FE7752A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18128-9204-45DB-AEC7-81AE878D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4DD30-A24C-41A0-B274-53ED9BE9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013AC-B539-4DCF-B28C-5093B75FC0E4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6432"/>
                <a:gridCol w="4992624"/>
                <a:gridCol w="4352544"/>
              </a:tblGrid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Signal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Calculation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 establish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Try-on conversion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43 ÷ 240 = 17.9%; 32% baseline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Conversion is lower; cause still needs investigation.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Online shortage scenario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floor(162 sessions × 15%) = 24 units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A quantity to test, not 24 confirmed orders.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Gross online exposure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24 × CAD 39 = CAD 936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Illustrative retail value before uncertainty.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Estimated foregone online sales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936 × 70% = CAD 655.20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Depends on the explicit lost-sale assumption.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7A841-D5A2-447D-BE7E-577A4512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249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Qualify session + SKU pairs; exclude bots and repeated events.</a:t>
            </a:r>
          </a:p>
          <a:p xmlns:a="http://schemas.openxmlformats.org/drawingml/2006/main">
            <a:pPr algn="l">
              <a:defRPr sz="1950" b="0">
                <a:solidFill>
                  <a:srgbClr val="152047"/>
                </a:solidFill>
              </a:defRPr>
            </a:pPr>
            <a:r>
              <a:rPr sz="19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Do not add store and online signals into a unique customer total.</a:t>
            </a:r>
          </a:p>
        </p:txBody>
      </p:sp>
    </p:spTree>
    <p:extLst>
      <p:ext uri="{BB962C8B-B14F-4D97-AF65-F5344CB8AC3E}">
        <p14:creationId xmlns:p14="http://schemas.microsoft.com/office/powerpoint/2010/main" val="1867957886"/>
      </p:ext>
    </p:extLst>
  </p:cSld>
</p:sld>
</file>

<file path=ppt/slides/slide3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60AB0-0E72-4DE1-81B1-9A1F62EB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1B612-9191-4E5C-8B33-ECCBC409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C622B-46CC-4EBA-9060-18941692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Gas-shortage demo: unit cost and cohort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C7C5E-3990-4062-8103-DF7D756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MMBtu = million British thermal units, an energy measure. Production reduction and price increase are independent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9B1B1-3E38-4366-8CBD-F68CDC1C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920B7-CE79-4E36-8758-0767AEE6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1FB14-1AF1-4947-B319-AAF8FB70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1C0DD-AC65-44D1-BC41-08E9C226032C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68496"/>
                <a:gridCol w="8833104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/ result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scenario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Shock assumptions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25% less input supply; +30% input price; +7 days; 30-day horizon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Cream top energy uplift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0.12 MMBtu × CAD 5.80/MMBtu × 30% × 100% pass-through = CAD 0.2088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Cream top landed cost / margin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13.50 → 13.71; 65.38% → 64.85% at CAD 39 retail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new-production cohort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Added cost CAD 208.22; weighted margin 68.20% → 67.89%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Deferred production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329 of 1,309 planned new units; not assumed permanently lost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Planning-cohort profit reduction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CAD 15,339.50 on deferred units + CAD 208.22 added cost = CAD 15,547.72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153096"/>
      </p:ext>
    </p:extLst>
  </p:cSld>
</p:sld>
</file>

<file path=ppt/slides/slide3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2405D-31F9-4BC2-9AD2-D9290846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245F7-941F-472B-AFA7-7060130D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37FB1-6123-4FF1-8C0A-8020CA81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Sources: case, market and SAP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F175D-00FE-4151-BE4D-6FA39D7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Accessed 25 Oct 2026. The Launchpad’s valuation and H1 revenue figures are omitted because they are unnecessary to the investment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D15AD-7914-401F-A73D-0B493BB4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BB840-4D79-42FE-9365-0B0E228F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350C5-67F1-4986-AA53-A133DC51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55684-5272-4CD7-A100-BF7E0008AF86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12801600" cy="506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44368"/>
                <a:gridCol w="9857232"/>
              </a:tblGrid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and scope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 · Product+ case package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Supplied PDF, pp. 3–5. Challenge, user roles, SAP customer/country baseline.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S2 · Plus One Braincell Launchpad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Supplied PDF, recommendations 1–3 and source bibliography. Team 463980.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S3 · SAP Future of Retail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https://www.sap.com/engage/future-of-retail.html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14,000+ retail customers; broader footprint, not eligible apparel accounts.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 · Shopify fashion industry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https://www.shopify.com/uk/enterprise/blog/ecommerce-fashion-industry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2026 fashion e-commerce projection, citing Statista; different scope from apparel sales.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844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S5 · McKinsey agentic commerce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https://www.mckinsey.com/capabilities/quantumblack/our-insights/the-agentic-commerce-opportunity-how-ai-agents-are-ushering-in-a-new-era-for-consumers-and-merchants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US$3–5T goods commerce by 2030 is context, not software TAM.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00703"/>
      </p:ext>
    </p:extLst>
  </p:cSld>
</p:sld>
</file>

<file path=ppt/slides/slide3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A7A95-D63E-4F1E-AFF8-7CBE7AC0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2F4D5-4751-4276-9551-8A1793A1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F2661-3566-4E66-BA5B-27BCF9F7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Sources: SAP applications and AI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3D685-034F-4F3A-8E55-DEE2473E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Accessed 25 Oct 2026. Product capabilities are vendor descriptions; proposed integrations are not completed integrations.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56BB8-8623-4D83-9D13-82C00FFB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0643F-E0DF-4CEE-85F1-DFF2439C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938E8-1145-4151-84DB-24F3C56B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3A750-6B70-4815-BDE1-D6FAB7731124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12801600" cy="506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44368"/>
                <a:gridCol w="9857232"/>
              </a:tblGrid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and scope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S6 · Customer Activity Repository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https://www.sap.com/products/crm/customer-activity-repository.html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Transaction, demand and inventory context.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S7 · Commerce / planning / execution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https://www.sap.com/products/crm/commerce-cloud.html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https://www.sap.com/products/scm/integrated-business-planning.html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https://learning.sap.com/products/s4hana-cloud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S8 · Integration Suite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https://www.sap.com/products/technology-platform/integration-suite.html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Controlled SAP and third-party integration; actual tenant mapping still required.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S9 · AI data handling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https://www.sap.com/products/artificial-intelligence/ai-ethics.html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https://learning.sap.com/courses/building-confidence-in-ai-with-sap/does-ai-train-on-my-data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Use depends on agreements and service settings; external model training is restricted.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070219"/>
      </p:ext>
    </p:extLst>
  </p:cSld>
</p:sld>
</file>

<file path=ppt/slides/slide3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8C282-6F02-4BB1-9791-FA6A7080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ADAD6-7F9E-41F9-AEB9-EB97B404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278B3-7EB6-47DF-A63B-D9E98C2A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Sources: hardware, distribution and competition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97CAE-9495-4655-8EEA-DCC96541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Sources establish capabilities and geographic presence, not a signed Retail Signal partnership or a completed feature audit.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4D77A-70B8-49C8-A1DC-D86E70BB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DE999-C3B7-4BDC-8AA8-CC188963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AF4F3-B824-4AAB-A613-CF430D5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AF529-7B03-4E21-9E52-D87987D24446}"/>
              </a:ext>
            </a:extLst>
          </p:cNvPr>
          <p:cNvGraphicFramePr/>
          <p:nvPr/>
        </p:nvGraphicFramePr>
        <p:xfrm>
          <a:off xmlns:a="http://schemas.openxmlformats.org/drawingml/2006/main" x="457200" y="1457325"/>
          <a:ext xmlns:a="http://schemas.openxmlformats.org/drawingml/2006/main" cx="12801600" cy="506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44368"/>
                <a:gridCol w="9857232"/>
              </a:tblGrid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and scope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S10 · Hardware capability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https://www.zebra.com/us/en/products/rfid/rfid-readers.html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https://rfid.averydennison.com/en/home/industry-segments/retail/apparel-and-fashion.html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S11 · Regional presence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Ingram Micro: global locations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TD SYNNEX: regional coverage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Redington: global presence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Full links in speaker notes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S12 · Competitors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https://www.sensormatic.com/de_de/TrueVUE-Inventory-Intel/TrueVUE-Fitting-Room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https://www.oracle.com/retail/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https://blueyonder.com/solutions/retail-planning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S13 · Prototype and public reference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Current local Retail Signal website, captured 25 Oct 2026.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https://fred.stlouisfed.org/series/PNGASUSUSDM</a:t>
                      </a:r>
                    </a:p>
                    <a:p>
                      <a:r>
                        <a:rPr sz="14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Public commodity observations are not supplier quotes.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566991"/>
      </p:ext>
    </p:extLst>
  </p:cSld>
</p:sld>
</file>

<file path=ppt/slides/slide3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D6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42D38-2B2C-4DF4-9F57-B2DDE016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9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55C0C-612B-4AB8-A5FC-77DE07A0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"/>
            <a:ext cx="1219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 ·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86C30-DB3F-4DB4-9EB6-6E99AEF2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52047"/>
                </a:solidFill>
              </a:defRPr>
            </a:pPr>
            <a:r>
              <a:rPr sz="3000" b="1">
                <a:solidFill>
                  <a:srgbClr val="152047"/>
                </a:solidFill>
                <a:latin typeface="Arial"/>
                <a:ea typeface="Arial"/>
                <a:cs typeface="Arial"/>
              </a:rPr>
              <a:t>Evaluation coverage and 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F3E44-3CD4-409B-8315-CBA8A7F1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52047"/>
                </a:solidFill>
              </a:defRPr>
            </a:pPr>
            <a:r>
              <a:rPr sz="120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SAP Retail Signal · Supporting detail for Q&amp;A · All financial forecasts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E7822-03B8-4E61-9BF8-03939E13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86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15995"/>
                </a:solidFill>
              </a:defRPr>
            </a:pPr>
            <a:r>
              <a:rPr sz="1350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A05E9-EB58-4F5B-938A-9A3F684F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866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52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52047"/>
                </a:solidFill>
              </a:defRPr>
            </a:pPr>
            <a:r>
              <a:rPr sz="1350" b="0">
                <a:solidFill>
                  <a:srgbClr val="152047"/>
                </a:solidFill>
                <a:latin typeface="Arial"/>
                <a:ea typeface="Arial"/>
                <a:cs typeface="Arial"/>
              </a:rPr>
              <a:t>Supporting calculations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CDBDF-6663-41CB-A40F-7664D5B5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27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21599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215995"/>
                </a:solidFill>
              </a:defRPr>
            </a:pPr>
            <a:r>
              <a:rPr sz="1275" b="1">
                <a:solidFill>
                  <a:srgbClr val="215995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107C6-AF15-4A53-825F-979D2EF1E34A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28016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4448"/>
                <a:gridCol w="1536192"/>
                <a:gridCol w="7680960"/>
              </a:tblGrid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Evaluation criterion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Where addressed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T w="9525">
                      <a:solidFill>
                        <a:srgbClr val="91AED3"/>
                      </a:solidFill>
                      <a:prstDash val="solid"/>
                    </a:lnT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52A57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Problem definition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Specific planner, current workflow, Bob before; pilot baseline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solution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Three parts, feature priorities, competitors and retailer economics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Prototype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Working website walkthrough; evidence → simulate → approve → receive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12-week plan, resources, dependencies, risks and KPI gates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Stakeholder alignment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Decision rights, privacy, CFO cash gate, partner incentives and limits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7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Presentation / Q&amp;A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91AED3"/>
                      </a:solidFill>
                      <a:prstDash val="solid"/>
                    </a:lnL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2159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047"/>
                          </a:solidFill>
                          <a:latin typeface="Arial"/>
                          <a:ea typeface="Arial"/>
                          <a:cs typeface="Arial"/>
                        </a:rPr>
                        <a:t>480-second main flow; financial formulas and sources in appendix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91AED3"/>
                      </a:solidFill>
                      <a:prstDash val="solid"/>
                    </a:lnR>
                    <a:lnB w="9525">
                      <a:solidFill>
                        <a:srgbClr val="91AED3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838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2026-10-25T08:00:54.2340000Z</dcterms:created>
  <dcterms:modified xsi:type="dcterms:W3CDTF">2026-10-25T08:00:54.2340000Z</dcterms:modified>
</coreProperties>
</file>