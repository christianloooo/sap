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1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2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1aabc79e744a0c" /><Relationship Type="http://schemas.openxmlformats.org/officeDocument/2006/relationships/extended-properties" Target="/docProps/app.xml" Id="R054c92ea674247c9" /><Relationship Type="http://schemas.openxmlformats.org/officeDocument/2006/relationships/officeDocument" Target="/ppt/presentation.xml" Id="R929c187ec0c741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b3f2c480544517"/>
  </p:sldMasterIdLst>
  <p:notesMasterIdLst>
    <p:notesMasterId xmlns:r="http://schemas.openxmlformats.org/officeDocument/2006/relationships" r:id="Rf600b4a27aac4988"/>
  </p:notesMasterIdLst>
  <p:sldIdLst>
    <p:sldId xmlns:r="http://schemas.openxmlformats.org/officeDocument/2006/relationships" id="256" r:id="R72546bd6473849a7"/>
    <p:sldId xmlns:r="http://schemas.openxmlformats.org/officeDocument/2006/relationships" id="257" r:id="R497a648d24064301"/>
    <p:sldId xmlns:r="http://schemas.openxmlformats.org/officeDocument/2006/relationships" id="258" r:id="R898b6a5e6b0640eb"/>
    <p:sldId xmlns:r="http://schemas.openxmlformats.org/officeDocument/2006/relationships" id="259" r:id="R3606b60afed74d24"/>
    <p:sldId xmlns:r="http://schemas.openxmlformats.org/officeDocument/2006/relationships" id="260" r:id="R79788d95812d4bfc"/>
    <p:sldId xmlns:r="http://schemas.openxmlformats.org/officeDocument/2006/relationships" id="261" r:id="R57915dd8733b42d8"/>
    <p:sldId xmlns:r="http://schemas.openxmlformats.org/officeDocument/2006/relationships" id="262" r:id="R1a967d3205ec4788"/>
    <p:sldId xmlns:r="http://schemas.openxmlformats.org/officeDocument/2006/relationships" id="263" r:id="R2767e1a39989492d"/>
    <p:sldId xmlns:r="http://schemas.openxmlformats.org/officeDocument/2006/relationships" id="264" r:id="R59b109c5974c4a20"/>
    <p:sldId xmlns:r="http://schemas.openxmlformats.org/officeDocument/2006/relationships" id="265" r:id="Re3cda69ff65d43c6"/>
    <p:sldId xmlns:r="http://schemas.openxmlformats.org/officeDocument/2006/relationships" id="266" r:id="R32bb620c0d7a4136"/>
    <p:sldId xmlns:r="http://schemas.openxmlformats.org/officeDocument/2006/relationships" id="267" r:id="Rd4e958b251f54c4e"/>
    <p:sldId xmlns:r="http://schemas.openxmlformats.org/officeDocument/2006/relationships" id="268" r:id="R674020011dd84a4a"/>
    <p:sldId xmlns:r="http://schemas.openxmlformats.org/officeDocument/2006/relationships" id="269" r:id="Ra260913af2924bbe"/>
    <p:sldId xmlns:r="http://schemas.openxmlformats.org/officeDocument/2006/relationships" id="270" r:id="Rf0c36f4c016f4e8d"/>
    <p:sldId xmlns:r="http://schemas.openxmlformats.org/officeDocument/2006/relationships" id="271" r:id="R83ef376247224c22"/>
    <p:sldId xmlns:r="http://schemas.openxmlformats.org/officeDocument/2006/relationships" id="272" r:id="R6c5461b79f694e2a"/>
    <p:sldId xmlns:r="http://schemas.openxmlformats.org/officeDocument/2006/relationships" id="273" r:id="R117c6124ce0b4484"/>
    <p:sldId xmlns:r="http://schemas.openxmlformats.org/officeDocument/2006/relationships" id="274" r:id="R3affb31b0ed44b39"/>
    <p:sldId xmlns:r="http://schemas.openxmlformats.org/officeDocument/2006/relationships" id="275" r:id="R27970fae36e84da3"/>
    <p:sldId xmlns:r="http://schemas.openxmlformats.org/officeDocument/2006/relationships" id="276" r:id="R065af66661d04b42"/>
    <p:sldId xmlns:r="http://schemas.openxmlformats.org/officeDocument/2006/relationships" id="277" r:id="Re5ff601e5f794ab1"/>
    <p:sldId xmlns:r="http://schemas.openxmlformats.org/officeDocument/2006/relationships" id="278" r:id="Rd4f0dc9f463744a7"/>
    <p:sldId xmlns:r="http://schemas.openxmlformats.org/officeDocument/2006/relationships" id="279" r:id="Rc825a68862e84cf5"/>
    <p:sldId xmlns:r="http://schemas.openxmlformats.org/officeDocument/2006/relationships" id="280" r:id="Rde8fc8bc141c4d2f"/>
    <p:sldId xmlns:r="http://schemas.openxmlformats.org/officeDocument/2006/relationships" id="281" r:id="R134affd383b843ce"/>
    <p:sldId xmlns:r="http://schemas.openxmlformats.org/officeDocument/2006/relationships" id="282" r:id="R77ae0fe787e84b44"/>
    <p:sldId xmlns:r="http://schemas.openxmlformats.org/officeDocument/2006/relationships" id="283" r:id="Rec75cfb5dd014665"/>
    <p:sldId xmlns:r="http://schemas.openxmlformats.org/officeDocument/2006/relationships" id="284" r:id="Rcb0466e1ee7c4eef"/>
    <p:sldId xmlns:r="http://schemas.openxmlformats.org/officeDocument/2006/relationships" id="285" r:id="R162d69afa3b7454c"/>
    <p:sldId xmlns:r="http://schemas.openxmlformats.org/officeDocument/2006/relationships" id="286" r:id="Rc83504220dbb4419"/>
    <p:sldId xmlns:r="http://schemas.openxmlformats.org/officeDocument/2006/relationships" id="287" r:id="R80c9802e1d1f4fe9"/>
    <p:sldId xmlns:r="http://schemas.openxmlformats.org/officeDocument/2006/relationships" id="288" r:id="R17c4db513f2b4492"/>
    <p:sldId xmlns:r="http://schemas.openxmlformats.org/officeDocument/2006/relationships" id="289" r:id="R59a2572293eb4453"/>
    <p:sldId xmlns:r="http://schemas.openxmlformats.org/officeDocument/2006/relationships" id="290" r:id="R86994106171f4c8f"/>
    <p:sldId xmlns:r="http://schemas.openxmlformats.org/officeDocument/2006/relationships" id="291" r:id="R77623458db9e47f4"/>
    <p:sldId xmlns:r="http://schemas.openxmlformats.org/officeDocument/2006/relationships" id="292" r:id="R96cae88ab9cc46d2"/>
    <p:sldId xmlns:r="http://schemas.openxmlformats.org/officeDocument/2006/relationships" id="293" r:id="Re5e7a1466ac447ab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775747ad8546c8" /><Relationship Type="http://schemas.openxmlformats.org/officeDocument/2006/relationships/slideMaster" Target="/ppt/slideMasters/slideMaster1.xml" Id="Rf9b3f2c480544517" /><Relationship Type="http://schemas.openxmlformats.org/officeDocument/2006/relationships/notesMaster" Target="/ppt/notesMasters/notesMaster1.xml" Id="Rf600b4a27aac4988" /><Relationship Type="http://schemas.openxmlformats.org/officeDocument/2006/relationships/presProps" Target="/ppt/presProps.xml" Id="Rad4d3cf8275f4040" /><Relationship Type="http://schemas.openxmlformats.org/officeDocument/2006/relationships/tableStyles" Target="/ppt/tableStyles.xml" Id="R1361536eb9324132" /><Relationship Type="http://schemas.openxmlformats.org/officeDocument/2006/relationships/slide" Target="/ppt/slides/slide1.xml" Id="R72546bd6473849a7" /><Relationship Type="http://schemas.openxmlformats.org/officeDocument/2006/relationships/slide" Target="/ppt/slides/slide2.xml" Id="R497a648d24064301" /><Relationship Type="http://schemas.openxmlformats.org/officeDocument/2006/relationships/slide" Target="/ppt/slides/slide3.xml" Id="R898b6a5e6b0640eb" /><Relationship Type="http://schemas.openxmlformats.org/officeDocument/2006/relationships/slide" Target="/ppt/slides/slide4.xml" Id="R3606b60afed74d24" /><Relationship Type="http://schemas.openxmlformats.org/officeDocument/2006/relationships/slide" Target="/ppt/slides/slide5.xml" Id="R79788d95812d4bfc" /><Relationship Type="http://schemas.openxmlformats.org/officeDocument/2006/relationships/slide" Target="/ppt/slides/slide6.xml" Id="R57915dd8733b42d8" /><Relationship Type="http://schemas.openxmlformats.org/officeDocument/2006/relationships/slide" Target="/ppt/slides/slide7.xml" Id="R1a967d3205ec4788" /><Relationship Type="http://schemas.openxmlformats.org/officeDocument/2006/relationships/slide" Target="/ppt/slides/slide8.xml" Id="R2767e1a39989492d" /><Relationship Type="http://schemas.openxmlformats.org/officeDocument/2006/relationships/slide" Target="/ppt/slides/slide9.xml" Id="R59b109c5974c4a20" /><Relationship Type="http://schemas.openxmlformats.org/officeDocument/2006/relationships/slide" Target="/ppt/slides/slide10.xml" Id="Re3cda69ff65d43c6" /><Relationship Type="http://schemas.openxmlformats.org/officeDocument/2006/relationships/slide" Target="/ppt/slides/slide11.xml" Id="R32bb620c0d7a4136" /><Relationship Type="http://schemas.openxmlformats.org/officeDocument/2006/relationships/slide" Target="/ppt/slides/slide12.xml" Id="Rd4e958b251f54c4e" /><Relationship Type="http://schemas.openxmlformats.org/officeDocument/2006/relationships/slide" Target="/ppt/slides/slide13.xml" Id="R674020011dd84a4a" /><Relationship Type="http://schemas.openxmlformats.org/officeDocument/2006/relationships/slide" Target="/ppt/slides/slide14.xml" Id="Ra260913af2924bbe" /><Relationship Type="http://schemas.openxmlformats.org/officeDocument/2006/relationships/slide" Target="/ppt/slides/slide15.xml" Id="Rf0c36f4c016f4e8d" /><Relationship Type="http://schemas.openxmlformats.org/officeDocument/2006/relationships/slide" Target="/ppt/slides/slide16.xml" Id="R83ef376247224c22" /><Relationship Type="http://schemas.openxmlformats.org/officeDocument/2006/relationships/slide" Target="/ppt/slides/slide17.xml" Id="R6c5461b79f694e2a" /><Relationship Type="http://schemas.openxmlformats.org/officeDocument/2006/relationships/slide" Target="/ppt/slides/slide18.xml" Id="R117c6124ce0b4484" /><Relationship Type="http://schemas.openxmlformats.org/officeDocument/2006/relationships/slide" Target="/ppt/slides/slide19.xml" Id="R3affb31b0ed44b39" /><Relationship Type="http://schemas.openxmlformats.org/officeDocument/2006/relationships/slide" Target="/ppt/slides/slide20.xml" Id="R27970fae36e84da3" /><Relationship Type="http://schemas.openxmlformats.org/officeDocument/2006/relationships/slide" Target="/ppt/slides/slide21.xml" Id="R065af66661d04b42" /><Relationship Type="http://schemas.openxmlformats.org/officeDocument/2006/relationships/slide" Target="/ppt/slides/slide22.xml" Id="Re5ff601e5f794ab1" /><Relationship Type="http://schemas.openxmlformats.org/officeDocument/2006/relationships/slide" Target="/ppt/slides/slide23.xml" Id="Rd4f0dc9f463744a7" /><Relationship Type="http://schemas.openxmlformats.org/officeDocument/2006/relationships/slide" Target="/ppt/slides/slide24.xml" Id="Rc825a68862e84cf5" /><Relationship Type="http://schemas.openxmlformats.org/officeDocument/2006/relationships/slide" Target="/ppt/slides/slide25.xml" Id="Rde8fc8bc141c4d2f" /><Relationship Type="http://schemas.openxmlformats.org/officeDocument/2006/relationships/slide" Target="/ppt/slides/slide26.xml" Id="R134affd383b843ce" /><Relationship Type="http://schemas.openxmlformats.org/officeDocument/2006/relationships/slide" Target="/ppt/slides/slide27.xml" Id="R77ae0fe787e84b44" /><Relationship Type="http://schemas.openxmlformats.org/officeDocument/2006/relationships/slide" Target="/ppt/slides/slide28.xml" Id="Rec75cfb5dd014665" /><Relationship Type="http://schemas.openxmlformats.org/officeDocument/2006/relationships/slide" Target="/ppt/slides/slide29.xml" Id="Rcb0466e1ee7c4eef" /><Relationship Type="http://schemas.openxmlformats.org/officeDocument/2006/relationships/slide" Target="/ppt/slides/slide30.xml" Id="R162d69afa3b7454c" /><Relationship Type="http://schemas.openxmlformats.org/officeDocument/2006/relationships/slide" Target="/ppt/slides/slide31.xml" Id="Rc83504220dbb4419" /><Relationship Type="http://schemas.openxmlformats.org/officeDocument/2006/relationships/slide" Target="/ppt/slides/slide32.xml" Id="R80c9802e1d1f4fe9" /><Relationship Type="http://schemas.openxmlformats.org/officeDocument/2006/relationships/slide" Target="/ppt/slides/slide33.xml" Id="R17c4db513f2b4492" /><Relationship Type="http://schemas.openxmlformats.org/officeDocument/2006/relationships/slide" Target="/ppt/slides/slide34.xml" Id="R59a2572293eb4453" /><Relationship Type="http://schemas.openxmlformats.org/officeDocument/2006/relationships/slide" Target="/ppt/slides/slide35.xml" Id="R86994106171f4c8f" /><Relationship Type="http://schemas.openxmlformats.org/officeDocument/2006/relationships/slide" Target="/ppt/slides/slide36.xml" Id="R77623458db9e47f4" /><Relationship Type="http://schemas.openxmlformats.org/officeDocument/2006/relationships/slide" Target="/ppt/slides/slide37.xml" Id="R96cae88ab9cc46d2" /><Relationship Type="http://schemas.openxmlformats.org/officeDocument/2006/relationships/slide" Target="/ppt/slides/slide38.xml" Id="Re5e7a1466ac447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946e984d1b45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8014c8896945de" /><Relationship Type="http://schemas.openxmlformats.org/officeDocument/2006/relationships/notesMaster" Target="/ppt/notesMasters/notesMaster1.xml" Id="R24b659699acb45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0d60de83d445ec" /><Relationship Type="http://schemas.openxmlformats.org/officeDocument/2006/relationships/notesMaster" Target="/ppt/notesMasters/notesMaster1.xml" Id="R7c972bcf1cc04d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960268243843eb" /><Relationship Type="http://schemas.openxmlformats.org/officeDocument/2006/relationships/notesMaster" Target="/ppt/notesMasters/notesMaster1.xml" Id="R8908e86a10da4c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1f80e8ea5245de" /><Relationship Type="http://schemas.openxmlformats.org/officeDocument/2006/relationships/notesMaster" Target="/ppt/notesMasters/notesMaster1.xml" Id="R9892f9c8767043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bcbea2b0bb4b02" /><Relationship Type="http://schemas.openxmlformats.org/officeDocument/2006/relationships/notesMaster" Target="/ppt/notesMasters/notesMaster1.xml" Id="Rfed1dce8b1624a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2e3b4c411c4220" /><Relationship Type="http://schemas.openxmlformats.org/officeDocument/2006/relationships/notesMaster" Target="/ppt/notesMasters/notesMaster1.xml" Id="Rf973bd02263f41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8e74c6dbb64605" /><Relationship Type="http://schemas.openxmlformats.org/officeDocument/2006/relationships/notesMaster" Target="/ppt/notesMasters/notesMaster1.xml" Id="Ra7aa90048d3740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5a5ea5c5704d4e" /><Relationship Type="http://schemas.openxmlformats.org/officeDocument/2006/relationships/notesMaster" Target="/ppt/notesMasters/notesMaster1.xml" Id="Re052ea6afb794c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f7a8e0493f43df" /><Relationship Type="http://schemas.openxmlformats.org/officeDocument/2006/relationships/notesMaster" Target="/ppt/notesMasters/notesMaster1.xml" Id="Re6458d7a1c9544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20a03d18ba473b" /><Relationship Type="http://schemas.openxmlformats.org/officeDocument/2006/relationships/notesMaster" Target="/ppt/notesMasters/notesMaster1.xml" Id="R27eb460d3c3446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cf73220a294bbe" /><Relationship Type="http://schemas.openxmlformats.org/officeDocument/2006/relationships/notesMaster" Target="/ppt/notesMasters/notesMaster1.xml" Id="R099f7a5ab52341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c1b23119df45e8" /><Relationship Type="http://schemas.openxmlformats.org/officeDocument/2006/relationships/notesMaster" Target="/ppt/notesMasters/notesMaster1.xml" Id="Rcc782cb5c7c746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59577293474014" /><Relationship Type="http://schemas.openxmlformats.org/officeDocument/2006/relationships/notesMaster" Target="/ppt/notesMasters/notesMaster1.xml" Id="R4dea1960234449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381ede0b504517" /><Relationship Type="http://schemas.openxmlformats.org/officeDocument/2006/relationships/notesMaster" Target="/ppt/notesMasters/notesMaster1.xml" Id="Ra5ca6baeb36148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20927f772a4aa2" /><Relationship Type="http://schemas.openxmlformats.org/officeDocument/2006/relationships/notesMaster" Target="/ppt/notesMasters/notesMaster1.xml" Id="Rd6b1673e439746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9083db4ee2a4f53" /><Relationship Type="http://schemas.openxmlformats.org/officeDocument/2006/relationships/notesMaster" Target="/ppt/notesMasters/notesMaster1.xml" Id="R134dd4fd7350469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9350e6380f746ec" /><Relationship Type="http://schemas.openxmlformats.org/officeDocument/2006/relationships/notesMaster" Target="/ppt/notesMasters/notesMaster1.xml" Id="R4ddce6a7cabc41a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ef8a165be0548a6" /><Relationship Type="http://schemas.openxmlformats.org/officeDocument/2006/relationships/notesMaster" Target="/ppt/notesMasters/notesMaster1.xml" Id="Rd206fcf96174432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b77e7fb30c84376" /><Relationship Type="http://schemas.openxmlformats.org/officeDocument/2006/relationships/notesMaster" Target="/ppt/notesMasters/notesMaster1.xml" Id="R1a014db2c94143f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1e3ba5a3754e23" /><Relationship Type="http://schemas.openxmlformats.org/officeDocument/2006/relationships/notesMaster" Target="/ppt/notesMasters/notesMaster1.xml" Id="R0556d4c77e60468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580164b3be241f1" /><Relationship Type="http://schemas.openxmlformats.org/officeDocument/2006/relationships/notesMaster" Target="/ppt/notesMasters/notesMaster1.xml" Id="R62e1c026ab654e3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a01a817375a4d9a" /><Relationship Type="http://schemas.openxmlformats.org/officeDocument/2006/relationships/notesMaster" Target="/ppt/notesMasters/notesMaster1.xml" Id="Rff6dc17680c447d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86e39221ecc4372" /><Relationship Type="http://schemas.openxmlformats.org/officeDocument/2006/relationships/notesMaster" Target="/ppt/notesMasters/notesMaster1.xml" Id="R884cdd50a8514dc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72db32678e1416d" /><Relationship Type="http://schemas.openxmlformats.org/officeDocument/2006/relationships/notesMaster" Target="/ppt/notesMasters/notesMaster1.xml" Id="R6ad949c6f1334fc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402af4355024206" /><Relationship Type="http://schemas.openxmlformats.org/officeDocument/2006/relationships/notesMaster" Target="/ppt/notesMasters/notesMaster1.xml" Id="Rc39abc8d3091402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b41e68aa31343cf" /><Relationship Type="http://schemas.openxmlformats.org/officeDocument/2006/relationships/notesMaster" Target="/ppt/notesMasters/notesMaster1.xml" Id="Rff073d51db784a0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5947b394a0c41a5" /><Relationship Type="http://schemas.openxmlformats.org/officeDocument/2006/relationships/notesMaster" Target="/ppt/notesMasters/notesMaster1.xml" Id="R104806f69f044d4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d6eb6c27aa64556" /><Relationship Type="http://schemas.openxmlformats.org/officeDocument/2006/relationships/notesMaster" Target="/ppt/notesMasters/notesMaster1.xml" Id="Rd054587cdb014b4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4712b837e914ac5" /><Relationship Type="http://schemas.openxmlformats.org/officeDocument/2006/relationships/notesMaster" Target="/ppt/notesMasters/notesMaster1.xml" Id="R88849f907b0b4e2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2e08a5227dc4f8c" /><Relationship Type="http://schemas.openxmlformats.org/officeDocument/2006/relationships/notesMaster" Target="/ppt/notesMasters/notesMaster1.xml" Id="R1bb909d6811a474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74e6866a60f405f" /><Relationship Type="http://schemas.openxmlformats.org/officeDocument/2006/relationships/notesMaster" Target="/ppt/notesMasters/notesMaster1.xml" Id="R6ec5f3f0c1ba4f3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fe7e062eaee4205" /><Relationship Type="http://schemas.openxmlformats.org/officeDocument/2006/relationships/notesMaster" Target="/ppt/notesMasters/notesMaster1.xml" Id="R4332cd723abe4e1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fd6c83443544ad1" /><Relationship Type="http://schemas.openxmlformats.org/officeDocument/2006/relationships/notesMaster" Target="/ppt/notesMasters/notesMaster1.xml" Id="R1d01cc80ff32455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bf5680c3e5a4788" /><Relationship Type="http://schemas.openxmlformats.org/officeDocument/2006/relationships/notesMaster" Target="/ppt/notesMasters/notesMaster1.xml" Id="Rc99724dc26cd4f9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db775c7a926443c" /><Relationship Type="http://schemas.openxmlformats.org/officeDocument/2006/relationships/notesMaster" Target="/ppt/notesMasters/notesMaster1.xml" Id="R62ef1e0b000f443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2d049e2058243db" /><Relationship Type="http://schemas.openxmlformats.org/officeDocument/2006/relationships/notesMaster" Target="/ppt/notesMasters/notesMaster1.xml" Id="R8fc22f062e5f409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196785a38a042a8" /><Relationship Type="http://schemas.openxmlformats.org/officeDocument/2006/relationships/notesMaster" Target="/ppt/notesMasters/notesMaster1.xml" Id="R2260e81c7e1b4d6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1517d8c25cc4913" /><Relationship Type="http://schemas.openxmlformats.org/officeDocument/2006/relationships/notesMaster" Target="/ppt/notesMasters/notesMaster1.xml" Id="Rec82ea8af8b04c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Open with the case: how can SAP close the gap between a demand shift and a business response?</a:t>
            </a:r>
          </a:p>
          <a:p xmlns:a="http://schemas.openxmlformats.org/drawingml/2006/main">
            <a:r>
              <a:t>- Focus on apparel merchandise planners. Sales record completed purchases; missed interest can disappear before the next planning cycle.</a:t>
            </a:r>
          </a:p>
          <a:p xmlns:a="http://schemas.openxmlformats.org/drawingml/2006/main">
            <a:r>
              <a:t>- Our answer is one product, SAP Retail Signal, with three connected parts.</a:t>
            </a:r>
          </a:p>
          <a:p xmlns:a="http://schemas.openxmlformats.org/drawingml/2006/main">
            <a:r>
              <a:t>- Sources: Product+ 2026 Case Package, pp. 3–5; Launchpad report, pp. 2–4.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- 12 seconds. SAP spans finance, procurement, supply chain and customer experience. Existing customers offer an initial route to market.</a:t>
            </a:r>
          </a:p>
          <a:p xmlns:a="http://schemas.openxmlformats.org/drawingml/2006/main">
            <a:r>
              <a:t>- These counts are different scopes; they cannot be added together.</a:t>
            </a:r>
          </a:p>
          <a:p xmlns:a="http://schemas.openxmlformats.org/drawingml/2006/main">
            <a:r>
              <a:t>- Sources: supplied case, p. 3; https://www.sap.com/engage/future-of-retail.html (accessed 25 Oct 2026).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Today’s workflow can involve sales reports, separate website analytics and supplier emails before a planner reconciles stock.</a:t>
            </a:r>
          </a:p>
          <a:p xmlns:a="http://schemas.openxmlformats.org/drawingml/2006/main">
            <a:r>
              <a:t>- The case establishes fragmented data and time pressure; it does not quantify the delay. We will measure that baseline.</a:t>
            </a:r>
          </a:p>
          <a:p xmlns:a="http://schemas.openxmlformats.org/drawingml/2006/main">
            <a:r>
              <a:t>- Sources: case, p. 4; Launchpad, recommendations 1–3.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>01: Interest is invisible: Store teams see what sold, but not which sizes were tried and left behind.</a:t>
            </a:r>
          </a:p>
          <a:p xmlns:a="http://schemas.openxmlformats.org/drawingml/2006/main">
            <a:r>
              <a:t>02: Unmet online demand disappears: Searching an unavailable size can end without a sale or a restock request.</a:t>
            </a:r>
          </a:p>
          <a:p xmlns:a="http://schemas.openxmlformats.org/drawingml/2006/main">
            <a:r>
              <a:t>03: Supply risk arrives without context: A price or delivery change needs to be traced to affected products, stores and margins.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- 25 seconds. Bob is accountable for availability, but he must reconstruct the situation across teams.</a:t>
            </a:r>
          </a:p>
          <a:p xmlns:a="http://schemas.openxmlformats.org/drawingml/2006/main">
            <a:r>
              <a:t>- This is a persona scenario, not a customer interview or measured time study.</a:t>
            </a:r>
          </a:p>
          <a:p xmlns:a="http://schemas.openxmlformats.org/drawingml/2006/main">
            <a:r>
              <a:t>- The 80-unit seven-day demand scenario leaves a 72-unit gap after 8 on hand. Low conversion does not establish a fit problem.</a:t>
            </a:r>
          </a:p>
          <a:p xmlns:a="http://schemas.openxmlformats.org/drawingml/2006/main">
            <a:r>
              <a:t>- Sources: current Retail Signal prototype; Launchpad report, pp. 3–4.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>9:00: Sales look ordinary: The cream medium top has only 8 units left in Vancouver.</a:t>
            </a:r>
          </a:p>
          <a:p xmlns:a="http://schemas.openxmlformats.org/drawingml/2006/main">
            <a:r>
              <a:t>10:30: The signals live elsewhere: 240 try-ons, 43 purchases and 162 out-of-stock sessions are not in his sales report.</a:t>
            </a:r>
          </a:p>
          <a:p xmlns:a="http://schemas.openxmlformats.org/drawingml/2006/main">
            <a:r>
              <a:t>Later: The replenishment misses the window: The primary supplier needs 21 days; Bob still has to locate transferable stock.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- 90 seconds. Play the recommendation walkthrough on this slide, or open the supplied MP4.</a:t>
            </a:r>
          </a:p>
          <a:p xmlns:a="http://schemas.openxmlformats.org/drawingml/2006/main">
            <a:r>
              <a:t>- The video demonstrates all three parts of one product. It uses real captures of our working website.</a:t>
            </a:r>
          </a:p>
          <a:p xmlns:a="http://schemas.openxmlformats.org/drawingml/2006/main">
            <a:r>
              <a:t>- Part 1: compare 240 try-ons with 43 purchases, then investigate availability, fit or price instead of guessing the cause.</a:t>
            </a:r>
          </a:p>
          <a:p xmlns:a="http://schemas.openxmlformats.org/drawingml/2006/main">
            <a:r>
              <a:t>- Part 2: 162 qualified out-of-stock sessions × assumed 15% conversion, rounded down, gives 24 scenario units for Online West. These are not confirmed orders.</a:t>
            </a:r>
          </a:p>
          <a:p xmlns:a="http://schemas.openxmlformats.org/drawingml/2006/main">
            <a:r>
              <a:t>- Part 3: inspect material rates, apply a gas shortage and ask the assistant to explain added costs and margin effects. Then compare immediate stock transfer with later supplier replenishment.</a:t>
            </a:r>
          </a:p>
          <a:p xmlns:a="http://schemas.openxmlformats.org/drawingml/2006/main">
            <a:r>
              <a:t>- No live RFID, retailer analytics, SAP tenant or SAP Joule service is connected.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>1: Smart Fitting-Room Demand Signals: Reveal interest before purchase.</a:t>
            </a:r>
          </a:p>
          <a:p xmlns:a="http://schemas.openxmlformats.org/drawingml/2006/main">
            <a:r>
              <a:t>2: Out-of-Stock Demand Tracker: Qualify demand for unavailable sizes.</a:t>
            </a:r>
          </a:p>
          <a:p xmlns:a="http://schemas.openxmlformats.org/drawingml/2006/main">
            <a:r>
              <a:t>3: Supply-Chain Risk and Response View: Explain exposure and compare a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Recommendation 1 needs specialist hardware rather than SAP manufacturing its own readers. Use Zebra readers, Avery Dennison tags and regional distribution.</a:t>
            </a:r>
          </a:p>
          <a:p xmlns:a="http://schemas.openxmlformats.org/drawingml/2006/main">
            <a:r>
              <a:t>- Radio-frequency identification, or RFID, identifies tagged garments using radio waves. Room-zone calibration is essential to avoid counting adjacent racks.</a:t>
            </a:r>
          </a:p>
          <a:p xmlns:a="http://schemas.openxmlformats.org/drawingml/2006/main">
            <a:r>
              <a:t>- Start with already tagged assortments; tag economics for new assortments are excluded from the base quote and must be priced.</a:t>
            </a:r>
          </a:p>
          <a:p xmlns:a="http://schemas.openxmlformats.org/drawingml/2006/main">
            <a:r>
              <a:t>- Capability sources: https://www.zebra.com/us/en/products/rfid/rfid-readers.html ; https://rfid.averydennison.com/en/home/industry-segments/retail/apparel-and-fashion.html ; https://careers.ingrammicro.com/en/locations/ ; https://www.tdsynnex.com/us/en/where-we-are.html ; https://redingtongroup.com/about-us/global-presence/ . All accessed 25 Oct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Bob can evaluate a 40-unit transfer at a modeled cost of 60 dollars.</a:t>
            </a:r>
          </a:p>
          <a:p xmlns:a="http://schemas.openxmlformats.org/drawingml/2006/main">
            <a:r>
              <a:t>- Coverage rises from 8 of 80 to 48 of 80. Thirty-two units remain uncovered: the tool makes the residual problem visible.</a:t>
            </a:r>
          </a:p>
          <a:p xmlns:a="http://schemas.openxmlformats.org/drawingml/2006/main">
            <a:r>
              <a:t>- Approval does not create inventory. Goods issue moves stock into transit; goods receipt adds destination sellable stock.</a:t>
            </a:r>
          </a:p>
          <a:p xmlns:a="http://schemas.openxmlformats.org/drawingml/2006/main">
            <a:r>
              <a:t>- Source: prototype seeded transfer scenario, ERT-CRM-M.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>See: One evidence trail: Try-ons, online interest, available inventory and supplier lead time share product and location context.</a:t>
            </a:r>
          </a:p>
          <a:p xmlns:a="http://schemas.openxmlformats.org/drawingml/2006/main">
            <a:r>
              <a:t>Decide: Compare 40 units at CAD 60 transfer cost: Protect Burnaby’s 36-unit reserve; the nine-day alternative is too late for this seven-day window.</a:t>
            </a:r>
          </a:p>
          <a:p xmlns:a="http://schemas.openxmlformats.org/drawingml/2006/main">
            <a:r>
              <a:t>Act: Approve, dispatch and confirm receipt: Only goods receipt makes the 40 transferred units sellable in Vancouver.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Total addressable market, TAM, is modeled annual software spend. SAM narrows that to chains we could initially serve. SOM is the share we aim to win; 150 accounts is an ambitious scenario, not a forecast.</a:t>
            </a:r>
          </a:p>
          <a:p xmlns:a="http://schemas.openxmlformats.org/drawingml/2006/main">
            <a:r>
              <a:t>- We use a 100-store reference contract. A real account list and willingness-to-pay interviews are needed before funding scale.</a:t>
            </a:r>
          </a:p>
          <a:p xmlns:a="http://schemas.openxmlformats.org/drawingml/2006/main">
            <a:r>
              <a:t>- Context: the Launchpad cites US$957B fashion e-commerce in 2026; Shopify corroborates a US$957.31B Statista projection. Consumer sales are not software TAM.</a:t>
            </a:r>
          </a:p>
          <a:p xmlns:a="http://schemas.openxmlformats.org/drawingml/2006/main">
            <a:r>
              <a:t>- Source: https://www.shopify.com/uk/enterprise/blog/ecommerce-fashion-industry ; SAP retail footprint source on slide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RFID fitting-room insight and AI inventory planning already exist. We are not claiming to invent these categories or to have features competitors lack.</a:t>
            </a:r>
          </a:p>
          <a:p xmlns:a="http://schemas.openxmlformats.org/drawingml/2006/main">
            <a:r>
              <a:t>- The case for Retail Signal is a focused experience joining early intent with SAP operational decisions. If an existing SAP deployment already solves the workflow, extend it instead of selling duplicate software.</a:t>
            </a:r>
          </a:p>
          <a:p xmlns:a="http://schemas.openxmlformats.org/drawingml/2006/main">
            <a:r>
              <a:t>- Sources: https://www.sensormatic.com/de_de/TrueVUE-Inventory-Intel/TrueVUE-Fitting-Room ; https://www.oracle.com/retail/ ; https://blueyonder.com/solutions/retail-planning ; https://www.sap.com/products/scm/integrated-business-planning.html ; https://www.sap.com/products/crm/customer-activity-repository.html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Like an ecosystem of compatible devices, SAP’s appeal is that another tool can work with systems the retailer already uses. This still requires integration work and licensing.</a:t>
            </a:r>
          </a:p>
          <a:p xmlns:a="http://schemas.openxmlformats.org/drawingml/2006/main">
            <a:r>
              <a:t>- Our data advantage is business context, not unrestricted access to every customer’s records. Customer data use for AI improvement is governed by service agreements; new development can require additional consent. External model providers do not receive training rights by default.</a:t>
            </a:r>
          </a:p>
          <a:p xmlns:a="http://schemas.openxmlformats.org/drawingml/2006/main">
            <a:r>
              <a:t>- Sources: SAP Integration Suite https://www.sap.com/products/technology-platform/integration-suite.html ; SAP responsible AI https://www.sap.com/products/artificial-intelligence/ai-ethics.html ; https://learning.sap.com/courses/building-confidence-in-ai-with-sap/does-ai-train-on-my-data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>Connected execution: S/4HANA holds stock movements and purchasing. Commerce Cloud contributes online context. IBP supports planning.</a:t>
            </a:r>
          </a:p>
          <a:p xmlns:a="http://schemas.openxmlformats.org/drawingml/2006/main">
            <a:r>
              <a:t>Consistent business context: Authorized product, location, cost and supplier data can make recommendations more relevant to the retailer.</a:t>
            </a:r>
          </a:p>
          <a:p xmlns:a="http://schemas.openxmlformats.org/drawingml/2006/main">
            <a:r>
              <a:t>Learning with permission: SAP’s large client base creates a potential learning advantage, subject to contracts, consent and evaluation. More data alone does not prove better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- 12 seconds. Our strongest asset is the fit with SAP execution; our weakest point is that commercial value and integrations remain unproven.</a:t>
            </a:r>
          </a:p>
          <a:p xmlns:a="http://schemas.openxmlformats.org/drawingml/2006/main">
            <a:r>
              <a:t>- Competition, integration effort and adoption should shape the pilot, not be hidden behind an AI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- 15 seconds. The most important dependency is a common product and location identifier. Without it, the tool may recommend stock the business cannot actually move.</a:t>
            </a:r>
          </a:p>
          <a:p xmlns:a="http://schemas.openxmlformats.org/drawingml/2006/main">
            <a:r>
              <a:t>- BTP means Business Technology Platform; Integration Suite connects systems through controlled interfaces, or APIs. A production service needs authentication, monitoring, retry safety and tenant-specific field mapping.</a:t>
            </a:r>
          </a:p>
          <a:p xmlns:a="http://schemas.openxmlformats.org/drawingml/2006/main">
            <a:r>
              <a:t>- Sources: SAP Integration Suite, CAR and IBP official product documentation, cited in appendix.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These are the three biggest risks: bad decisions from weak data, loss of shopper trust, and a product that does not repay its cost.</a:t>
            </a:r>
          </a:p>
          <a:p xmlns:a="http://schemas.openxmlformats.org/drawingml/2006/main">
            <a:r>
              <a:t>- Human approval and transaction reconciliation prevent an explanation from becoming an unverified stock movement.</a:t>
            </a:r>
          </a:p>
          <a:p xmlns:a="http://schemas.openxmlformats.org/drawingml/2006/main">
            <a:r>
              <a:t>- Privacy controls require a local legal review; proposed retention is seven days for raw garment events and 90 days for aggregates, subject to that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Adoption requires an explicit bargain. Bob gets speed, while the source store keeps a reserve and the CFO keeps spending authority.</a:t>
            </a:r>
          </a:p>
          <a:p xmlns:a="http://schemas.openxmlformats.org/drawingml/2006/main">
            <a:r>
              <a:t>- Marketing can promote availability improvements only after results are measured. Procurement validates supplier alternatives; Joule cannot approve a new vendor.</a:t>
            </a:r>
          </a:p>
          <a:p xmlns:a="http://schemas.openxmlformats.org/drawingml/2006/main">
            <a:r>
              <a:t>- SAP owns the software roadmap; partners own installation and first-line device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- 15 seconds. We prioritize online demand and shared stock first because they avoid hardware lead time. Then validate RFID in selected stores and introduce supply-cost scenarios.</a:t>
            </a:r>
          </a:p>
          <a:p xmlns:a="http://schemas.openxmlformats.org/drawingml/2006/main">
            <a:r>
              <a:t>- Baseline demo rates and material-consumption assumptions are illustrative. Public commodity benchmarks are not the retailer’s contract prices.</a:t>
            </a:r>
          </a:p>
          <a:p xmlns:a="http://schemas.openxmlformats.org/drawingml/2006/main">
            <a:r>
              <a:t>- Existing stock does not vanish when new production is constrained.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>Human approval: Slower than full automation; safer while evidence is uncertain.</a:t>
            </a:r>
          </a:p>
          <a:p xmlns:a="http://schemas.openxmlformats.org/drawingml/2006/main">
            <a:r>
              <a:t>Apparel and existing SAP users first: Narrower reach; lower initial workflow and data complexity.</a:t>
            </a:r>
          </a:p>
          <a:p xmlns:a="http://schemas.openxmlformats.org/drawingml/2006/main">
            <a:r>
              <a:t>RFID in selected stores: Less coverage; avoids outfitting every store before value is proven.</a:t>
            </a:r>
          </a:p>
          <a:p xmlns:a="http://schemas.openxmlformats.org/drawingml/2006/main">
            <a:r>
              <a:t>Evidence before prediction: The demo explains scenarios; live news prediction and autonomous procurement remain future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Start with interviews and a two-week baseline, then shadow mode: calculate recommendations without executing them.</a:t>
            </a:r>
          </a:p>
          <a:p xmlns:a="http://schemas.openxmlformats.org/drawingml/2006/main">
            <a:r>
              <a:t>- Hardware qualification can proceed alongside digital integration. If devices are delayed, digital and supply workflows continue; RFID claims wait.</a:t>
            </a:r>
          </a:p>
          <a:p xmlns:a="http://schemas.openxmlformats.org/drawingml/2006/main">
            <a:r>
              <a:t>- Scale to a 100-store customer only after week 12. Wider commercial rollout takes additional quarters, separate from pilot completion.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WEEKS 1–2: Establish trust: 5 planner interviews; baseline workflow; privacy and stock mapping.</a:t>
            </a:r>
          </a:p>
          <a:p xmlns:a="http://schemas.openxmlformats.org/drawingml/2006/main">
            <a:r>
              <a:t>WEEKS 3–5: Connect demand: Online signals and stock read-only; shadow recommendations; hardware zone tests.</a:t>
            </a:r>
          </a:p>
          <a:p xmlns:a="http://schemas.openxmlformats.org/drawingml/2006/main">
            <a:r>
              <a:t>WEEKS 6–8: Approve limited actions: 10 stores; controlled transfers; RFID evidence; reconcile all receipts.</a:t>
            </a:r>
          </a:p>
          <a:p xmlns:a="http://schemas.openxmlformats.org/drawingml/2006/main">
            <a:r>
              <a:t>WEEKS 9–12: Measure and decide: Matched-store evaluation; cost scenarios; CFO / COO scale or stop gate.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- 18 seconds. Measure both median and 90th-percentile response time so an average cannot hide slow exceptions.</a:t>
            </a:r>
          </a:p>
          <a:p xmlns:a="http://schemas.openxmlformats.org/drawingml/2006/main">
            <a:r>
              <a:t>- Track signal freshness, recommendation acceptance with reasons, stockout sessions, realized contribution and shopper complaints.</a:t>
            </a:r>
          </a:p>
          <a:p xmlns:a="http://schemas.openxmlformats.org/drawingml/2006/main">
            <a:r>
              <a:t>- CFO owns financial verification; analyst owns matched-store measurement; operations owns stock accuracy. If the pilot is underpowered, extend measurement rather than claim causal uplift.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The reference price covers the one product with all three parts. RFID is activated only at equipped stores.</a:t>
            </a:r>
          </a:p>
          <a:p xmlns:a="http://schemas.openxmlformats.org/drawingml/2006/main">
            <a:r>
              <a:t>- Of each 8,000-dollar hardware and installation invoice, 5,000 goes to equipment/tag suppliers, 1,000 to distribution and 2,000 to deployment. SAP earns no hardware margin in this model.</a:t>
            </a:r>
          </a:p>
          <a:p xmlns:a="http://schemas.openxmlformats.org/drawingml/2006/main">
            <a:r>
              <a:t>- Of 75,000 onboarding, SAP retains 15,000 and the delivery partner receives 60,000. All are assumptions, not negotiated terms.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- 25 seconds. Separate productive capacity from cash savings. One percent incremental sales at a 45 percent contribution margin yields 450,000 dollars; time freed is worth 364,000 only if productively redeployed.</a:t>
            </a:r>
          </a:p>
          <a:p xmlns:a="http://schemas.openxmlformats.org/drawingml/2006/main">
            <a:r>
              <a:t>- Economic net annual value is 464,000, but cash-only net is 100,000. Upfront 235,000 means 6.1-month economic payback versus 28.2 months cash-only.</a:t>
            </a:r>
          </a:p>
          <a:p xmlns:a="http://schemas.openxmlformats.org/drawingml/2006/main">
            <a:r>
              <a:t>- The base model fails our 24-month cash gate. We must prove at least 1.04% uplift, lower price/cost, or documented cash savings before scale. This is why the pilot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- 25 seconds. Annual recurring revenue at the end of year 3 is 52.5 million; recognized year-3 revenue is 38.1 million because new customers arrive throughout the year.</a:t>
            </a:r>
          </a:p>
          <a:p xmlns:a="http://schemas.openxmlformats.org/drawingml/2006/main">
            <a:r>
              <a:t>- This is a product contribution model before tax, financing, corporate allocations and working capital. Costs include customer acquisition and the proposed pilot in year-one spending.</a:t>
            </a:r>
          </a:p>
          <a:p xmlns:a="http://schemas.openxmlformats.org/drawingml/2006/main">
            <a:r>
              <a:t>- Zero churn and 150 wins are optimistic assumptions. Renewal-only break-even is approximately 23 full-year customers at the year-two fixed cost. Sensitivities are in the appendix.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- 12 seconds. The value is the shorter gap between a qualified signal and a verified business response.</a:t>
            </a:r>
          </a:p>
          <a:p xmlns:a="http://schemas.openxmlformats.org/drawingml/2006/main">
            <a:r>
              <a:t>- Better business context can make Joule more useful, while people retain accountability for consequential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>For Bob: A prioritized decision with evidence, alternatives and a visible owner.</a:t>
            </a:r>
          </a:p>
          <a:p xmlns:a="http://schemas.openxmlformats.org/drawingml/2006/main">
            <a:r>
              <a:t>For the retailer: Better availability and margin discipline, measured against the cost of responding.</a:t>
            </a:r>
          </a:p>
          <a:p xmlns:a="http://schemas.openxmlformats.org/drawingml/2006/main">
            <a:r>
              <a:t>For shoppers: A better chance of finding the right size, without personal fitting-room surveillance.</a:t>
            </a:r>
          </a:p>
          <a:p xmlns:a="http://schemas.openxmlformats.org/drawingml/2006/main">
            <a:r>
              <a:t>For SAP: A focused extension of existing retail workflows and recurring software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- 18 seconds. Our ask is a capped 250,000-dollar pilot, a named retailer sponsor and sandbox access.</a:t>
            </a:r>
          </a:p>
          <a:p xmlns:a="http://schemas.openxmlformats.org/drawingml/2006/main">
            <a:r>
              <a:t>- The budget covers 80,000 hardware, 80,000 integration, 50,000 product analytics, 20,000 training and 20,000 contingency.</a:t>
            </a:r>
          </a:p>
          <a:p xmlns:a="http://schemas.openxmlformats.org/drawingml/2006/main">
            <a:r>
              <a:t>- End with the decision: prove the response workflow and retailer economics before scaling. SAP Retail Signal makes an early signal useful by connecting it to action.</a:t>
            </a:r>
          </a:p>
          <a:p xmlns:a="http://schemas.openxmlformats.org/drawingml/2006/main">
            <a:r>
              <a:t>- Total planned main-deck time: 480 seconds including the 90-second video.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All values on this slide are modeling assumptions created for the pitch, not data supplied as actual customer results.</a:t>
            </a:r>
          </a:p>
          <a:p xmlns:a="http://schemas.openxmlformats.org/drawingml/2006/main">
            <a:r>
              <a:t>- Prices exclude sales taxes, new item-tag programs and financing. Existing retailer SAP licenses are assumed. Incremental SAP infrastructure and usage costs must be confirmed; if not included in the negotiated subscription they worsen ROI.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First-year economic benefit 814,000; cost 585,000; economic surplus 229,000; first-year ROI = 229,000 / 585,000 = 39.1%.</a:t>
            </a:r>
          </a:p>
          <a:p xmlns:a="http://schemas.openxmlformats.org/drawingml/2006/main">
            <a:r>
              <a:t>- Cash-only first-year surplus = 450,000 − 585,000 = −135,000. At the base assumptions, scale should not be approved on economic value alone.</a:t>
            </a:r>
          </a:p>
          <a:p xmlns:a="http://schemas.openxmlformats.org/drawingml/2006/main">
            <a:r>
              <a:t>- No discounting, depreciation, tax, inflation or working-capital benefit included.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Formulas: cash net = sales × uplift × 45% − 350,000. Economic net adds 364,000 capacity value. Upfront is 235,000.</a:t>
            </a:r>
          </a:p>
          <a:p xmlns:a="http://schemas.openxmlformats.org/drawingml/2006/main">
            <a:r>
              <a:t>- Cash renewal break-even = 350,000 / (100,000,000 × .45).</a:t>
            </a:r>
          </a:p>
          <a:p xmlns:a="http://schemas.openxmlformats.org/drawingml/2006/main">
            <a:r>
              <a:t>- 24-month gate = (350,000 + 235,000/2) / 45,000,000 = 1.0389%.</a:t>
            </a:r>
          </a:p>
          <a:p xmlns:a="http://schemas.openxmlformats.org/drawingml/2006/main">
            <a:r>
              <a:t>- Year-one break-even = (350,000 + 235,000) / 45,000,000 = 1.3%.</a:t>
            </a:r>
          </a:p>
          <a:p xmlns:a="http://schemas.openxmlformats.org/drawingml/2006/main">
            <a:r>
              <a:t>- At 0.5% uplift, economic payback = 235,000 / 239,000 × 12 = 11.8 months, illustrating why cash and capacity must be separated.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Hardware and installation are customer-funded and separately invoiced by partners in a full rollout.</a:t>
            </a:r>
          </a:p>
          <a:p xmlns:a="http://schemas.openxmlformats.org/drawingml/2006/main">
            <a:r>
              <a:t>- The illustrative 12-week pilot is SAP-funded, so the hardware part of that pilot is a SAP program cost instead.</a:t>
            </a:r>
          </a:p>
          <a:p xmlns:a="http://schemas.openxmlformats.org/drawingml/2006/main">
            <a:r>
              <a:t>- A new garment tagging program, replacements, local duties, service levels and any channel referral fees require separate pricing. Do not present this allocation as a quote from Zebra or Avery Dennison.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Revenue assumes recurring software delivered throughout the year, all wins at a midyear average, and no churn or expansion. Services use net coordination fees, not gross pass-through.</a:t>
            </a:r>
          </a:p>
          <a:p xmlns:a="http://schemas.openxmlformats.org/drawingml/2006/main">
            <a:r>
              <a:t>- Commercial principal-versus-agent treatment must be reviewed by finance. This is a simplified product model, not an IFRS revenue-recognition conclusion.</a:t>
            </a:r>
          </a:p>
          <a:p xmlns:a="http://schemas.openxmlformats.org/drawingml/2006/main">
            <a:r>
              <a:t>- Fixed costs include staffing, sales, acquisition, operations and the CAD 250k pilot. Hardware margins, tax, corporate allocations and financing are excluded.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Slower wins uses average customers 5, 25, 60 and new accounts 10, 30, 40 with the same 5M / 6M / 8M fixed costs.</a:t>
            </a:r>
          </a:p>
          <a:p xmlns:a="http://schemas.openxmlformats.org/drawingml/2006/main">
            <a:r>
              <a:t>- Price-pressure case keeps base adoption but price falls to 300k and COGS rises to 35%.</a:t>
            </a:r>
          </a:p>
          <a:p xmlns:a="http://schemas.openxmlformats.org/drawingml/2006/main">
            <a:r>
              <a:t>- Stalled case: ending accounts 20,20,20, average 10,20,20; new20,0,0; contributions −2.075M,−0.75M,−2.75M. Cumulative −5.575M.</a:t>
            </a:r>
          </a:p>
          <a:p xmlns:a="http://schemas.openxmlformats.org/drawingml/2006/main">
            <a:r>
              <a:t>- Losses are plausible if sales stall; scale spending should follow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The hardware line is a trial budget, not a committed ten-store purchase. Timing depends on device availability and local approvals.</a:t>
            </a:r>
          </a:p>
          <a:p xmlns:a="http://schemas.openxmlformats.org/drawingml/2006/main">
            <a:r>
              <a:t>- Customer staff time and existing SAP licenses are contributions assumed outside this SAP program budget. Confirm their costs with the design partner.</a:t>
            </a:r>
          </a:p>
          <a:p xmlns:a="http://schemas.openxmlformats.org/drawingml/2006/main">
            <a:r>
              <a:t>- Week-two gate: data and privacy feasibility. Week-five gate: reliable shadow recommendations. Week-eight gate: safe actions. Week-twelve gate: adoption, response time and economics.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The prototype uses React for the interface, TypeScript for typed code, Vite for development/building, and UI5 web components for SAP-style controls.</a:t>
            </a:r>
          </a:p>
          <a:p xmlns:a="http://schemas.openxmlformats.org/drawingml/2006/main">
            <a:r>
              <a:t>- localStorage is browser storage; it is useful for a demo but not a secure multi-user system of record.</a:t>
            </a:r>
          </a:p>
          <a:p xmlns:a="http://schemas.openxmlformats.org/drawingml/2006/main">
            <a:r>
              <a:t>- The public market endpoint retrieves a fixed set of benchmark series and caches observations. Dates and currencies remain visible. It is not a live supplier quote feed or a news prediction engine.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CAR is Customer Activity Repository, a place to harmonize retail transaction data. S/4HANA is enterprise resource planning software, or ERP, holding business records and operations.</a:t>
            </a:r>
          </a:p>
          <a:p xmlns:a="http://schemas.openxmlformats.org/drawingml/2006/main">
            <a:r>
              <a:t>- IBP means Integrated Business Planning. Commerce Cloud runs digital commerce. BTP is the platform for extensions; Integration Suite connects systems.</a:t>
            </a:r>
          </a:p>
          <a:p xmlns:a="http://schemas.openxmlformats.org/drawingml/2006/main">
            <a:r>
              <a:t>- Sources: https://www.sap.com/products/crm/customer-activity-repository.html ; https://learning.sap.com/products/s4hana-cloud ; https://www.sap.com/products/crm/commerce-cloud.html ; https://www.sap.com/products/scm/integrated-business-planning.html ; https://www.sap.com/products/technology-platform/integration-suite.html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Proposal and approval reserve available stock but do not physically move it. Goods issue records dispatch; goods receipt records arrival.</a:t>
            </a:r>
          </a:p>
          <a:p xmlns:a="http://schemas.openxmlformats.org/drawingml/2006/main">
            <a:r>
              <a:t>- Baseline exposure: (80 − 8) × 39 = CAD 2,808 retail value. After feasible receipt: (80 − 48) × 39 = CAD 1,248. This is not realized revenue.</a:t>
            </a:r>
          </a:p>
          <a:p xmlns:a="http://schemas.openxmlformats.org/drawingml/2006/main">
            <a:r>
              <a:t>- A 70% lost-sale assumption gives CAD 1,965.60 versus 873.60 estimated foregone sales. Do not present the CAD 1,092 difference as profit or observed sales.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Fitting-room counts are aggregated item interactions, not identified customers. POS means point of sale, the checkout system.</a:t>
            </a:r>
          </a:p>
          <a:p xmlns:a="http://schemas.openxmlformats.org/drawingml/2006/main">
            <a:r>
              <a:t>- Conversion is purchases divided by interactions. A low ratio may reflect availability, fit, price, merchandising or measurement errors.</a:t>
            </a:r>
          </a:p>
          <a:p xmlns:a="http://schemas.openxmlformats.org/drawingml/2006/main">
            <a:r>
              <a:t>- Digital inference should use historical conversion where possible, a range rather than false precision, and bot/agent classification rather than silently treating all machine traffic as worthless.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Base cost already includes existing energy; only the uplift is added. Supplier pass-through is how much added supplier cost reaches the retailer, not a retail price increase.</a:t>
            </a:r>
          </a:p>
          <a:p xmlns:a="http://schemas.openxmlformats.org/drawingml/2006/main">
            <a:r>
              <a:t>- Weighted margin is calculated from revenue and costs across completed units; do not average SKU percentages unweighted.</a:t>
            </a:r>
          </a:p>
          <a:p xmlns:a="http://schemas.openxmlformats.org/drawingml/2006/main">
            <a:r>
              <a:t>- The separate timeline estimates foregone sales using current stock and hypothetical receipts. Do not add that sales estimate to the cohort gross-profit reduction.</a:t>
            </a:r>
          </a:p>
          <a:p xmlns:a="http://schemas.openxmlformats.org/drawingml/2006/main">
            <a:r>
              <a:t>- Public benchmark: https://fred.stlouisfed.org/series/PNGASUSUSDM ; benchmark currency/market differs from the illustrative Canadian purchase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Statista’s apparel page was not retrievable in this review. The Launchpad’s US$1.92T apparel estimate is therefore not used as a verified slide claim.</a:t>
            </a:r>
          </a:p>
          <a:p xmlns:a="http://schemas.openxmlformats.org/drawingml/2006/main">
            <a:r>
              <a:t>- US$957B online fashion and US$1.92T all-channel apparel have different category definitions; dividing them would be misleading.</a:t>
            </a:r>
          </a:p>
          <a:p xmlns:a="http://schemas.openxmlformats.org/drawingml/2006/main">
            <a:r>
              <a:t>- Market account counts, pricing, benefits, adoption and all forecast costs are team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This presentation makes no claim of unrestricted cross-customer data pooling or demonstrated model superiority.</a:t>
            </a:r>
          </a:p>
          <a:p xmlns:a="http://schemas.openxmlformats.org/drawingml/2006/main">
            <a:r>
              <a:t>- Grounding means supplying authorized relevant business evidence to an AI response. Training means changing the AI model based on examples. The two are different.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A distributor’s presence in a country does not establish authorization for a specific Zebra SKU, stock availability, local installation capacity or commercial terms.</a:t>
            </a:r>
          </a:p>
          <a:p xmlns:a="http://schemas.openxmlformats.org/drawingml/2006/main">
            <a:r>
              <a:t>- Procurement must validate those separately before any rollout commitments.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https://careers.ingrammicro.com/en/locations/</a:t>
            </a:r>
          </a:p>
          <a:p xmlns:a="http://schemas.openxmlformats.org/drawingml/2006/main">
            <a:r>
              <a:t>https://www.tdsynnex.com/us/en/where-we-are.html</a:t>
            </a:r>
          </a:p>
          <a:p xmlns:a="http://schemas.openxmlformats.org/drawingml/2006/main">
            <a:r>
              <a:t>https://redingtongroup.com/about-us/global-presence/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Why not just use IBP? Reuse IBP; test whether early intent plus a simpler operational workflow adds incremental value.</a:t>
            </a:r>
          </a:p>
          <a:p xmlns:a="http://schemas.openxmlformats.org/drawingml/2006/main">
            <a:r>
              <a:t>- Is the demo AI? The assistant is deterministic; production SAP Joule access and model evaluation remain future work.</a:t>
            </a:r>
          </a:p>
          <a:p xmlns:a="http://schemas.openxmlformats.org/drawingml/2006/main">
            <a:r>
              <a:t>- Are these customer results? No. Demo figures are seeded; benefits are modeling assumptions.</a:t>
            </a:r>
          </a:p>
          <a:p xmlns:a="http://schemas.openxmlformats.org/drawingml/2006/main">
            <a:r>
              <a:t>- Is the cash ROI good enough? Not yet in the base case. The pilot must prove 1.039% sales uplift or equivalent cost/price improvement to meet 24-month cash payback.</a:t>
            </a:r>
          </a:p>
          <a:p xmlns:a="http://schemas.openxmlformats.org/drawingml/2006/main">
            <a:r>
              <a:t>- What about customer data? Authorized within-tenant grounding first; training only within agreed terms and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Layout inspiration: Elevate 2026 A T&amp;T, PROSPER 2025, PepsiCo and Poppi, W Consulting BCG 2024, and LBSW Consulting Group Finals BSC Case Competition. Their unrelated client facts and logos are not part of this proposal.</a:t>
            </a:r>
          </a:p>
          <a:p xmlns:a="http://schemas.openxmlformats.org/drawingml/2006/main">
            <a:r>
              <a:t>Retail and persona images are generated illustrations. App images are captures of the working seeded prototype.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f5e4b6be449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c9f0d15c2f45f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e86804719b4c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ec49e0b18343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379eb788ed46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c1d334b7b47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8D16B6-A773-4748-A348-0F5729B3CA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5EE436-7EF3-4596-9898-22BE73E076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FB4FFB-7517-4B3B-B20F-89BD397671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CEF3A2-55B6-465B-8E85-AFBA31858C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D413D5-35A5-4C56-9BF1-67C6D2DDB8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417CAD-45DF-4D01-90B1-2CC0617475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1FFE94-6271-4AF8-9938-68ACCAFE90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56FF83-3C15-4E33-B5DA-90C5776238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3F1182-857E-41CB-8E08-599E0D7B58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064608-4EF0-46DA-A6B8-536682A48F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34c856656d4d9d" /><Relationship Type="http://schemas.openxmlformats.org/officeDocument/2006/relationships/slideLayout" Target="/ppt/slideLayouts/slideLayout1.xml" Id="R9b6a7f9132124b87" /><Relationship Type="http://schemas.openxmlformats.org/officeDocument/2006/relationships/slideLayout" Target="/ppt/slideLayouts/slideLayout2.xml" Id="Rf405df7436f944c0" /><Relationship Type="http://schemas.openxmlformats.org/officeDocument/2006/relationships/slideLayout" Target="/ppt/slideLayouts/slideLayout3.xml" Id="Red9e2590c29c412b" /><Relationship Type="http://schemas.openxmlformats.org/officeDocument/2006/relationships/slideLayout" Target="/ppt/slideLayouts/slideLayout4.xml" Id="Rd8f944deebfa430c" /><Relationship Type="http://schemas.openxmlformats.org/officeDocument/2006/relationships/slideLayout" Target="/ppt/slideLayouts/slideLayout5.xml" Id="Rdeacba652bb6494c" /><Relationship Type="http://schemas.openxmlformats.org/officeDocument/2006/relationships/slideLayout" Target="/ppt/slideLayouts/slideLayout6.xml" Id="R55ac9e6eea1446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6a7f9132124b87"/>
    <p:sldLayoutId xmlns:r="http://schemas.openxmlformats.org/officeDocument/2006/relationships" id="2147483650" r:id="Rf405df7436f944c0"/>
    <p:sldLayoutId xmlns:r="http://schemas.openxmlformats.org/officeDocument/2006/relationships" id="2147483651" r:id="Red9e2590c29c412b"/>
    <p:sldLayoutId xmlns:r="http://schemas.openxmlformats.org/officeDocument/2006/relationships" id="2147483652" r:id="Rd8f944deebfa430c"/>
    <p:sldLayoutId xmlns:r="http://schemas.openxmlformats.org/officeDocument/2006/relationships" id="2147483653" r:id="Rdeacba652bb6494c"/>
    <p:sldLayoutId xmlns:r="http://schemas.openxmlformats.org/officeDocument/2006/relationships" id="2147483654" r:id="R55ac9e6eea1446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1d5d05994245c5" /><Relationship Type="http://schemas.openxmlformats.org/officeDocument/2006/relationships/image" Target="/ppt/media/image.png" Id="R692d4bd9ffda4a5c" /><Relationship Type="http://schemas.openxmlformats.org/officeDocument/2006/relationships/notesSlide" Target="/ppt/notesSlides/notesSlide1.xml" Id="Rc9ba4b23a84d48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bce6e6dc44fa9" /><Relationship Type="http://schemas.openxmlformats.org/officeDocument/2006/relationships/image" Target="/ppt/media/image.jpeg" Id="Ra2b3acd3b6c44638" /><Relationship Type="http://schemas.openxmlformats.org/officeDocument/2006/relationships/notesSlide" Target="/ppt/notesSlides/notesSlide2.xml" Id="R677fd333ec9b42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370a6e50074363" /><Relationship Type="http://schemas.openxmlformats.org/officeDocument/2006/relationships/image" Target="/ppt/media/image2.jpeg" Id="R2cbdece60bee4324" /><Relationship Type="http://schemas.openxmlformats.org/officeDocument/2006/relationships/notesSlide" Target="/ppt/notesSlides/notesSlide3.xml" Id="Re7ff0fec139b43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8fa0c139654e33" /><Relationship Type="http://schemas.openxmlformats.org/officeDocument/2006/relationships/image" Target="/ppt/media/image2.png" Id="R86d98a4ae1504296" /><Relationship Type="http://schemas.openxmlformats.org/officeDocument/2006/relationships/notesSlide" Target="/ppt/notesSlides/notesSlide4.xml" Id="Rea67c417c04440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62de94839f43c5" /><Relationship Type="http://schemas.openxmlformats.org/officeDocument/2006/relationships/image" Target="/ppt/media/image3.jpeg" Id="R297fe5a589ea48c3" /><Relationship Type="http://schemas.openxmlformats.org/officeDocument/2006/relationships/image" Target="/ppt/media/image4.jpeg" Id="R77909ab9ad624499" /><Relationship Type="http://schemas.openxmlformats.org/officeDocument/2006/relationships/image" Target="/ppt/media/image5.jpeg" Id="Rd4cffcb2f43a4b5a" /><Relationship Type="http://schemas.openxmlformats.org/officeDocument/2006/relationships/notesSlide" Target="/ppt/notesSlides/notesSlide5.xml" Id="R7d87cbe56b4b47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5a72308dae4431" /><Relationship Type="http://schemas.openxmlformats.org/officeDocument/2006/relationships/image" Target="/ppt/media/image3.png" Id="R10908ed8371049ff" /><Relationship Type="http://schemas.openxmlformats.org/officeDocument/2006/relationships/notesSlide" Target="/ppt/notesSlides/notesSlide6.xml" Id="R48c1013fcbb74b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4d538ea0b04f3a" /><Relationship Type="http://schemas.openxmlformats.org/officeDocument/2006/relationships/image" Target="/ppt/media/image6.jpeg" Id="R0c524a9ea91c41f1" /><Relationship Type="http://schemas.openxmlformats.org/officeDocument/2006/relationships/notesSlide" Target="/ppt/notesSlides/notesSlide7.xml" Id="R4ab856785e7e40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c4175481c34e48" /><Relationship Type="http://schemas.openxmlformats.org/officeDocument/2006/relationships/image" Target="/ppt/media/image4.png" Id="R22db675777d24c99" /><Relationship Type="http://schemas.openxmlformats.org/officeDocument/2006/relationships/notesSlide" Target="/ppt/notesSlides/notesSlide8.xml" Id="Ref9df5fc383a4e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a5bda008e647ed" /><Relationship Type="http://schemas.openxmlformats.org/officeDocument/2006/relationships/notesSlide" Target="/ppt/notesSlides/notesSlide9.xml" Id="Re02a1692508f41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b9499014e0454b" /><Relationship Type="http://schemas.openxmlformats.org/officeDocument/2006/relationships/image" Target="/ppt/media/image7.jpeg" Id="R9db76bdf230b4a15" /><Relationship Type="http://schemas.openxmlformats.org/officeDocument/2006/relationships/notesSlide" Target="/ppt/notesSlides/notesSlide10.xml" Id="R32aeaa78b51640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82340ab6a54142" /><Relationship Type="http://schemas.openxmlformats.org/officeDocument/2006/relationships/notesSlide" Target="/ppt/notesSlides/notesSlide11.xml" Id="R66ae2202679441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e688302c0f4e82" /><Relationship Type="http://schemas.openxmlformats.org/officeDocument/2006/relationships/notesSlide" Target="/ppt/notesSlides/notesSlide12.xml" Id="R80b740d21b8147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1eeef09fef45f8" /><Relationship Type="http://schemas.openxmlformats.org/officeDocument/2006/relationships/notesSlide" Target="/ppt/notesSlides/notesSlide13.xml" Id="R89c72ae0791241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9df5229a874135" /><Relationship Type="http://schemas.openxmlformats.org/officeDocument/2006/relationships/notesSlide" Target="/ppt/notesSlides/notesSlide14.xml" Id="R8ad240b4a8f04f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90a637f9164111" /><Relationship Type="http://schemas.openxmlformats.org/officeDocument/2006/relationships/image" Target="/ppt/media/image8.jpeg" Id="Rb4337c173b934e5a" /><Relationship Type="http://schemas.openxmlformats.org/officeDocument/2006/relationships/notesSlide" Target="/ppt/notesSlides/notesSlide15.xml" Id="R393e0d9af8ce42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cf8a87e76a4be3" /><Relationship Type="http://schemas.openxmlformats.org/officeDocument/2006/relationships/notesSlide" Target="/ppt/notesSlides/notesSlide16.xml" Id="R9c4c641244cb4c2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b51b1e97604888" /><Relationship Type="http://schemas.openxmlformats.org/officeDocument/2006/relationships/notesSlide" Target="/ppt/notesSlides/notesSlide17.xml" Id="R57406c06fb00488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dac794ea7e44fd" /><Relationship Type="http://schemas.openxmlformats.org/officeDocument/2006/relationships/chart" Target="/ppt/slides/charts/chart1.xml" Id="R4318339c57154298" /><Relationship Type="http://schemas.openxmlformats.org/officeDocument/2006/relationships/notesSlide" Target="/ppt/notesSlides/notesSlide18.xml" Id="R0583a3ca2815445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6e89d9e594479b" /><Relationship Type="http://schemas.openxmlformats.org/officeDocument/2006/relationships/notesSlide" Target="/ppt/notesSlides/notesSlide19.xml" Id="Raf5beb753a14406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bbfbd918f94a23" /><Relationship Type="http://schemas.openxmlformats.org/officeDocument/2006/relationships/chart" Target="/ppt/slides/charts/chart2.xml" Id="Re80ae88d22b84de3" /><Relationship Type="http://schemas.openxmlformats.org/officeDocument/2006/relationships/notesSlide" Target="/ppt/notesSlides/notesSlide20.xml" Id="Rf76d2a6e17f7412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64597137d3461a" /><Relationship Type="http://schemas.openxmlformats.org/officeDocument/2006/relationships/notesSlide" Target="/ppt/notesSlides/notesSlide21.xml" Id="R85993af0c4ab4f0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65ca36f5834d1b" /><Relationship Type="http://schemas.openxmlformats.org/officeDocument/2006/relationships/image" Target="/ppt/media/image5.png" Id="Rdaf91740731c4c54" /><Relationship Type="http://schemas.openxmlformats.org/officeDocument/2006/relationships/notesSlide" Target="/ppt/notesSlides/notesSlide22.xml" Id="Rc8b3f8c8eae5497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39f455e51b45f8" /><Relationship Type="http://schemas.openxmlformats.org/officeDocument/2006/relationships/notesSlide" Target="/ppt/notesSlides/notesSlide23.xml" Id="Rbd6684641a33451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91dc4c2fa44c71" /><Relationship Type="http://schemas.openxmlformats.org/officeDocument/2006/relationships/notesSlide" Target="/ppt/notesSlides/notesSlide24.xml" Id="R59354abc3cf3405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5ca76dad824fad" /><Relationship Type="http://schemas.openxmlformats.org/officeDocument/2006/relationships/notesSlide" Target="/ppt/notesSlides/notesSlide25.xml" Id="R24851d9e7ee54a6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198f762e954e25" /><Relationship Type="http://schemas.openxmlformats.org/officeDocument/2006/relationships/notesSlide" Target="/ppt/notesSlides/notesSlide26.xml" Id="R1d65debfffbd4e6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bf5e03f9bf4d07" /><Relationship Type="http://schemas.openxmlformats.org/officeDocument/2006/relationships/notesSlide" Target="/ppt/notesSlides/notesSlide27.xml" Id="Rcd232acb6ca144d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58dc5d23874a3a" /><Relationship Type="http://schemas.openxmlformats.org/officeDocument/2006/relationships/notesSlide" Target="/ppt/notesSlides/notesSlide28.xml" Id="R6e970ac0fda2478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366a3417154ef7" /><Relationship Type="http://schemas.openxmlformats.org/officeDocument/2006/relationships/notesSlide" Target="/ppt/notesSlides/notesSlide29.xml" Id="R9a6c90571f9e4e2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d60befb61b49eb" /><Relationship Type="http://schemas.openxmlformats.org/officeDocument/2006/relationships/notesSlide" Target="/ppt/notesSlides/notesSlide30.xml" Id="Rec506b364b59418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34d9c7c8ca42f1" /><Relationship Type="http://schemas.openxmlformats.org/officeDocument/2006/relationships/notesSlide" Target="/ppt/notesSlides/notesSlide31.xml" Id="Rf6939df141be460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956514af524cbc" /><Relationship Type="http://schemas.openxmlformats.org/officeDocument/2006/relationships/notesSlide" Target="/ppt/notesSlides/notesSlide32.xml" Id="Rbfc2228a61074b1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e0b70f9eb44da8" /><Relationship Type="http://schemas.openxmlformats.org/officeDocument/2006/relationships/notesSlide" Target="/ppt/notesSlides/notesSlide33.xml" Id="Rab427cdaea54484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5c4dfeb90f4a1f" /><Relationship Type="http://schemas.openxmlformats.org/officeDocument/2006/relationships/notesSlide" Target="/ppt/notesSlides/notesSlide34.xml" Id="Rac8f3be97d294b0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03314866634307" /><Relationship Type="http://schemas.openxmlformats.org/officeDocument/2006/relationships/notesSlide" Target="/ppt/notesSlides/notesSlide35.xml" Id="Rbd5c1a9beada482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fdf41f30fa4780" /><Relationship Type="http://schemas.openxmlformats.org/officeDocument/2006/relationships/notesSlide" Target="/ppt/notesSlides/notesSlide36.xml" Id="R2d5a77d12d004a1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5893fa172d424e" /><Relationship Type="http://schemas.openxmlformats.org/officeDocument/2006/relationships/notesSlide" Target="/ppt/notesSlides/notesSlide37.xml" Id="Re13e008a87aa45a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91f267d8954762" /><Relationship Type="http://schemas.openxmlformats.org/officeDocument/2006/relationships/notesSlide" Target="/ppt/notesSlides/notesSlide38.xml" Id="Rdce3fddca54347e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CAD 8,000 per equipped store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0294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Partner allocation (CAD)</c:v>
          </c:tx>
          <c:spPr>
            <a:solidFill xmlns:a="http://schemas.openxmlformats.org/drawingml/2006/main">
              <a:srgbClr val="0065D9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Equipment</c:v>
                </c:pt>
                <c:pt idx="1">
                  <c:v>Distribution</c:v>
                </c:pt>
                <c:pt idx="2">
                  <c:v>Installation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5000</c:v>
                </c:pt>
                <c:pt idx="1">
                  <c:v>1000</c:v>
                </c:pt>
                <c:pt idx="2">
                  <c:v>2000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0065D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000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CCD6E2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1738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Modeled SAP revenue (CAD millions)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0294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SAP revenue</c:v>
          </c:tx>
          <c:spPr>
            <a:solidFill xmlns:a="http://schemas.openxmlformats.org/drawingml/2006/main">
              <a:srgbClr val="0065D9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3.8</c:v>
                </c:pt>
                <c:pt idx="1">
                  <c:v>14.6</c:v>
                </c:pt>
                <c:pt idx="2">
                  <c:v>38.1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0065D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CD6E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52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CCD6E2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1738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C93B4-22BC-48E3-AA81-91198B3B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90284-2032-4AD1-95F2-7702D821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94462-AF16-415F-9520-7BBF8E85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Demand shifts before retailers can respond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E9856-BD28-40E2-82ED-BAE56FF5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C21FD-2DF9-4D6E-BAE8-6A3A3CEE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Plus One Braincell · Team 463980 · Product+ 2026 · Competition 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9C1D7-D2DF-4206-9709-AD18F9E7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62E4B-C5ED-4731-BB77-B82999EA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8BEA1-199D-48C8-B256-C34A2F4B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13430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FC79C-E20B-4F76-8C17-0E73608D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7016F-D49C-4910-921B-01CADBE3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AD105-74CE-45A6-A5FC-DC4B92D7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4E4AE-2FFA-4407-88D9-8168914B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35F1E-1A11-48EA-85F5-D82EF1A3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DDAD4-9FD2-4CE4-AB76-31A65E61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D7BD19-1785-44C5-8C38-D41BB6DE56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d4bd9ffda4a5c"/>
          <a:srcRect xmlns:a="http://schemas.openxmlformats.org/drawingml/2006/main" l="15899" t="0" r="158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4225" y="1504950"/>
            <a:ext cx="6048375" cy="49911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EE8C6-7B7B-4507-ABB6-82828C13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47825"/>
            <a:ext cx="62103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025" b="1">
                <a:solidFill>
                  <a:srgbClr val="10294D"/>
                </a:solidFill>
                <a:latin typeface="Georgia"/>
                <a:ea typeface="Georgia"/>
                <a:cs typeface="Georgia"/>
              </a:defRPr>
            </a:defPPr>
            <a:lvl1pPr algn="l">
              <a:defRPr sz="5025" b="1">
                <a:solidFill>
                  <a:srgbClr val="10294D"/>
                </a:solidFill>
                <a:latin typeface="Georgia"/>
                <a:ea typeface="Georgia"/>
                <a:cs typeface="Georgia"/>
              </a:defRPr>
            </a:lvl1pPr>
            <a:lvl2pPr algn="l">
              <a:defRPr sz="5025" b="1">
                <a:solidFill>
                  <a:srgbClr val="10294D"/>
                </a:solidFill>
                <a:latin typeface="Georgia"/>
                <a:ea typeface="Georgia"/>
                <a:cs typeface="Georgia"/>
              </a:defRPr>
            </a:lvl2pPr>
            <a:lvl3pPr algn="l">
              <a:defRPr sz="5025" b="1">
                <a:solidFill>
                  <a:srgbClr val="10294D"/>
                </a:solidFill>
                <a:latin typeface="Georgia"/>
                <a:ea typeface="Georgia"/>
                <a:cs typeface="Georgia"/>
              </a:defRPr>
            </a:lvl3pPr>
            <a:lvl4pPr algn="l">
              <a:defRPr sz="5025" b="1">
                <a:solidFill>
                  <a:srgbClr val="10294D"/>
                </a:solidFill>
                <a:latin typeface="Georgia"/>
                <a:ea typeface="Georgia"/>
                <a:cs typeface="Georgia"/>
              </a:defRPr>
            </a:lvl4pPr>
            <a:lvl5pPr algn="l">
              <a:defRPr sz="5025" b="1">
                <a:solidFill>
                  <a:srgbClr val="10294D"/>
                </a:solidFill>
                <a:latin typeface="Georgia"/>
                <a:ea typeface="Georgia"/>
                <a:cs typeface="Georgia"/>
              </a:defRPr>
            </a:lvl5pPr>
            <a:lvl6pPr algn="l">
              <a:defRPr sz="5025" b="1">
                <a:solidFill>
                  <a:srgbClr val="10294D"/>
                </a:solidFill>
                <a:latin typeface="Georgia"/>
                <a:ea typeface="Georgia"/>
                <a:cs typeface="Georgia"/>
              </a:defRPr>
            </a:lvl6pPr>
            <a:lvl7pPr algn="l">
              <a:defRPr sz="5025" b="1">
                <a:solidFill>
                  <a:srgbClr val="10294D"/>
                </a:solidFill>
                <a:latin typeface="Georgia"/>
                <a:ea typeface="Georgia"/>
                <a:cs typeface="Georgia"/>
              </a:defRPr>
            </a:lvl7pPr>
            <a:lvl8pPr algn="l">
              <a:defRPr sz="5025" b="1">
                <a:solidFill>
                  <a:srgbClr val="10294D"/>
                </a:solidFill>
                <a:latin typeface="Georgia"/>
                <a:ea typeface="Georgia"/>
                <a:cs typeface="Georgia"/>
              </a:defRPr>
            </a:lvl8pPr>
            <a:lvl9pPr algn="l">
              <a:defRPr sz="5025" b="1">
                <a:solidFill>
                  <a:srgbClr val="10294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5025" b="1">
                <a:solidFill>
                  <a:srgbClr val="10294D"/>
                </a:solidFill>
              </a:defRPr>
            </a:pPr>
            <a:r>
              <a:rPr sz="5025" b="1">
                <a:solidFill>
                  <a:srgbClr val="10294D"/>
                </a:solidFill>
                <a:latin typeface="Georgia"/>
                <a:ea typeface="Georgia"/>
                <a:cs typeface="Georgia"/>
              </a:rPr>
              <a:t>SAP Retail Signal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0804F1-1855-4C64-B551-30BADDB5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81375"/>
            <a:ext cx="59436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294D"/>
                </a:solidFill>
              </a:defRPr>
            </a:pPr>
            <a:r>
              <a:rPr sz="2700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Closing the gap between a demand shift and a business response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2976D-8B59-40FD-8C2C-96AB128C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91125"/>
            <a:ext cx="59150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52238"/>
                </a:solidFill>
              </a:defRPr>
            </a:pPr>
            <a:r>
              <a:rPr sz="21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One product connects early customer intent with a decision the business can carry out.</a:t>
            </a:r>
          </a:p>
        </p:txBody>
      </p:sp>
    </p:spTree>
    <p:extLst>
      <p:ext uri="{BB962C8B-B14F-4D97-AF65-F5344CB8AC3E}">
        <p14:creationId xmlns:p14="http://schemas.microsoft.com/office/powerpoint/2010/main" val="8012418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F8D51-5294-4C4D-B7C6-24CC4401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4C62D-0625-4D1E-87DF-53F99A6E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COMPANY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17558-D948-44EB-B114-D1366E8B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SAP already supports the retailer’s core business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9CAD3-4398-4B92-A26B-A4007F6C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3DF0D-3A11-4811-A22A-6374AE8A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Customer counts describe SAP’s broader footprint, not the addressable apparel market.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BD928-FE1B-4938-9165-D5F54D06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5CE5C-357A-44F0-9EA7-04CD208A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2FDB6-7759-4239-8CAA-21C7AD17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13430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29B46-C021-47F0-A8EF-491DD147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819C0-A64B-4D67-B8F8-ED1BFAA4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4234D-9533-44E2-B067-5C231B2D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420D0-3632-4170-8E7A-1AC85538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E7C47F-1AE9-4FBC-955F-186F7C9C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B7183-63B4-4A4E-9787-D30F8D13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37A40-5D96-473C-B08C-3E4DF001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3886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0065D9"/>
                </a:solidFill>
              </a:defRPr>
            </a:pPr>
            <a:r>
              <a:rPr sz="49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440,000+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0D366-8BD5-4F85-BF29-7F847D4A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388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52238"/>
                </a:solidFill>
              </a:defRPr>
            </a:pPr>
            <a:r>
              <a:rPr sz="2100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enterprise customers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B1D6CF-9A9D-4743-92AE-EE00AFE0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3886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1738A"/>
                </a:solidFill>
              </a:defRPr>
            </a:pPr>
            <a:r>
              <a:rPr sz="1350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Case-package baseline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77DB46-9478-49A0-ABD9-0557696B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38300"/>
            <a:ext cx="3886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0065D9"/>
                </a:solidFill>
              </a:defRPr>
            </a:pPr>
            <a:r>
              <a:rPr sz="49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180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D87BD3-6545-4CA9-BA4A-4468F126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533650"/>
            <a:ext cx="388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52238"/>
                </a:solidFill>
              </a:defRPr>
            </a:pPr>
            <a:r>
              <a:rPr sz="2100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countries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7209BC-C66A-4FC8-8B91-F2DCF9BB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90850"/>
            <a:ext cx="3886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1738A"/>
                </a:solidFill>
              </a:defRPr>
            </a:pPr>
            <a:r>
              <a:rPr sz="1350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Case-package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86736E-09A2-4384-A271-64CD2EA7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38300"/>
            <a:ext cx="3886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49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0065D9"/>
                </a:solidFill>
              </a:defRPr>
            </a:pPr>
            <a:r>
              <a:rPr sz="49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14,000+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40E84F-E064-4E2F-967F-BE97CE60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33650"/>
            <a:ext cx="388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52238"/>
                </a:solidFill>
              </a:defRPr>
            </a:pPr>
            <a:r>
              <a:rPr sz="2100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retail customers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639CBA-9417-4AB4-8737-A87E70CD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90850"/>
            <a:ext cx="3886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1738A"/>
                </a:solidFill>
              </a:defRPr>
            </a:pPr>
            <a:r>
              <a:rPr sz="1350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Future of Retail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8718A0-2536-43A8-87DB-A8E4DEA6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1B5F28-7E8D-42EA-8A7B-E4D7F0D1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76675"/>
            <a:ext cx="47434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52238"/>
                </a:solidFill>
              </a:defRPr>
            </a:pPr>
            <a:r>
              <a:rPr sz="232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Retail Signal would extend existing transaction, commerce and planning systems with early demand evidence and a shared response workflow.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A4C438-7CA9-4676-AF53-26D4B8F4A1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3acd3b6c44638"/>
          <a:srcRect xmlns:a="http://schemas.openxmlformats.org/drawingml/2006/main" l="15000" t="5000" r="0" b="38000"/>
          <a:stretch xmlns:a="http://schemas.openxmlformats.org/drawingml/2006/main"/>
        </p:blipFill>
        <p:spPr>
          <a:xfrm xmlns:a="http://schemas.openxmlformats.org/drawingml/2006/main">
            <a:off x="6668674" y="3790950"/>
            <a:ext cx="5503102" cy="2724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980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E1825-C56E-4C25-839D-7155292D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79D33-35AB-409F-AC13-CED023C2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KEY ISSUES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EF303-4A81-4336-86BA-8E84EA23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Three gaps delay the same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AE43C-A82D-491D-9E42-E09E1C29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D8D8E-5EFE-406E-B901-DA1B0F19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Case-based problem hypothesis. Validate the frequency and cost through planner interviews and a pilot.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59C27-12A9-4C34-9168-FEC38416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6CCD0-8AFD-4BD4-A92B-84D7DCF6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B8344-056B-42C7-8B04-535925DE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13430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F8FC0-47BD-4E65-BDC9-D516DCE9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F2BF0-D0F6-4C87-8E04-1E5697D7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42FD9-0C24-4869-8A44-BC7CBB4E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ACDF51-A125-4D6B-8F18-8D63B867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530DA-85A4-40FE-9DF5-96227152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D80638-70F6-4A18-8755-694EA2C7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828A03-E819-4C8C-95E6-52F6FE02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0065D9"/>
                </a:solidFill>
              </a:defRPr>
            </a:pPr>
            <a:r>
              <a:rPr sz="270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70350-36FD-4EE7-9BA1-E93FD92B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562100"/>
            <a:ext cx="3152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0294D"/>
                </a:solidFill>
              </a:defRPr>
            </a:pPr>
            <a:r>
              <a:rPr sz="217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Interest is invisible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EC1AE6-70D7-4893-935F-EBF7F6CF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394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4DFA49-41EE-48D5-8539-B594DAC6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39433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52238"/>
                </a:solidFill>
              </a:defRPr>
            </a:pPr>
            <a:r>
              <a:rPr sz="19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Store teams see what sold, but not which sizes were tried and left behind.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8FC4BB-0D2C-437A-B90E-E80F6818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5621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0065D9"/>
                </a:solidFill>
              </a:defRPr>
            </a:pPr>
            <a:r>
              <a:rPr sz="270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16ABA-F96B-40E9-AABE-4C191DC3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3152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0294D"/>
                </a:solidFill>
              </a:defRPr>
            </a:pPr>
            <a:r>
              <a:rPr sz="217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Unmet online demand disappears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641F19-F2CA-4FE9-A1B4-CD813A87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52675"/>
            <a:ext cx="394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0B9C15-8F35-4FD7-8780-7AD741AB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552700"/>
            <a:ext cx="39433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52238"/>
                </a:solidFill>
              </a:defRPr>
            </a:pPr>
            <a:r>
              <a:rPr sz="19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Searching an unavailable size can end without a sale or a restock request.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0D394F-47C2-42FF-A0B0-2D098DE5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621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0065D9"/>
                </a:solidFill>
              </a:defRPr>
            </a:pPr>
            <a:r>
              <a:rPr sz="270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41E04A-02A2-429A-A3EB-DB69394B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562100"/>
            <a:ext cx="3152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0294D"/>
                </a:solidFill>
              </a:defRPr>
            </a:pPr>
            <a:r>
              <a:rPr sz="217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Supply risk arrives without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B3466A-05BD-43F4-A8AE-C7186DA7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52675"/>
            <a:ext cx="394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EB1E06-3AF5-44BF-B2F5-F227E30A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52700"/>
            <a:ext cx="39433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52238"/>
                </a:solidFill>
              </a:defRPr>
            </a:pPr>
            <a:r>
              <a:rPr sz="19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A price or delivery change needs to be traced to affected products, stores and margins.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152933-6AA8-4D8D-B568-DD2B88E2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12649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F63943-DB6F-4B25-A0A1-45D16DF264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dece60bee4324"/>
          <a:srcRect xmlns:a="http://schemas.openxmlformats.org/drawingml/2006/main" l="16000" t="8000" r="0" b="68000"/>
          <a:stretch xmlns:a="http://schemas.openxmlformats.org/drawingml/2006/main"/>
        </p:blipFill>
        <p:spPr>
          <a:xfrm xmlns:a="http://schemas.openxmlformats.org/drawingml/2006/main">
            <a:off x="1438656" y="4229100"/>
            <a:ext cx="10838688" cy="2286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191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D495E-0AB4-4705-9A94-E3FA2603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51DC1-B4D7-47CC-9EB8-FE51F5E0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PART 1 · CUSTOMER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18E54-590E-4D1A-93A2-CF2DC1C8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Meet Bob, before Retail 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C79A7-2432-4EF2-A26D-73F0060C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E1EC9-A568-4AEA-84D1-5B9CAA6E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Bob is a fictional persona. Product, supplier and location figures are seeded demo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B26C0-1F46-4C86-BEFD-276C02D1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333D7-185C-4CAE-B68A-4F9DB6DA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1DD0D-2B6E-4084-AECB-C98E986A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13430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E1923-011A-4BCF-A90A-EF52A9DF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FA7A8-1C85-47C4-8823-48A4DA73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4A3D3-E54B-41C2-8D09-0552309C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4544A-ECBF-4254-826B-DDCBCAA2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9E5DC-E27D-4E75-B8A1-3B6F4FBE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58551-D7D8-42E6-9055-BCC33825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A50FA2-2FD2-4A74-8D92-2B15FB3641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98a4ae1504296"/>
          <a:srcRect xmlns:a="http://schemas.openxmlformats.org/drawingml/2006/main" l="0" t="2000" r="0" b="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571625"/>
            <a:ext cx="3810000" cy="30480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9DA21-626E-488B-AC89-A6D8511B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381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550AE0-704D-4D82-82D4-5AD380CC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Bob, regional planner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4894E-5C5B-4722-A31F-46890926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3505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52238"/>
                </a:solidFill>
              </a:defRPr>
            </a:pPr>
            <a:r>
              <a:rPr sz="2175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Fictional 100-store apparel retailer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B9026E-4213-4812-985F-EA99DC5E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571625"/>
            <a:ext cx="8353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94D"/>
                </a:solidFill>
              </a:defRPr>
            </a:pPr>
            <a:r>
              <a:rPr sz="20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9:00  Sales look ordinary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F250B-5AA8-4C1A-9A67-7220FE3E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038350"/>
            <a:ext cx="8353425" cy="103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52238"/>
                </a:solidFill>
              </a:defRPr>
            </a:pPr>
            <a:r>
              <a:rPr sz="202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The cream medium top has only 8 units left in Vancouver.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97F64D-3290-48AD-9AB5-31742A52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140075"/>
            <a:ext cx="8353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E1EDF5-94BF-4BF1-8A4C-23DF2F84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216275"/>
            <a:ext cx="8353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94D"/>
                </a:solidFill>
              </a:defRPr>
            </a:pPr>
            <a:r>
              <a:rPr sz="20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10:30  The signals live elsewhere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78FD9A-41BD-41F3-A01A-C0985E55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683000"/>
            <a:ext cx="8353425" cy="103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52238"/>
                </a:solidFill>
              </a:defRPr>
            </a:pPr>
            <a:r>
              <a:rPr sz="202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240 try-ons, 43 purchases and 162 out-of-stock sessions are not in his sales report.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C06EAD-9A22-4E89-9B88-BA255B2D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784725"/>
            <a:ext cx="8353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69122B-C491-4DCD-B1FA-A5EDA9E5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860925"/>
            <a:ext cx="8353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94D"/>
                </a:solidFill>
              </a:defRPr>
            </a:pPr>
            <a:r>
              <a:rPr sz="20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Later  The replenishment misses the window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2054CC-DB6C-4BAD-B165-9333E1E3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327650"/>
            <a:ext cx="8353425" cy="103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52238"/>
                </a:solidFill>
              </a:defRPr>
            </a:pPr>
            <a:r>
              <a:rPr sz="202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The primary supplier needs 21 days; Bob still has to locate transferable stock.</a:t>
            </a:r>
          </a:p>
        </p:txBody>
      </p:sp>
    </p:spTree>
    <p:extLst>
      <p:ext uri="{BB962C8B-B14F-4D97-AF65-F5344CB8AC3E}">
        <p14:creationId xmlns:p14="http://schemas.microsoft.com/office/powerpoint/2010/main" val="16751859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7AD4E-7C4E-4C4A-BD4E-76B3CF7E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5EDC0-827F-4FD2-B6D7-409CB086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RECOMMENDATION DEMO · 90 SECONDS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9E12F-FE19-4FD0-A85A-BCC558CA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One product, three connected parts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EF248-B20B-4BF8-A06B-52CF946D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D300F-930F-4C38-A335-0108D119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Working website with seeded records. Joule-inspired explanations and SAP execution are simulated.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D44D7-D78E-483A-9DE3-DB276B4F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03858-D531-4CDB-B751-26F8C8AC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DE12C-EC52-4C4D-B090-23773D8C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E5C67-5695-4919-BD3A-BE15DB9E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7229475"/>
            <a:ext cx="13430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E5829-C124-4150-A7AB-611E5F95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054AA-E262-444B-BCF9-6E0BE3BB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688DD-AD2D-45F2-8946-F339D21A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08460F-1C8C-4A4A-87EB-69BEA7AD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9E0709-D18F-4F66-A211-68D995C5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E764E-4C21-4BA8-B2FD-CE48F6A6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39433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A28C8E-5DC7-473B-A7FB-06C3E77E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3943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E3254-C468-4AD6-86B2-23B25206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638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C0BFEC-6BD9-4D5D-9C57-837EBB31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3600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0294D"/>
                </a:solidFill>
              </a:defRPr>
            </a:pPr>
            <a:r>
              <a:rPr sz="2250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Fitting-room demand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24BA07-4683-4E9B-BC04-D2E832B294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fe5a589ea48c3"/>
          <a:srcRect xmlns:a="http://schemas.openxmlformats.org/drawingml/2006/main" l="17000" t="35000" r="30000" b="28000"/>
          <a:stretch xmlns:a="http://schemas.openxmlformats.org/drawingml/2006/main"/>
        </p:blipFill>
        <p:spPr>
          <a:xfrm xmlns:a="http://schemas.openxmlformats.org/drawingml/2006/main">
            <a:off x="915540" y="3009900"/>
            <a:ext cx="3179069" cy="16383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EAA2CC-AC24-4933-B8A4-7C83FC4A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00600"/>
            <a:ext cx="358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52238"/>
                </a:solidFill>
              </a:defRPr>
            </a:pPr>
            <a:r>
              <a:rPr sz="1875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Reveal interest before purchase.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20C6A7-3667-460A-B54D-A27D5D98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3581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1738A"/>
                </a:solidFill>
              </a:defRPr>
            </a:pPr>
            <a:r>
              <a:rPr sz="157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240 try-ons / 43 purchases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6FF93-E70F-4674-BCAC-4D4F9AB6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581150"/>
            <a:ext cx="39433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ED86CB-2413-435B-A4AB-2A99DEE8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581150"/>
            <a:ext cx="3943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2A8202-6E22-432C-9753-2125A1C6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619250"/>
            <a:ext cx="3638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818268-9DF4-420D-BDCB-42CA7500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76450"/>
            <a:ext cx="3600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0294D"/>
                </a:solidFill>
              </a:defRPr>
            </a:pPr>
            <a:r>
              <a:rPr sz="2250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Out-of-stock demand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2A4EF-1DCF-4319-A96B-465CE0C9DF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09ab9ad624499"/>
          <a:srcRect xmlns:a="http://schemas.openxmlformats.org/drawingml/2006/main" l="17000" t="35000" r="30000" b="28000"/>
          <a:stretch xmlns:a="http://schemas.openxmlformats.org/drawingml/2006/main"/>
        </p:blipFill>
        <p:spPr>
          <a:xfrm xmlns:a="http://schemas.openxmlformats.org/drawingml/2006/main">
            <a:off x="5211315" y="3009900"/>
            <a:ext cx="3179069" cy="16383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A59588-D7C9-4C20-BEA5-A0974EFB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00600"/>
            <a:ext cx="358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52238"/>
                </a:solidFill>
              </a:defRPr>
            </a:pPr>
            <a:r>
              <a:rPr sz="1875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Qualify demand for unavailable sizes.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F774CA-1AE5-4224-BDFD-A44EC841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10200"/>
            <a:ext cx="3581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1738A"/>
                </a:solidFill>
              </a:defRPr>
            </a:pPr>
            <a:r>
              <a:rPr sz="157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162 qualified sessions / 24 scenario units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1E52B0-AF5F-469B-831F-23D07419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39433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780E6F-7AA1-4D40-A078-DC618F2D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3943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C8227B-4BAC-45D2-9353-B4803F09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19250"/>
            <a:ext cx="3638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 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C9840E-D0CE-4237-8CB0-601A899F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76450"/>
            <a:ext cx="3600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0294D"/>
                </a:solidFill>
              </a:defRPr>
            </a:pPr>
            <a:r>
              <a:rPr sz="2250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Supply risk and response</a:t>
            </a:r>
          </a:p>
        </p:txBody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880C07-43A4-4D53-AA30-B27A9C9D2D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ffcb2f43a4b5a"/>
          <a:srcRect xmlns:a="http://schemas.openxmlformats.org/drawingml/2006/main" l="17000" t="20000" r="1000" b="12000"/>
          <a:stretch xmlns:a="http://schemas.openxmlformats.org/drawingml/2006/main"/>
        </p:blipFill>
        <p:spPr>
          <a:xfrm xmlns:a="http://schemas.openxmlformats.org/drawingml/2006/main">
            <a:off x="9758487" y="3009900"/>
            <a:ext cx="2676275" cy="163830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D3B34A-B45C-44AC-AD75-A615F0CE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800600"/>
            <a:ext cx="3581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52238"/>
                </a:solidFill>
              </a:defRPr>
            </a:pPr>
            <a:r>
              <a:rPr sz="1875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Explain exposure and compare a response.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10605E-A7B0-47B1-98AD-42BAE226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410200"/>
            <a:ext cx="3581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1738A"/>
                </a:solidFill>
              </a:defRPr>
            </a:pPr>
            <a:r>
              <a:rPr sz="157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Gas shortage / cost and margin impact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B06DE7-5958-4581-BCF0-4E79D0AE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24575"/>
            <a:ext cx="126492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A56551-6104-4345-A5A9-143B8212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62675"/>
            <a:ext cx="12344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90-second demo: Joule explains the evidence and options. A planner approves the response.</a:t>
            </a:r>
          </a:p>
        </p:txBody>
      </p:sp>
    </p:spTree>
    <p:extLst>
      <p:ext uri="{BB962C8B-B14F-4D97-AF65-F5344CB8AC3E}">
        <p14:creationId xmlns:p14="http://schemas.microsoft.com/office/powerpoint/2010/main" val="7113212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BA06A-2C86-4F82-92B5-3326C4C2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08F4E-15AF-4774-BA02-EE06922F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PART 1 · PROPOSED PARTNER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60426-E12C-4D83-BA14-25A49CC7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Hardware partners and regional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85484-ADC9-4B81-BAC8-6FF9BBEE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CE029-3CB2-4CBD-A9AA-5B480521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Proposed partners, not signed agreements. Availability, product authorization and RF certification require country-level checks.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F0EB8-5672-4316-840F-966783EB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61EA0-27EF-4FCF-BB91-8FE1A7CA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F9207-9330-4133-8675-4621F69E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B4D32-ADF7-45AD-BFF9-D3843E76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7229475"/>
            <a:ext cx="13430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27F03-F9C5-41B0-9251-CF11FBF1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E7B55-63B8-454B-8427-C7DD8F7C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48076-D8A0-4B40-9A71-57780C29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AD4BC-0AB1-44CF-981B-FC979CCA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C1A6A-E59D-4C90-A00F-8AA74D77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A2808-E4B8-44BE-A81D-66EA704AA1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08ed8371049ff"/>
          <a:srcRect xmlns:a="http://schemas.openxmlformats.org/drawingml/2006/main" l="0" t="4204" r="0" b="4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571625"/>
            <a:ext cx="4305300" cy="26289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9A08F-5B88-42E5-8F36-F0EC1392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4305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65D9"/>
                </a:solidFill>
              </a:defRPr>
            </a:pPr>
            <a:r>
              <a:rPr sz="217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Proposed hardware partners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B8D9F0-4028-4ECB-B599-EFB25F83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38725"/>
            <a:ext cx="430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52238"/>
                </a:solidFill>
              </a:defRPr>
            </a:pPr>
            <a:r>
              <a:rPr sz="2400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Zebra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AE975A-5932-43B4-8F73-932F130F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76875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238"/>
                </a:solidFill>
              </a:defRPr>
            </a:pPr>
            <a:r>
              <a:rPr sz="18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Fixed readers and antennas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08508D-54E9-4267-9E77-2E3DF3F3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430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52238"/>
                </a:solidFill>
              </a:defRPr>
            </a:pPr>
            <a:r>
              <a:rPr sz="2400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Avery Dennison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9F54A-E49E-41B5-9F08-1F943055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238"/>
                </a:solidFill>
              </a:defRPr>
            </a:pPr>
            <a:r>
              <a:rPr sz="18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Garment tags and inlays</a:t>
            </a:r>
          </a:p>
        </p:txBody>
      </p:sp>
      <p:graphicFrame>
        <p:nvGraphicFrame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9906F1-9C6C-4E0C-ADFE-A68D8AE1DC04}"/>
              </a:ext>
            </a:extLst>
          </p:cNvPr>
          <p:cNvGraphicFramePr/>
          <p:nvPr/>
        </p:nvGraphicFramePr>
        <p:xfrm>
          <a:off xmlns:a="http://schemas.openxmlformats.org/drawingml/2006/main" x="5200650" y="1571625"/>
          <a:ext xmlns:a="http://schemas.openxmlformats.org/drawingml/2006/main" cx="798195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54224"/>
                <a:gridCol w="2554224"/>
                <a:gridCol w="2873502"/>
              </a:tblGrid>
              <a:tr h="8334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Region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distribution lead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Deployment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North America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Ingram Micro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Local RFID integrators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Latin America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Ingram Micro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Country-qualified integrators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Europe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TD SYNNEX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Local RFID integrators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Asia Pacific / Japan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TD SYNNEX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Local RFID integrators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India / Middle East / Africa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Redington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Local RFID integrators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91220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7AE9C-60B9-4D6B-ADEF-214023F3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335C3-D551-4C08-8CE4-5495FBC3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PART 2 · CUSTOMER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7959A-93D8-4918-B608-9B7B09F8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Meet Bob, with a response he can explain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91A96-559E-4C06-AED3-B0455088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533C6-633E-4501-8815-FBEC08C9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Simulation: 8 current units + 40 transfer units = 48 of 80 scenario units covered. Sales recovery is unproven.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1A093-A871-4E54-A1F3-C5BB9625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E73C3-0B87-4BC5-9513-D7FD65A2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28E29-48C3-4E52-AD1D-6D2D425F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1DBC2-6369-41E1-B9A4-72EFEEE4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7229475"/>
            <a:ext cx="13430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F125A-B899-45D0-AEA2-6B7CEF88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DD8FEE-A5F7-453E-9647-E625E053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46049-BB33-458B-857A-4349CC9D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C5A50-7130-4BD0-B7C0-774C5E88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54AAF-98BF-43D4-824D-251BA2B3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239C7-F99A-4944-B7A9-DA14F86B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2957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FF2664-68B8-42FC-BC4F-BE91BE80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3990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Bob’s decision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4D95F6-1926-49F8-9B0A-AFB5DE5C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19325"/>
            <a:ext cx="42957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4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44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44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44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44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44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44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44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44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44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425" b="1">
                <a:solidFill>
                  <a:srgbClr val="0065D9"/>
                </a:solidFill>
              </a:defRPr>
            </a:pPr>
            <a:r>
              <a:rPr sz="44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10% to 60%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ED5E94-2B99-4507-9B65-5DD8FECA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24225"/>
            <a:ext cx="42957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52238"/>
                </a:solidFill>
              </a:defRPr>
            </a:pPr>
            <a:r>
              <a:rPr sz="2100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Seven-day coverage in the transfer scenario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7078D1-3638-4C0E-BD4D-0B2DD728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4295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2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52238"/>
                </a:solidFill>
              </a:defRPr>
            </a:pPr>
            <a:r>
              <a:rPr sz="3225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40 units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2BDC4-9835-4A6D-8236-6261260A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2957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52238"/>
                </a:solidFill>
              </a:defRPr>
            </a:pPr>
            <a:r>
              <a:rPr sz="202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CAD 60 transfer cost / 2-day assumed transit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3B978-F0DC-44F5-A648-76A0BDED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4295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A7403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A7403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A7403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A7403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A7403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A7403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A7403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A7403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A7403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A740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A74037"/>
                </a:solidFill>
              </a:defRPr>
            </a:pPr>
            <a:r>
              <a:rPr sz="1950" b="1">
                <a:solidFill>
                  <a:srgbClr val="A74037"/>
                </a:solidFill>
                <a:latin typeface="Arial"/>
                <a:ea typeface="Arial"/>
                <a:cs typeface="Arial"/>
              </a:rPr>
              <a:t>32 units remain uncovered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AB5D1F-98A7-4995-B7B8-FAC0F9F584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24a9ea91c41f1"/>
          <a:srcRect xmlns:a="http://schemas.openxmlformats.org/drawingml/2006/main" l="16000" t="55000" r="0" b="0"/>
          <a:stretch xmlns:a="http://schemas.openxmlformats.org/drawingml/2006/main"/>
        </p:blipFill>
        <p:spPr>
          <a:xfrm xmlns:a="http://schemas.openxmlformats.org/drawingml/2006/main">
            <a:off x="5219700" y="2216452"/>
            <a:ext cx="7962900" cy="3148996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7315F1-EF2C-4D3E-94BE-2E08C13A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91250"/>
            <a:ext cx="7772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65D9"/>
                </a:solidFill>
              </a:defRPr>
            </a:pPr>
            <a:r>
              <a:rPr sz="20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Compare options, approve a transfer, and confirm receipt</a:t>
            </a:r>
          </a:p>
        </p:txBody>
      </p:sp>
    </p:spTree>
    <p:extLst>
      <p:ext uri="{BB962C8B-B14F-4D97-AF65-F5344CB8AC3E}">
        <p14:creationId xmlns:p14="http://schemas.microsoft.com/office/powerpoint/2010/main" val="17432363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3CC82-76F8-4A53-8A9D-18A1D7AE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87C4B-18FF-4383-8139-EEB2BE82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MARKET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F89D4-D2A4-4EA0-A1C8-A1DFC6EF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The first buyers are SAP-connected apparel chains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B5F4E-89C7-4723-9304-3D791D13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0256C-F0ED-488D-AA89-9DD1C96C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Account counts and contract values are planning assumptions, not verified market counts. 150 customers is 30% of the modeled SAM.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8B3C2-A55D-4998-BC22-A6FC35C8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5975C-D1BF-47B8-A1D4-D3342F46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54ED5-EB68-4C0F-81BD-D3465BBF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BF4BE-CE5D-40AE-AE44-6C6CDEE0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B33C2-B915-4EEF-B546-0C6B80E3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7229475"/>
            <a:ext cx="13430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7330F-7CDA-4D14-8479-2B22E7BD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6D6C0-B7D3-45DA-85AF-EDE7E5D7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86279-41E9-4A55-8D29-A55E5CB6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94F5F-D653-47B6-AD6C-3F883BCA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5AFA8-B271-4966-8A17-420C3B37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7629525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</a:defRPr>
            </a:pPr>
            <a:r>
              <a:rPr sz="21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Primary users: merchandise and inventory planners</a:t>
            </a:r>
          </a:p>
          <a:p xmlns:a="http://schemas.openxmlformats.org/drawingml/2006/main">
            <a:pPr algn="l">
              <a:defRPr sz="2175" b="0">
                <a:solidFill>
                  <a:srgbClr val="152238"/>
                </a:solidFill>
              </a:defRPr>
            </a:pPr>
            <a:r>
              <a:rPr sz="21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Economic buyer: COO / merchandising leader, with CFO approval</a:t>
            </a:r>
          </a:p>
          <a:p xmlns:a="http://schemas.openxmlformats.org/drawingml/2006/main">
            <a:pPr algn="l">
              <a:defRPr sz="2175" b="0">
                <a:solidFill>
                  <a:srgbClr val="152238"/>
                </a:solidFill>
              </a:defRPr>
            </a:pPr>
            <a:r>
              <a:rPr sz="21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First segment: 50–250 stores, online sales and reliable SKU-level stock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0A269-F71A-483F-B242-6860D462B6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b675777d24c99"/>
          <a:srcRect xmlns:a="http://schemas.openxmlformats.org/drawingml/2006/main" l="0" t="7350" r="0" b="73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43950" y="1571625"/>
            <a:ext cx="4438650" cy="25241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8E797-575C-43FF-97F3-CCEB6584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3943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07C84A-7BC1-4C97-8133-53937595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638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Illustrative TAM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076B2D-B56B-4AD3-863E-11F2D1E9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76825"/>
            <a:ext cx="3752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065D9"/>
                </a:solidFill>
              </a:defRPr>
            </a:pPr>
            <a:r>
              <a:rPr sz="34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CAD 1.40B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58C46B-9014-4241-AB5F-6B0632BA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00750"/>
            <a:ext cx="3752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52238"/>
                </a:solidFill>
              </a:defRPr>
            </a:pPr>
            <a:r>
              <a:rPr sz="16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4,000 eligible chains × CAD 350k/year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2B5498-3FDB-452A-92D5-4641BBC9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514850"/>
            <a:ext cx="3943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CEA6D4-8B22-45C1-8223-1184FAEF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552950"/>
            <a:ext cx="3638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Illustrative SAM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D8B2E4-2A7F-47FC-ABDD-978E26AF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076825"/>
            <a:ext cx="3752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065D9"/>
                </a:solidFill>
              </a:defRPr>
            </a:pPr>
            <a:r>
              <a:rPr sz="34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CAD 175M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76ED0B-2C03-4A02-97D0-B99826A5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6000750"/>
            <a:ext cx="3752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52238"/>
                </a:solidFill>
              </a:defRPr>
            </a:pPr>
            <a:r>
              <a:rPr sz="16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500 initial serviceable chains × CAD 350k/year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381DB7-3212-4865-AB40-FE1FF73F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14850"/>
            <a:ext cx="3943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BE86D9-BEB5-4008-938F-646E2501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552950"/>
            <a:ext cx="3638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Year-3 ending ARR target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F0C2BA-AE5C-4355-9D8E-DEEC84A4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076825"/>
            <a:ext cx="3752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065D9"/>
                </a:solidFill>
              </a:defRPr>
            </a:pPr>
            <a:r>
              <a:rPr sz="34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CAD 52.5M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B1B2CE-DB3A-44B9-A126-2FC6245F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000750"/>
            <a:ext cx="3752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52238"/>
                </a:solidFill>
              </a:defRPr>
            </a:pPr>
            <a:r>
              <a:rPr sz="16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150 customers × CAD 350k/year</a:t>
            </a:r>
          </a:p>
        </p:txBody>
      </p:sp>
    </p:spTree>
    <p:extLst>
      <p:ext uri="{BB962C8B-B14F-4D97-AF65-F5344CB8AC3E}">
        <p14:creationId xmlns:p14="http://schemas.microsoft.com/office/powerpoint/2010/main" val="10849759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B9523-9BE1-45B5-B343-3C4BA49A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4CF7D-B17F-43C8-A6BE-FB86BD7F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COMPETITOR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9A747-78A2-43D4-8364-E2CB241B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Competitors validate the need; integration decides the fit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14324-B388-45CE-AF51-2511D474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AD1CE-4C0E-442B-A6B4-BC56498C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Qualitative positioning from public vendor descriptions. Competitors are commercial offerings; Retail Signal is a prototype.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B3B7A-0818-4384-B71D-628B8A36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4335E-2FD5-4714-940A-C84E4241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686BE-FD90-4BF6-A4D0-D53885C6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2908E-5A6E-4C47-AFA5-11766C35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C1AEE-4C57-453F-9148-1548C04E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7229475"/>
            <a:ext cx="13430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BF134-58C6-4971-8424-CEAC609F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6FCC0-7688-4A57-B949-48DC02B4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12F59-43EE-4735-9909-7574498D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259434-1885-4E50-8E06-65B0D666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9106CD-A088-44B8-B5CC-D320A4E0B6AA}"/>
              </a:ext>
            </a:extLst>
          </p:cNvPr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126492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15284"/>
                <a:gridCol w="4933188"/>
                <a:gridCol w="4300728"/>
              </a:tblGrid>
              <a:tr h="990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Alternative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Established strength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Retail Signal’s proposed fit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Sensormatic TrueVUE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RFID inventory and fitting-room insight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Use equivalent event inputs in a wider decision workflow.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Oracle Retail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Connected merchandising, inventory and AI planning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Focus on retailers whose execution already runs on SAP.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Blue Yonder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Retail planning, scenarios and network intelligence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Bring early intent to a concise SAP approval workflow.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Existing SAP IBP / CAR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Demand planning and retail transaction context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Extend these products; reuse their planning and data services.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55670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D834F-E072-495A-A872-29FA84E0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D2F3D-4E28-4B63-AAA3-42460BD9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COMPETITIVE ADVANTAGE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4B57F-FD0B-412B-A41B-D371C236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SAP’s ecosystem can shorten the path to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0A1A2-805D-4F01-9ED5-DD86B8BC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CD57A-AB7D-41F9-834A-8CBB8330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Proposed architecture. No live SAP integration or cross-customer training is present in this demo.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229B5-E2F7-40BA-8EB8-DEC72F02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93ABE-FAB2-467E-AD44-4B338C0C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93B01-0AA6-44BA-9406-C72A7DBA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C80DF-B894-451B-B070-C8F1373F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A62D6-92D7-44C1-98A5-B3FB00AB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7229475"/>
            <a:ext cx="13430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73015-4D0A-44B4-BEDC-F5668262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7C063-83A8-45F2-B49F-4F93FF3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60F2B-803E-4269-9E6D-9C8C3B19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77D326-712F-4447-A2C1-D86CC276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A25792-5CA2-4551-B4CE-C1F4F75577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76bdf230b4a15"/>
          <a:srcRect xmlns:a="http://schemas.openxmlformats.org/drawingml/2006/main" l="17000" t="5000" r="0" b="0"/>
          <a:stretch xmlns:a="http://schemas.openxmlformats.org/drawingml/2006/main"/>
        </p:blipFill>
        <p:spPr>
          <a:xfrm xmlns:a="http://schemas.openxmlformats.org/drawingml/2006/main">
            <a:off x="1017923" y="1571625"/>
            <a:ext cx="5850854" cy="494347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19BA9-2ED7-49CD-B625-7FB3A66E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81150"/>
            <a:ext cx="54197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94D"/>
                </a:solidFill>
              </a:defRPr>
            </a:pPr>
            <a:r>
              <a:rPr sz="20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Connected execution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DC5CB1-AACF-4185-AF09-BBB1D9BE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47875"/>
            <a:ext cx="5419725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2238"/>
                </a:solidFill>
              </a:defRPr>
            </a:pPr>
            <a:r>
              <a:rPr sz="18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S/4HANA holds stock movements and purchasing. Commerce Cloud contributes online context. IBP supports planning.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3B35E-6B9A-417F-8F61-78FF03E6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55950"/>
            <a:ext cx="5419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24976-3F7B-4B92-BCE9-65B1EF0E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32150"/>
            <a:ext cx="54197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94D"/>
                </a:solidFill>
              </a:defRPr>
            </a:pPr>
            <a:r>
              <a:rPr sz="20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Consistent business 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DB987C-4175-40A7-A805-0B6C7ADB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698875"/>
            <a:ext cx="5419725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2238"/>
                </a:solidFill>
              </a:defRPr>
            </a:pPr>
            <a:r>
              <a:rPr sz="18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Authorized product, location, cost and supplier data can make recommendations more relevant to the retailer.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8DEE7C-D4BB-4C95-BE95-48C6565B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06950"/>
            <a:ext cx="5419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57151C-A785-4693-BEA1-17275513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83150"/>
            <a:ext cx="54197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94D"/>
                </a:solidFill>
              </a:defRPr>
            </a:pPr>
            <a:r>
              <a:rPr sz="20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Learning with permission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362FB1-B7BF-4740-82D5-B12FD568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349875"/>
            <a:ext cx="5419725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2238"/>
                </a:solidFill>
              </a:defRPr>
            </a:pPr>
            <a:r>
              <a:rPr sz="18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SAP’s large client base creates a potential learning advantage, subject to contracts, consent and evaluation. More data alone does not prove better accuracy.</a:t>
            </a:r>
          </a:p>
        </p:txBody>
      </p:sp>
    </p:spTree>
    <p:extLst>
      <p:ext uri="{BB962C8B-B14F-4D97-AF65-F5344CB8AC3E}">
        <p14:creationId xmlns:p14="http://schemas.microsoft.com/office/powerpoint/2010/main" val="5138317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2AF03-1FEE-4344-B0FE-69EAFAF4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54362-A7E7-4D00-B523-2AC5E105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SWOT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D8190-688F-4F5A-9A71-3F066A35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SWOT: a credible extension with execution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8C2F5-BDC9-4997-86CA-9D028BB2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900C2-05E1-4CE9-AC48-25FBFDBF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Strategic assessment by Plus One Braincell; pilot evidence is needed to validate the opportunity.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4539D-DA5A-4383-877E-5387E2FB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F734D-FA4C-47D8-A17E-B3A48647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5FB60-3A1D-4378-8CF1-ACBF44CD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2DC17-1BF6-47C5-84A7-62FD447F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B0B27-F244-42B5-960F-BA9287A9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7229475"/>
            <a:ext cx="13430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0098E-5EA2-472A-9AC5-E6AD5FF8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EA0B7-6F4B-43E4-960D-629E744D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83F85-C953-4DD4-9200-43473995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6AB04-3E5C-49F4-B50E-00DA4ACF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E87CF-A9CF-47DE-A365-3F620260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191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29785-0573-423D-B3C6-2B742A00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191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244BEC-AD03-42E3-960A-32E05538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88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STRENGTHS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BAF0F-FC26-47B0-9E71-7C025CFF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857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250" b="1">
                <a:solidFill>
                  <a:srgbClr val="0065D9"/>
                </a:solidFill>
              </a:defRPr>
            </a:pPr>
            <a:r>
              <a:rPr sz="52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E813D2-129B-4250-B36C-40FB76C6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295525"/>
            <a:ext cx="45910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52238"/>
                </a:solidFill>
              </a:defRPr>
            </a:pPr>
            <a:r>
              <a:rPr sz="21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Existing SAP workflows</a:t>
            </a:r>
          </a:p>
          <a:p xmlns:a="http://schemas.openxmlformats.org/drawingml/2006/main">
            <a:pPr algn="l">
              <a:defRPr sz="2100" b="0">
                <a:solidFill>
                  <a:srgbClr val="152238"/>
                </a:solidFill>
              </a:defRPr>
            </a:pPr>
            <a:r>
              <a:rPr sz="21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One evidence-to-action experience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67999-A2FD-4C5C-B494-11A02A9A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71625"/>
            <a:ext cx="6191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6D577D-7A14-4C48-934C-0806EFCD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71625"/>
            <a:ext cx="6191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1BE36-8A35-4839-84CF-FDA23C79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09725"/>
            <a:ext cx="588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WEAKNESSES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01E561-A638-41D1-A120-48ADC71E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95525"/>
            <a:ext cx="857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250" b="1">
                <a:solidFill>
                  <a:srgbClr val="0065D9"/>
                </a:solidFill>
              </a:defRPr>
            </a:pPr>
            <a:r>
              <a:rPr sz="52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6E46F5-E7E7-4153-A655-92C0AB3E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95525"/>
            <a:ext cx="45910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52238"/>
                </a:solidFill>
              </a:defRPr>
            </a:pPr>
            <a:r>
              <a:rPr sz="21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Prototype, not production</a:t>
            </a:r>
          </a:p>
          <a:p xmlns:a="http://schemas.openxmlformats.org/drawingml/2006/main">
            <a:pPr algn="l">
              <a:defRPr sz="2100" b="0">
                <a:solidFill>
                  <a:srgbClr val="152238"/>
                </a:solidFill>
              </a:defRPr>
            </a:pPr>
            <a:r>
              <a:rPr sz="21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Hardware and data-quality dependence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FBCF2-0106-4993-A76B-B74384EB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6191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505A3A-99E2-4CA7-83D5-9B1EED57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6191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71882B-B539-4721-BAA9-91E06F95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588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OPPORTUNITIES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34438E-E035-46AF-BF2D-551C3BFD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857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250" b="1">
                <a:solidFill>
                  <a:srgbClr val="0065D9"/>
                </a:solidFill>
              </a:defRPr>
            </a:pPr>
            <a:r>
              <a:rPr sz="52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079305-0778-4F87-9CC4-8FCFCF31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819650"/>
            <a:ext cx="45910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52238"/>
                </a:solidFill>
              </a:defRPr>
            </a:pPr>
            <a:r>
              <a:rPr sz="21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Sell into SAP retail relationships</a:t>
            </a:r>
          </a:p>
          <a:p xmlns:a="http://schemas.openxmlformats.org/drawingml/2006/main">
            <a:pPr algn="l">
              <a:defRPr sz="2100" b="0">
                <a:solidFill>
                  <a:srgbClr val="152238"/>
                </a:solidFill>
              </a:defRPr>
            </a:pPr>
            <a:r>
              <a:rPr sz="21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Prove value on unavailable sizes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8E4200-94F3-449A-BA19-D8258413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95750"/>
            <a:ext cx="6191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1A8C80-241D-43BD-B7EC-DB1C9E14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95750"/>
            <a:ext cx="6191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7B0875-DED5-497A-A97A-C8B5E81D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33850"/>
            <a:ext cx="588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THREATS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45F508-FA60-4993-B3C9-BA7EB7FD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19650"/>
            <a:ext cx="857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52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250" b="1">
                <a:solidFill>
                  <a:srgbClr val="0065D9"/>
                </a:solidFill>
              </a:defRPr>
            </a:pPr>
            <a:r>
              <a:rPr sz="52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2C5C0B-929C-4F06-B876-B9A471D9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45910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52238"/>
                </a:solidFill>
              </a:defRPr>
            </a:pPr>
            <a:r>
              <a:rPr sz="21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Strong planning and RFID vendors</a:t>
            </a:r>
          </a:p>
          <a:p xmlns:a="http://schemas.openxmlformats.org/drawingml/2006/main">
            <a:pPr algn="l">
              <a:defRPr sz="2100" b="0">
                <a:solidFill>
                  <a:srgbClr val="152238"/>
                </a:solidFill>
              </a:defRPr>
            </a:pPr>
            <a:r>
              <a:rPr sz="21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Budget pressure and long sales cycles</a:t>
            </a:r>
          </a:p>
        </p:txBody>
      </p:sp>
    </p:spTree>
    <p:extLst>
      <p:ext uri="{BB962C8B-B14F-4D97-AF65-F5344CB8AC3E}">
        <p14:creationId xmlns:p14="http://schemas.microsoft.com/office/powerpoint/2010/main" val="5463215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2A2FD-BEE8-41B6-973A-A3D85AB4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9D61F-DBCB-4D5C-AA31-1C228E8F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DEPENDENCIES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421BF-946F-47C5-81E8-BFBB9DDF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Dependencies come before automation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7B788-BBB8-4200-AD3F-F6589AA8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FDD65-63B3-423F-946B-E4271AA8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Proposed SAP roles: CAR = transaction context; S/4HANA = execution; Commerce = online channel; IBP = planning.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56DD4-BA23-4865-80C6-23C5FCCE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9C060-0C49-43CD-A00F-21A0A89C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55BC0-5B25-4E46-84B2-0C7F1872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5B2E5-3084-4CC2-B3DB-EC82B7A3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31967-A85C-40DF-A1CE-FD58E74D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E422B3-6865-415D-9341-2E184805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29475"/>
            <a:ext cx="13430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D5C7F-E55C-4506-A50B-3E519AA2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38FD5-EB1D-461F-AF68-0A6D98EA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C6761-95A4-49D4-88E4-F4D8FC36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659D8-CD7B-42B7-8FE6-251F2CA6CB02}"/>
              </a:ext>
            </a:extLst>
          </p:cNvPr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126492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15284"/>
                <a:gridCol w="4933188"/>
                <a:gridCol w="4300728"/>
              </a:tblGrid>
              <a:tr h="990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Dependency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Required before pilot actions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Reliable shared records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Match SKU / size / location; reconcile stock and timestamps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Retail IT + data lead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Safe SAP integration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Tenant sandbox, supported interfaces, roles and audit trail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SAP / retailer integration team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Qualified demand events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RFID zone tests; session deduplication; bot filtering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Hardware + commerce teams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Commercial and privacy terms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Partner quotes, data agreement and retention policy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Procurement + privacy lead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3723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69138-C855-493A-A1E8-1B4D37AC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A477E-49B2-4337-970E-F4541E77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RISKS AND MITIGATIONS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C8BFA-35DB-472C-AB23-EA015BEF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Three risks could stop the 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CBFDB-0D53-4BF5-9C0A-57193C0C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42930-E326-4A03-A492-C9D657D2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Risk owners: retail operations, privacy lead and CFO respectively. Thresholds are proposed pilot gates.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305AF-8D58-48CF-BDA2-757EBDA6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A9B79-431C-4AB4-A65D-6A524EAE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BBDCD-83EF-4F4B-AB8A-7EAFBEAA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836E5-C923-4E66-AED4-11A01C08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41780-AF53-4AD3-A42B-E38A82AB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FA70CF-B501-4CAF-89FB-CF77EF6B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29475"/>
            <a:ext cx="13430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807B6-32CD-4E8C-861A-891DFF30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965BD-B6E7-4660-977B-471AEEF7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C188F-6E62-47FE-B347-8F445C08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918086-0451-4939-9325-CF5679E1D3C6}"/>
              </a:ext>
            </a:extLst>
          </p:cNvPr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126492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15284"/>
                <a:gridCol w="4933188"/>
                <a:gridCol w="4300728"/>
              </a:tblGrid>
              <a:tr h="1238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Mitigation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Stop / review trigger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Wrong demand or stale stock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Confidence thresholds; fresh-stock check; planner approval; reconcile receipts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Stock mismatch &gt;2% or repeated bad transfers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Fitting-room privacy and trust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Garment events only; no cameras or identities; aggregate; short retention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Unresolved privacy concern or missing approval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Low adoption or weak economics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Planner co-design; top exceptions only; matched comparison; capped pilot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No response-time improvement or no path to positive value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71645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2DC1B-5A1C-4DA2-80C8-0485745C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6CE4E-879E-4D51-A684-36FDEF0A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STAKEHOLDER ALIGNMENT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33A7D-F347-405D-B579-E23A90A5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Decision rights resolve competing stakeholder needs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F46A1-B1B0-4A61-9804-41093A52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71E41-3A4C-421A-A7FE-45E0832E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Escalation: margin or reserve conflict → retail operations leader; data/privacy failure → pause affected 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EACB6-E2A9-4612-9C1D-24557DCC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4435B-5ABE-4616-90BD-F9E84C77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C9349-CF0C-439A-A917-2B95CCB4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7F05F-D5C1-4F2F-B528-6D419C17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D1C35-F065-410C-A6C8-6E7FAFA9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DFFCB-E587-4BF2-A529-2197BA90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29475"/>
            <a:ext cx="13430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741C1-3F4F-43EB-B9FF-29BBB809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43331-490F-4B9B-9962-2D1D081E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B4F57-DC22-40FD-A5B1-6CCFC403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A3C12-BF48-4E0E-9A5A-5AB95373C4AE}"/>
              </a:ext>
            </a:extLst>
          </p:cNvPr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126492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15284"/>
                <a:gridCol w="4933188"/>
                <a:gridCol w="4300728"/>
              </a:tblGrid>
              <a:tr h="825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Stakeholder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they need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concession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Bob + store managers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Fast action without draining another store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Planner proposes; source manager protects reserve.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CFO / COO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Value, margin and spending control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CFO owns pilot gate and spending limits.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Retail IT + SAP product team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Secure integration and a clear product boundary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Reuse IBP / CAR; IT can block stale or invalid data.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Privacy + shoppers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No personal surveillance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Privacy lead approves collection and retention.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Hardware / service partners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Commercial incentive and support clarity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Partners earn hardware and deployment revenue.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1255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4914C-AE92-4E1E-8FE8-A5542C7C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855A2-B461-42A8-88F6-26CA8452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TRADE-OFFS AND 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399D1-4EEB-4422-99D8-4AB37487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Trade-offs are deliberate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858B9-11A0-43FE-BF36-D7DB7552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6CCE6-93A6-4FE8-9FCD-2A37285D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Try-ons and searches indicate interest, not guaranteed purchases or the cause of non-purchase.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4A7E8-4994-476B-A52A-8E2162F1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D260C-83CC-4975-A699-9339560D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CB4C1-E3D2-4403-9CDA-3F65C829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E62AF-C6DD-4916-A887-F124872E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EBE47-B0FF-4D75-906D-293FA18E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2A5E1-9D81-4811-9D39-578402AE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29475"/>
            <a:ext cx="13430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A60B2-DAF8-4C8D-AA01-3FECB31F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89520-EC5B-4366-9248-6D4353F1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EEE46-AAFD-4B13-9062-3EC10EFE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85410E-D2C7-4E75-A611-E3B812D8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296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94D"/>
                </a:solidFill>
              </a:defRPr>
            </a:pPr>
            <a:r>
              <a:rPr sz="20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Human approval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31B7A-60A4-41CC-8804-77145785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6296025" cy="631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238"/>
                </a:solidFill>
              </a:defRPr>
            </a:pPr>
            <a:r>
              <a:rPr sz="18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Slower than full automation; safer while evidence is uncertain.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796B4-C00E-4713-A085-A518B0A3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36056"/>
            <a:ext cx="6296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3F4D2-93F0-4420-966C-5C7FEFDC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12256"/>
            <a:ext cx="6296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94D"/>
                </a:solidFill>
              </a:defRPr>
            </a:pPr>
            <a:r>
              <a:rPr sz="20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Apparel and existing SAP users first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A24C72-024F-495F-9B21-CB1192A5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8981"/>
            <a:ext cx="6296025" cy="631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238"/>
                </a:solidFill>
              </a:defRPr>
            </a:pPr>
            <a:r>
              <a:rPr sz="18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Narrower reach; lower initial workflow and data complexity.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83C19-292B-42CC-A8B2-CD987C3A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6688"/>
            <a:ext cx="6296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3AC82D-BF14-4962-9EED-7336423C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52888"/>
            <a:ext cx="6296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94D"/>
                </a:solidFill>
              </a:defRPr>
            </a:pPr>
            <a:r>
              <a:rPr sz="20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RFID in selected stores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6F4F7E-1279-4CEA-8E25-8CCAFF7E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9613"/>
            <a:ext cx="6296025" cy="631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238"/>
                </a:solidFill>
              </a:defRPr>
            </a:pPr>
            <a:r>
              <a:rPr sz="18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Less coverage; avoids outfitting every store before value is proven.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175548-2F36-4DBC-8DD1-9646A954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7319"/>
            <a:ext cx="6296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E46F68-9F97-495D-AE47-18C34679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3519"/>
            <a:ext cx="6296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94D"/>
                </a:solidFill>
              </a:defRPr>
            </a:pPr>
            <a:r>
              <a:rPr sz="20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Evidence before prediction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50670F-AE65-4709-AD42-D9EBDA4D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60244"/>
            <a:ext cx="6296025" cy="631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238"/>
                </a:solidFill>
              </a:defRPr>
            </a:pPr>
            <a:r>
              <a:rPr sz="18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The demo explains scenarios; live news prediction and autonomous procurement remain future work.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CA8A5B-A662-4256-B5A7-22A9FD2DB7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37c173b934e5a"/>
          <a:srcRect xmlns:a="http://schemas.openxmlformats.org/drawingml/2006/main" l="16000" t="5000" r="0" b="0"/>
          <a:stretch xmlns:a="http://schemas.openxmlformats.org/drawingml/2006/main"/>
        </p:blipFill>
        <p:spPr>
          <a:xfrm xmlns:a="http://schemas.openxmlformats.org/drawingml/2006/main">
            <a:off x="7296150" y="1595717"/>
            <a:ext cx="5886450" cy="491434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90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4840C-1505-4CF5-8681-E9CDD34A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C0744-F190-4B78-9884-A42856F5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IMPLEMENTATION TIMELINE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7A941-AE06-45C4-92BF-85C7D3D6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A 12-week pilot earns the right to scale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7C72C-C56D-4878-A2E1-A6B2AA13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C22CE-D8F4-44A2-80C7-CC9B7B8A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Resources: SAP product lead, 2 integration engineers, full-stack engineer, analyst, UX/change lead; retail and partner counterparts.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313D1-B919-42E6-9E36-A00444ED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65F2A-57FC-4315-B64F-628363B7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2D1A1-E6E4-461D-8A57-E66F22E6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4C11D-DB9A-45B2-A5E9-3CBB3265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A65FB-0148-4A22-A76E-77261B4B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BE0B7-8240-405C-9949-BC9D18FE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29475"/>
            <a:ext cx="13430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CD82E-0B58-4C62-A70D-4DC553AF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DB381-925C-46C7-B288-742D27A8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5CB47-8723-4175-A6EC-5ADD1E5F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F44DC-9566-47DA-91BA-C41035BC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8766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5445E6-C784-4CCD-880D-261694CE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3571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 workstream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1A261E-BA2F-45C2-8035-949D2F09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571625"/>
            <a:ext cx="86010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604645-E73E-45F6-8AF5-B03326FB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09725"/>
            <a:ext cx="82962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D15836-781F-4454-AF02-B7B93A00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05025"/>
            <a:ext cx="709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65D9"/>
                </a:solidFill>
              </a:defRPr>
            </a:pPr>
            <a:r>
              <a:rPr sz="16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40AE54-056A-4104-A8B2-C5076CC7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86025"/>
            <a:ext cx="952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A008AD-4DD5-41F4-8D3D-77849046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138" y="2105025"/>
            <a:ext cx="709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65D9"/>
                </a:solidFill>
              </a:defRPr>
            </a:pPr>
            <a:r>
              <a:rPr sz="16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26912B-42DD-417B-9B2F-9445E0CF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138" y="2486025"/>
            <a:ext cx="952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A31582-BC6D-4263-A4D5-597C99E5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05025"/>
            <a:ext cx="709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65D9"/>
                </a:solidFill>
              </a:defRPr>
            </a:pPr>
            <a:r>
              <a:rPr sz="16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28AC89-D3C3-4311-87E0-6B00A607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86025"/>
            <a:ext cx="952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BFD561-4074-49DF-96C8-D9FD2532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363" y="2105025"/>
            <a:ext cx="709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65D9"/>
                </a:solidFill>
              </a:defRPr>
            </a:pPr>
            <a:r>
              <a:rPr sz="16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B4FEEC-F127-4D5E-87BA-10036290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363" y="2486025"/>
            <a:ext cx="952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F7C747-0294-48DB-91FC-C0301D88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105025"/>
            <a:ext cx="709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65D9"/>
                </a:solidFill>
              </a:defRPr>
            </a:pPr>
            <a:r>
              <a:rPr sz="16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B99BCB-1CE9-4706-91BE-CA1D3806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486025"/>
            <a:ext cx="952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20A1E4-1505-4745-854D-D3A3226A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88" y="2105025"/>
            <a:ext cx="709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65D9"/>
                </a:solidFill>
              </a:defRPr>
            </a:pPr>
            <a:r>
              <a:rPr sz="16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26EDB8-20A2-4C4D-BF0B-6B0F2A5D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88" y="2486025"/>
            <a:ext cx="952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DE2B82-F02F-415C-8FDB-3C16E44A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05025"/>
            <a:ext cx="709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65D9"/>
                </a:solidFill>
              </a:defRPr>
            </a:pPr>
            <a:r>
              <a:rPr sz="16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F90287-21A5-4FC6-97EA-391D874E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86025"/>
            <a:ext cx="952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B08988-9ADC-4A00-AE5E-795FB676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813" y="2105025"/>
            <a:ext cx="709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65D9"/>
                </a:solidFill>
              </a:defRPr>
            </a:pPr>
            <a:r>
              <a:rPr sz="16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8FE4D8-4C94-4CAB-9812-34E794BB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813" y="2486025"/>
            <a:ext cx="952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D44D94-4280-4C5A-B06B-260A22E5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105025"/>
            <a:ext cx="709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65D9"/>
                </a:solidFill>
              </a:defRPr>
            </a:pPr>
            <a:r>
              <a:rPr sz="16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C4E77B-74D8-4783-99E2-8A7B34AA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486025"/>
            <a:ext cx="952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2C2D9B-92DC-48EB-86B6-4912A042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8038" y="2105025"/>
            <a:ext cx="709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65D9"/>
                </a:solidFill>
              </a:defRPr>
            </a:pPr>
            <a:r>
              <a:rPr sz="16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3131C9-EE0A-4408-8FC1-B9D0D5E7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8038" y="2486025"/>
            <a:ext cx="952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74A850-044E-4828-BF3E-1384D1F6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2105025"/>
            <a:ext cx="709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65D9"/>
                </a:solidFill>
              </a:defRPr>
            </a:pPr>
            <a:r>
              <a:rPr sz="16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268BE7-9B7B-44D0-9D13-2D40579C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2486025"/>
            <a:ext cx="952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AE4657-855E-486B-9B4D-79E0E443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7263" y="2105025"/>
            <a:ext cx="709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65D9"/>
                </a:solidFill>
              </a:defRPr>
            </a:pPr>
            <a:r>
              <a:rPr sz="16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415EAF-7014-4A7C-8975-B6CC32FB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7263" y="2486025"/>
            <a:ext cx="952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7F713D-03BE-4FCE-BD4E-8DBB5747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571750"/>
            <a:ext cx="3733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52238"/>
                </a:solidFill>
              </a:defRPr>
            </a:pPr>
            <a:r>
              <a:rPr sz="2025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Establish trust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1CFA95-7809-4685-AA89-E2B1EE73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981325"/>
            <a:ext cx="3733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1738A"/>
                </a:solidFill>
              </a:defRPr>
            </a:pPr>
            <a:r>
              <a:rPr sz="1350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weeks 1–2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F1BA59-7B3F-4A8A-994A-468498F5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76600"/>
            <a:ext cx="8601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F4F648-6E5A-44F6-B1AD-AC3F98EE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38425"/>
            <a:ext cx="13430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0AEFB6-FBF0-4143-8878-14983569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667000"/>
            <a:ext cx="11525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29F6299-CE34-420D-BBE2-CB2725CB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343275"/>
            <a:ext cx="3733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52238"/>
                </a:solidFill>
              </a:defRPr>
            </a:pPr>
            <a:r>
              <a:rPr sz="2025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Connect demand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8CB29D-8686-41B9-A080-65416A6A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752850"/>
            <a:ext cx="3733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1738A"/>
                </a:solidFill>
              </a:defRPr>
            </a:pPr>
            <a:r>
              <a:rPr sz="1350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weeks 3–5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D7B084-4C83-4D3D-A10E-AE9627E7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048125"/>
            <a:ext cx="8601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802CD2-7D80-44A0-814A-053E146B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9950"/>
            <a:ext cx="2052638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B8684FE-5385-45F3-80B4-8644B431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38525"/>
            <a:ext cx="1862138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Shadow mode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4E33A55-3EA0-4D9C-B25B-818CB927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114800"/>
            <a:ext cx="3733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52238"/>
                </a:solidFill>
              </a:defRPr>
            </a:pPr>
            <a:r>
              <a:rPr sz="2025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Approve limited actions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AA3846-E64C-4CE7-A60E-5D5C981D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524375"/>
            <a:ext cx="3733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1738A"/>
                </a:solidFill>
              </a:defRPr>
            </a:pPr>
            <a:r>
              <a:rPr sz="1350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weeks 6–8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8BF687-B7FD-4E16-B1C1-3BAD4E98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819650"/>
            <a:ext cx="8601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F950416-D2D9-4EAE-A996-ADC3AC24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88" y="4181475"/>
            <a:ext cx="2052638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B7057C4-A3E0-4C71-B525-CECAA94A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838" y="4210050"/>
            <a:ext cx="1862138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 and receive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29FAF15-8146-4977-A90A-50487189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886325"/>
            <a:ext cx="3733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52238"/>
                </a:solidFill>
              </a:defRPr>
            </a:pPr>
            <a:r>
              <a:rPr sz="2025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Measure and decide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8495BB6-DEED-4186-A899-5BB66DA2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295900"/>
            <a:ext cx="3733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1738A"/>
                </a:solidFill>
              </a:defRPr>
            </a:pPr>
            <a:r>
              <a:rPr sz="1350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weeks 9–12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F3C3181-B07D-4F3E-9379-472E3C31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591175"/>
            <a:ext cx="8601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017E6B9-360B-4BA5-AA2B-C7737E71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953000"/>
            <a:ext cx="2762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77B4B3A-5D60-4BD5-914B-44B8C3A8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981575"/>
            <a:ext cx="257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Evaluate economics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64908AA-70D8-4B52-BD17-83E23601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72175"/>
            <a:ext cx="1264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3689F7B-A3E0-42E7-A0F5-110D05F9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234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Release gates: data feasible / reliable shadow results / safe actions / scale or stop</a:t>
            </a:r>
          </a:p>
        </p:txBody>
      </p:sp>
    </p:spTree>
    <p:extLst>
      <p:ext uri="{BB962C8B-B14F-4D97-AF65-F5344CB8AC3E}">
        <p14:creationId xmlns:p14="http://schemas.microsoft.com/office/powerpoint/2010/main" val="443418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56372-E2EC-49C3-A237-E624A14F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36DC5-48A0-448E-B23F-263EA51D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PILOT KPIs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4D1EB-B8DA-43D6-B581-40FAEB4F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Success means a faster, verified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08425-880E-4F45-8071-94485397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85C55-2A8D-4889-8809-0E8721DC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Targets, not achieved results. Compare pilot with matched stores and pre-pilot baseline; report uncertainty.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6A209-56E7-4135-A064-7D87AE66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210D1-57C9-4960-BCB0-56E41813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88B54-929C-46A8-8598-50F47823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FD132-593F-401A-8E18-2BF1D75F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CE82C-0440-4C38-871B-D85957FC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53778-2A00-4814-BF9E-A49EF79D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29475"/>
            <a:ext cx="13430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CD635-AD5C-45A0-A0CB-DEA0524C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CD128-7AC0-4174-8DA9-2DAF50DD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364FA-3484-437B-9C54-4B74604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63D27-B0F7-4E0E-9935-CB60BE49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3943350" cy="3590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651193-48B9-4DD2-8A52-5F6076B2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394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221DD0-7A75-4818-882A-6013816D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638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median response 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3B270-FA2D-47B8-87BA-16C50E5F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3676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375" b="1">
                <a:solidFill>
                  <a:srgbClr val="0065D9"/>
                </a:solidFill>
              </a:defRPr>
            </a:pPr>
            <a:r>
              <a:rPr sz="637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−50%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6B8B78-FBE2-48BD-8377-644BC920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3448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52238"/>
                </a:solidFill>
              </a:defRPr>
            </a:pPr>
            <a:r>
              <a:rPr sz="18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Qualified signal → approved 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E50E23-43A2-4BCA-9DB7-479C171D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38300"/>
            <a:ext cx="3943350" cy="3590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E8F574-94FD-4915-92BA-54D66C62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38300"/>
            <a:ext cx="394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7230E4-05E7-43F3-93BC-EE6C5E38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676400"/>
            <a:ext cx="3638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inventory reconciliation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F78D87-AEFB-4FD2-9D23-2238596F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628900"/>
            <a:ext cx="3676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375" b="1">
                <a:solidFill>
                  <a:srgbClr val="0065D9"/>
                </a:solidFill>
              </a:defRPr>
            </a:pPr>
            <a:r>
              <a:rPr sz="637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≥98%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526AB7-3142-4964-A540-2585A5E9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086225"/>
            <a:ext cx="3448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52238"/>
                </a:solidFill>
              </a:defRPr>
            </a:pPr>
            <a:r>
              <a:rPr sz="18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Physical / recorded stock agreement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B38266-B379-46CE-B3B3-1759B084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38300"/>
            <a:ext cx="3943350" cy="3590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264B11-2860-4EB1-9265-D1B2F587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38300"/>
            <a:ext cx="394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E99CB7-217A-43F7-A18F-A5E13813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76400"/>
            <a:ext cx="3638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weekly planner use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AB81C1-1154-42E2-B857-36432A70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28900"/>
            <a:ext cx="3676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637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375" b="1">
                <a:solidFill>
                  <a:srgbClr val="0065D9"/>
                </a:solidFill>
              </a:defRPr>
            </a:pPr>
            <a:r>
              <a:rPr sz="637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≥70%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DC0E1-9B9E-4CCD-BD2A-76343655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86225"/>
            <a:ext cx="3448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52238"/>
                </a:solidFill>
              </a:defRPr>
            </a:pPr>
            <a:r>
              <a:rPr sz="18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Eligible pilot planners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904488-ABDE-4B78-81DD-F977A45C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14975"/>
            <a:ext cx="126492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EB3BD2-C540-4D1B-93A5-E7224649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10225"/>
            <a:ext cx="122491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52238"/>
                </a:solidFill>
              </a:defRPr>
            </a:pPr>
            <a:r>
              <a:rPr sz="2100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Business gate: positive incremental contribution after transfer costs and returns, with a credible cash payback within 24 months at the negotiated price.</a:t>
            </a:r>
          </a:p>
        </p:txBody>
      </p:sp>
    </p:spTree>
    <p:extLst>
      <p:ext uri="{BB962C8B-B14F-4D97-AF65-F5344CB8AC3E}">
        <p14:creationId xmlns:p14="http://schemas.microsoft.com/office/powerpoint/2010/main" val="18026014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DBB5D-058D-46E7-8E36-3AAB2ABC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78FE0-A70D-47AF-8A4B-39AF7B23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FINANCIALS · PRICING AND REVENUE SPLIT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400F2-A236-4179-92CC-868CF27B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One subscription; partners earn the hardware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C63D5-CC28-439D-B227-EFBB7659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60163-B373-4987-BB7B-5CEA1475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Proposed commercial model; quotes and accounting treatment unconfirmed. Existing tagged merchandise assumed; taxes and new tag programs excluded.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E393D-A84C-4759-8DCF-EBB199FD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90E3A-898C-462C-8DAD-BEAE3F09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CEB0E-E168-422C-8AE1-9356734B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6F5DB-C831-4915-BC27-429B4E0E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4916E-A22D-4465-9048-BE3D2A11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214E1-1722-429F-90F7-6FB6F83F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29475"/>
            <a:ext cx="13430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0D801-1E49-4054-97D8-61D62713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2CB0F-4755-45C1-B249-C7C042D0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8BEDFC-BE63-42FE-B869-D37CD4CF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8F4C0-3A26-4DE2-A4F1-55E9BF7C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69056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40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40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40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40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40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40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40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40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405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0065D9"/>
                </a:solidFill>
              </a:defRPr>
            </a:pPr>
            <a:r>
              <a:rPr sz="405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CAD 350k / year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6AA0D-D77D-499B-AAE2-66D1E314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71625"/>
            <a:ext cx="5324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52238"/>
                </a:solidFill>
              </a:defRPr>
            </a:pPr>
            <a:r>
              <a:rPr sz="202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Reference customer: 100 stores</a:t>
            </a:r>
          </a:p>
          <a:p xmlns:a="http://schemas.openxmlformats.org/drawingml/2006/main">
            <a:pPr algn="l">
              <a:defRPr sz="2025" b="0">
                <a:solidFill>
                  <a:srgbClr val="152238"/>
                </a:solidFill>
              </a:defRPr>
            </a:pPr>
            <a:r>
              <a:rPr sz="202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CAD 50k platform + CAD 3k per store</a:t>
            </a:r>
          </a:p>
        </p:txBody>
      </p:sp>
      <p:graphicFrame>
        <p:nvGraphicFramePr>
          <p:cNvPr id="18" name="Chart">
            <a:extLst xmlns:a="http://schemas.openxmlformats.org/drawingml/2006/main">
              <a:ext uri="{FF2B5EF4-FFF2-40B4-BE49-F238E27FC236}">
                <a16:creationId xmlns:a16="http://schemas.microsoft.com/office/drawing/2014/main" id="{89D4C528-5098-4C70-858F-6B94D0A903D9}"/>
              </a:ext>
            </a:extLst>
          </p:cNvPr>
          <p:cNvGraphicFramePr/>
          <p:nvPr/>
        </p:nvGraphicFramePr>
        <p:xfrm>
          <a:off xmlns:a="http://schemas.openxmlformats.org/drawingml/2006/main" x="533400" y="2686050"/>
          <a:ext xmlns:a="http://schemas.openxmlformats.org/drawingml/2006/main" cx="4286250" cy="3648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18339c57154298"/>
          </a:graphicData>
        </a:graphic>
      </p:graphicFrame>
      <p:graphicFrame>
        <p:nvGraphicFrame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64B1C6-CCC8-43A1-98AE-B326BA908633}"/>
              </a:ext>
            </a:extLst>
          </p:cNvPr>
          <p:cNvGraphicFramePr/>
          <p:nvPr/>
        </p:nvGraphicFramePr>
        <p:xfrm>
          <a:off xmlns:a="http://schemas.openxmlformats.org/drawingml/2006/main" x="5219700" y="2686050"/>
          <a:ext xmlns:a="http://schemas.openxmlformats.org/drawingml/2006/main" cx="79629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66644"/>
                <a:gridCol w="5096256"/>
              </a:tblGrid>
              <a:tr h="964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Illustrative charge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Recipient / split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964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CAD 8k per equipped store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OEM / tag supplier 62.5% · distributor 12.5% · installer 25%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4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CAD 75k customer onboarding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Delivery partner 80% · SAP coordination fee 20%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964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Annual product subscription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SAP 100%; partner hardware invoiced separately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1350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2B7A6-6F41-41FE-AD5E-A9D1FB05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57911-6726-426D-8468-A7DE1A02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FINANCIALS · REFERENCE CUSTOMER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0D17A-A534-4169-A788-36279C36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Retailer value must clear the cash-only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CBF95-DF08-4D65-BD03-2663E26E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FA6C3-7233-430C-A975-C6AB9493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Illustrative steady-state annual benefits; not measured. Base cash-only payback misses the 24-month scale gate.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4951D-467D-4C23-9036-A007014B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91165-54F6-4D02-8BAD-4BB24F1B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098A3-4711-4BA5-AA5F-1D1DE65B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90859-C489-4408-AB08-7A6D0397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DDC31-2C1B-44FA-855B-FCC0DCAC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0B84D-1EF8-4181-81DF-8F1BD4BE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29475"/>
            <a:ext cx="13430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8DB12-78D6-49E4-B7EA-E72BC2E7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6CEB8-1D8A-45D9-B6AE-F736AC87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8E751-A6B3-46D0-BBF1-29DA60D6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3B712-F46F-4FAA-9F0E-843C0508DE9C}"/>
              </a:ext>
            </a:extLst>
          </p:cNvPr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8172450" cy="4933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42082"/>
                <a:gridCol w="1471041"/>
                <a:gridCol w="3759327"/>
              </a:tblGrid>
              <a:tr h="9867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Annual value / cost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Basis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9867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Recovered-sales contribution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450,000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1% of CAD 100M sales × 45% contribution margin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67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Planner / store capacity freed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364,000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 h/store/week × 100 × 52 × CAD 35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9867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Subscription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(350,000)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100-store reference price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67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Upfront deployment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235,000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20 RFID stores × CAD 8k + CAD 75k onboarding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8C7C7-8103-430C-AD93-78F6BCBB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71625"/>
            <a:ext cx="40957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8AFD6D-E85E-4522-81C0-745C1DAA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71625"/>
            <a:ext cx="4095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3DC375-B8AF-469B-B025-F22E5038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09725"/>
            <a:ext cx="3790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economic payback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8FB3E8-4AAE-4E8F-86AA-E9730B69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276475"/>
            <a:ext cx="3733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0065D9"/>
                </a:solidFill>
              </a:defRPr>
            </a:pPr>
            <a:r>
              <a:rPr sz="3300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6.1 months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DE9BD-52EF-4449-BE77-05C76C0E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095625"/>
            <a:ext cx="3733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238"/>
                </a:solidFill>
              </a:defRPr>
            </a:pPr>
            <a:r>
              <a:rPr sz="18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Includes value of time freed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A3B013-9992-4F67-A98F-F6F71F9B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95750"/>
            <a:ext cx="40957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D"/>
          </a:solidFill>
          <a:ln xmlns:a="http://schemas.openxmlformats.org/drawingml/2006/main" w="9525">
            <a:solidFill>
              <a:srgbClr val="CCD6E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0ADCB9-8DA3-4EA3-89AF-A97588F1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95750"/>
            <a:ext cx="4095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3113D6-46AB-4674-A9E1-3F9777CD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33850"/>
            <a:ext cx="3790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cash-only payback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CE1284-9E80-47EF-8361-8933C2EB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800600"/>
            <a:ext cx="3733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A7403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A7403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A7403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A7403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A7403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A7403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A7403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A7403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A7403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A740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A74037"/>
                </a:solidFill>
              </a:defRPr>
            </a:pPr>
            <a:r>
              <a:rPr sz="3300" b="1">
                <a:solidFill>
                  <a:srgbClr val="A74037"/>
                </a:solidFill>
                <a:latin typeface="Arial"/>
                <a:ea typeface="Arial"/>
                <a:cs typeface="Arial"/>
              </a:rPr>
              <a:t>28.2 months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CD0A3-D358-469A-AC72-59119667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619750"/>
            <a:ext cx="3733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238"/>
                </a:solidFill>
              </a:defRPr>
            </a:pPr>
            <a:r>
              <a:rPr sz="18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Excludes time unless cash is saved</a:t>
            </a:r>
          </a:p>
        </p:txBody>
      </p:sp>
    </p:spTree>
    <p:extLst>
      <p:ext uri="{BB962C8B-B14F-4D97-AF65-F5344CB8AC3E}">
        <p14:creationId xmlns:p14="http://schemas.microsoft.com/office/powerpoint/2010/main" val="4927857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4B5C1-75AC-4485-B67E-5FBC8D56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9AB3D-EC41-441F-92D7-A9ABBB37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FINANCIALS · SAP PRODUCT SCENARIO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BD672-5713-4094-ACA5-81E590C1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SAP’s base scenario reaches CAD 38.1M in year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FB1B6-84C1-45F2-A070-B45EBF29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6143B-0FB1-49AA-B140-93FEB330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Illustrative, not SAP guidance. Midyear customer wins, no churn, CAD 350k/customer/year; hardware pass-through excluded.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B9DF2-1599-4B94-A3DA-0771B502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2A73C-0715-4A14-82AB-D9E28869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31186-E621-4145-A914-ECDBA3FD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46B70-70A7-412A-B10C-9A7C0956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D5EA7-1FA8-4633-9942-4B5152A2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B703A-21A9-4C67-A2AF-41E41C1C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29475"/>
            <a:ext cx="13430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82843-F742-4C65-BE91-2E4A7EE9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1FAB1-2702-4512-92CF-8C18DEC2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2EB772-91B2-47B7-806B-E9D69466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AA763A05-8376-456A-89BB-FE90F331B129}"/>
              </a:ext>
            </a:extLst>
          </p:cNvPr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5019675" cy="4819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0ae88d22b84de3"/>
          </a:graphicData>
        </a:graphic>
      </p:graphicFrame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69CD6-1FD2-478C-B09E-AFDCAEEC79FD}"/>
              </a:ext>
            </a:extLst>
          </p:cNvPr>
          <p:cNvGraphicFramePr/>
          <p:nvPr/>
        </p:nvGraphicFramePr>
        <p:xfrm>
          <a:off xmlns:a="http://schemas.openxmlformats.org/drawingml/2006/main" x="5905500" y="1571625"/>
          <a:ext xmlns:a="http://schemas.openxmlformats.org/drawingml/2006/main" cx="7277100" cy="4981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74695"/>
                <a:gridCol w="1333892"/>
                <a:gridCol w="1333892"/>
                <a:gridCol w="1334620"/>
              </a:tblGrid>
              <a:tr h="55350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 millions, unless noted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1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2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3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55350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Ending customers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50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Average active customers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105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55350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Subscription revenue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3.50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14.00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36.75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50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Net onboarding fee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0.30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0.60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1.35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55350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Total modeled SAP revenue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EEF5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3.80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EEF5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14.60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EEF5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38.10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EEF5FD"/>
                    </a:solidFill>
                  </a:tcPr>
                </a:tc>
              </a:tr>
              <a:tr h="55350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Hosting / support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(0.88)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(3.50)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(9.19)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55350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Product / sales / operations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(5.00)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(6.00)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(8.00)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50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Operating contribution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EEF5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(2.08)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EEF5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5.10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EEF5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20.91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EEF5F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687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A6711-BAF5-4E45-9195-2FC9E8F7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BF057-B8BD-430F-9FB4-18DE4452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VALUE PROPOSITION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181A5-23E6-4F05-8752-8187EA83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Earlier evidence is useful only when teams can 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A4755-F381-4037-B4CA-538C20E1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5D7EC-6A06-4492-8EC7-76D8813A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One SAP Retail Signal subscription. Shared evidence, shared inventory context and a traceable response.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9D3FC-D892-4F58-8EC7-92E81FEE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8A0CA-E8BC-4E2A-ACD3-E0A5C50F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F03E7-9106-4D60-8DB9-CCC00B86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DB023-8803-44C9-A571-A8970902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60BA7-2F05-4F9B-A7A3-DA0523D9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F5FE6-E498-4319-91BC-A2EF043A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69B3E-BB28-4CAE-BAEA-88F05641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229475"/>
            <a:ext cx="13430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A0F54-0344-4C27-AA8C-404FB556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124E2-1358-4FD5-A60F-0D73C19E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05B6E-1445-4894-9547-F5F6C5D7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264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EA8F1-6889-41BB-93A9-0B1436B4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234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product connects the demand signal to a response the business can 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D6F34A-D21F-4981-B7FD-B30B8773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394335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67A276-8923-403E-97A4-37D3CBE8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3638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65D9"/>
                </a:solidFill>
              </a:defRPr>
            </a:pPr>
            <a:r>
              <a:rPr sz="20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01  Fitting-room demand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57D04-C07F-4F4A-8610-2F108B80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6385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238"/>
                </a:solidFill>
              </a:defRPr>
            </a:pPr>
            <a:r>
              <a:rPr sz="18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Reveal customer interest before checkout.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B810A7-580F-4549-9323-EBABC557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247900"/>
            <a:ext cx="394335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D1F18-1F9E-44CE-BCC7-D572C261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52675"/>
            <a:ext cx="3638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65D9"/>
                </a:solidFill>
              </a:defRPr>
            </a:pPr>
            <a:r>
              <a:rPr sz="20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02  Out-of-stock demand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2A9372-FE40-42D3-A745-F3199CCE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067050"/>
            <a:ext cx="36385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238"/>
                </a:solidFill>
              </a:defRPr>
            </a:pPr>
            <a:r>
              <a:rPr sz="18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Qualify demand for unavailable sizes.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D49DB5-7A4F-46FC-9631-0EBE926D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47900"/>
            <a:ext cx="394335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FE75AA-F5AB-4CBD-A35D-A3AC0D99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52675"/>
            <a:ext cx="3638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65D9"/>
                </a:solidFill>
              </a:defRPr>
            </a:pPr>
            <a:r>
              <a:rPr sz="20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03  Supply risk and response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C35ED4-690E-4E5B-A367-2010926B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67050"/>
            <a:ext cx="36385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238"/>
                </a:solidFill>
              </a:defRPr>
            </a:pPr>
            <a:r>
              <a:rPr sz="1875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Trace exposure and compare a response.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DF6C0A-6806-4A19-893C-6932B4D5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14825"/>
            <a:ext cx="2981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94D"/>
                </a:solidFill>
              </a:defRPr>
            </a:pPr>
            <a:r>
              <a:rPr sz="20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For Bob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8CBB56-3722-45E1-AB24-8B7F682A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2981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76235B-344E-44D0-A9C6-7701E43E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29241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2238"/>
                </a:solidFill>
              </a:defRPr>
            </a:pPr>
            <a:r>
              <a:rPr sz="18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A prioritized decision with evidence, alternatives and a visible owner.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158580-1683-42E1-B4B0-7D2352AA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314825"/>
            <a:ext cx="2981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94D"/>
                </a:solidFill>
              </a:defRPr>
            </a:pPr>
            <a:r>
              <a:rPr sz="20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For the retailer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BABA8F-E2E0-4A26-A004-BE2B2740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838700"/>
            <a:ext cx="2981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869DD9-7B0C-46F4-906D-8006006A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048250"/>
            <a:ext cx="29241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2238"/>
                </a:solidFill>
              </a:defRPr>
            </a:pPr>
            <a:r>
              <a:rPr sz="18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Better availability and margin discipline, measured against the cost of responding.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7A92D0-1AA0-4BFD-A53D-C6C27592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14825"/>
            <a:ext cx="2981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94D"/>
                </a:solidFill>
              </a:defRPr>
            </a:pPr>
            <a:r>
              <a:rPr sz="20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For shoppers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B749D9-2EEE-4C8B-994D-53D6FC8B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38700"/>
            <a:ext cx="2981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7A3E63-3D32-40D3-9C32-8E7D6AA8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29241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2238"/>
                </a:solidFill>
              </a:defRPr>
            </a:pPr>
            <a:r>
              <a:rPr sz="18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A better chance of finding the right size, without personal fitting-room surveillance.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70CCE0-A0E3-4D34-93D4-C3C6AC29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314825"/>
            <a:ext cx="2981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94D"/>
                </a:solidFill>
              </a:defRPr>
            </a:pPr>
            <a:r>
              <a:rPr sz="20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For SAP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D51098-359B-407A-AB1B-ED834EC9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838700"/>
            <a:ext cx="2981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E63587-4A54-4F32-8E50-7A2AE7B1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5048250"/>
            <a:ext cx="29241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2238"/>
                </a:solidFill>
              </a:defRPr>
            </a:pPr>
            <a:r>
              <a:rPr sz="18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A focused extension of existing retail workflows and recurring software revenue.</a:t>
            </a:r>
          </a:p>
        </p:txBody>
      </p:sp>
    </p:spTree>
    <p:extLst>
      <p:ext uri="{BB962C8B-B14F-4D97-AF65-F5344CB8AC3E}">
        <p14:creationId xmlns:p14="http://schemas.microsoft.com/office/powerpoint/2010/main" val="191930925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D65C8-D05E-4C9C-B60E-1DC663BC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7A87E-FC11-4E5E-81A1-A598AC2E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CALL TO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C8D3E-E7E0-4E29-A270-D3D80190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A pilot decision, with a clear scale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29D6F-3B0D-40EA-B24D-7AB54AD6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694E9-EC71-4EB3-9D4F-50F5055A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Pilot budget included in year-one operating spend. Funding, customer participation and partners remain proposed.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48AF4-BA54-4889-A00F-36CB994B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29CEA-FDE8-4122-B85D-B60BE665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4A35C-2B63-41C2-92F3-529488F5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54489-61F0-4015-830E-253DAA6D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A95A7-E3E8-4AB6-9CC3-4154B219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D05B3-1FD5-4794-AE92-E3C38A4D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3533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EC957-6FF8-4909-A8FB-8A8F8CB5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229475"/>
            <a:ext cx="13430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D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316AE-8E89-45A2-AD5B-37C24D71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6D418-AEB1-42B9-B74A-929232F4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3E711B-EE0E-41E0-89ED-DE4DA9A3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5905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6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56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56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56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56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56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56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56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56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56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625" b="1">
                <a:solidFill>
                  <a:srgbClr val="0065D9"/>
                </a:solidFill>
              </a:defRPr>
            </a:pPr>
            <a:r>
              <a:rPr sz="56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CAD 250k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5C913-7503-4043-8E34-D3C39CCD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59055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52238"/>
                </a:solidFill>
              </a:defRPr>
            </a:pPr>
            <a:r>
              <a:rPr sz="2250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SAP-funded pilot proposal</a:t>
            </a:r>
          </a:p>
          <a:p xmlns:a="http://schemas.openxmlformats.org/drawingml/2006/main">
            <a:pPr algn="l">
              <a:defRPr sz="2250" b="1">
                <a:solidFill>
                  <a:srgbClr val="152238"/>
                </a:solidFill>
              </a:defRPr>
            </a:pPr>
            <a:r>
              <a:rPr sz="2250" b="1">
                <a:solidFill>
                  <a:srgbClr val="152238"/>
                </a:solidFill>
                <a:latin typeface="Arial"/>
                <a:ea typeface="Arial"/>
                <a:cs typeface="Arial"/>
              </a:rPr>
              <a:t>12 weeks · 10 stores · one apparel design partner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9584A6-623C-4DCF-AFA3-B4F96E90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590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52238"/>
                </a:solidFill>
              </a:defRPr>
            </a:pPr>
            <a:r>
              <a:rPr sz="21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Approve a capped pilot, name the retail sponsor and agree access to a sandbox.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52238"/>
                </a:solidFill>
              </a:defRPr>
            </a:pPr>
            <a:r>
              <a:rPr sz="210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Scale when response time improves, stock reconciles and cash payback meets the 24-month gate.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68C2FF-43E0-4584-809F-84603326A1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91740731c4c54"/>
          <a:srcRect xmlns:a="http://schemas.openxmlformats.org/drawingml/2006/main" l="30000" t="0" r="0" b="0"/>
          <a:stretch xmlns:a="http://schemas.openxmlformats.org/drawingml/2006/main"/>
        </p:blipFill>
        <p:spPr>
          <a:xfrm xmlns:a="http://schemas.openxmlformats.org/drawingml/2006/main">
            <a:off x="7038975" y="1571625"/>
            <a:ext cx="6143625" cy="4943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51293"/>
      </p:ext>
    </p:extLst>
  </p:cSld>
</p:sld>
</file>

<file path=ppt/slides/slide23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B3E70-DDDF-40A8-A5A4-98BA0774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F0E4A-55C6-4EA2-B0BE-587430E8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APPENDIX ·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0A59F-A984-4222-BB76-9AAF71FC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Financial assumptions and boundaries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60A9E-C9AA-4EF8-B0DF-3A997D3A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500C9-FE3F-43BC-8C11-FC9E4BC8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· Supporting detail for Q&amp;A · All financial forecasts are illustrative.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7EE21-7823-4E94-B0F6-EE790FF9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B4258-8870-4835-839E-26498E35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437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1738A"/>
                </a:solidFill>
              </a:defRPr>
            </a:pPr>
            <a:r>
              <a:rPr sz="112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APPENDIX  /  Supporting evidence and calculations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A9CBE-90B9-4ADF-9D7E-A51DCC71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F7198-40B5-4668-AC36-8AB1FA1B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A0E01-68E9-4440-A439-4771F55CFA42}"/>
              </a:ext>
            </a:extLst>
          </p:cNvPr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126492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15284"/>
                <a:gridCol w="4933188"/>
                <a:gridCol w="4300728"/>
              </a:tblGrid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 assumption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 required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Currency / reference customer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CAD; 100 stores; CAD 100M annual sales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Retailer finance data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Product price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CAD 50k platform + CAD 3k/store/year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Willingness-to-pay and procurement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RFID footprint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20 of 100 stores; CAD 8k/store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Vendor quote; already tagged inventory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Onboarding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CAD 75k total; CAD 15k retained by SAP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Partner scope and signed contract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Retailer uplift / contribution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1.0% sales; 45% incremental contribution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Matched-store test; net of returns and variable costs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Freed time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 hours/store/week; CAD 35/hour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Time study and redeployment plan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78350"/>
      </p:ext>
    </p:extLst>
  </p:cSld>
</p:sld>
</file>

<file path=ppt/slides/slide24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F815D-4ADE-4579-9DE1-955F073A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06371-C0F5-43CE-A783-C482BAD1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APPENDIX ·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98B22-593F-444C-82B4-CECD5E56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Retailer calculations: value and payback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CD092-282C-4325-91F3-B1C978FE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CE84B-D052-4772-9F72-360604C5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Simple payback assumes steady-state benefits from day 1; ramp-up lengthens realized payback.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E36B1-6C53-41F0-B59A-1CB94752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25CA5-10A8-4803-935C-57A4FE9F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437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1738A"/>
                </a:solidFill>
              </a:defRPr>
            </a:pPr>
            <a:r>
              <a:rPr sz="112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APPENDIX  /  Supporting evidence and calculations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A1018-0551-4D3E-AC72-EBB7C855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F4F57-9740-4247-B9E1-478FF59B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8E4E3-FFB1-4183-99A9-E6D036F816A3}"/>
              </a:ext>
            </a:extLst>
          </p:cNvPr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126492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15284"/>
                <a:gridCol w="4933188"/>
                <a:gridCol w="4300728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Calculation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Formula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 / result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Recovered sales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100,000,000 × 1.0%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1,000,000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Incremental contribution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1,000,000 × 45%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450,000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Capacity value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100 × 2 × 52 × 35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364,000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Annual economic value net of fee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450,000 + 364,000 − 350,000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464,000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Annual cash-only value net of fee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450,000 − 350,000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100,000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Upfront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20 × 8,000 + 75,000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235,000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Payback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EEF5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235,000 ÷ annual net × 12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EEF5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6.1 months economic / 28.2 cash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EEF5F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969791"/>
      </p:ext>
    </p:extLst>
  </p:cSld>
</p:sld>
</file>

<file path=ppt/slides/slide25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90303-2F83-4AA2-931A-D127F41E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3164C-E462-4F04-B91F-EE987C2E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APPENDIX ·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2FEC1-37B5-440B-8598-BDB62557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Retailer sensitivity and break-even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382EF-E30B-4AE3-8147-7CCF270E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017FE-B6B8-4753-9FF5-08656CCB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· Supporting detail for Q&amp;A · All financial forecasts are illustrative.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E7C4C-D733-4F58-8DDF-BB476456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6ED21-5096-41BD-A426-4DFD39A9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437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1738A"/>
                </a:solidFill>
              </a:defRPr>
            </a:pPr>
            <a:r>
              <a:rPr sz="112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APPENDIX  /  Supporting evidence and calculations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BA863-9B5B-4354-8DA3-6F555591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14894-7970-4F90-94D5-F0DA45AF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25C9D-1EB5-4284-88F4-1E9132F79DFE}"/>
              </a:ext>
            </a:extLst>
          </p:cNvPr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1264920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39156"/>
                <a:gridCol w="2403348"/>
                <a:gridCol w="2403348"/>
                <a:gridCol w="2403348"/>
              </a:tblGrid>
              <a:tr h="7562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Recovered sales uplift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Annual cash net after fee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Cash-only payback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Economic payback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0.5%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−CAD 125k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No payback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11.8 months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1.0% · base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CAD 100k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28.2 months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6.1 months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1.5%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CAD 325k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8.7 months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4.1 months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2.0%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CAD 550k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5.1 months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3.1 months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F4643-BD4F-4B94-A2A0-C23EC5F4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23444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52238"/>
                </a:solidFill>
              </a:defRPr>
            </a:pPr>
            <a:r>
              <a:rPr sz="19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Renewal cash break-even: 0.778% sales uplift.</a:t>
            </a:r>
          </a:p>
          <a:p xmlns:a="http://schemas.openxmlformats.org/drawingml/2006/main">
            <a:pPr algn="l">
              <a:defRPr sz="1950" b="0">
                <a:solidFill>
                  <a:srgbClr val="152238"/>
                </a:solidFill>
              </a:defRPr>
            </a:pPr>
            <a:r>
              <a:rPr sz="19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24-month cash payback gate: 1.039% uplift.</a:t>
            </a:r>
          </a:p>
          <a:p xmlns:a="http://schemas.openxmlformats.org/drawingml/2006/main">
            <a:pPr algn="l">
              <a:defRPr sz="1950" b="0">
                <a:solidFill>
                  <a:srgbClr val="152238"/>
                </a:solidFill>
              </a:defRPr>
            </a:pPr>
            <a:r>
              <a:rPr sz="19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First-year cash break-even: 1.300% uplift.</a:t>
            </a:r>
          </a:p>
        </p:txBody>
      </p:sp>
    </p:spTree>
    <p:extLst>
      <p:ext uri="{BB962C8B-B14F-4D97-AF65-F5344CB8AC3E}">
        <p14:creationId xmlns:p14="http://schemas.microsoft.com/office/powerpoint/2010/main" val="1479294946"/>
      </p:ext>
    </p:extLst>
  </p:cSld>
</p:sld>
</file>

<file path=ppt/slides/slide26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87093-B205-4D35-9152-37ABBD32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875B4-40A0-483C-AC5C-D51E4B9E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APPENDIX ·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51244-78D3-4A37-A29C-22C3ECB3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Recommendation 1: proposed money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E02FA-D170-449E-8CDC-34620414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BB96A-74A9-4382-AE99-D8D1F89F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Illustrative allocations, not manufacturer prices or signed commercial terms. No hardware revenue booked by SAP.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9EEA4-28DF-438B-A3C4-858DF0E5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501AF-3436-44F6-87C7-AD39A06D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437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1738A"/>
                </a:solidFill>
              </a:defRPr>
            </a:pPr>
            <a:r>
              <a:rPr sz="112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APPENDIX  /  Supporting evidence and calculations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1E432-03FD-4879-9A4F-2D264905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44578-79EF-4C76-A829-6F2A5F76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F6190-97D7-4A08-A022-B0240A574260}"/>
              </a:ext>
            </a:extLst>
          </p:cNvPr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126492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53712"/>
                <a:gridCol w="4427220"/>
                <a:gridCol w="1897380"/>
                <a:gridCol w="1770888"/>
              </a:tblGrid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Customer charge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Recipient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One store hardware + install: CAD 8k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OEM / tag-equipment supplier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5,000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62.5%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Same invoice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Regional distributor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12.5%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Same invoice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Installation / device-support partner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25.0%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Customer onboarding: CAD 75k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Delivery / integration partner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60,000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80.0%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Same onboarding scope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SAP coordination fee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15,000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20.0%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Reference subscription: CAD 350k/year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SAP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350,000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02417"/>
      </p:ext>
    </p:extLst>
  </p:cSld>
</p:sld>
</file>

<file path=ppt/slides/slide27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1CAD0-BA14-4F07-9133-DAAC53FA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98991-A3BE-4BBF-AC0F-2B06DD00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APPENDIX ·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0E12C-80A0-412C-9B6B-19493FD2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SAP revenue and cost formulas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FE41A-5410-4943-9E8B-89BFB619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9E4AA-0AEE-47C9-8C08-E4400035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· Supporting detail for Q&amp;A · All financial forecasts are illustrative.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51B7A-F564-4A7A-B5BC-4B4ACE41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28090-A808-4AD9-AC27-901F1651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437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1738A"/>
                </a:solidFill>
              </a:defRPr>
            </a:pPr>
            <a:r>
              <a:rPr sz="112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APPENDIX  /  Supporting evidence and calculations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33BE1-7FC9-4DCD-A95F-C6FDC459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51ADF-9F8C-4B49-B2BF-58CFF9A1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5B3F5-E9E3-4F09-B283-DC758EFB574B}"/>
              </a:ext>
            </a:extLst>
          </p:cNvPr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126492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39156"/>
                <a:gridCol w="2403348"/>
                <a:gridCol w="2403348"/>
                <a:gridCol w="2403348"/>
              </a:tblGrid>
              <a:tr h="55033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1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2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3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Beginning / new / ending accounts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0 / 20 / 20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20 / 40 / 60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60 / 90 / 150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Average accounts: begin + ½ new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105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SaaS: average × CAD 350k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3.500M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14.000M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36.750M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Net service: new × CAD 15k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0.300M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0.600M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1.350M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Variable cost: SaaS × 25%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0.875M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3.500M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9.1875M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Fixed product / sales / operations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5.000M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6.000M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8.000M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Contribution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−2.075M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5.100M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20.9125M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Cumulative contribution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EEF5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−2.075M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EEF5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3.025M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EEF5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23.9375M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EEF5F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28610"/>
      </p:ext>
    </p:extLst>
  </p:cSld>
</p:sld>
</file>

<file path=ppt/slides/slide28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7429F-4162-4677-8BAC-C1E5DFAB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72C9A-5DD4-47ED-913E-696F0671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APPENDIX ·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8FD7A-B15E-48E3-BAEA-4DF5FA23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SAP downside and concentration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BF897-E872-43B7-833B-4A7DA8C0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102F8-4B19-40A2-9EB7-3CCDF6AE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Scenario analysis, not forecasts. Zero churn is optimistic; renewal, sales cycles and cloud usage require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F4644-CD09-4C8C-9C9D-024A081D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B9790-7BB9-4514-85B4-4157C93B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437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1738A"/>
                </a:solidFill>
              </a:defRPr>
            </a:pPr>
            <a:r>
              <a:rPr sz="112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APPENDIX  /  Supporting evidence and calculations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08F85-46B7-45F1-97FC-799CFD0F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D588A-1AC9-4DEF-9FA5-9599B79A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DD8E7-F384-46D9-A46D-AA54CB65B16D}"/>
              </a:ext>
            </a:extLst>
          </p:cNvPr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1264920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39156"/>
                <a:gridCol w="2403348"/>
                <a:gridCol w="2403348"/>
                <a:gridCol w="2403348"/>
              </a:tblGrid>
              <a:tr h="7562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Scenario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Year-3 ending accounts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Year-3 contribution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3-year cumulative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Base: 20 / 60 / 150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CAD 20.91M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CAD 23.94M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Slower wins: 10 / 40 / 80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80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CAD 8.35M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CAD 5.83M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Price CAD 300k; variable cost 35%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CAD 13.83M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CAD 13.48M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Stalled after 20 customers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−CAD 2.75M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−CAD 5.58M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DB39A-D709-4E94-855B-80DD90D8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23444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52238"/>
                </a:solidFill>
              </a:defRPr>
            </a:pPr>
            <a:r>
              <a:rPr sz="19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Renewal-only break-even at CAD 6M fixed spend:</a:t>
            </a:r>
          </a:p>
          <a:p xmlns:a="http://schemas.openxmlformats.org/drawingml/2006/main">
            <a:pPr algn="l">
              <a:defRPr sz="1950" b="0">
                <a:solidFill>
                  <a:srgbClr val="152238"/>
                </a:solidFill>
              </a:defRPr>
            </a:pPr>
            <a:r>
              <a:rPr sz="19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CAD 6M ÷ (CAD 350k × 75%) = 22.9 full-year accounts.</a:t>
            </a:r>
          </a:p>
        </p:txBody>
      </p:sp>
    </p:spTree>
    <p:extLst>
      <p:ext uri="{BB962C8B-B14F-4D97-AF65-F5344CB8AC3E}">
        <p14:creationId xmlns:p14="http://schemas.microsoft.com/office/powerpoint/2010/main" val="153452032"/>
      </p:ext>
    </p:extLst>
  </p:cSld>
</p:sld>
</file>

<file path=ppt/slides/slide29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48742-2869-4BC8-B827-3DE08626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C06D7-F229-4D2C-B091-7DBE0C4D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APPENDIX ·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D5072-BEA8-4B50-AFB0-40DC40C5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Pilot funding and release gates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81442-B23C-46F6-8CE6-EBE982B5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66111-1773-4662-B9D2-E548A631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· Supporting detail for Q&amp;A · All financial forecasts are illustrative.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1C36F-E12C-48B0-8565-30D6E1E6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87075-AD01-45B6-BC2E-AB9F4A36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437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1738A"/>
                </a:solidFill>
              </a:defRPr>
            </a:pPr>
            <a:r>
              <a:rPr sz="112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APPENDIX  /  Supporting evidence and calculations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D283D-8955-497C-A565-C25004A7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993A6-0EC6-46E8-989E-5D5818B6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4C418-1949-47FF-957D-8C3778213685}"/>
              </a:ext>
            </a:extLst>
          </p:cNvPr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126492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15284"/>
                <a:gridCol w="4933188"/>
                <a:gridCol w="4300728"/>
              </a:tblGrid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 of funds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Release condition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10-store hardware trial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80,000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Zone accuracy and partner quote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Integration engineering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80,000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Sandbox, fields and access approved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Product + measurement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50,000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Baseline and matched-store design agreed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Training + adoption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20,000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Named planners and store champions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Contingency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20,000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Sponsor approval for actual need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Total pilot proposal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EEF5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250,000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EEF5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Capped; included in Year-1 fixed spending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EEF5F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9835338"/>
      </p:ext>
    </p:extLst>
  </p:cSld>
</p:sld>
</file>

<file path=ppt/slides/slide30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12C9B-F339-4EC3-92B5-658287C2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948DE-15D2-4AE8-AE60-2A77EB57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APPENDIX ·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D2328-A469-47E5-82F3-4EFA27CF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What is implemented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6EC2C-E96D-4E7E-B59F-C606C052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2A780-2B56-4B24-B3BB-68F879AA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React + TypeScript + UI5 interface. SAP-like styling does not itself establish SAP integration.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E7E3D-56C1-4D3C-AE6F-076292A0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B8855-96D1-462B-BC2C-1422D448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437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1738A"/>
                </a:solidFill>
              </a:defRPr>
            </a:pPr>
            <a:r>
              <a:rPr sz="112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APPENDIX  /  Supporting evidence and calculations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96B69-F7AE-41E8-AE2A-8E1E5F62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A6C61-E643-4534-B7E1-912FE387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87206-2818-4341-9F83-AEF131377ED6}"/>
              </a:ext>
            </a:extLst>
          </p:cNvPr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126492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15284"/>
                <a:gridCol w="4933188"/>
                <a:gridCol w="4300728"/>
              </a:tblGrid>
              <a:tr h="825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Capability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Working prototype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Needed for production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Demand evidence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Seeded try-ons, purchases and qualified digital aggregates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Live RFID and commerce collection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Supply and cost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Selectable network, editable demo rates, public benchmarks, shortage simulation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Validated supplier / material / logistics feeds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Assistant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Deterministic explanations and calculations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Authorized SAP Joule orchestration and evaluation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Execution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Local proposal → approve → issue → receipt lifecycle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Authenticated SAP tenant APIs, permissions and reconciliation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Storage / security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Browser-local demo state; no business database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Tenant database, identity, access controls and audit storage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8819088"/>
      </p:ext>
    </p:extLst>
  </p:cSld>
</p:sld>
</file>

<file path=ppt/slides/slide31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46D3F-1F7B-4851-9F51-4BB5C0F2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A4EE0-D070-4E4B-8CE3-FC6F9A97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APPENDIX ·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76D5B-DEA0-4A4C-B4D3-76D05C8C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Proposed SAP integration responsibilities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37F42-9A33-468D-9A52-851623DD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2E9FF-E50D-45A5-9F31-985697EF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Required products and licenses depend on the retailer’s landscape. Reuse existing planning instead of replacing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04E67-222E-42DC-BF34-E9A28D76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516C9-96CB-4190-9482-3C33C308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437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1738A"/>
                </a:solidFill>
              </a:defRPr>
            </a:pPr>
            <a:r>
              <a:rPr sz="112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APPENDIX  /  Supporting evidence and calculations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1B05E-70A5-42F4-A0B1-5217A621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7D91E-1D93-4E70-85C2-70C88865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0C5DB-15B0-4111-B5F7-5FE97BA76DDE}"/>
              </a:ext>
            </a:extLst>
          </p:cNvPr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126492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15284"/>
                <a:gridCol w="4933188"/>
                <a:gridCol w="4300728"/>
              </a:tblGrid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SAP application / service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 in the proposed product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status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SAP CAR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Shared sales and retail inventory context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Seeded inputs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SAP S/4HANA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Purchasing, stock transport, issue and receipt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Local workflow simulation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SAP Commerce Cloud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Online events and sellable availability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Seeded events / shared demo stock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SAP IBP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Planning scenarios and approved planning handoff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Export / mapping concept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BTP / Integration Suite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Secure interfaces, event routing and monitoring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Production design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SAP Joule / Business AI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Explain evidence and call approved business actions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Joule-inspired deterministic demo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448521"/>
      </p:ext>
    </p:extLst>
  </p:cSld>
</p:sld>
</file>

<file path=ppt/slides/slide3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C6B81-C979-4109-AA5B-F29F3FCA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5193C-D41A-40A8-885A-48E54D1E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APPENDIX ·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BF265-886A-40ED-B53A-E73A76EB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The transfer demo: conservation of inventory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25ADE-4459-4884-BC3D-53757632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48DF8-8EDA-4C16-8BDD-5117D4CF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CAD 60 transfer cost = 40 × CAD 1.50/unit. Two-day transit is an assumption; the 9-day alternative misses the 7-day window.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4D1DF-359F-428D-85A0-B9CE113D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F6CA2-58EF-45FD-8E3F-B65841ED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437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1738A"/>
                </a:solidFill>
              </a:defRPr>
            </a:pPr>
            <a:r>
              <a:rPr sz="112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APPENDIX  /  Supporting evidence and calculations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37AA6-2D15-44F4-89FA-FC17B16A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167B1-A4E8-4D7A-BF01-FD7E5DE7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AFAA2-D47D-4C91-A44F-24FBC93FFDF5}"/>
              </a:ext>
            </a:extLst>
          </p:cNvPr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1264920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39156"/>
                <a:gridCol w="2403348"/>
                <a:gridCol w="2403348"/>
                <a:gridCol w="2403348"/>
              </a:tblGrid>
              <a:tr h="7562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Burnaby physical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 transit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Vancouver sellable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Before proposal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76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40-unit proposal / approval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76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Goods issue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Goods receipt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2D3326-9F2A-45C9-8999-EA55D329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23444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52238"/>
                </a:solidFill>
              </a:defRPr>
            </a:pPr>
            <a:r>
              <a:rPr sz="19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The proposal reserves 40 available units and preserves Burnaby’s 36-unit reserve.</a:t>
            </a:r>
          </a:p>
          <a:p xmlns:a="http://schemas.openxmlformats.org/drawingml/2006/main">
            <a:pPr algn="l">
              <a:defRPr sz="1950" b="0">
                <a:solidFill>
                  <a:srgbClr val="152238"/>
                </a:solidFill>
              </a:defRPr>
            </a:pPr>
            <a:r>
              <a:rPr sz="19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The scenario covers 48 / 80 = 60%; 32 units remain uncovered.</a:t>
            </a:r>
          </a:p>
        </p:txBody>
      </p:sp>
    </p:spTree>
    <p:extLst>
      <p:ext uri="{BB962C8B-B14F-4D97-AF65-F5344CB8AC3E}">
        <p14:creationId xmlns:p14="http://schemas.microsoft.com/office/powerpoint/2010/main" val="675840967"/>
      </p:ext>
    </p:extLst>
  </p:cSld>
</p:sld>
</file>

<file path=ppt/slides/slide33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6B45F-B4D7-4EAA-86B0-F2F7698D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66613-B5FB-44C6-AEAB-C455A395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APPENDIX ·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82B04-7A22-46A9-AEE6-D6657A0F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Demand calculations and inference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978FB-7A5B-4E6E-84A3-8524927C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028BE-B099-4302-921C-36F27B3F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· Supporting detail for Q&amp;A · All financial forecasts are illustrative.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5CF56-B0B7-404B-92C3-6E410AB3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CFCDD-0A79-4C4F-9929-17FF8C03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437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1738A"/>
                </a:solidFill>
              </a:defRPr>
            </a:pPr>
            <a:r>
              <a:rPr sz="112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APPENDIX  /  Supporting evidence and calculations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D485A-C37E-43C2-BAD9-51ADF3E2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0C509-79C0-4CCB-9B51-E72760DC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CDA28-2107-4420-9623-4A198A6C20FB}"/>
              </a:ext>
            </a:extLst>
          </p:cNvPr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1264920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15284"/>
                <a:gridCol w="4933188"/>
                <a:gridCol w="4300728"/>
              </a:tblGrid>
              <a:tr h="7562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Signal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Calculation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 establish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Try-on conversion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43 ÷ 240 = 17.9%; 32% baseline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Conversion is lower; cause still needs investigation.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Online shortage scenario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floor(162 sessions × 15%) = 24 units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A quantity to test, not 24 confirmed orders.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Gross online exposure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24 × CAD 39 = CAD 936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Illustrative retail value before uncertainty.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62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Estimated foregone online sales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CAD 936 × 70% = CAD 655.20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Depends on the explicit lost-sale assumption.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01D15-B41E-4AB4-919A-F23479B6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23444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52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52238"/>
                </a:solidFill>
              </a:defRPr>
            </a:pPr>
            <a:r>
              <a:rPr sz="19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Qualify session + SKU pairs; exclude bots and repeated events.</a:t>
            </a:r>
          </a:p>
          <a:p xmlns:a="http://schemas.openxmlformats.org/drawingml/2006/main">
            <a:pPr algn="l">
              <a:defRPr sz="1950" b="0">
                <a:solidFill>
                  <a:srgbClr val="152238"/>
                </a:solidFill>
              </a:defRPr>
            </a:pPr>
            <a:r>
              <a:rPr sz="1950" b="0">
                <a:solidFill>
                  <a:srgbClr val="152238"/>
                </a:solidFill>
                <a:latin typeface="Arial"/>
                <a:ea typeface="Arial"/>
                <a:cs typeface="Arial"/>
              </a:rPr>
              <a:t>Do not add store and online signals into a unique customer total.</a:t>
            </a:r>
          </a:p>
        </p:txBody>
      </p:sp>
    </p:spTree>
    <p:extLst>
      <p:ext uri="{BB962C8B-B14F-4D97-AF65-F5344CB8AC3E}">
        <p14:creationId xmlns:p14="http://schemas.microsoft.com/office/powerpoint/2010/main" val="2088913761"/>
      </p:ext>
    </p:extLst>
  </p:cSld>
</p:sld>
</file>

<file path=ppt/slides/slide34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3FE14-A3D2-4D79-BC3C-7EA75D50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6AF65-21CE-402C-8A00-9DD774B3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APPENDIX ·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395C4-EE5B-4B72-89C3-6F7A0EC2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Gas-shortage demo: unit cost and cohort impact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C8446-A22B-4332-8C91-2CAF6235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8A5CB-F135-49B1-9AFC-A39088BE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MMBtu = million British thermal units, an energy measure. Production reduction and price increase are independent assumptions.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0CD92-268E-4B29-8D07-B6B92A12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B9EE1-9037-4615-A930-A7805C35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437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1738A"/>
                </a:solidFill>
              </a:defRPr>
            </a:pPr>
            <a:r>
              <a:rPr sz="112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APPENDIX  /  Supporting evidence and calculations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F3782-2C1B-4320-888E-AA3073BC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1EF37-7BDC-40E3-BF94-50589B2A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9F036-4CA5-4D1D-874F-063B6DF33755}"/>
              </a:ext>
            </a:extLst>
          </p:cNvPr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126492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21252"/>
                <a:gridCol w="8727948"/>
              </a:tblGrid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 / result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Illustrative scenario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Shock assumptions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25% less input supply; +30% input price; +7 days; 30-day horizon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Cream top energy uplift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0.12 MMBtu × CAD 5.80/MMBtu × 30% × 100% pass-through = CAD 0.2088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Cream top landed cost / margin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CAD 13.50 → 13.71; 65.38% → 64.85% at CAD 39 retail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Completed new-production cohort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Added cost CAD 208.22; weighted margin 68.20% → 67.89%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Deferred production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329 of 1,309 planned new units; not assumed permanently lost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Planning-cohort profit reduction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CAD 15,339.50 on deferred units + CAD 208.22 added cost = CAD 15,547.72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242850"/>
      </p:ext>
    </p:extLst>
  </p:cSld>
</p:sld>
</file>

<file path=ppt/slides/slide35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14BBD-1888-4C55-829B-B1381211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33038-07D0-4AF4-97ED-6BD7B46C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APPENDIX ·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36FCB-B471-4890-A2DE-00F5FFA2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Sources: case, market and SAP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8940F-62EA-4205-9FDB-571B2620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500FD-3CC4-4BC9-8B3C-DC4562E3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Accessed 25 Oct 2026. The Launchpad’s valuation and H1 revenue figures are omitted because they are unnecessary to the investment case.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438BE-6455-4EC3-88B6-4DD6485B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4A5DC-7AD7-48E5-B218-E791A62A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437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1738A"/>
                </a:solidFill>
              </a:defRPr>
            </a:pPr>
            <a:r>
              <a:rPr sz="112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APPENDIX  /  Supporting evidence and calculations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6740E-C171-4598-A495-0883949D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51939-08D3-4683-8CA5-E2FF3922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F2E89-330C-405B-8BC7-2C6C926BDCF3}"/>
              </a:ext>
            </a:extLst>
          </p:cNvPr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12649200" cy="4991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9316"/>
                <a:gridCol w="9739884"/>
              </a:tblGrid>
              <a:tr h="831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and scope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831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S1 · Product+ case package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Supplied PDF, pp. 3–5. Challenge, user roles, SAP customer/country baseline.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1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S2 · Plus One Braincell Launchpad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Supplied PDF, recommendations 1–3 and source bibliography. Team 463980.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831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S3 · SAP Future of Retail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https://www.sap.com/engage/future-of-retail.html</a:t>
                      </a:r>
                    </a:p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14,000+ retail customers; broader footprint, not eligible apparel accounts.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1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S4 · Shopify fashion industry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https://www.shopify.com/uk/enterprise/blog/ecommerce-fashion-industry</a:t>
                      </a:r>
                    </a:p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2026 fashion e-commerce projection, citing Statista; different scope from apparel sales.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831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S5 · McKinsey agentic commerce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https://www.mckinsey.com/capabilities/quantumblack/our-insights/the-agentic-commerce-opportunity-how-ai-agents-are-ushering-in-a-new-era-for-consumers-and-merchants</a:t>
                      </a:r>
                    </a:p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US$3–5T goods commerce by 2030 is context, not software TAM.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2541788"/>
      </p:ext>
    </p:extLst>
  </p:cSld>
</p:sld>
</file>

<file path=ppt/slides/slide36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2F36F-D753-4182-85FD-C3E51C97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EBAA0-3BBD-41B4-BD7F-36B12253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APPENDIX ·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324D3-B476-4167-B1F7-26E72A2F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Sources: SAP applications and AI governance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1CF1C-BA39-4D67-A281-52847FA5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CE24B-EF2D-4594-8941-6E1C7658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Accessed 25 Oct 2026. Product capabilities are vendor descriptions; proposed integrations are not completed integrations.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4C9F0-B281-452D-9D81-F5D45E90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47B2A-C17D-4438-9598-CF274D36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437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1738A"/>
                </a:solidFill>
              </a:defRPr>
            </a:pPr>
            <a:r>
              <a:rPr sz="112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APPENDIX  /  Supporting evidence and calculations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C16E2-42AF-499A-8744-FCA28FAD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1B873-5DB5-4CF0-AE2E-C271C6FB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334CE-E16B-4902-B956-4E128CDF5C00}"/>
              </a:ext>
            </a:extLst>
          </p:cNvPr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12649200" cy="4991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9316"/>
                <a:gridCol w="9739884"/>
              </a:tblGrid>
              <a:tr h="9982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and scope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9982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S6 · Customer Activity Repository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https://www.sap.com/products/crm/customer-activity-repository.html</a:t>
                      </a:r>
                    </a:p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Transaction, demand and inventory context.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S7 · Commerce / planning / execution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https://www.sap.com/products/crm/commerce-cloud.html</a:t>
                      </a:r>
                    </a:p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https://www.sap.com/products/scm/integrated-business-planning.html</a:t>
                      </a:r>
                    </a:p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https://learning.sap.com/products/s4hana-cloud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9982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S8 · Integration Suite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https://www.sap.com/products/technology-platform/integration-suite.html</a:t>
                      </a:r>
                    </a:p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Controlled SAP and third-party integration; actual tenant mapping still required.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S9 · AI data handling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https://www.sap.com/products/artificial-intelligence/ai-ethics.html</a:t>
                      </a:r>
                    </a:p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https://learning.sap.com/courses/building-confidence-in-ai-with-sap/does-ai-train-on-my-data</a:t>
                      </a:r>
                    </a:p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Use depends on agreements and service settings; external model training is restricted.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7342984"/>
      </p:ext>
    </p:extLst>
  </p:cSld>
</p:sld>
</file>

<file path=ppt/slides/slide37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77D84-D8AA-40AD-A562-A6DC4320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2C2AD-0A95-4F01-9306-9DA9BF7F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APPENDIX ·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EFD0D-68CA-421A-8D74-80E4FD7D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Sources: hardware, distribution and competition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6A892-611C-4BAA-A291-BF7D4E50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626C8-5864-47A0-9105-F3896A30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Sources establish capabilities and geographic presence, not a signed Retail Signal partnership or a completed feature audit.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15FD0-CE71-4E13-ABDB-C4162134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87D4B-B724-42B5-8B36-8E6E53C7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437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1738A"/>
                </a:solidFill>
              </a:defRPr>
            </a:pPr>
            <a:r>
              <a:rPr sz="112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APPENDIX  /  Supporting evidence and calculations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C3057-0194-4F48-A364-5C84376F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93C6C-91F2-4E22-B8B0-1B4191B5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5CB24-4A00-4030-BFFD-C4717E10FD87}"/>
              </a:ext>
            </a:extLst>
          </p:cNvPr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12649200" cy="4991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9316"/>
                <a:gridCol w="9739884"/>
              </a:tblGrid>
              <a:tr h="9982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and scope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9982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S10 · Hardware capability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https://www.zebra.com/us/en/products/rfid/rfid-readers.html</a:t>
                      </a:r>
                    </a:p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https://rfid.averydennison.com/en/home/industry-segments/retail/apparel-and-fashion.html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S11 · Regional presence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Ingram Micro: global locations</a:t>
                      </a:r>
                    </a:p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TD SYNNEX: regional coverage</a:t>
                      </a:r>
                    </a:p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Redington: global presence</a:t>
                      </a:r>
                    </a:p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Full links in speaker notes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9982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S12 · Competitors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https://www.sensormatic.com/de_de/TrueVUE-Inventory-Intel/TrueVUE-Fitting-Room</a:t>
                      </a:r>
                    </a:p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https://www.oracle.com/retail/</a:t>
                      </a:r>
                    </a:p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https://blueyonder.com/solutions/retail-planning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S13 · Prototype and public reference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Current local Retail Signal website, captured 25 Oct 2026.</a:t>
                      </a:r>
                    </a:p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https://fred.stlouisfed.org/series/PNGASUSUSDM</a:t>
                      </a:r>
                    </a:p>
                    <a:p>
                      <a:r>
                        <a:rPr sz="14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Public commodity observations are not supplier quotes.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1713597"/>
      </p:ext>
    </p:extLst>
  </p:cSld>
</p:sld>
</file>

<file path=ppt/slides/slide38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30C84-07DB-4F26-B828-D60922B5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1738A"/>
                </a:solidFill>
              </a:defRPr>
            </a:pPr>
            <a:r>
              <a:rPr sz="97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 /  PLUS ONE BRAINCELL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85B13-5B2A-4D74-9D56-6743CE5E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65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065D9"/>
                </a:solidFill>
              </a:defRPr>
            </a:pPr>
            <a:r>
              <a:rPr sz="1125" b="1">
                <a:solidFill>
                  <a:srgbClr val="0065D9"/>
                </a:solidFill>
                <a:latin typeface="Arial"/>
                <a:ea typeface="Arial"/>
                <a:cs typeface="Arial"/>
              </a:rPr>
              <a:t>APPENDIX ·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E04BA-6A21-496A-B032-678A8523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264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1">
                <a:solidFill>
                  <a:srgbClr val="152238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2238"/>
                </a:solidFill>
              </a:defRPr>
            </a:pPr>
            <a:r>
              <a:rPr sz="2700" b="1">
                <a:solidFill>
                  <a:srgbClr val="152238"/>
                </a:solidFill>
                <a:latin typeface="Georgia"/>
                <a:ea typeface="Georgia"/>
                <a:cs typeface="Georgia"/>
              </a:rPr>
              <a:t>Evaluation coverage and Q&amp;A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7FB42-1A33-4123-B0D8-87871267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2649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E27AE-5C46-4983-83D7-5C4CD423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62750"/>
            <a:ext cx="1264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61738A"/>
                </a:solidFill>
              </a:defRPr>
            </a:pPr>
            <a:r>
              <a:rPr sz="1088" b="0">
                <a:solidFill>
                  <a:srgbClr val="61738A"/>
                </a:solidFill>
                <a:latin typeface="Arial"/>
                <a:ea typeface="Arial"/>
                <a:cs typeface="Arial"/>
              </a:rPr>
              <a:t>SAP Retail Signal · Supporting detail for Q&amp;A · All financial forecasts are illustrative.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01B40-47D8-4A15-94E3-104C191B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58050"/>
            <a:ext cx="1264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41B16-452E-4182-961A-25DC0032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437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173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1738A"/>
                </a:solidFill>
              </a:defRPr>
            </a:pPr>
            <a:r>
              <a:rPr sz="1125" b="1">
                <a:solidFill>
                  <a:srgbClr val="61738A"/>
                </a:solidFill>
                <a:latin typeface="Arial"/>
                <a:ea typeface="Arial"/>
                <a:cs typeface="Arial"/>
              </a:rPr>
              <a:t>APPENDIX  /  Supporting evidence and calculations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F433B-038A-4F4B-B1D4-4D5662F6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72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RETAIL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622DD-7EB2-4275-8742-98214E51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35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029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0294D"/>
                </a:solidFill>
              </a:defRPr>
            </a:pPr>
            <a:r>
              <a:rPr sz="1125" b="1">
                <a:solidFill>
                  <a:srgbClr val="10294D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85656-EDE8-475D-88D7-11056744D3E7}"/>
              </a:ext>
            </a:extLst>
          </p:cNvPr>
          <p:cNvGraphicFramePr/>
          <p:nvPr/>
        </p:nvGraphicFramePr>
        <p:xfrm>
          <a:off xmlns:a="http://schemas.openxmlformats.org/drawingml/2006/main" x="533400" y="1571625"/>
          <a:ext xmlns:a="http://schemas.openxmlformats.org/drawingml/2006/main" cx="126492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41776"/>
                <a:gridCol w="1517904"/>
                <a:gridCol w="7589520"/>
              </a:tblGrid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Evaluation criterion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Where addressed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T w="7144">
                      <a:solidFill>
                        <a:srgbClr val="CCD6E2"/>
                      </a:solidFill>
                      <a:prstDash val="solid"/>
                    </a:lnT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10294D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Problem definition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Specific planner, current workflow, Bob before; pilot baseline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Product solution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Three parts, feature priorities, competitors and retailer economics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Prototype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Working website walkthrough; evidence → simulate → approve → receive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Implementation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12-week plan, resources, dependencies, risks and KPI gates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Stakeholder alignment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Decision rights, privacy, CFO cash gate, partner incentives and limits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Presentation / Q&amp;A</a:t>
                      </a:r>
                    </a:p>
                  </a:txBody>
                  <a:tcPr marL="142875" marR="142875" marT="66675" marB="66675" anchor="ctr">
                    <a:lnL w="7144">
                      <a:solidFill>
                        <a:srgbClr val="CCD6E2"/>
                      </a:solidFill>
                      <a:prstDash val="solid"/>
                    </a:lnL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238"/>
                          </a:solidFill>
                          <a:latin typeface="Arial"/>
                          <a:ea typeface="Arial"/>
                          <a:cs typeface="Arial"/>
                        </a:rPr>
                        <a:t>480-second main flow; financial formulas and sources in appendix</a:t>
                      </a:r>
                    </a:p>
                  </a:txBody>
                  <a:tcPr marL="142875" marR="142875" marT="66675" marB="66675" anchor="ctr">
                    <a:lnR w="7144">
                      <a:solidFill>
                        <a:srgbClr val="CCD6E2"/>
                      </a:solidFill>
                      <a:prstDash val="solid"/>
                    </a:lnR>
                    <a:lnB w="7144">
                      <a:solidFill>
                        <a:srgbClr val="CCD6E2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04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2026-10-25T08:38:34.5340000Z</dcterms:created>
  <dcterms:modified xsi:type="dcterms:W3CDTF">2026-10-25T08:38:34.5340000Z</dcterms:modified>
</coreProperties>
</file>