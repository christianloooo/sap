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49c6c72e184b21" /><Relationship Type="http://schemas.openxmlformats.org/officeDocument/2006/relationships/extended-properties" Target="/docProps/app.xml" Id="Rb084f87ecd6a4156" /><Relationship Type="http://schemas.openxmlformats.org/officeDocument/2006/relationships/officeDocument" Target="/ppt/presentation.xml" Id="Rb96fe5ff905e4662" /></Relationships>
</file>

<file path=ppt/presentation.xml><?xml version="1.0" encoding="utf-8"?>
<p:presentation xmlns:p="http://schemas.openxmlformats.org/presentationml/2006/main">
  <p:sldMasterIdLst>
    <p:sldMasterId xmlns:r="http://schemas.openxmlformats.org/officeDocument/2006/relationships" id="2147483648" r:id="R3255c4af5c7c4db5"/>
  </p:sldMasterIdLst>
  <p:notesMasterIdLst>
    <p:notesMasterId xmlns:r="http://schemas.openxmlformats.org/officeDocument/2006/relationships" r:id="R934454bea6164c72"/>
  </p:notesMasterIdLst>
  <p:sldIdLst>
    <p:sldId xmlns:r="http://schemas.openxmlformats.org/officeDocument/2006/relationships" id="256" r:id="R9c09f082922e4da7"/>
    <p:sldId xmlns:r="http://schemas.openxmlformats.org/officeDocument/2006/relationships" id="257" r:id="R6fe2593ec0dd41f8"/>
    <p:sldId xmlns:r="http://schemas.openxmlformats.org/officeDocument/2006/relationships" id="258" r:id="Rd81949e9d5f24913"/>
    <p:sldId xmlns:r="http://schemas.openxmlformats.org/officeDocument/2006/relationships" id="259" r:id="R023071e558bd42ed"/>
    <p:sldId xmlns:r="http://schemas.openxmlformats.org/officeDocument/2006/relationships" id="260" r:id="R29ec53a8f157451b"/>
    <p:sldId xmlns:r="http://schemas.openxmlformats.org/officeDocument/2006/relationships" id="261" r:id="R3250f0cc9aef463c"/>
    <p:sldId xmlns:r="http://schemas.openxmlformats.org/officeDocument/2006/relationships" id="262" r:id="Rea9a7d8172cd4a5e"/>
    <p:sldId xmlns:r="http://schemas.openxmlformats.org/officeDocument/2006/relationships" id="263" r:id="R131d0dfe8107413f"/>
    <p:sldId xmlns:r="http://schemas.openxmlformats.org/officeDocument/2006/relationships" id="264" r:id="Rbefe9c0369f34ba9"/>
    <p:sldId xmlns:r="http://schemas.openxmlformats.org/officeDocument/2006/relationships" id="265" r:id="R05a5eb19180e4d4e"/>
    <p:sldId xmlns:r="http://schemas.openxmlformats.org/officeDocument/2006/relationships" id="266" r:id="Rb515ff7f3b3d4ac9"/>
    <p:sldId xmlns:r="http://schemas.openxmlformats.org/officeDocument/2006/relationships" id="267" r:id="R6cc72e9504ff44a2"/>
    <p:sldId xmlns:r="http://schemas.openxmlformats.org/officeDocument/2006/relationships" id="268" r:id="R2f94e6d87ad14d0e"/>
    <p:sldId xmlns:r="http://schemas.openxmlformats.org/officeDocument/2006/relationships" id="269" r:id="R2d4da5c0128c4bc2"/>
    <p:sldId xmlns:r="http://schemas.openxmlformats.org/officeDocument/2006/relationships" id="270" r:id="Re579b9ec530c4ecb"/>
    <p:sldId xmlns:r="http://schemas.openxmlformats.org/officeDocument/2006/relationships" id="271" r:id="R2d94740636494246"/>
    <p:sldId xmlns:r="http://schemas.openxmlformats.org/officeDocument/2006/relationships" id="272" r:id="R9a22f197341b4387"/>
    <p:sldId xmlns:r="http://schemas.openxmlformats.org/officeDocument/2006/relationships" id="273" r:id="Re0fe256752fe4b1f"/>
    <p:sldId xmlns:r="http://schemas.openxmlformats.org/officeDocument/2006/relationships" id="274" r:id="Rcd543e673bb44196"/>
    <p:sldId xmlns:r="http://schemas.openxmlformats.org/officeDocument/2006/relationships" id="275" r:id="Rf5f58529c39148a3"/>
    <p:sldId xmlns:r="http://schemas.openxmlformats.org/officeDocument/2006/relationships" id="276" r:id="R1ce7e1bbecad4904"/>
    <p:sldId xmlns:r="http://schemas.openxmlformats.org/officeDocument/2006/relationships" id="277" r:id="R61e4a156593e43b9"/>
    <p:sldId xmlns:r="http://schemas.openxmlformats.org/officeDocument/2006/relationships" id="278" r:id="R0ce48991af6f4381"/>
    <p:sldId xmlns:r="http://schemas.openxmlformats.org/officeDocument/2006/relationships" id="279" r:id="R0ebb2da78d424a8e"/>
    <p:sldId xmlns:r="http://schemas.openxmlformats.org/officeDocument/2006/relationships" id="280" r:id="R93348dbd0bf64a60"/>
    <p:sldId xmlns:r="http://schemas.openxmlformats.org/officeDocument/2006/relationships" id="281" r:id="Rb03b785b4774478e"/>
    <p:sldId xmlns:r="http://schemas.openxmlformats.org/officeDocument/2006/relationships" id="282" r:id="Rceadd0716c59453b"/>
    <p:sldId xmlns:r="http://schemas.openxmlformats.org/officeDocument/2006/relationships" id="283" r:id="R8fea06242bfd485b"/>
    <p:sldId xmlns:r="http://schemas.openxmlformats.org/officeDocument/2006/relationships" id="284" r:id="Reedf3d258053444c"/>
    <p:sldId xmlns:r="http://schemas.openxmlformats.org/officeDocument/2006/relationships" id="285" r:id="R70ea7ba79a9d4222"/>
    <p:sldId xmlns:r="http://schemas.openxmlformats.org/officeDocument/2006/relationships" id="286" r:id="Rf730ba2c8c664872"/>
    <p:sldId xmlns:r="http://schemas.openxmlformats.org/officeDocument/2006/relationships" id="287" r:id="Rd4058b90c2124009"/>
    <p:sldId xmlns:r="http://schemas.openxmlformats.org/officeDocument/2006/relationships" id="288" r:id="Re21639510e2240b8"/>
    <p:sldId xmlns:r="http://schemas.openxmlformats.org/officeDocument/2006/relationships" id="289" r:id="Re9b4b8bbfb944106"/>
    <p:sldId xmlns:r="http://schemas.openxmlformats.org/officeDocument/2006/relationships" id="290" r:id="R35d3e3045fcb45b8"/>
    <p:sldId xmlns:r="http://schemas.openxmlformats.org/officeDocument/2006/relationships" id="291" r:id="Re62b2d2d660e4164"/>
    <p:sldId xmlns:r="http://schemas.openxmlformats.org/officeDocument/2006/relationships" id="292" r:id="R2d3919eaf4454b1a"/>
    <p:sldId xmlns:r="http://schemas.openxmlformats.org/officeDocument/2006/relationships" id="293" r:id="Rf43bb53efe1d464d"/>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9bf87225f848ee" /><Relationship Type="http://schemas.openxmlformats.org/officeDocument/2006/relationships/slideMaster" Target="/ppt/slideMasters/slideMaster1.xml" Id="R3255c4af5c7c4db5" /><Relationship Type="http://schemas.openxmlformats.org/officeDocument/2006/relationships/notesMaster" Target="/ppt/notesMasters/notesMaster1.xml" Id="R934454bea6164c72" /><Relationship Type="http://schemas.openxmlformats.org/officeDocument/2006/relationships/presProps" Target="/ppt/presProps.xml" Id="R9d3c94f8b54646a5" /><Relationship Type="http://schemas.openxmlformats.org/officeDocument/2006/relationships/tableStyles" Target="/ppt/tableStyles.xml" Id="R179584f11ddd4cc8" /><Relationship Type="http://schemas.openxmlformats.org/officeDocument/2006/relationships/slide" Target="/ppt/slides/slide1.xml" Id="R9c09f082922e4da7" /><Relationship Type="http://schemas.openxmlformats.org/officeDocument/2006/relationships/slide" Target="/ppt/slides/slide2.xml" Id="R6fe2593ec0dd41f8" /><Relationship Type="http://schemas.openxmlformats.org/officeDocument/2006/relationships/slide" Target="/ppt/slides/slide3.xml" Id="Rd81949e9d5f24913" /><Relationship Type="http://schemas.openxmlformats.org/officeDocument/2006/relationships/slide" Target="/ppt/slides/slide4.xml" Id="R023071e558bd42ed" /><Relationship Type="http://schemas.openxmlformats.org/officeDocument/2006/relationships/slide" Target="/ppt/slides/slide5.xml" Id="R29ec53a8f157451b" /><Relationship Type="http://schemas.openxmlformats.org/officeDocument/2006/relationships/slide" Target="/ppt/slides/slide6.xml" Id="R3250f0cc9aef463c" /><Relationship Type="http://schemas.openxmlformats.org/officeDocument/2006/relationships/slide" Target="/ppt/slides/slide7.xml" Id="Rea9a7d8172cd4a5e" /><Relationship Type="http://schemas.openxmlformats.org/officeDocument/2006/relationships/slide" Target="/ppt/slides/slide8.xml" Id="R131d0dfe8107413f" /><Relationship Type="http://schemas.openxmlformats.org/officeDocument/2006/relationships/slide" Target="/ppt/slides/slide9.xml" Id="Rbefe9c0369f34ba9" /><Relationship Type="http://schemas.openxmlformats.org/officeDocument/2006/relationships/slide" Target="/ppt/slides/slide10.xml" Id="R05a5eb19180e4d4e" /><Relationship Type="http://schemas.openxmlformats.org/officeDocument/2006/relationships/slide" Target="/ppt/slides/slide11.xml" Id="Rb515ff7f3b3d4ac9" /><Relationship Type="http://schemas.openxmlformats.org/officeDocument/2006/relationships/slide" Target="/ppt/slides/slide12.xml" Id="R6cc72e9504ff44a2" /><Relationship Type="http://schemas.openxmlformats.org/officeDocument/2006/relationships/slide" Target="/ppt/slides/slide13.xml" Id="R2f94e6d87ad14d0e" /><Relationship Type="http://schemas.openxmlformats.org/officeDocument/2006/relationships/slide" Target="/ppt/slides/slide14.xml" Id="R2d4da5c0128c4bc2" /><Relationship Type="http://schemas.openxmlformats.org/officeDocument/2006/relationships/slide" Target="/ppt/slides/slide15.xml" Id="Re579b9ec530c4ecb" /><Relationship Type="http://schemas.openxmlformats.org/officeDocument/2006/relationships/slide" Target="/ppt/slides/slide16.xml" Id="R2d94740636494246" /><Relationship Type="http://schemas.openxmlformats.org/officeDocument/2006/relationships/slide" Target="/ppt/slides/slide17.xml" Id="R9a22f197341b4387" /><Relationship Type="http://schemas.openxmlformats.org/officeDocument/2006/relationships/slide" Target="/ppt/slides/slide18.xml" Id="Re0fe256752fe4b1f" /><Relationship Type="http://schemas.openxmlformats.org/officeDocument/2006/relationships/slide" Target="/ppt/slides/slide19.xml" Id="Rcd543e673bb44196" /><Relationship Type="http://schemas.openxmlformats.org/officeDocument/2006/relationships/slide" Target="/ppt/slides/slide20.xml" Id="Rf5f58529c39148a3" /><Relationship Type="http://schemas.openxmlformats.org/officeDocument/2006/relationships/slide" Target="/ppt/slides/slide21.xml" Id="R1ce7e1bbecad4904" /><Relationship Type="http://schemas.openxmlformats.org/officeDocument/2006/relationships/slide" Target="/ppt/slides/slide22.xml" Id="R61e4a156593e43b9" /><Relationship Type="http://schemas.openxmlformats.org/officeDocument/2006/relationships/slide" Target="/ppt/slides/slide23.xml" Id="R0ce48991af6f4381" /><Relationship Type="http://schemas.openxmlformats.org/officeDocument/2006/relationships/slide" Target="/ppt/slides/slide24.xml" Id="R0ebb2da78d424a8e" /><Relationship Type="http://schemas.openxmlformats.org/officeDocument/2006/relationships/slide" Target="/ppt/slides/slide25.xml" Id="R93348dbd0bf64a60" /><Relationship Type="http://schemas.openxmlformats.org/officeDocument/2006/relationships/slide" Target="/ppt/slides/slide26.xml" Id="Rb03b785b4774478e" /><Relationship Type="http://schemas.openxmlformats.org/officeDocument/2006/relationships/slide" Target="/ppt/slides/slide27.xml" Id="Rceadd0716c59453b" /><Relationship Type="http://schemas.openxmlformats.org/officeDocument/2006/relationships/slide" Target="/ppt/slides/slide28.xml" Id="R8fea06242bfd485b" /><Relationship Type="http://schemas.openxmlformats.org/officeDocument/2006/relationships/slide" Target="/ppt/slides/slide29.xml" Id="Reedf3d258053444c" /><Relationship Type="http://schemas.openxmlformats.org/officeDocument/2006/relationships/slide" Target="/ppt/slides/slide30.xml" Id="R70ea7ba79a9d4222" /><Relationship Type="http://schemas.openxmlformats.org/officeDocument/2006/relationships/slide" Target="/ppt/slides/slide31.xml" Id="Rf730ba2c8c664872" /><Relationship Type="http://schemas.openxmlformats.org/officeDocument/2006/relationships/slide" Target="/ppt/slides/slide32.xml" Id="Rd4058b90c2124009" /><Relationship Type="http://schemas.openxmlformats.org/officeDocument/2006/relationships/slide" Target="/ppt/slides/slide33.xml" Id="Re21639510e2240b8" /><Relationship Type="http://schemas.openxmlformats.org/officeDocument/2006/relationships/slide" Target="/ppt/slides/slide34.xml" Id="Re9b4b8bbfb944106" /><Relationship Type="http://schemas.openxmlformats.org/officeDocument/2006/relationships/slide" Target="/ppt/slides/slide35.xml" Id="R35d3e3045fcb45b8" /><Relationship Type="http://schemas.openxmlformats.org/officeDocument/2006/relationships/slide" Target="/ppt/slides/slide36.xml" Id="Re62b2d2d660e4164" /><Relationship Type="http://schemas.openxmlformats.org/officeDocument/2006/relationships/slide" Target="/ppt/slides/slide37.xml" Id="R2d3919eaf4454b1a" /><Relationship Type="http://schemas.openxmlformats.org/officeDocument/2006/relationships/slide" Target="/ppt/slides/slide38.xml" Id="Rf43bb53efe1d46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057bc87c354b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22df89ca1945c1" /><Relationship Type="http://schemas.openxmlformats.org/officeDocument/2006/relationships/notesMaster" Target="/ppt/notesMasters/notesMaster1.xml" Id="R39bb9ea1740147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dda02d1d434a82" /><Relationship Type="http://schemas.openxmlformats.org/officeDocument/2006/relationships/notesMaster" Target="/ppt/notesMasters/notesMaster1.xml" Id="Rf8747e7db3d141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becc50beac4ffa" /><Relationship Type="http://schemas.openxmlformats.org/officeDocument/2006/relationships/notesMaster" Target="/ppt/notesMasters/notesMaster1.xml" Id="Rbd833f662d62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7009cb7c6b467e" /><Relationship Type="http://schemas.openxmlformats.org/officeDocument/2006/relationships/notesMaster" Target="/ppt/notesMasters/notesMaster1.xml" Id="R2e28f5ff208647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458f40222d4972" /><Relationship Type="http://schemas.openxmlformats.org/officeDocument/2006/relationships/notesMaster" Target="/ppt/notesMasters/notesMaster1.xml" Id="R66f9d24ac43a4f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f3ffba3d674beb" /><Relationship Type="http://schemas.openxmlformats.org/officeDocument/2006/relationships/notesMaster" Target="/ppt/notesMasters/notesMaster1.xml" Id="R22bdf0bbab0c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15d65703fe4573" /><Relationship Type="http://schemas.openxmlformats.org/officeDocument/2006/relationships/notesMaster" Target="/ppt/notesMasters/notesMaster1.xml" Id="R246de73654f640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90d967b06d4409" /><Relationship Type="http://schemas.openxmlformats.org/officeDocument/2006/relationships/notesMaster" Target="/ppt/notesMasters/notesMaster1.xml" Id="R2c5daec3b62f44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e11b81d87342bb" /><Relationship Type="http://schemas.openxmlformats.org/officeDocument/2006/relationships/notesMaster" Target="/ppt/notesMasters/notesMaster1.xml" Id="R164cf1296e2548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5f5254fa96408a" /><Relationship Type="http://schemas.openxmlformats.org/officeDocument/2006/relationships/notesMaster" Target="/ppt/notesMasters/notesMaster1.xml" Id="Ra141cc02b36c40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34a32b6c454496" /><Relationship Type="http://schemas.openxmlformats.org/officeDocument/2006/relationships/notesMaster" Target="/ppt/notesMasters/notesMaster1.xml" Id="Rbe2d055306204f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90c311279e4f6d" /><Relationship Type="http://schemas.openxmlformats.org/officeDocument/2006/relationships/notesMaster" Target="/ppt/notesMasters/notesMaster1.xml" Id="R266a560a77314b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2af2006b9c4616" /><Relationship Type="http://schemas.openxmlformats.org/officeDocument/2006/relationships/notesMaster" Target="/ppt/notesMasters/notesMaster1.xml" Id="Rdd541f9ab75b44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2c9b35a1004105" /><Relationship Type="http://schemas.openxmlformats.org/officeDocument/2006/relationships/notesMaster" Target="/ppt/notesMasters/notesMaster1.xml" Id="R80f31417b1c842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90ba6025624c85" /><Relationship Type="http://schemas.openxmlformats.org/officeDocument/2006/relationships/notesMaster" Target="/ppt/notesMasters/notesMaster1.xml" Id="Rb2717298042c46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36d107b9a94dd5" /><Relationship Type="http://schemas.openxmlformats.org/officeDocument/2006/relationships/notesMaster" Target="/ppt/notesMasters/notesMaster1.xml" Id="Re5e5e15a663349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638b20213f4e56" /><Relationship Type="http://schemas.openxmlformats.org/officeDocument/2006/relationships/notesMaster" Target="/ppt/notesMasters/notesMaster1.xml" Id="R42bd33d2559c43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a5d7e5e49e74da1" /><Relationship Type="http://schemas.openxmlformats.org/officeDocument/2006/relationships/notesMaster" Target="/ppt/notesMasters/notesMaster1.xml" Id="R7c19f5ea456640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491805e9beb43a2" /><Relationship Type="http://schemas.openxmlformats.org/officeDocument/2006/relationships/notesMaster" Target="/ppt/notesMasters/notesMaster1.xml" Id="R61c986d5c7d84c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68e2b0f98e438f" /><Relationship Type="http://schemas.openxmlformats.org/officeDocument/2006/relationships/notesMaster" Target="/ppt/notesMasters/notesMaster1.xml" Id="R80f9209407a84d5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335fa8cc9a4e8e" /><Relationship Type="http://schemas.openxmlformats.org/officeDocument/2006/relationships/notesMaster" Target="/ppt/notesMasters/notesMaster1.xml" Id="R876440a2fda344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e3d4eacdb34f7d" /><Relationship Type="http://schemas.openxmlformats.org/officeDocument/2006/relationships/notesMaster" Target="/ppt/notesMasters/notesMaster1.xml" Id="Rc9dba2d3ba114ce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be89ff73f64343" /><Relationship Type="http://schemas.openxmlformats.org/officeDocument/2006/relationships/notesMaster" Target="/ppt/notesMasters/notesMaster1.xml" Id="R92b06a7a88b947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046720778c45b5" /><Relationship Type="http://schemas.openxmlformats.org/officeDocument/2006/relationships/notesMaster" Target="/ppt/notesMasters/notesMaster1.xml" Id="Rb58ec190586445d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384592aea3434d" /><Relationship Type="http://schemas.openxmlformats.org/officeDocument/2006/relationships/notesMaster" Target="/ppt/notesMasters/notesMaster1.xml" Id="R05ae95192496419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b8c036a66b458e" /><Relationship Type="http://schemas.openxmlformats.org/officeDocument/2006/relationships/notesMaster" Target="/ppt/notesMasters/notesMaster1.xml" Id="R6a8980f1c9d4452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e35436e44974519" /><Relationship Type="http://schemas.openxmlformats.org/officeDocument/2006/relationships/notesMaster" Target="/ppt/notesMasters/notesMaster1.xml" Id="R70167574cc344d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696d26b765449e" /><Relationship Type="http://schemas.openxmlformats.org/officeDocument/2006/relationships/notesMaster" Target="/ppt/notesMasters/notesMaster1.xml" Id="Rc190ce90bcf144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ee0b0aead34dee" /><Relationship Type="http://schemas.openxmlformats.org/officeDocument/2006/relationships/notesMaster" Target="/ppt/notesMasters/notesMaster1.xml" Id="Re07f6c900ba749d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9eded3e931442d" /><Relationship Type="http://schemas.openxmlformats.org/officeDocument/2006/relationships/notesMaster" Target="/ppt/notesMasters/notesMaster1.xml" Id="R6a61d1866431449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50a7224fc2c4aec" /><Relationship Type="http://schemas.openxmlformats.org/officeDocument/2006/relationships/notesMaster" Target="/ppt/notesMasters/notesMaster1.xml" Id="Re1d4c1571b1e40d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bcaf31a100f4df6" /><Relationship Type="http://schemas.openxmlformats.org/officeDocument/2006/relationships/notesMaster" Target="/ppt/notesMasters/notesMaster1.xml" Id="R3993c422b7384f4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c172964a2404bc4" /><Relationship Type="http://schemas.openxmlformats.org/officeDocument/2006/relationships/notesMaster" Target="/ppt/notesMasters/notesMaster1.xml" Id="Rfcf2cef8f35947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1f493c8fe1b430c" /><Relationship Type="http://schemas.openxmlformats.org/officeDocument/2006/relationships/notesMaster" Target="/ppt/notesMasters/notesMaster1.xml" Id="R64a9b8552bf84cf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79d705f7f32494c" /><Relationship Type="http://schemas.openxmlformats.org/officeDocument/2006/relationships/notesMaster" Target="/ppt/notesMasters/notesMaster1.xml" Id="R3925c773b3c34d1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13d06415c0d4b13" /><Relationship Type="http://schemas.openxmlformats.org/officeDocument/2006/relationships/notesMaster" Target="/ppt/notesMasters/notesMaster1.xml" Id="Red37267ea38246d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76a541171294d6f" /><Relationship Type="http://schemas.openxmlformats.org/officeDocument/2006/relationships/notesMaster" Target="/ppt/notesMasters/notesMaster1.xml" Id="R6bbe490f7b4d4b1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f51441ae4c2417e" /><Relationship Type="http://schemas.openxmlformats.org/officeDocument/2006/relationships/notesMaster" Target="/ppt/notesMasters/notesMaster1.xml" Id="R9391b622c1bf4f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Open with the case: how can SAP close the gap between a demand shift and a business response?</a:t>
            </a:r>
          </a:p>
          <a:p xmlns:a="http://schemas.openxmlformats.org/drawingml/2006/main">
            <a:r>
              <a:t>- Focus on apparel merchandise planners. Sales record completed purchases; missed interest can disappear before the next planning cycle.</a:t>
            </a:r>
          </a:p>
          <a:p xmlns:a="http://schemas.openxmlformats.org/drawingml/2006/main">
            <a:r>
              <a:t>- Our answer is one product, SAP Retail Signal, with three connected parts.</a:t>
            </a:r>
          </a:p>
          <a:p xmlns:a="http://schemas.openxmlformats.org/drawingml/2006/main">
            <a:r>
              <a:t>- Sources: Product+ 2026 Case Package, pp. 3–5; Launchpad report, pp. 2–4.</a:t>
            </a:r>
          </a:p>
          <a:p xmlns:a="http://schemas.openxmlformats.org/drawingml/2006/main">
            <a:r>
              <a:t>Complete source content: {"n":1,"title":"Demand shifts before retailers can respond","eyebrow":"PROBLEM STATEMENT","type":"hero","seconds":20,"lead":"SAP Retail Signal","body":"One product connects early customer intent with a decision the business can carry out.","big":"The response gap","sub":"Apparel merchandisers see transactions. They need to see missed demand and act while it still matters.","foot":"Plus One Braincell · Team 463980 · Product+ 2026 · Competition concept","notes":"- 20 seconds. Open with the case: how can SAP close the gap between a demand shift and a business response?\n- Focus on apparel merchandise planners. Sales record completed purchases; missed interest can disappear before the next planning cycle.\n- Our answer is one product, SAP Retail Signal, with three connected parts.\n- Sources: Product+ 2026 Case Package, pp. 3–5; Launchpad report, pp. 2–4."}</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Cover image: AI-generated apparel store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SAP spans finance, procurement, supply chain and customer experience. Existing customers offer an initial route to market.</a:t>
            </a:r>
          </a:p>
          <a:p xmlns:a="http://schemas.openxmlformats.org/drawingml/2006/main">
            <a:r>
              <a:t>- These counts are different scopes; they cannot be added together.</a:t>
            </a:r>
          </a:p>
          <a:p xmlns:a="http://schemas.openxmlformats.org/drawingml/2006/main">
            <a:r>
              <a:t>- Sources: supplied case, p. 3; https://www.sap.com/engage/future-of-retail.html (accessed 25 Oct 2026).</a:t>
            </a:r>
          </a:p>
          <a:p xmlns:a="http://schemas.openxmlformats.org/drawingml/2006/main">
            <a:r>
              <a:t>Complete source content: {"n":2,"title":"SAP already supports the retailer’s core business","eyebrow":"COMPANY OVERVIEW","type":"stats","seconds":10,"stats":[["440,000+","enterprise customers","Case-package baseline"],["180","countries","Case-package baseline"],["14,000+","retail customers","SAP Future of Retail"]],"body":"Retail Signal would extend existing transaction, commerce and planning systems with early demand evidence and a shared response workflow.","foot":"Customer counts describe SAP’s broader footprint, not the addressable apparel market.","notes":"- 12 seconds. SAP spans finance, procurement, supply chain and customer experience. Existing customers offer an initial route to market.\n- These counts are different scopes; they cannot be added together.\n- Sources: supplied case, p. 3; https://www.sap.com/engage/future-of-retail.html (accessed 25 Oct 2026)."}</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Today’s workflow can involve sales reports, separate website analytics and supplier emails before a planner reconciles stock.</a:t>
            </a:r>
          </a:p>
          <a:p xmlns:a="http://schemas.openxmlformats.org/drawingml/2006/main">
            <a:r>
              <a:t>- The case establishes fragmented data and time pressure; it does not quantify the delay. We will measure that baseline.</a:t>
            </a:r>
          </a:p>
          <a:p xmlns:a="http://schemas.openxmlformats.org/drawingml/2006/main">
            <a:r>
              <a:t>- Sources: case, p. 4; Launchpad, recommendations 1–3.</a:t>
            </a:r>
          </a:p>
          <a:p xmlns:a="http://schemas.openxmlformats.org/drawingml/2006/main">
            <a:r>
              <a:t>Complete source content: {"n":3,"title":"Three gaps delay the same decision","eyebrow":"KEY ISSUES","type":"rows","seconds":20,"rows":[["01","Interest is invisible","Store teams see what sold, but not which sizes were tried and left behind."],["02","Unmet online demand disappears","Searching an unavailable size can end without a sale or a restock request."],["03","Supply risk arrives without context","A price or delivery change needs to be traced to affected products, stores and margins."]],"foot":"Case-based problem hypothesis. Validate the frequency and cost through planner interviews and a pilot.","notes":"- 20 seconds. Today’s workflow can involve sales reports, separate website analytics and supplier emails before a planner reconciles stock.\n- The case establishes fragmented data and time pressure; it does not quantify the delay. We will measure that baseline.\n- Sources: case, p. 4; Launchpad, recommendations 1–3."}</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Bob is accountable for availability, but he must reconstruct the situation across teams.</a:t>
            </a:r>
          </a:p>
          <a:p xmlns:a="http://schemas.openxmlformats.org/drawingml/2006/main">
            <a:r>
              <a:t>- This is a persona scenario, not a customer interview or measured time study.</a:t>
            </a:r>
          </a:p>
          <a:p xmlns:a="http://schemas.openxmlformats.org/drawingml/2006/main">
            <a:r>
              <a:t>- The 80-unit seven-day demand scenario leaves a 72-unit gap after 8 on hand. Low conversion does not establish a fit problem.</a:t>
            </a:r>
          </a:p>
          <a:p xmlns:a="http://schemas.openxmlformats.org/drawingml/2006/main">
            <a:r>
              <a:t>- Sources: current Retail Signal prototype; Launchpad report, pp. 3–4.</a:t>
            </a:r>
          </a:p>
          <a:p xmlns:a="http://schemas.openxmlformats.org/drawingml/2006/main">
            <a:r>
              <a:t>Complete source content: {"n":4,"title":"Meet Bob, before Retail Signal","eyebrow":"PART 1 · CUSTOMER STORY","type":"bob","seconds":25,"lead":"Bob","sub":"Regional merchandise planner\nFictional 100-store apparel retailer","rows":[["9:00","Sales look ordinary","The cream medium top has only 8 units left in Vancouver."],["10:30","The signals live elsewhere","240 try-ons, 43 purchases and 162 out-of-stock sessions are not in his sales report."],["Later","The replenishment misses the window","The primary supplier needs 21 days; Bob still has to locate transferable stock."]],"foot":"Bob is a fictional persona. Product, supplier and location figures are seeded demo records.","notes":"- 25 seconds. Bob is accountable for availability, but he must reconstruct the situation across teams.\n- This is a persona scenario, not a customer interview or measured time study.\n- The 80-unit seven-day demand scenario leaves a 72-unit gap after 8 on hand. Low conversion does not establish a fit problem.\n- Sources: current Retail Signal prototype; Launchpad report, pp. 3–4."}</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Bob portrait: AI-generated illustration of a fictional customer persona.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- 90 seconds. Play the recommendation walkthrough on this slide, or open the supplied MP4.</a:t>
            </a:r>
          </a:p>
          <a:p xmlns:a="http://schemas.openxmlformats.org/drawingml/2006/main">
            <a:r>
              <a:t>- The video demonstrates all three parts of one product. It uses real captures of our working website.</a:t>
            </a:r>
          </a:p>
          <a:p xmlns:a="http://schemas.openxmlformats.org/drawingml/2006/main">
            <a:r>
              <a:t>- Part 1: compare 240 try-ons with 43 purchases, then investigate availability, fit or price instead of guessing the cause.</a:t>
            </a:r>
          </a:p>
          <a:p xmlns:a="http://schemas.openxmlformats.org/drawingml/2006/main">
            <a:r>
              <a:t>- Part 2: 162 qualified out-of-stock sessions × assumed 15% conversion, rounded down, gives 24 scenario units for Online West. These are not confirmed orders.</a:t>
            </a:r>
          </a:p>
          <a:p xmlns:a="http://schemas.openxmlformats.org/drawingml/2006/main">
            <a:r>
              <a:t>- Part 3: inspect material rates, apply a gas shortage and ask the assistant to explain added costs and margin effects. Then compare immediate stock transfer with later supplier replenishment.</a:t>
            </a:r>
          </a:p>
          <a:p xmlns:a="http://schemas.openxmlformats.org/drawingml/2006/main">
            <a:r>
              <a:t>- No live RFID, retailer analytics, SAP tenant or SAP Joule service is connected.</a:t>
            </a:r>
          </a:p>
          <a:p xmlns:a="http://schemas.openxmlformats.org/drawingml/2006/main">
            <a:r>
              <a:t>Complete source content: {"n":5,"title":"One product, three connected parts","eyebrow":"RECOMMENDATION DEMO · 90 SECONDS","type":"video","seconds":90,"lead":"SAP Retail Signal","rows":[["1","Smart Fitting-Room Demand Signals","Reveal interest before purchase."],["2","Out-of-Stock Demand Tracker","Qualify demand for unavailable sizes."],["3","Supply-Chain Risk and Response View","Explain exposure and compare a response."]],"foot":"Working website with seeded records. Joule-inspired explanations and SAP execution are simulated.","notes":"- 90 seconds. Play the recommendation walkthrough on this slide, or open the supplied MP4.\n- The video demonstrates all three parts of one product. It uses real captures of our working website.\n- Part 1: compare 240 try-ons with 43 purchases, then investigate availability, fit or price instead of guessing the cause.\n- Part 2: 162 qualified out-of-stock sessions × assumed 15% conversion, rounded down, gives 24 scenario units for Online West. These are not confirmed orders.\n- Part 3: inspect material rates, apply a gas shortage and ask the assistant to explain added costs and margin effects. Then compare immediate stock transfer with later supplier replenishment.\n- No live RFID, retailer analytics, SAP tenant or SAP Joule service is connected."}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Recommendation 1 needs specialist hardware rather than SAP manufacturing its own readers. Use Zebra readers, Avery Dennison tags and regional distribution.</a:t>
            </a:r>
          </a:p>
          <a:p xmlns:a="http://schemas.openxmlformats.org/drawingml/2006/main">
            <a:r>
              <a:t>- Radio-frequency identification, or RFID, identifies tagged garments using radio waves. Room-zone calibration is essential to avoid counting adjacent racks.</a:t>
            </a:r>
          </a:p>
          <a:p xmlns:a="http://schemas.openxmlformats.org/drawingml/2006/main">
            <a:r>
              <a:t>- Start with already tagged assortments; tag economics for new assortments are excluded from the base quote and must be priced.</a:t>
            </a:r>
          </a:p>
          <a:p xmlns:a="http://schemas.openxmlformats.org/drawingml/2006/main">
            <a:r>
              <a:t>- Capability sources: https://www.zebra.com/us/en/products/rfid/rfid-readers.html ; https://rfid.averydennison.com/en/home/industry-segments/retail/apparel-and-fashion.html ; https://careers.ingrammicro.com/en/locations/ ; https://www.tdsynnex.com/us/en/where-we-are.html ; https://redingtongroup.com/about-us/global-presence/ . All accessed 25 Oct 2026.</a:t>
            </a:r>
          </a:p>
          <a:p xmlns:a="http://schemas.openxmlformats.org/drawingml/2006/main">
            <a:r>
              <a:t>Complete source content: {"n":6,"title":"Hardware partners and regional delivery","eyebrow":"PART 1 · PROPOSED PARTNER MODEL","type":"partner","seconds":20,"lead":"Build with specialist hardware providers","body":"Zebra: fixed RFID readers and antennas\nAvery Dennison: garment RFID tags and inlays","table":[["Region","Proposed distribution lead","Deployment"],["North America","Ingram Micro","Local RFID integrators"],["Latin America","Ingram Micro","Country-qualified integrators"],["Europe","TD SYNNEX","Local RFID integrators"],["Asia Pacific / Japan","TD SYNNEX","Local RFID integrators"],["India / Middle East / Africa","Redington","Local RFID integrators"]],"foot":"Proposed partners, not signed agreements. Availability, product authorization and RF certification require country-level checks.","notes":"- 20 seconds. Recommendation 1 needs specialist hardware rather than SAP manufacturing its own readers. Use Zebra readers, Avery Dennison tags and regional distribution.\n- Radio-frequency identification, or RFID, identifies tagged garments using radio waves. Room-zone calibration is essential to avoid counting adjacent racks.\n- Start with already tagged assortments; tag economics for new assortments are excluded from the base quote and must be priced.\n- Capability sources: https://www.zebra.com/us/en/products/rfid/rfid-readers.html ; https://rfid.averydennison.com/en/home/industry-segments/retail/apparel-and-fashion.html ; https://careers.ingrammicro.com/en/locations/ ; https://www.tdsynnex.com/us/en/where-we-are.html ; https://redingtongroup.com/about-us/global-presence/ . All accessed 25 Oct 2026."}</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Illustrative AI-generated garment RFID photo. It does not depict a specific Zebra or Avery Dennison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Bob can evaluate a 40-unit transfer at a modeled cost of 60 dollars.</a:t>
            </a:r>
          </a:p>
          <a:p xmlns:a="http://schemas.openxmlformats.org/drawingml/2006/main">
            <a:r>
              <a:t>- Coverage rises from 8 of 80 to 48 of 80. Thirty-two units remain uncovered: the tool makes the residual problem visible.</a:t>
            </a:r>
          </a:p>
          <a:p xmlns:a="http://schemas.openxmlformats.org/drawingml/2006/main">
            <a:r>
              <a:t>- Approval does not create inventory. Goods issue moves stock into transit; goods receipt adds destination sellable stock.</a:t>
            </a:r>
          </a:p>
          <a:p xmlns:a="http://schemas.openxmlformats.org/drawingml/2006/main">
            <a:r>
              <a:t>- Source: prototype seeded transfer scenario, ERT-CRM-M.</a:t>
            </a:r>
          </a:p>
          <a:p xmlns:a="http://schemas.openxmlformats.org/drawingml/2006/main">
            <a:r>
              <a:t>Complete source content: {"n":7,"title":"Meet Bob, with a response he can explain","eyebrow":"PART 2 · CUSTOMER STORY","type":"after","seconds":20,"big":"10% → 60%","sub":"Seven-day coverage in the transfer scenario","rows":[["See","One evidence trail","Try-ons, online interest, available inventory and supplier lead time share product and location context."],["Decide","Compare 40 units at CAD 60 transfer cost","Protect Burnaby’s 36-unit reserve; the nine-day alternative is too late for this seven-day window."],["Act","Approve, dispatch and confirm receipt","Only goods receipt makes the 40 transferred units sellable in Vancouver."]],"foot":"Simulation: 8 current units + 40 transfer units = 48 of 80 scenario units covered. Sales recovery is unproven.","notes":"- 20 seconds. Bob can evaluate a 40-unit transfer at a modeled cost of 60 dollars.\n- Coverage rises from 8 of 80 to 48 of 80. Thirty-two units remain uncovered: the tool makes the residual problem visible.\n- Approval does not create inventory. Goods issue moves stock into transit; goods receipt adds destination sellable stock.\n- Source: prototype seeded transfer scenario, ERT-CRM-M."}</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Total addressable market, TAM, is modeled annual software spend. SAM narrows that to chains we could initially serve. SOM is the share we aim to win; 150 accounts is an ambitious scenario, not a forecast.</a:t>
            </a:r>
          </a:p>
          <a:p xmlns:a="http://schemas.openxmlformats.org/drawingml/2006/main">
            <a:r>
              <a:t>- We use a 100-store reference contract. A real account list and willingness-to-pay interviews are needed before funding scale.</a:t>
            </a:r>
          </a:p>
          <a:p xmlns:a="http://schemas.openxmlformats.org/drawingml/2006/main">
            <a:r>
              <a:t>- Context: the Launchpad cites US$957B fashion e-commerce in 2026; Shopify corroborates a US$957.31B Statista projection. Consumer sales are not software TAM.</a:t>
            </a:r>
          </a:p>
          <a:p xmlns:a="http://schemas.openxmlformats.org/drawingml/2006/main">
            <a:r>
              <a:t>- Source: https://www.shopify.com/uk/enterprise/blog/ecommerce-fashion-industry ; SAP retail footprint source on slide 2.</a:t>
            </a:r>
          </a:p>
          <a:p xmlns:a="http://schemas.openxmlformats.org/drawingml/2006/main">
            <a:r>
              <a:t>Complete source content: {"n":8,"title":"The first buyers are SAP-connected apparel chains","eyebrow":"MARKET RESEARCH","type":"market","seconds":20,"body":"Primary users: merchandise and inventory planners\nEconomic buyer: COO / merchandising leader, with CFO approval\nFirst segment: 50–250 stores, online sales and reliable SKU-level stock","stats":[["CAD 1.40B","Illustrative TAM","4,000 eligible chains × CAD 350k/year"],["CAD 175M","Illustrative SAM","500 initial serviceable chains × CAD 350k/year"],["CAD 52.5M","Year-3 ending ARR target","150 customers × CAD 350k/year"]],"foot":"Account counts and contract values are planning assumptions, not verified market counts. 150 customers is 30% of the modeled SAM.","notes":"- 20 seconds. Total addressable market, TAM, is modeled annual software spend. SAM narrows that to chains we could initially serve. SOM is the share we aim to win; 150 accounts is an ambitious scenario, not a forecast.\n- We use a 100-store reference contract. A real account list and willingness-to-pay interviews are needed before funding scale.\n- Context: the Launchpad cites US$957B fashion e-commerce in 2026; Shopify corroborates a US$957.31B Statista projection. Consumer sales are not software TAM.\n- Source: https://www.shopify.com/uk/enterprise/blog/ecommerce-fashion-industry ; SAP retail footprint source on slide 2."}</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Shopper image: AI-generated illustrative retail scene.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RFID fitting-room insight and AI inventory planning already exist. We are not claiming to invent these categories or to have features competitors lack.</a:t>
            </a:r>
          </a:p>
          <a:p xmlns:a="http://schemas.openxmlformats.org/drawingml/2006/main">
            <a:r>
              <a:t>- The case for Retail Signal is a focused experience joining early intent with SAP operational decisions. If an existing SAP deployment already solves the workflow, extend it instead of selling duplicate software.</a:t>
            </a:r>
          </a:p>
          <a:p xmlns:a="http://schemas.openxmlformats.org/drawingml/2006/main">
            <a:r>
              <a:t>- Sources: https://www.sensormatic.com/de_de/TrueVUE-Inventory-Intel/TrueVUE-Fitting-Room ; https://www.oracle.com/retail/ ; https://blueyonder.com/solutions/retail-planning ; https://www.sap.com/products/scm/integrated-business-planning.html ; https://www.sap.com/products/crm/customer-activity-repository.html .</a:t>
            </a:r>
          </a:p>
          <a:p xmlns:a="http://schemas.openxmlformats.org/drawingml/2006/main">
            <a:r>
              <a:t>Complete source content: {"n":9,"title":"Competitors validate the need; integration decides the fit","eyebrow":"COMPETITOR ANALYSIS","type":"table","seconds":20,"table":[["Alternative","Established strength","Retail Signal’s proposed fit"],["Sensormatic TrueVUE","RFID inventory and fitting-room insight","Use equivalent event inputs in a wider decision workflow."],["Oracle Retail","Connected merchandising, inventory and AI planning","Focus on retailers whose execution already runs on SAP."],["Blue Yonder","Retail planning, scenarios and network intelligence","Bring early intent to a concise SAP approval workflow."],["Existing SAP IBP / CAR","Demand planning and retail transaction context","Extend these products; reuse their planning and data services."]],"foot":"Qualitative positioning from public vendor descriptions. Competitors are commercial offerings; Retail Signal is a prototype.","notes":"- 20 seconds. RFID fitting-room insight and AI inventory planning already exist. We are not claiming to invent these categories or to have features competitors lack.\n- The case for Retail Signal is a focused experience joining early intent with SAP operational decisions. If an existing SAP deployment already solves the workflow, extend it instead of selling duplicate software.\n- Sources: https://www.sensormatic.com/de_de/TrueVUE-Inventory-Intel/TrueVUE-Fitting-Room ; https://www.oracle.com/retail/ ; https://blueyonder.com/solutions/retail-planning ; https://www.sap.com/products/scm/integrated-business-planning.html ; https://www.sap.com/products/crm/customer-activity-repository.html ."}</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Like an ecosystem of compatible devices, SAP’s appeal is that another tool can work with systems the retailer already uses. This still requires integration work and licensing.</a:t>
            </a:r>
          </a:p>
          <a:p xmlns:a="http://schemas.openxmlformats.org/drawingml/2006/main">
            <a:r>
              <a:t>- Our data advantage is business context, not unrestricted access to every customer’s records. Customer data use for AI improvement is governed by service agreements; new development can require additional consent. External model providers do not receive training rights by default.</a:t>
            </a:r>
          </a:p>
          <a:p xmlns:a="http://schemas.openxmlformats.org/drawingml/2006/main">
            <a:r>
              <a:t>- Sources: SAP Integration Suite https://www.sap.com/products/technology-platform/integration-suite.html ; SAP responsible AI https://www.sap.com/products/artificial-intelligence/ai-ethics.html ; https://learning.sap.com/courses/building-confidence-in-ai-with-sap/does-ai-train-on-my-data .</a:t>
            </a:r>
          </a:p>
          <a:p xmlns:a="http://schemas.openxmlformats.org/drawingml/2006/main">
            <a:r>
              <a:t>Complete source content: {"n":10,"title":"SAP’s ecosystem can shorten the path to action","eyebrow":"COMPETITIVE ADVANTAGE","type":"ecosystem","seconds":20,"rows":[["Connected execution","S/4HANA holds stock movements and purchasing. Commerce Cloud contributes online context. IBP supports planning."],["Consistent business context","Authorized product, location, cost and supplier data can make recommendations more relevant to the retailer."],["Learning with permission","SAP’s large client base creates a potential learning advantage, subject to contracts, consent and evaluation. More data alone does not prove better accuracy."]],"foot":"Proposed architecture. No live SAP integration or cross-customer training is present in this demo.","notes":"- 20 seconds. Like an ecosystem of compatible devices, SAP’s appeal is that another tool can work with systems the retailer already uses. This still requires integration work and licensing.\n- Our data advantage is business context, not unrestricted access to every customer’s records. Customer data use for AI improvement is governed by service agreements; new development can require additional consent. External model providers do not receive training rights by default.\n- Sources: SAP Integration Suite https://www.sap.com/products/technology-platform/integration-suite.html ; SAP responsible AI https://www.sap.com/products/artificial-intelligence/ai-ethics.html ; https://learning.sap.com/courses/building-confidence-in-ai-with-sap/does-ai-train-on-my-data ."}</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Our strongest asset is the fit with SAP execution; our weakest point is that commercial value and integrations remain unproven.</a:t>
            </a:r>
          </a:p>
          <a:p xmlns:a="http://schemas.openxmlformats.org/drawingml/2006/main">
            <a:r>
              <a:t>- Competition, integration effort and adoption should shape the pilot, not be hidden behind an AI claim.</a:t>
            </a:r>
          </a:p>
          <a:p xmlns:a="http://schemas.openxmlformats.org/drawingml/2006/main">
            <a:r>
              <a:t>Complete source content: {"n":11,"title":"SWOT: a credible extension with execution risk","eyebrow":"SWOT ANALYSIS","type":"swot","seconds":10,"quadrants":[["STRENGTHS","Existing SAP workflows\nOne evidence-to-action experience"],["WEAKNESSES","Prototype, not production\nHardware and data-quality dependence"],["OPPORTUNITIES","Sell into SAP retail relationships\nProve value on unavailable sizes"],["THREATS","Strong planning and RFID vendors\nBudget pressure and long sales cycles"]],"foot":"Strategic assessment by Plus One Braincell; pilot evidence is needed to validate the opportunity.","notes":"- 12 seconds. Our strongest asset is the fit with SAP execution; our weakest point is that commercial value and integrations remain unproven.\n- Competition, integration effort and adoption should shape the pilot, not be hidden behind an AI claim."}</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- 15 seconds. The most important dependency is a common product and location identifier. Without it, the tool may recommend stock the business cannot actually move.</a:t>
            </a:r>
          </a:p>
          <a:p xmlns:a="http://schemas.openxmlformats.org/drawingml/2006/main">
            <a:r>
              <a:t>- BTP means Business Technology Platform; Integration Suite connects systems through controlled interfaces, or APIs. A production service needs authentication, monitoring, retry safety and tenant-specific field mapping.</a:t>
            </a:r>
          </a:p>
          <a:p xmlns:a="http://schemas.openxmlformats.org/drawingml/2006/main">
            <a:r>
              <a:t>- Sources: SAP Integration Suite, CAR and IBP official product documentation, cited in appendix.</a:t>
            </a:r>
          </a:p>
          <a:p xmlns:a="http://schemas.openxmlformats.org/drawingml/2006/main">
            <a:r>
              <a:t>Complete source content: {"n":12,"title":"Dependencies come before automation","eyebrow":"DEPENDENCIES","type":"table","seconds":15,"table":[["Dependency","Required before pilot actions","Owner"],["Reliable shared records","Match SKU / size / location; reconcile stock and timestamps","Retail IT + data lead"],["Safe SAP integration","Tenant sandbox, supported interfaces, roles and audit trail","SAP / retailer integration team"],["Qualified demand events","RFID zone tests; session deduplication; bot filtering","Hardware + commerce teams"],["Commercial and privacy terms","Partner quotes, data agreement and retention policy","Procurement + privacy lead"]],"foot":"Proposed SAP roles: CAR = transaction context; S/4HANA = execution; Commerce = online channel; IBP = planning.","notes":"- 15 seconds. The most important dependency is a common product and location identifier. Without it, the tool may recommend stock the business cannot actually move.\n- BTP means Business Technology Platform; Integration Suite connects systems through controlled interfaces, or APIs. A production service needs authentication, monitoring, retry safety and tenant-specific field mapping.\n- Sources: SAP Integration Suite, CAR and IBP official product documentation, cited in appendix."}</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These are the three biggest risks: bad decisions from weak data, loss of shopper trust, and a product that does not repay its cost.</a:t>
            </a:r>
          </a:p>
          <a:p xmlns:a="http://schemas.openxmlformats.org/drawingml/2006/main">
            <a:r>
              <a:t>- Human approval and transaction reconciliation prevent an explanation from becoming an unverified stock movement.</a:t>
            </a:r>
          </a:p>
          <a:p xmlns:a="http://schemas.openxmlformats.org/drawingml/2006/main">
            <a:r>
              <a:t>- Privacy controls require a local legal review; proposed retention is seven days for raw garment events and 90 days for aggregates, subject to that review.</a:t>
            </a:r>
          </a:p>
          <a:p xmlns:a="http://schemas.openxmlformats.org/drawingml/2006/main">
            <a:r>
              <a:t>Complete source content: {"n":13,"title":"Three risks could stop the pilot","eyebrow":"RISKS AND MITIGATIONS","type":"risk","seconds":20,"table":[["Risk","Mitigation","Stop / review trigger"],["Wrong demand or stale stock","Confidence thresholds; fresh-stock check; planner approval; reconcile receipts","Stock mismatch &gt;2% or repeated bad transfers"],["Fitting-room privacy and trust","Garment events only; no cameras or identities; aggregate; short retention","Unresolved privacy concern or missing approval"],["Low adoption or weak economics","Planner co-design; top exceptions only; matched comparison; capped pilot","No response-time improvement or no path to positive value"]],"foot":"Risk owners: retail operations, privacy lead and CFO respectively. Thresholds are proposed pilot gates.","notes":"- 20 seconds. These are the three biggest risks: bad decisions from weak data, loss of shopper trust, and a product that does not repay its cost.\n- Human approval and transaction reconciliation prevent an explanation from becoming an unverified stock movement.\n- Privacy controls require a local legal review; proposed retention is seven days for raw garment events and 90 days for aggregates, subject to that review."}</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Adoption requires an explicit bargain. Bob gets speed, while the source store keeps a reserve and the CFO keeps spending authority.</a:t>
            </a:r>
          </a:p>
          <a:p xmlns:a="http://schemas.openxmlformats.org/drawingml/2006/main">
            <a:r>
              <a:t>- Marketing can promote availability improvements only after results are measured. Procurement validates supplier alternatives; Joule cannot approve a new vendor.</a:t>
            </a:r>
          </a:p>
          <a:p xmlns:a="http://schemas.openxmlformats.org/drawingml/2006/main">
            <a:r>
              <a:t>- SAP owns the software roadmap; partners own installation and first-line device support.</a:t>
            </a:r>
          </a:p>
          <a:p xmlns:a="http://schemas.openxmlformats.org/drawingml/2006/main">
            <a:r>
              <a:t>Complete source content: {"n":14,"title":"Decision rights resolve competing stakeholder needs","eyebrow":"STAKEHOLDER ALIGNMENT","type":"stake","seconds":20,"table":[["Stakeholder","What they need","Decision / concession"],["Bob + store managers","Fast action without draining another store","Planner proposes; source manager protects reserve."],["CFO / COO","Value, margin and spending control","CFO owns pilot gate and spending limits."],["Retail IT + SAP product team","Secure integration and a clear product boundary","Reuse IBP / CAR; IT can block stale or invalid data."],["Privacy + shoppers","No personal surveillance","Privacy lead approves collection and retention."],["Hardware / service partners","Commercial incentive and support clarity","Partners earn hardware and deployment revenue."]],"foot":"Escalation: margin or reserve conflict → retail operations leader; data/privacy failure → pause affected actions.","notes":"- 20 seconds. Adoption requires an explicit bargain. Bob gets speed, while the source store keeps a reserve and the CFO keeps spending authority.\n- Marketing can promote availability improvements only after results are measured. Procurement validates supplier alternatives; Joule cannot approve a new vendor.\n- SAP owns the software roadmap; partners own installation and first-line device support."}</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- 15 seconds. We prioritize online demand and shared stock first because they avoid hardware lead time. Then validate RFID in selected stores and introduce supply-cost scenarios.</a:t>
            </a:r>
          </a:p>
          <a:p xmlns:a="http://schemas.openxmlformats.org/drawingml/2006/main">
            <a:r>
              <a:t>- Baseline demo rates and material-consumption assumptions are illustrative. Public commodity benchmarks are not the retailer’s contract prices.</a:t>
            </a:r>
          </a:p>
          <a:p xmlns:a="http://schemas.openxmlformats.org/drawingml/2006/main">
            <a:r>
              <a:t>- Existing stock does not vanish when new production is constrained.</a:t>
            </a:r>
          </a:p>
          <a:p xmlns:a="http://schemas.openxmlformats.org/drawingml/2006/main">
            <a:r>
              <a:t>Complete source content: {"n":15,"title":"Trade-offs are deliberate","eyebrow":"TRADE-OFFS AND LIMITATIONS","type":"trade","seconds":15,"pairs":[["Human approval","Slower than full automation; safer while evidence is uncertain."],["Apparel and existing SAP users first","Narrower reach; lower initial workflow and data complexity."],["RFID in selected stores","Less coverage; avoids outfitting every store before value is proven."],["Evidence before prediction","The demo explains scenarios; live news prediction and autonomous procurement remain future work."]],"foot":"Try-ons and searches indicate interest, not guaranteed purchases or the cause of non-purchase.","notes":"- 15 seconds. We prioritize online demand and shared stock first because they avoid hardware lead time. Then validate RFID in selected stores and introduce supply-cost scenarios.\n- Baseline demo rates and material-consumption assumptions are illustrative. Public commodity benchmarks are not the retailer’s contract prices.\n- Existing stock does not vanish when new production is constrained."}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Start with interviews and a two-week baseline, then shadow mode: calculate recommendations without executing them.</a:t>
            </a:r>
          </a:p>
          <a:p xmlns:a="http://schemas.openxmlformats.org/drawingml/2006/main">
            <a:r>
              <a:t>- Hardware qualification can proceed alongside digital integration. If devices are delayed, digital and supply workflows continue; RFID claims wait.</a:t>
            </a:r>
          </a:p>
          <a:p xmlns:a="http://schemas.openxmlformats.org/drawingml/2006/main">
            <a:r>
              <a:t>- Scale to a 100-store customer only after week 12. Wider commercial rollout takes additional quarters, separate from pilot completion.</a:t>
            </a:r>
          </a:p>
          <a:p xmlns:a="http://schemas.openxmlformats.org/drawingml/2006/main">
            <a:r>
              <a:t>Complete source content: {"n":16,"title":"A 12-week pilot earns the right to scale","eyebrow":"IMPLEMENTATION TIMELINE","type":"timeline","seconds":20,"phases":[["WEEKS 1–2","Establish trust","5 planner interviews; baseline workflow; privacy and stock mapping."],["WEEKS 3–5","Connect demand","Online signals and stock read-only; shadow recommendations; hardware zone tests."],["WEEKS 6–8","Approve limited actions","10 stores; controlled transfers; RFID evidence; reconcile all receipts."],["WEEKS 9–12","Measure and decide","Matched-store evaluation; cost scenarios; CFO / COO scale or stop gate."]],"foot":"Resources: SAP product lead, 2 integration engineers, full-stack engineer, analyst, UX/change lead; retail and partner counterparts.","notes":"- 20 seconds. Start with interviews and a two-week baseline, then shadow mode: calculate recommendations without executing them.\n- Hardware qualification can proceed alongside digital integration. If devices are delayed, digital and supply workflows continue; RFID claims wait.\n- Scale to a 100-store customer only after week 12. Wider commercial rollout takes additional quarters, separate from pilot completion."}</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- 18 seconds. Measure both median and 90th-percentile response time so an average cannot hide slow exceptions.</a:t>
            </a:r>
          </a:p>
          <a:p xmlns:a="http://schemas.openxmlformats.org/drawingml/2006/main">
            <a:r>
              <a:t>- Track signal freshness, recommendation acceptance with reasons, stockout sessions, realized contribution and shopper complaints.</a:t>
            </a:r>
          </a:p>
          <a:p xmlns:a="http://schemas.openxmlformats.org/drawingml/2006/main">
            <a:r>
              <a:t>- CFO owns financial verification; analyst owns matched-store measurement; operations owns stock accuracy. If the pilot is underpowered, extend measurement rather than claim causal uplift.</a:t>
            </a:r>
          </a:p>
          <a:p xmlns:a="http://schemas.openxmlformats.org/drawingml/2006/main">
            <a:r>
              <a:t>Complete source content: {"n":17,"title":"Success means a faster, verified response","eyebrow":"PILOT KPIs","type":"kpi","seconds":18,"stats":[["−50%","median response time","Qualified signal → approved action"],["≥98%","inventory reconciliation","Physical / recorded stock agreement"],["≥70%","weekly planner use","Eligible pilot planners"]],"body":"Business gate: positive incremental contribution after transfer costs and returns, with a credible cash payback within 24 months at the negotiated price.","foot":"Targets, not achieved results. Compare pilot with matched stores and pre-pilot baseline; report uncertainty.","notes":"- 18 seconds. Measure both median and 90th-percentile response time so an average cannot hide slow exceptions.\n- Track signal freshness, recommendation acceptance with reasons, stockout sessions, realized contribution and shopper complaints.\n- CFO owns financial verification; analyst owns matched-store measurement; operations owns stock accuracy. If the pilot is underpowered, extend measurement rather than claim causal uplift."}</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- 20 seconds. The reference price covers the one product with all three parts. RFID is activated only at equipped stores.</a:t>
            </a:r>
          </a:p>
          <a:p xmlns:a="http://schemas.openxmlformats.org/drawingml/2006/main">
            <a:r>
              <a:t>- Of each 8,000-dollar hardware and installation invoice, 5,000 goes to equipment/tag suppliers, 1,000 to distribution and 2,000 to deployment. SAP earns no hardware margin in this model.</a:t>
            </a:r>
          </a:p>
          <a:p xmlns:a="http://schemas.openxmlformats.org/drawingml/2006/main">
            <a:r>
              <a:t>- Of 75,000 onboarding, SAP retains 15,000 and the delivery partner receives 60,000. All are assumptions, not negotiated terms.</a:t>
            </a:r>
          </a:p>
          <a:p xmlns:a="http://schemas.openxmlformats.org/drawingml/2006/main">
            <a:r>
              <a:t>Complete source content: {"n":18,"title":"One subscription; partners earn the hardware work","eyebrow":"FINANCIALS · PRICING AND REVENUE SPLIT","type":"pricing","seconds":20,"big":"CAD 350k / year","sub":"Reference customer: 100 stores\nCAD 50k platform + CAD 3k per store","table":[["Illustrative charge","Recipient / split"],["CAD 8k per equipped store","OEM / tag supplier 62.5% · distributor 12.5% · installer 25%"],["CAD 75k customer onboarding","Delivery partner 80% · SAP coordination fee 20%"],["Annual product subscription","SAP 100%; partner hardware invoiced separately"]],"foot":"Proposed commercial model; quotes and accounting treatment unconfirmed. Existing tagged merchandise assumed; taxes and new tag programs excluded.","notes":"- 20 seconds. The reference price covers the one product with all three parts. RFID is activated only at equipped stores.\n- Of each 8,000-dollar hardware and installation invoice, 5,000 goes to equipment/tag suppliers, 1,000 to distribution and 2,000 to deployment. SAP earns no hardware margin in this model.\n- Of 75,000 onboarding, SAP retains 15,000 and the delivery partner receives 60,000. All are assumptions, not negotiated terms."}</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Separate productive capacity from cash savings. One percent incremental sales at a 45 percent contribution margin yields 450,000 dollars; time freed is worth 364,000 only if productively redeployed.</a:t>
            </a:r>
          </a:p>
          <a:p xmlns:a="http://schemas.openxmlformats.org/drawingml/2006/main">
            <a:r>
              <a:t>- Economic net annual value is 464,000, but cash-only net is 100,000. Upfront 235,000 means 6.1-month economic payback versus 28.2 months cash-only.</a:t>
            </a:r>
          </a:p>
          <a:p xmlns:a="http://schemas.openxmlformats.org/drawingml/2006/main">
            <a:r>
              <a:t>- The base model fails our 24-month cash gate. We must prove at least 1.04% uplift, lower price/cost, or documented cash savings before scale. This is why the pilot is needed.</a:t>
            </a:r>
          </a:p>
          <a:p xmlns:a="http://schemas.openxmlformats.org/drawingml/2006/main">
            <a:r>
              <a:t>Complete source content: {"n":19,"title":"Retailer value must clear the cash-only test","eyebrow":"FINANCIALS · REFERENCE CUSTOMER","type":"roi","seconds":25,"table":[["Annual value / cost","CAD","Basis"],["Recovered-sales contribution","450,000","1% of CAD 100M sales × 45% contribution margin"],["Planner / store capacity freed","364,000","2 h/store/week × 100 × 52 × CAD 35"],["Subscription","(350,000)","100-store reference price"],["Upfront deployment","235,000","20 RFID stores × CAD 8k + CAD 75k onboarding"]],"stats":[["6.1 months","economic payback","Includes value of time freed"],["28.2 months","cash-only payback","Excludes time unless cash is saved"]],"foot":"Illustrative steady-state annual benefits; not measured. Base cash-only payback misses the 24-month scale gate.","notes":"- 25 seconds. Separate productive capacity from cash savings. One percent incremental sales at a 45 percent contribution margin yields 450,000 dollars; time freed is worth 364,000 only if productively redeployed.\n- Economic net annual value is 464,000, but cash-only net is 100,000. Upfront 235,000 means 6.1-month economic payback versus 28.2 months cash-only.\n- The base model fails our 24-month cash gate. We must prove at least 1.04% uplift, lower price/cost, or documented cash savings before scale. This is why the pilot is needed."}</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- 25 seconds. Annual recurring revenue at the end of year 3 is 52.5 million; recognized year-3 revenue is 38.1 million because new customers arrive throughout the year.</a:t>
            </a:r>
          </a:p>
          <a:p xmlns:a="http://schemas.openxmlformats.org/drawingml/2006/main">
            <a:r>
              <a:t>- This is a product contribution model before tax, financing, corporate allocations and working capital. Costs include customer acquisition and the proposed pilot in year-one spending.</a:t>
            </a:r>
          </a:p>
          <a:p xmlns:a="http://schemas.openxmlformats.org/drawingml/2006/main">
            <a:r>
              <a:t>- Zero churn and 150 wins are optimistic assumptions. Renewal-only break-even is approximately 23 full-year customers at the year-two fixed cost. Sensitivities are in the appendix.</a:t>
            </a:r>
          </a:p>
          <a:p xmlns:a="http://schemas.openxmlformats.org/drawingml/2006/main">
            <a:r>
              <a:t>Complete source content: {"n":20,"title":"SAP’s base scenario reaches CAD 38.1M in year 3","eyebrow":"FINANCIALS · SAP PRODUCT SCENARIO","type":"financial","seconds":25,"table":[["CAD millions, unless noted","Year 1","Year 2","Year 3"],["Ending customers","20","60","150"],["Average active customers","10","40","105"],["Subscription revenue","3.50","14.00","36.75"],["Net onboarding fee","0.30","0.60","1.35"],["Total modeled SAP revenue","3.80","14.60","38.10"],["Hosting / support","(0.88)","(3.50)","(9.19)"],["Product / sales / operations","(5.00)","(6.00)","(8.00)"],["Operating contribution","(2.08)","5.10","20.91"]],"foot":"Illustrative, not SAP guidance. Midyear customer wins, no churn, CAD 350k/customer/year; hardware pass-through excluded.","notes":"- 25 seconds. Annual recurring revenue at the end of year 3 is 52.5 million; recognized year-3 revenue is 38.1 million because new customers arrive throughout the year.\n- This is a product contribution model before tax, financing, corporate allocations and working capital. Costs include customer acquisition and the proposed pilot in year-one spending.\n- Zero churn and 150 wins are optimistic assumptions. Renewal-only break-even is approximately 23 full-year customers at the year-two fixed cost. Sensitivities are in the appendix."}</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- 12 seconds. The value is the shorter gap between a qualified signal and a verified business response.</a:t>
            </a:r>
          </a:p>
          <a:p xmlns:a="http://schemas.openxmlformats.org/drawingml/2006/main">
            <a:r>
              <a:t>- Better business context can make Joule more useful, while people retain accountability for consequential actions.</a:t>
            </a:r>
          </a:p>
          <a:p xmlns:a="http://schemas.openxmlformats.org/drawingml/2006/main">
            <a:r>
              <a:t>Complete source content: {"n":21,"title":"Earlier evidence is useful only when teams can act","eyebrow":"VALUE PROPOSITION","type":"value","seconds":9,"rows":[["For Bob","A prioritized decision with evidence, alternatives and a visible owner."],["For the retailer","Better availability and margin discipline, measured against the cost of responding."],["For shoppers","A better chance of finding the right size, without personal fitting-room surveillance."],["For SAP","A focused extension of existing retail workflows and recurring software revenue."]],"foot":"One SAP Retail Signal subscription. Shared evidence, shared inventory context and a traceable response.","notes":"- 12 seconds. The value is the shorter gap between a qualified signal and a verified business response.\n- Better business context can make Joule more useful, while people retain accountability for consequential actions."}</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Warehouse image: AI-generated illustrative apparel fulfillment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- 18 seconds. Our ask is a capped 250,000-dollar pilot, a named retailer sponsor and sandbox access.</a:t>
            </a:r>
          </a:p>
          <a:p xmlns:a="http://schemas.openxmlformats.org/drawingml/2006/main">
            <a:r>
              <a:t>- The budget covers 80,000 hardware, 80,000 integration, 50,000 product analytics, 20,000 training and 20,000 contingency.</a:t>
            </a:r>
          </a:p>
          <a:p xmlns:a="http://schemas.openxmlformats.org/drawingml/2006/main">
            <a:r>
              <a:t>- End with the decision: prove the response workflow and retailer economics before scaling. SAP Retail Signal makes an early signal useful by connecting it to action.</a:t>
            </a:r>
          </a:p>
          <a:p xmlns:a="http://schemas.openxmlformats.org/drawingml/2006/main">
            <a:r>
              <a:t>- Total planned main-deck time: 480 seconds including the 90-second video.</a:t>
            </a:r>
          </a:p>
          <a:p xmlns:a="http://schemas.openxmlformats.org/drawingml/2006/main">
            <a:r>
              <a:t>Complete source content: {"n":22,"title":"A pilot decision, with a clear scale gate","eyebrow":"CALL TO ACTION","type":"cta","seconds":18,"big":"CAD 250k","sub":"SAP-funded pilot proposal\n12 weeks · 10 stores · one apparel design partner","body":"Approve a capped pilot, name the retail sponsor and agree access to a sandbox.\n\nScale when response time improves, stock reconciles and cash payback meets the 24-month gate.","foot":"Pilot budget included in year-one operating spend. Funding, customer participation and partners remain proposed.","notes":"- 18 seconds. Our ask is a capped 250,000-dollar pilot, a named retailer sponsor and sandbox access.\n- The budget covers 80,000 hardware, 80,000 integration, 50,000 product analytics, 20,000 training and 20,000 contingency.\n- End with the decision: prove the response workflow and retailer economics before scaling. SAP Retail Signal makes an early signal useful by connecting it to action.\n- Total planned main-deck time: 480 seconds including the 90-second video."}</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Background retail image: AI-generated illustrative apparel 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All values on this slide are modeling assumptions created for the pitch, not data supplied as actual customer results.</a:t>
            </a:r>
          </a:p>
          <a:p xmlns:a="http://schemas.openxmlformats.org/drawingml/2006/main">
            <a:r>
              <a:t>- Prices exclude sales taxes, new item-tag programs and financing. Existing retailer SAP licenses are assumed. Incremental SAP infrastructure and usage costs must be confirmed; if not included in the negotiated subscription they worsen ROI.</a:t>
            </a:r>
          </a:p>
          <a:p xmlns:a="http://schemas.openxmlformats.org/drawingml/2006/main">
            <a:r>
              <a:t>Complete source content: {"title":"Financial assumptions and boundaries","type":"table","table":[["Input","Base assumption","Validation required"],["Currency / reference customer","CAD; 100 stores; CAD 100M annual sales","Retailer finance data"],["Product price","CAD 50k platform + CAD 3k/store/year","Willingness-to-pay and procurement"],["RFID footprint","20 of 100 stores; CAD 8k/store","Vendor quote; already tagged inventory"],["Onboarding","CAD 75k total; CAD 15k retained by SAP","Partner scope and signed contract"],["Retailer uplift / contribution","1.0% sales; 45% incremental contribution","Matched-store test; net of returns and variable costs"],["Freed time","2 hours/store/week; CAD 35/hour","Time study and redeployment plan"]],"notes":"- All values on this slide are modeling assumptions created for the pitch, not data supplied as actual customer results.\n- Prices exclude sales taxes, new item-tag programs and financing. Existing retailer SAP licenses are assumed. Incremental SAP infrastructure and usage costs must be confirmed; if not included in the negotiated subscription they worsen ROI.","n":23,"eyebrow":"APPENDIX · 01","seconds":0,"foot":"SAP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First-year economic benefit 814,000; cost 585,000; economic surplus 229,000; first-year ROI = 229,000 / 585,000 = 39.1%.</a:t>
            </a:r>
          </a:p>
          <a:p xmlns:a="http://schemas.openxmlformats.org/drawingml/2006/main">
            <a:r>
              <a:t>- Cash-only first-year surplus = 450,000 − 585,000 = −135,000. At the base assumptions, scale should not be approved on economic value alone.</a:t>
            </a:r>
          </a:p>
          <a:p xmlns:a="http://schemas.openxmlformats.org/drawingml/2006/main">
            <a:r>
              <a:t>- No discounting, depreciation, tax, inflation or working-capital benefit included.</a:t>
            </a:r>
          </a:p>
          <a:p xmlns:a="http://schemas.openxmlformats.org/drawingml/2006/main">
            <a:r>
              <a:t>Complete source content: {"title":"Retailer calculations: value and payback","type":"table","table":[["Calculation","Formula","CAD / result"],["Recovered sales","100,000,000 × 1.0%","1,000,000"],["Incremental contribution","1,000,000 × 45%","450,000"],["Capacity value","100 × 2 × 52 × 35","364,000"],["Annual economic value net of fee","450,000 + 364,000 − 350,000","464,000"],["Annual cash-only value net of fee","450,000 − 350,000","100,000"],["Upfront","20 × 8,000 + 75,000","235,000"],["Payback","235,000 ÷ annual net × 12","6.1 months economic / 28.2 cash"]],"foot":"Simple payback assumes steady-state benefits from day 1; ramp-up lengthens realized payback.","notes":"- First-year economic benefit 814,000; cost 585,000; economic surplus 229,000; first-year ROI = 229,000 / 585,000 = 39.1%.\n- Cash-only first-year surplus = 450,000 − 585,000 = −135,000. At the base assumptions, scale should not be approved on economic value alone.\n- No discounting, depreciation, tax, inflation or working-capital benefit included.","n":24,"eyebrow":"APPENDIX · 02","seconds":0}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Formulas: cash net = sales × uplift × 45% − 350,000. Economic net adds 364,000 capacity value. Upfront is 235,000.</a:t>
            </a:r>
          </a:p>
          <a:p xmlns:a="http://schemas.openxmlformats.org/drawingml/2006/main">
            <a:r>
              <a:t>- Cash renewal break-even = 350,000 / (100,000,000 × .45).</a:t>
            </a:r>
          </a:p>
          <a:p xmlns:a="http://schemas.openxmlformats.org/drawingml/2006/main">
            <a:r>
              <a:t>- 24-month gate = (350,000 + 235,000/2) / 45,000,000 = 1.0389%.</a:t>
            </a:r>
          </a:p>
          <a:p xmlns:a="http://schemas.openxmlformats.org/drawingml/2006/main">
            <a:r>
              <a:t>- Year-one break-even = (350,000 + 235,000) / 45,000,000 = 1.3%.</a:t>
            </a:r>
          </a:p>
          <a:p xmlns:a="http://schemas.openxmlformats.org/drawingml/2006/main">
            <a:r>
              <a:t>- At 0.5% uplift, economic payback = 235,000 / 239,000 × 12 = 11.8 months, illustrating why cash and capacity must be separated.</a:t>
            </a:r>
          </a:p>
          <a:p xmlns:a="http://schemas.openxmlformats.org/drawingml/2006/main">
            <a:r>
              <a:t>Complete source content: {"title":"Retailer sensitivity and break-even","type":"table","table":[["Recovered sales uplift","Annual cash net after fee","Cash-only payback","Economic payback"],["0.5%","−CAD 125k","No payback","11.8 months"],["1.0% · base","CAD 100k","28.2 months","6.1 months"],["1.5%","CAD 325k","8.7 months","4.1 months"],["2.0%","CAD 550k","5.1 months","3.1 months"]],"body":"Renewal cash break-even: 0.778% sales uplift.\n24-month cash payback gate: 1.039% uplift.\nFirst-year cash break-even: 1.300% uplift.","notes":"- Formulas: cash net = sales × uplift × 45% − 350,000. Economic net adds 364,000 capacity value. Upfront is 235,000.\n- Cash renewal break-even = 350,000 / (100,000,000 × .45).\n- 24-month gate = (350,000 + 235,000/2) / 45,000,000 = 1.0389%.\n- Year-one break-even = (350,000 + 235,000) / 45,000,000 = 1.3%.\n- At 0.5% uplift, economic payback = 235,000 / 239,000 × 12 = 11.8 months, illustrating why cash and capacity must be separated.","n":25,"eyebrow":"APPENDIX · 03","seconds":0,"foot":"SAP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Hardware and installation are customer-funded and separately invoiced by partners in a full rollout.</a:t>
            </a:r>
          </a:p>
          <a:p xmlns:a="http://schemas.openxmlformats.org/drawingml/2006/main">
            <a:r>
              <a:t>- The illustrative 12-week pilot is SAP-funded, so the hardware part of that pilot is a SAP program cost instead.</a:t>
            </a:r>
          </a:p>
          <a:p xmlns:a="http://schemas.openxmlformats.org/drawingml/2006/main">
            <a:r>
              <a:t>- A new garment tagging program, replacements, local duties, service levels and any channel referral fees require separate pricing. Do not present this allocation as a quote from Zebra or Avery Dennison.</a:t>
            </a:r>
          </a:p>
          <a:p xmlns:a="http://schemas.openxmlformats.org/drawingml/2006/main">
            <a:r>
              <a:t>Complete source content: {"title":"Recommendation 1: proposed money flow","type":"table","table":[["Customer charge","Recipient","CAD","Share"],["One store hardware + install: CAD 8k","OEM / tag-equipment supplier","5,000","62.5%"],["Same invoice","Regional distributor","1,000","12.5%"],["Same invoice","Installation / device-support partner","2,000","25.0%"],["Customer onboarding: CAD 75k","Delivery / integration partner","60,000","80.0%"],["Same onboarding scope","SAP coordination fee","15,000","20.0%"],["Reference subscription: CAD 350k/year","SAP","350,000","100%"]],"foot":"Illustrative allocations, not manufacturer prices or signed commercial terms. No hardware revenue booked by SAP.","notes":"- Hardware and installation are customer-funded and separately invoiced by partners in a full rollout.\n- The illustrative 12-week pilot is SAP-funded, so the hardware part of that pilot is a SAP program cost instead.\n- A new garment tagging program, replacements, local duties, service levels and any channel referral fees require separate pricing. Do not present this allocation as a quote from Zebra or Avery Dennison.","n":26,"eyebrow":"APPENDIX · 04","seconds":0}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Revenue assumes recurring software delivered throughout the year, all wins at a midyear average, and no churn or expansion. Services use net coordination fees, not gross pass-through.</a:t>
            </a:r>
          </a:p>
          <a:p xmlns:a="http://schemas.openxmlformats.org/drawingml/2006/main">
            <a:r>
              <a:t>- Commercial principal-versus-agent treatment must be reviewed by finance. This is a simplified product model, not an IFRS revenue-recognition conclusion.</a:t>
            </a:r>
          </a:p>
          <a:p xmlns:a="http://schemas.openxmlformats.org/drawingml/2006/main">
            <a:r>
              <a:t>- Fixed costs include staffing, sales, acquisition, operations and the CAD 250k pilot. Hardware margins, tax, corporate allocations and financing are excluded.</a:t>
            </a:r>
          </a:p>
          <a:p xmlns:a="http://schemas.openxmlformats.org/drawingml/2006/main">
            <a:r>
              <a:t>Complete source content: {"title":"SAP revenue and cost formulas","type":"table","table":[["Metric","Year 1","Year 2","Year 3"],["Beginning / new / ending accounts","0 / 20 / 20","20 / 40 / 60","60 / 90 / 150"],["Average accounts: begin + ½ new","10","40","105"],["SaaS: average × CAD 350k","3.500M","14.000M","36.750M"],["Net service: new × CAD 15k","0.300M","0.600M","1.350M"],["Variable cost: SaaS × 25%","0.875M","3.500M","9.1875M"],["Fixed product / sales / operations","5.000M","6.000M","8.000M"],["Contribution","−2.075M","5.100M","20.9125M"],["Cumulative contribution","−2.075M","3.025M","23.9375M"]],"notes":"- Revenue assumes recurring software delivered throughout the year, all wins at a midyear average, and no churn or expansion. Services use net coordination fees, not gross pass-through.\n- Commercial principal-versus-agent treatment must be reviewed by finance. This is a simplified product model, not an IFRS revenue-recognition conclusion.\n- Fixed costs include staffing, sales, acquisition, operations and the CAD 250k pilot. Hardware margins, tax, corporate allocations and financing are excluded.","n":27,"eyebrow":"APPENDIX · 05","seconds":0,"foot":"SAP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Slower wins uses average customers 5, 25, 60 and new accounts 10, 30, 40 with the same 5M / 6M / 8M fixed costs.</a:t>
            </a:r>
          </a:p>
          <a:p xmlns:a="http://schemas.openxmlformats.org/drawingml/2006/main">
            <a:r>
              <a:t>- Price-pressure case keeps base adoption but price falls to 300k and COGS rises to 35%.</a:t>
            </a:r>
          </a:p>
          <a:p xmlns:a="http://schemas.openxmlformats.org/drawingml/2006/main">
            <a:r>
              <a:t>- Stalled case: ending accounts 20,20,20, average 10,20,20; new20,0,0; contributions −2.075M,−0.75M,−2.75M. Cumulative −5.575M.</a:t>
            </a:r>
          </a:p>
          <a:p xmlns:a="http://schemas.openxmlformats.org/drawingml/2006/main">
            <a:r>
              <a:t>- Losses are plausible if sales stall; scale spending should follow evidence.</a:t>
            </a:r>
          </a:p>
          <a:p xmlns:a="http://schemas.openxmlformats.org/drawingml/2006/main">
            <a:r>
              <a:t>Complete source content: {"title":"SAP downside and concentration risk","type":"table","table":[["Scenario","Year-3 ending accounts","Year-3 contribution","3-year cumulative"],["Base: 20 / 60 / 150","150","CAD 20.91M","CAD 23.94M"],["Slower wins: 10 / 40 / 80","80","CAD 8.35M","CAD 5.83M"],["Price CAD 300k; variable cost 35%","150","CAD 13.83M","CAD 13.48M"],["Stalled after 20 customers","20","−CAD 2.75M","−CAD 5.58M"]],"body":"Renewal-only break-even at CAD 6M fixed spend:\nCAD 6M ÷ (CAD 350k × 75%) = 22.9 full-year accounts.","foot":"Scenario analysis, not forecasts. Zero churn is optimistic; renewal, sales cycles and cloud usage require validation.","notes":"- Slower wins uses average customers 5, 25, 60 and new accounts 10, 30, 40 with the same 5M / 6M / 8M fixed costs.\n- Price-pressure case keeps base adoption but price falls to 300k and COGS rises to 35%.\n- Stalled case: ending accounts 20,20,20, average 10,20,20; new20,0,0; contributions −2.075M,−0.75M,−2.75M. Cumulative −5.575M.\n- Losses are plausible if sales stall; scale spending should follow evidence.","n":28,"eyebrow":"APPENDIX · 06","seconds":0}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hardware line is a trial budget, not a committed ten-store purchase. Timing depends on device availability and local approvals.</a:t>
            </a:r>
          </a:p>
          <a:p xmlns:a="http://schemas.openxmlformats.org/drawingml/2006/main">
            <a:r>
              <a:t>- Customer staff time and existing SAP licenses are contributions assumed outside this SAP program budget. Confirm their costs with the design partner.</a:t>
            </a:r>
          </a:p>
          <a:p xmlns:a="http://schemas.openxmlformats.org/drawingml/2006/main">
            <a:r>
              <a:t>- Week-two gate: data and privacy feasibility. Week-five gate: reliable shadow recommendations. Week-eight gate: safe actions. Week-twelve gate: adoption, response time and economics.</a:t>
            </a:r>
          </a:p>
          <a:p xmlns:a="http://schemas.openxmlformats.org/drawingml/2006/main">
            <a:r>
              <a:t>Complete source content: {"title":"Pilot funding and release gates","type":"table","table":[["Use of funds","CAD","Release condition"],["10-store hardware trial","80,000","Zone accuracy and partner quote"],["Integration engineering","80,000","Sandbox, fields and access approved"],["Product + measurement","50,000","Baseline and matched-store design agreed"],["Training + adoption","20,000","Named planners and store champions"],["Contingency","20,000","Sponsor approval for actual need"],["Total pilot proposal","250,000","Capped; included in Year-1 fixed spending"]],"notes":"- The hardware line is a trial budget, not a committed ten-store purchase. Timing depends on device availability and local approvals.\n- Customer staff time and existing SAP licenses are contributions assumed outside this SAP program budget. Confirm their costs with the design partner.\n- Week-two gate: data and privacy feasibility. Week-five gate: reliable shadow recommendations. Week-eight gate: safe actions. Week-twelve gate: adoption, response time and economics.","n":29,"eyebrow":"APPENDIX · 07","seconds":0,"foot":"SAP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The prototype uses React for the interface, TypeScript for typed code, Vite for development/building, and UI5 web components for SAP-style controls.</a:t>
            </a:r>
          </a:p>
          <a:p xmlns:a="http://schemas.openxmlformats.org/drawingml/2006/main">
            <a:r>
              <a:t>- localStorage is browser storage; it is useful for a demo but not a secure multi-user system of record.</a:t>
            </a:r>
          </a:p>
          <a:p xmlns:a="http://schemas.openxmlformats.org/drawingml/2006/main">
            <a:r>
              <a:t>- The public market endpoint retrieves a fixed set of benchmark series and caches observations. Dates and currencies remain visible. It is not a live supplier quote feed or a news prediction engine.</a:t>
            </a:r>
          </a:p>
          <a:p xmlns:a="http://schemas.openxmlformats.org/drawingml/2006/main">
            <a:r>
              <a:t>Complete source content: {"title":"What is implemented today","type":"table","table":[["Capability","Working prototype","Needed for production"],["Demand evidence","Seeded try-ons, purchases and qualified digital aggregates","Live RFID and commerce collection"],["Supply and cost","Selectable network, editable demo rates, public benchmarks, shortage simulation","Validated supplier / material / logistics feeds"],["Assistant","Deterministic explanations and calculations","Authorized SAP Joule orchestration and evaluation"],["Execution","Local proposal → approve → issue → receipt lifecycle","Authenticated SAP tenant APIs, permissions and reconciliation"],["Storage / security","Browser-local demo state; no business database","Tenant database, identity, access controls and audit storage"]],"foot":"React + TypeScript + UI5 interface. SAP-like styling does not itself establish SAP integration.","notes":"- The prototype uses React for the interface, TypeScript for typed code, Vite for development/building, and UI5 web components for SAP-style controls.\n- localStorage is browser storage; it is useful for a demo but not a secure multi-user system of record.\n- The public market endpoint retrieves a fixed set of benchmark series and caches observations. Dates and currencies remain visible. It is not a live supplier quote feed or a news prediction engine.","n":30,"eyebrow":"APPENDIX · 08","seconds":0}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CAR is Customer Activity Repository, a place to harmonize retail transaction data. S/4HANA is enterprise resource planning software, or ERP, holding business records and operations.</a:t>
            </a:r>
          </a:p>
          <a:p xmlns:a="http://schemas.openxmlformats.org/drawingml/2006/main">
            <a:r>
              <a:t>- IBP means Integrated Business Planning. Commerce Cloud runs digital commerce. BTP is the platform for extensions; Integration Suite connects systems.</a:t>
            </a:r>
          </a:p>
          <a:p xmlns:a="http://schemas.openxmlformats.org/drawingml/2006/main">
            <a:r>
              <a:t>- Sources: https://www.sap.com/products/crm/customer-activity-repository.html ; https://learning.sap.com/products/s4hana-cloud ; https://www.sap.com/products/crm/commerce-cloud.html ; https://www.sap.com/products/scm/integrated-business-planning.html ; https://www.sap.com/products/technology-platform/integration-suite.html .</a:t>
            </a:r>
          </a:p>
          <a:p xmlns:a="http://schemas.openxmlformats.org/drawingml/2006/main">
            <a:r>
              <a:t>Complete source content: {"title":"Proposed SAP integration responsibilities","type":"table","table":[["SAP application / service","Role in the proposed product","Current status"],["SAP CAR","Shared sales and retail inventory context","Seeded inputs"],["SAP S/4HANA","Purchasing, stock transport, issue and receipt","Local workflow simulation"],["SAP Commerce Cloud","Online events and sellable availability","Seeded events / shared demo stock"],["SAP IBP","Planning scenarios and approved planning handoff","Export / mapping concept"],["BTP / Integration Suite","Secure interfaces, event routing and monitoring","Production design"],["SAP Joule / Business AI","Explain evidence and call approved business actions","Joule-inspired deterministic demo"]],"foot":"Required products and licenses depend on the retailer’s landscape. Reuse existing planning instead of replacing it.","notes":"- CAR is Customer Activity Repository, a place to harmonize retail transaction data. S/4HANA is enterprise resource planning software, or ERP, holding business records and operations.\n- IBP means Integrated Business Planning. Commerce Cloud runs digital commerce. BTP is the platform for extensions; Integration Suite connects systems.\n- Sources: https://www.sap.com/products/crm/customer-activity-repository.html ; https://learning.sap.com/products/s4hana-cloud ; https://www.sap.com/products/crm/commerce-cloud.html ; https://www.sap.com/products/scm/integrated-business-planning.html ; https://www.sap.com/products/technology-platform/integration-suite.html .","n":31,"eyebrow":"APPENDIX · 09","seconds":0}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Proposal and approval reserve available stock but do not physically move it. Goods issue records dispatch; goods receipt records arrival.</a:t>
            </a:r>
          </a:p>
          <a:p xmlns:a="http://schemas.openxmlformats.org/drawingml/2006/main">
            <a:r>
              <a:t>- Baseline exposure: (80 − 8) × 39 = CAD 2,808 retail value. After feasible receipt: (80 − 48) × 39 = CAD 1,248. This is not realized revenue.</a:t>
            </a:r>
          </a:p>
          <a:p xmlns:a="http://schemas.openxmlformats.org/drawingml/2006/main">
            <a:r>
              <a:t>- A 70% lost-sale assumption gives CAD 1,965.60 versus 873.60 estimated foregone sales. Do not present the CAD 1,092 difference as profit or observed sales.</a:t>
            </a:r>
          </a:p>
          <a:p xmlns:a="http://schemas.openxmlformats.org/drawingml/2006/main">
            <a:r>
              <a:t>Complete source content: {"title":"The transfer demo: conservation of inventory","type":"table","table":[["Step","Burnaby physical","In transit","Vancouver sellable"],["Before proposal","76","0","8"],["40-unit proposal / approval","76","0","8"],["Goods issue","36","40","8"],["Goods receipt","36","0","48"]],"body":"The proposal reserves 40 available units and preserves Burnaby’s 36-unit reserve.\nThe scenario covers 48 / 80 = 60%; 32 units remain uncovered.","foot":"CAD 60 transfer cost = 40 × CAD 1.50/unit. Two-day transit is an assumption; the 9-day alternative misses the 7-day window.","notes":"- Proposal and approval reserve available stock but do not physically move it. Goods issue records dispatch; goods receipt records arrival.\n- Baseline exposure: (80 − 8) × 39 = CAD 2,808 retail value. After feasible receipt: (80 − 48) × 39 = CAD 1,248. This is not realized revenue.\n- A 70% lost-sale assumption gives CAD 1,965.60 versus 873.60 estimated foregone sales. Do not present the CAD 1,092 difference as profit or observed sales.","n":32,"eyebrow":"APPENDIX · 10","seconds":0}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Fitting-room counts are aggregated item interactions, not identified customers. POS means point of sale, the checkout system.</a:t>
            </a:r>
          </a:p>
          <a:p xmlns:a="http://schemas.openxmlformats.org/drawingml/2006/main">
            <a:r>
              <a:t>- Conversion is purchases divided by interactions. A low ratio may reflect availability, fit, price, merchandising or measurement errors.</a:t>
            </a:r>
          </a:p>
          <a:p xmlns:a="http://schemas.openxmlformats.org/drawingml/2006/main">
            <a:r>
              <a:t>- Digital inference should use historical conversion where possible, a range rather than false precision, and bot/agent classification rather than silently treating all machine traffic as worthless.</a:t>
            </a:r>
          </a:p>
          <a:p xmlns:a="http://schemas.openxmlformats.org/drawingml/2006/main">
            <a:r>
              <a:t>Complete source content: {"title":"Demand calculations and inference limits","type":"table","table":[["Signal","Calculation","What it can establish"],["Try-on conversion","43 ÷ 240 = 17.9%; 32% baseline","Conversion is lower; cause still needs investigation."],["Online shortage scenario","floor(162 sessions × 15%) = 24 units","A quantity to test, not 24 confirmed orders."],["Gross online exposure","24 × CAD 39 = CAD 936","Illustrative retail value before uncertainty."],["Estimated foregone online sales","CAD 936 × 70% = CAD 655.20","Depends on the explicit lost-sale assumption."]],"body":"Qualify session + SKU pairs; exclude bots and repeated events.\nDo not add store and online signals into a unique customer total.","notes":"- Fitting-room counts are aggregated item interactions, not identified customers. POS means point of sale, the checkout system.\n- Conversion is purchases divided by interactions. A low ratio may reflect availability, fit, price, merchandising or measurement errors.\n- Digital inference should use historical conversion where possible, a range rather than false precision, and bot/agent classification rather than silently treating all machine traffic as worthless.","n":33,"eyebrow":"APPENDIX · 11","seconds":0,"foot":"SAP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Base cost already includes existing energy; only the uplift is added. Supplier pass-through is how much added supplier cost reaches the retailer, not a retail price increase.</a:t>
            </a:r>
          </a:p>
          <a:p xmlns:a="http://schemas.openxmlformats.org/drawingml/2006/main">
            <a:r>
              <a:t>- Weighted margin is calculated from revenue and costs across completed units; do not average SKU percentages unweighted.</a:t>
            </a:r>
          </a:p>
          <a:p xmlns:a="http://schemas.openxmlformats.org/drawingml/2006/main">
            <a:r>
              <a:t>- The separate timeline estimates foregone sales using current stock and hypothetical receipts. Do not add that sales estimate to the cohort gross-profit reduction.</a:t>
            </a:r>
          </a:p>
          <a:p xmlns:a="http://schemas.openxmlformats.org/drawingml/2006/main">
            <a:r>
              <a:t>- Public benchmark: https://fred.stlouisfed.org/series/PNGASUSUSDM ; benchmark currency/market differs from the illustrative Canadian purchase rate.</a:t>
            </a:r>
          </a:p>
          <a:p xmlns:a="http://schemas.openxmlformats.org/drawingml/2006/main">
            <a:r>
              <a:t>Complete source content: {"title":"Gas-shortage demo: unit cost and cohort impact","type":"table","table":[["Input / result","Illustrative scenario"],["Shock assumptions","25% less input supply; +30% input price; +7 days; 30-day horizon"],["Cream top energy uplift","0.12 MMBtu × CAD 5.80/MMBtu × 30% × 100% pass-through = CAD 0.2088"],["Cream top landed cost / margin","CAD 13.50 → 13.71; 65.38% → 64.85% at CAD 39 retail"],["Completed new-production cohort","Added cost CAD 208.22; weighted margin 68.20% → 67.89%"],["Deferred production","329 of 1,309 planned new units; not assumed permanently lost"],["Planning-cohort profit reduction","CAD 15,339.50 on deferred units + CAD 208.22 added cost = CAD 15,547.72"]],"foot":"MMBtu = million British thermal units, an energy measure. Production reduction and price increase are independent assumptions.","notes":"- Base cost already includes existing energy; only the uplift is added. Supplier pass-through is how much added supplier cost reaches the retailer, not a retail price increase.\n- Weighted margin is calculated from revenue and costs across completed units; do not average SKU percentages unweighted.\n- The separate timeline estimates foregone sales using current stock and hypothetical receipts. Do not add that sales estimate to the cohort gross-profit reduction.\n- Public benchmark: https://fred.stlouisfed.org/series/PNGASUSUSDM ; benchmark currency/market differs from the illustrative Canadian purchase rate.","n":34,"eyebrow":"APPENDIX · 12","seconds":0}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Statista’s apparel page was not retrievable in this review. The Launchpad’s US$1.92T apparel estimate is therefore not used as a verified slide claim.</a:t>
            </a:r>
          </a:p>
          <a:p xmlns:a="http://schemas.openxmlformats.org/drawingml/2006/main">
            <a:r>
              <a:t>- US$957B online fashion and US$1.92T all-channel apparel have different category definitions; dividing them would be misleading.</a:t>
            </a:r>
          </a:p>
          <a:p xmlns:a="http://schemas.openxmlformats.org/drawingml/2006/main">
            <a:r>
              <a:t>- Market account counts, pricing, benefits, adoption and all forecast costs are team assumptions.</a:t>
            </a:r>
          </a:p>
          <a:p xmlns:a="http://schemas.openxmlformats.org/drawingml/2006/main">
            <a:r>
              <a:t>Complete source content: {"title":"Sources: case, market and SAP context","type":"sources","entries":[["S1 · Product+ case package","Supplied PDF, pp. 3–5. Challenge, user roles, SAP customer/country baseline."],["S2 · Plus One Braincell Launchpad","Supplied PDF, recommendations 1–3 and source bibliography. Team 463980."],["S3 · SAP Future of Retail","https://www.sap.com/engage/future-of-retail.html\n14,000+ retail customers; broader footprint, not eligible apparel accounts."],["S4 · Shopify fashion industry","https://www.shopify.com/uk/enterprise/blog/ecommerce-fashion-industry\n2026 fashion e-commerce projection, citing Statista; different scope from apparel sales."],["S5 · McKinsey agentic commerce","https://www.mckinsey.com/capabilities/quantumblack/our-insights/the-agentic-commerce-opportunity-how-ai-agents-are-ushering-in-a-new-era-for-consumers-and-merchants\nUS$3–5T goods commerce by 2030 is context, not software TAM."]],"foot":"Accessed 25 Oct 2026. The Launchpad’s valuation and H1 revenue figures are omitted because they are unnecessary to the investment case.","notes":"- Statista’s apparel page was not retrievable in this review. The Launchpad’s US$1.92T apparel estimate is therefore not used as a verified slide claim.\n- US$957B online fashion and US$1.92T all-channel apparel have different category definitions; dividing them would be misleading.\n- Market account counts, pricing, benefits, adoption and all forecast costs are team assumptions.","n":35,"eyebrow":"APPENDIX · 13","seconds":0}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This presentation makes no claim of unrestricted cross-customer data pooling or demonstrated model superiority.</a:t>
            </a:r>
          </a:p>
          <a:p xmlns:a="http://schemas.openxmlformats.org/drawingml/2006/main">
            <a:r>
              <a:t>- Grounding means supplying authorized relevant business evidence to an AI response. Training means changing the AI model based on examples. The two are different.</a:t>
            </a:r>
          </a:p>
          <a:p xmlns:a="http://schemas.openxmlformats.org/drawingml/2006/main">
            <a:r>
              <a:t>Complete source content: {"title":"Sources: SAP applications and AI governance","type":"sources","entries":[["S6 · Customer Activity Repository","https://www.sap.com/products/crm/customer-activity-repository.html\nTransaction, demand and inventory context."],["S7 · Commerce / planning / execution","https://www.sap.com/products/crm/commerce-cloud.html\nhttps://www.sap.com/products/scm/integrated-business-planning.html\nhttps://learning.sap.com/products/s4hana-cloud"],["S8 · Integration Suite","https://www.sap.com/products/technology-platform/integration-suite.html\nControlled SAP and third-party integration; actual tenant mapping still required."],["S9 · AI data handling","https://www.sap.com/products/artificial-intelligence/ai-ethics.html\nhttps://learning.sap.com/courses/building-confidence-in-ai-with-sap/does-ai-train-on-my-data\nUse depends on agreements and service settings; external model training is restricted."]],"foot":"Accessed 25 Oct 2026. Product capabilities are vendor descriptions; proposed integrations are not completed integrations.","notes":"- This presentation makes no claim of unrestricted cross-customer data pooling or demonstrated model superiority.\n- Grounding means supplying authorized relevant business evidence to an AI response. Training means changing the AI model based on examples. The two are different.","n":36,"eyebrow":"APPENDIX · 14","seconds":0}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 distributor’s presence in a country does not establish authorization for a specific Zebra SKU, stock availability, local installation capacity or commercial terms.</a:t>
            </a:r>
          </a:p>
          <a:p xmlns:a="http://schemas.openxmlformats.org/drawingml/2006/main">
            <a:r>
              <a:t>- Procurement must validate those separately before any rollout commitments.</a:t>
            </a:r>
          </a:p>
          <a:p xmlns:a="http://schemas.openxmlformats.org/drawingml/2006/main">
            <a:r>
              <a:t>Complete source content: {"title":"Sources: hardware, distribution and competition","type":"sources","entries":[["S10 · Hardware capability","https://www.zebra.com/us/en/products/rfid/rfid-readers.html\nhttps://rfid.averydennison.com/en/home/industry-segments/retail/apparel-and-fashion.html"],["S11 · Regional presence","https://careers.ingrammicro.com/en/locations/\nhttps://www.tdsynnex.com/us/en/where-we-are.html\nhttps://redingtongroup.com/about-us/global-presence/"],["S12 · Competitors","https://www.sensormatic.com/de_de/TrueVUE-Inventory-Intel/TrueVUE-Fitting-Room\nhttps://www.oracle.com/retail/\nhttps://blueyonder.com/solutions/retail-planning"],["S13 · Prototype and public reference","Current local Retail Signal website, captured 25 Oct 2026.\nhttps://fred.stlouisfed.org/series/PNGASUSUSDM\nPublic commodity observations are not supplier quotes."]],"foot":"Sources establish capabilities and geographic presence, not a signed Retail Signal partnership or a completed feature audit.","notes":"- A distributor’s presence in a country does not establish authorization for a specific Zebra SKU, stock availability, local installation capacity or commercial terms.\n- Procurement must validate those separately before any rollout commitments.","n":37,"eyebrow":"APPENDIX · 15","seconds":0}</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a:p xmlns:a="http://schemas.openxmlformats.org/drawingml/2006/main">
            <a:r>
              <a:t>https://careers.ingrammicro.com/en/locations/</a:t>
            </a:r>
          </a:p>
          <a:p xmlns:a="http://schemas.openxmlformats.org/drawingml/2006/main">
            <a:r>
              <a:t>https://www.tdsynnex.com/us/en/where-we-are.html</a:t>
            </a:r>
          </a:p>
          <a:p xmlns:a="http://schemas.openxmlformats.org/drawingml/2006/main">
            <a:r>
              <a:t>https://redingtongroup.com/about-us/global-presence/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Why not just use IBP? Reuse IBP; test whether early intent plus a simpler operational workflow adds incremental value.</a:t>
            </a:r>
          </a:p>
          <a:p xmlns:a="http://schemas.openxmlformats.org/drawingml/2006/main">
            <a:r>
              <a:t>- Is the demo AI? The assistant is deterministic; production SAP Joule access and model evaluation remain future work.</a:t>
            </a:r>
          </a:p>
          <a:p xmlns:a="http://schemas.openxmlformats.org/drawingml/2006/main">
            <a:r>
              <a:t>- Are these customer results? No. Demo figures are seeded; benefits are modeling assumptions.</a:t>
            </a:r>
          </a:p>
          <a:p xmlns:a="http://schemas.openxmlformats.org/drawingml/2006/main">
            <a:r>
              <a:t>- Is the cash ROI good enough? Not yet in the base case. The pilot must prove 1.039% sales uplift or equivalent cost/price improvement to meet 24-month cash payback.</a:t>
            </a:r>
          </a:p>
          <a:p xmlns:a="http://schemas.openxmlformats.org/drawingml/2006/main">
            <a:r>
              <a:t>- What about customer data? Authorized within-tenant grounding first; training only within agreed terms and controls.</a:t>
            </a:r>
          </a:p>
          <a:p xmlns:a="http://schemas.openxmlformats.org/drawingml/2006/main">
            <a:r>
              <a:t>Complete source content: {"title":"Evaluation coverage and Q&amp;A","type":"table","table":[["Evaluation criterion","Weight","Where addressed"],["Problem definition","20%","Specific planner, current workflow, Bob before; pilot baseline"],["Product solution","20%","Three parts, feature priorities, competitors and retailer economics"],["Prototype","20%","Working website walkthrough; evidence → simulate → approve → receive"],["Implementation","10%","12-week plan, resources, dependencies, risks and KPI gates"],["Stakeholder alignment","20%","Decision rights, privacy, CFO cash gate, partner incentives and limits"],["Presentation / Q&amp;A","10%","480-second main flow; financial formulas and sources in appendix"]],"notes":"- Why not just use IBP? Reuse IBP; test whether early intent plus a simpler operational workflow adds incremental value.\n- Is the demo AI? The assistant is deterministic; production SAP Joule access and model evaluation remain future work.\n- Are these customer results? No. Demo figures are seeded; benefits are modeling assumptions.\n- Is the cash ROI good enough? Not yet in the base case. The pilot must prove 1.039% sales uplift or equivalent cost/price improvement to meet 24-month cash payback.\n- What about customer data? Authorized within-tenant grounding first; training only within agreed terms and controls.","n":38,"eyebrow":"APPENDIX · 16","seconds":0,"foot":"SAP Retail Signal · Supporting detail for Q&amp;A · All financial forecasts are illustrative."}</a:t>
            </a:r>
          </a:p>
          <a:p xmlns:a="http://schemas.openxmlformats.org/drawingml/2006/main">
            <a:r>
              <a:t/>
            </a:r>
          </a:p>
          <a:p xmlns:a="http://schemas.openxmlformats.org/drawingml/2006/main">
            <a:r>
              <a:t/>
            </a:r>
          </a:p>
          <a:p xmlns:a="http://schemas.openxmlformats.org/drawingml/2006/main">
            <a:r>
              <a:t>Design inspiration: Copy of Elevate 2026 A T&amp;T.pdf. Pale-blue canvas, blue section headings, structured content panels and bottom navigation adapted for SAP Retail Signal. Arial substitutes for reference IBM Plex Sans in this export. Illustrative retail images were created with the built-in image generation tool. They do not depict a real customer or a verified installation. Product screens are captures of the working seeded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a576d93f5b4f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acbafaea3049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5c125d61a747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fbe54cbbd245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2f438784694d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77b6a3239744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8D16B6-A773-4748-A348-0F5729B3CA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5EE436-7EF3-4596-9898-22BE73E076F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FB4FFB-7517-4B3B-B20F-89BD397671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CEF3A2-55B6-465B-8E85-AFBA31858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D413D5-35A5-4C56-9BF1-67C6D2DDB8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417CAD-45DF-4D01-90B1-2CC0617475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1FFE94-6271-4AF8-9938-68ACCAFE90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56FF83-3C15-4E33-B5DA-90C5776238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3F1182-857E-41CB-8E08-599E0D7B58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064608-4EF0-46DA-A6B8-536682A48F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dbc8e286cb412f" /><Relationship Type="http://schemas.openxmlformats.org/officeDocument/2006/relationships/slideLayout" Target="/ppt/slideLayouts/slideLayout1.xml" Id="Ra842ec23f6c04b68" /><Relationship Type="http://schemas.openxmlformats.org/officeDocument/2006/relationships/slideLayout" Target="/ppt/slideLayouts/slideLayout2.xml" Id="R52cebbac14624c07" /><Relationship Type="http://schemas.openxmlformats.org/officeDocument/2006/relationships/slideLayout" Target="/ppt/slideLayouts/slideLayout3.xml" Id="Rdf0de4bef851409d" /><Relationship Type="http://schemas.openxmlformats.org/officeDocument/2006/relationships/slideLayout" Target="/ppt/slideLayouts/slideLayout4.xml" Id="R9f7c0b8b83a94e0d" /><Relationship Type="http://schemas.openxmlformats.org/officeDocument/2006/relationships/slideLayout" Target="/ppt/slideLayouts/slideLayout5.xml" Id="Rf37c80258e9449da" /><Relationship Type="http://schemas.openxmlformats.org/officeDocument/2006/relationships/slideLayout" Target="/ppt/slideLayouts/slideLayout6.xml" Id="R508b3c6158944f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42ec23f6c04b68"/>
    <p:sldLayoutId xmlns:r="http://schemas.openxmlformats.org/officeDocument/2006/relationships" id="2147483650" r:id="R52cebbac14624c07"/>
    <p:sldLayoutId xmlns:r="http://schemas.openxmlformats.org/officeDocument/2006/relationships" id="2147483651" r:id="Rdf0de4bef851409d"/>
    <p:sldLayoutId xmlns:r="http://schemas.openxmlformats.org/officeDocument/2006/relationships" id="2147483652" r:id="R9f7c0b8b83a94e0d"/>
    <p:sldLayoutId xmlns:r="http://schemas.openxmlformats.org/officeDocument/2006/relationships" id="2147483653" r:id="Rf37c80258e9449da"/>
    <p:sldLayoutId xmlns:r="http://schemas.openxmlformats.org/officeDocument/2006/relationships" id="2147483654" r:id="R508b3c6158944f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2ea1163a1144ec" /><Relationship Type="http://schemas.openxmlformats.org/officeDocument/2006/relationships/image" Target="/ppt/media/image.png" Id="R3c9ae368d9494e06" /><Relationship Type="http://schemas.openxmlformats.org/officeDocument/2006/relationships/notesSlide" Target="/ppt/notesSlides/notesSlide1.xml" Id="Ra2a30caf67a045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798cb2060747fb" /><Relationship Type="http://schemas.openxmlformats.org/officeDocument/2006/relationships/image" Target="/ppt/media/image.jpeg" Id="R2ed3989190f74773" /><Relationship Type="http://schemas.openxmlformats.org/officeDocument/2006/relationships/notesSlide" Target="/ppt/notesSlides/notesSlide2.xml" Id="R746535dd04644b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dd48e14865440f" /><Relationship Type="http://schemas.openxmlformats.org/officeDocument/2006/relationships/image" Target="/ppt/media/image2.jpeg" Id="Rcb167c340ccb4e8a" /><Relationship Type="http://schemas.openxmlformats.org/officeDocument/2006/relationships/image" Target="/ppt/media/image3.jpeg" Id="Rffe6b96964c34801" /><Relationship Type="http://schemas.openxmlformats.org/officeDocument/2006/relationships/image" Target="/ppt/media/image4.jpeg" Id="Rde11c7c98e834635" /><Relationship Type="http://schemas.openxmlformats.org/officeDocument/2006/relationships/notesSlide" Target="/ppt/notesSlides/notesSlide3.xml" Id="Rc7e27a45787a41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b7ca4f5fba40b8" /><Relationship Type="http://schemas.openxmlformats.org/officeDocument/2006/relationships/image" Target="/ppt/media/image2.png" Id="Rab65f7091b5c46f0" /><Relationship Type="http://schemas.openxmlformats.org/officeDocument/2006/relationships/notesSlide" Target="/ppt/notesSlides/notesSlide4.xml" Id="R91c715149a1344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4df034def240e1" /><Relationship Type="http://schemas.openxmlformats.org/officeDocument/2006/relationships/image" Target="/ppt/media/image5.jpeg" Id="Rf26bbe77461248fd" /><Relationship Type="http://schemas.openxmlformats.org/officeDocument/2006/relationships/notesSlide" Target="/ppt/notesSlides/notesSlide5.xml" Id="Rf2bd572e5d8742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64f3c0d9464cdc" /><Relationship Type="http://schemas.openxmlformats.org/officeDocument/2006/relationships/image" Target="/ppt/media/image3.png" Id="R26a6e8aa08fa4062" /><Relationship Type="http://schemas.openxmlformats.org/officeDocument/2006/relationships/notesSlide" Target="/ppt/notesSlides/notesSlide6.xml" Id="R3bb960a2b51046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fc3a4f9bc44015" /><Relationship Type="http://schemas.openxmlformats.org/officeDocument/2006/relationships/image" Target="/ppt/media/image6.jpeg" Id="R069f40c88fab4252" /><Relationship Type="http://schemas.openxmlformats.org/officeDocument/2006/relationships/notesSlide" Target="/ppt/notesSlides/notesSlide7.xml" Id="R7875c334f4e343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50b3cf0dd846b6" /><Relationship Type="http://schemas.openxmlformats.org/officeDocument/2006/relationships/image" Target="/ppt/media/image4.png" Id="R718161eac5914962" /><Relationship Type="http://schemas.openxmlformats.org/officeDocument/2006/relationships/notesSlide" Target="/ppt/notesSlides/notesSlide8.xml" Id="R6688d44ca85441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4444f38d104aa5" /><Relationship Type="http://schemas.openxmlformats.org/officeDocument/2006/relationships/notesSlide" Target="/ppt/notesSlides/notesSlide9.xml" Id="R4a648e16ea8a4d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3f867607e34562" /><Relationship Type="http://schemas.openxmlformats.org/officeDocument/2006/relationships/image" Target="/ppt/media/image7.jpeg" Id="R453feeea0ba1465a" /><Relationship Type="http://schemas.openxmlformats.org/officeDocument/2006/relationships/notesSlide" Target="/ppt/notesSlides/notesSlide10.xml" Id="Rc07e22844c654d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fc6c415d254a38" /><Relationship Type="http://schemas.openxmlformats.org/officeDocument/2006/relationships/notesSlide" Target="/ppt/notesSlides/notesSlide11.xml" Id="R741765da4e404c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9b6d135ad8e43ee" /><Relationship Type="http://schemas.openxmlformats.org/officeDocument/2006/relationships/notesSlide" Target="/ppt/notesSlides/notesSlide12.xml" Id="Rf4d5ac58173b4d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5948d32a5b94360" /><Relationship Type="http://schemas.openxmlformats.org/officeDocument/2006/relationships/notesSlide" Target="/ppt/notesSlides/notesSlide13.xml" Id="R028d2f67442144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14f0e60486b4867" /><Relationship Type="http://schemas.openxmlformats.org/officeDocument/2006/relationships/notesSlide" Target="/ppt/notesSlides/notesSlide14.xml" Id="R99c27386f48f49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ca9447550c49e3" /><Relationship Type="http://schemas.openxmlformats.org/officeDocument/2006/relationships/image" Target="/ppt/media/image8.jpeg" Id="Rbecae9b9eb2247de" /><Relationship Type="http://schemas.openxmlformats.org/officeDocument/2006/relationships/notesSlide" Target="/ppt/notesSlides/notesSlide15.xml" Id="R05152841a2ee49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a8061e4c46b48e5" /><Relationship Type="http://schemas.openxmlformats.org/officeDocument/2006/relationships/notesSlide" Target="/ppt/notesSlides/notesSlide16.xml" Id="R4bad21ec6af040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cf173e7ef514ac6" /><Relationship Type="http://schemas.openxmlformats.org/officeDocument/2006/relationships/notesSlide" Target="/ppt/notesSlides/notesSlide17.xml" Id="Rb658bf1685fa4a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3b98c350fe84c7b" /><Relationship Type="http://schemas.openxmlformats.org/officeDocument/2006/relationships/notesSlide" Target="/ppt/notesSlides/notesSlide18.xml" Id="R8887ded4ccd34a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acdce76cdf41e2" /><Relationship Type="http://schemas.openxmlformats.org/officeDocument/2006/relationships/notesSlide" Target="/ppt/notesSlides/notesSlide19.xml" Id="R926847dcd96d47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674543055bf40b7" /><Relationship Type="http://schemas.openxmlformats.org/officeDocument/2006/relationships/chart" Target="/ppt/slides/charts/chart1.xml" Id="R7339828f729e4846" /><Relationship Type="http://schemas.openxmlformats.org/officeDocument/2006/relationships/notesSlide" Target="/ppt/notesSlides/notesSlide20.xml" Id="Re3c83651ca554b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7762886f5f64e3f" /><Relationship Type="http://schemas.openxmlformats.org/officeDocument/2006/relationships/image" Target="/ppt/media/image5.png" Id="R09179a65a4ac4efc" /><Relationship Type="http://schemas.openxmlformats.org/officeDocument/2006/relationships/notesSlide" Target="/ppt/notesSlides/notesSlide21.xml" Id="R7c7b7d59b29d44b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0191aeb9b614419" /><Relationship Type="http://schemas.openxmlformats.org/officeDocument/2006/relationships/image" Target="/ppt/media/image6.png" Id="R4483309770de43ad" /><Relationship Type="http://schemas.openxmlformats.org/officeDocument/2006/relationships/notesSlide" Target="/ppt/notesSlides/notesSlide22.xml" Id="R1e3b358e5c2943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cb0a9f17acb4855" /><Relationship Type="http://schemas.openxmlformats.org/officeDocument/2006/relationships/notesSlide" Target="/ppt/notesSlides/notesSlide23.xml" Id="R83c7518f99fa4a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c70a716c3264db7" /><Relationship Type="http://schemas.openxmlformats.org/officeDocument/2006/relationships/notesSlide" Target="/ppt/notesSlides/notesSlide24.xml" Id="Rb8ad3fefa9cd4ac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0516cf843fc4ddb" /><Relationship Type="http://schemas.openxmlformats.org/officeDocument/2006/relationships/notesSlide" Target="/ppt/notesSlides/notesSlide25.xml" Id="Rf543e5a301bc481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d39f03fb06844a8" /><Relationship Type="http://schemas.openxmlformats.org/officeDocument/2006/relationships/notesSlide" Target="/ppt/notesSlides/notesSlide26.xml" Id="R793f7d02ad194e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c09e0b043604d9d" /><Relationship Type="http://schemas.openxmlformats.org/officeDocument/2006/relationships/notesSlide" Target="/ppt/notesSlides/notesSlide27.xml" Id="R680f16b2b89c4d9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3900e23b3754403" /><Relationship Type="http://schemas.openxmlformats.org/officeDocument/2006/relationships/notesSlide" Target="/ppt/notesSlides/notesSlide28.xml" Id="R0544ea559b164f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88bdf930ad14361" /><Relationship Type="http://schemas.openxmlformats.org/officeDocument/2006/relationships/notesSlide" Target="/ppt/notesSlides/notesSlide29.xml" Id="R2915678eea0846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db660178ab34ac7" /><Relationship Type="http://schemas.openxmlformats.org/officeDocument/2006/relationships/notesSlide" Target="/ppt/notesSlides/notesSlide30.xml" Id="R727a1941aef94ad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d747059dff2456d" /><Relationship Type="http://schemas.openxmlformats.org/officeDocument/2006/relationships/notesSlide" Target="/ppt/notesSlides/notesSlide31.xml" Id="R7e9a3c01fd674d1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f3c38d09ff44462" /><Relationship Type="http://schemas.openxmlformats.org/officeDocument/2006/relationships/notesSlide" Target="/ppt/notesSlides/notesSlide32.xml" Id="R93ee960d57074d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f58d9730dee45b0" /><Relationship Type="http://schemas.openxmlformats.org/officeDocument/2006/relationships/notesSlide" Target="/ppt/notesSlides/notesSlide33.xml" Id="R953da401431f428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3eb5774be344d0b" /><Relationship Type="http://schemas.openxmlformats.org/officeDocument/2006/relationships/notesSlide" Target="/ppt/notesSlides/notesSlide34.xml" Id="R76bc5fb2e3d740c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7c6af25d6654839" /><Relationship Type="http://schemas.openxmlformats.org/officeDocument/2006/relationships/notesSlide" Target="/ppt/notesSlides/notesSlide35.xml" Id="Rb077e17c559648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9d5b06a4aa24d4a" /><Relationship Type="http://schemas.openxmlformats.org/officeDocument/2006/relationships/notesSlide" Target="/ppt/notesSlides/notesSlide36.xml" Id="R19e1f6180b48498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303186f48d7470a" /><Relationship Type="http://schemas.openxmlformats.org/officeDocument/2006/relationships/notesSlide" Target="/ppt/notesSlides/notesSlide37.xml" Id="R133371ab808f4e2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c1efd19ad0b4bcf" /><Relationship Type="http://schemas.openxmlformats.org/officeDocument/2006/relationships/notesSlide" Target="/ppt/notesSlides/notesSlide38.xml" Id="R061499c307c74c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52047"/>
                </a:solidFill>
                <a:latin typeface="Arial"/>
                <a:ea typeface="Arial"/>
                <a:cs typeface="Arial"/>
              </a:rPr>
              <a:t>SAP revenue (CAD millions)</a:t>
            </a:r>
          </a:p>
        </c:rich>
      </c:tx>
      <c:overlay val="0"/>
      <c:txPr>
        <a:bodyPr xmlns:a="http://schemas.openxmlformats.org/drawingml/2006/main" anchorCtr="1"/>
        <a:lstStyle xmlns:a="http://schemas.openxmlformats.org/drawingml/2006/main"/>
        <a:p xmlns:a="http://schemas.openxmlformats.org/drawingml/2006/main">
          <a:pPr>
            <a:defRPr sz="1875" b="1">
              <a:solidFill>
                <a:srgbClr val="152047"/>
              </a:solidFill>
              <a:latin typeface="Arial"/>
              <a:ea typeface="Arial"/>
              <a:cs typeface="Arial"/>
            </a:defRPr>
          </a:pPr>
        </a:p>
      </c:txPr>
    </c:title>
    <c:plotArea>
      <c:barChart>
        <c:barDir val="col"/>
        <c:grouping val="clustered"/>
        <c:varyColors val="0"/>
        <c:ser>
          <c:idx val="0"/>
          <c:order val="0"/>
          <c:tx>
            <c:v>Modeled SAP revenue</c:v>
          </c:tx>
          <c:spPr>
            <a:solidFill xmlns:a="http://schemas.openxmlformats.org/drawingml/2006/main">
              <a:srgbClr val="165DAE"/>
            </a:solidFill>
          </c:spPr>
          <c:invertIfNegative val="0"/>
          <c:cat>
            <c:strRef>
              <c:f>'Chart Data'!$A$2:$A$4</c:f>
              <c:strCache>
                <c:ptCount val="3"/>
                <c:pt idx="0">
                  <c:v>Year 1</c:v>
                </c:pt>
                <c:pt idx="1">
                  <c:v>Year 2</c:v>
                </c:pt>
                <c:pt idx="2">
                  <c:v>Year 3</c:v>
                </c:pt>
              </c:strCache>
            </c:strRef>
          </c:cat>
          <c:val>
            <c:numRef>
              <c:f>'Chart Data'!$B$2:$B$4</c:f>
              <c:numCache>
                <c:formatCode>0.0</c:formatCode>
                <c:ptCount val="3"/>
                <c:pt idx="0">
                  <c:v>3.8</c:v>
                </c:pt>
                <c:pt idx="1">
                  <c:v>14.6</c:v>
                </c:pt>
                <c:pt idx="2">
                  <c:v>38.1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65DA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6D7EE"/>
            </a:solidFill>
          </a:ln>
        </c:spPr>
        <c:txPr>
          <a:bodyPr xmlns:a="http://schemas.openxmlformats.org/drawingml/2006/main" anchorCtr="1"/>
          <a:lstStyle xmlns:a="http://schemas.openxmlformats.org/drawingml/2006/main"/>
          <a:p xmlns:a="http://schemas.openxmlformats.org/drawingml/2006/main">
            <a:pPr>
              <a:defRPr sz="1575">
                <a:solidFill>
                  <a:srgbClr val="152047"/>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6D7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52047"/>
                </a:solidFill>
                <a:latin typeface="Arial"/>
                <a:ea typeface="Arial"/>
                <a:cs typeface="Arial"/>
              </a:defRPr>
            </a:pPr>
          </a:p>
        </c:txPr>
        <c:crossAx val="48650112"/>
        <c:crossBetween val="between"/>
      </c:valAx>
      <c:spPr>
        <a:solidFill xmlns:a="http://schemas.openxmlformats.org/drawingml/2006/main">
          <a:srgbClr val="EDF4FF"/>
        </a:solidFill>
      </c:spPr>
    </c:plotArea>
    <c:plotVisOnly val="1"/>
  </c:chart>
  <c:spPr>
    <a:solidFill xmlns:a="http://schemas.openxmlformats.org/drawingml/2006/main">
      <a:srgbClr val="EDF4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8503AC-4E09-4150-A48C-19F400F783AF}"/>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752A6E-8E24-4398-9A21-65050DC0F24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PROBLEM STATEMENT</a:t>
            </a:r>
          </a:p>
        </p:txBody>
      </p:sp>
      <p:sp>
        <p:nvSpPr>
          <p:cNvPr id="4" name="">
            <a:extLst xmlns:a="http://schemas.openxmlformats.org/drawingml/2006/main">
              <a:ext uri="{FF2B5EF4-FFF2-40B4-BE49-F238E27FC236}">
                <a16:creationId xmlns:a16="http://schemas.microsoft.com/office/drawing/2014/main" id="{30318EC5-B350-4AAB-AD23-09FC304C23D7}"/>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Demand shifts before retailers can respond</a:t>
            </a:r>
          </a:p>
        </p:txBody>
      </p:sp>
      <p:sp>
        <p:nvSpPr>
          <p:cNvPr id="5" name="">
            <a:extLst xmlns:a="http://schemas.openxmlformats.org/drawingml/2006/main">
              <a:ext uri="{FF2B5EF4-FFF2-40B4-BE49-F238E27FC236}">
                <a16:creationId xmlns:a16="http://schemas.microsoft.com/office/drawing/2014/main" id="{7D15DFBC-B2C9-406B-9DF0-7E10E9AEC86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Plus One Braincell · Team 463980 · Product+ 2026 · Competition concept</a:t>
            </a:r>
          </a:p>
        </p:txBody>
      </p:sp>
      <p:sp>
        <p:nvSpPr>
          <p:cNvPr id="6" name="">
            <a:extLst xmlns:a="http://schemas.openxmlformats.org/drawingml/2006/main">
              <a:ext uri="{FF2B5EF4-FFF2-40B4-BE49-F238E27FC236}">
                <a16:creationId xmlns:a16="http://schemas.microsoft.com/office/drawing/2014/main" id="{46EA435E-EA88-435E-8B13-2DB3ECDD66BE}"/>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A4C9F9D-EEC5-4422-802F-19CCAF656F1F}"/>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D57FBA81-6560-45BB-9FE3-007589334626}"/>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0A8650-646E-4360-BE76-057B4EE8DB1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B32E81C5-A44D-4C08-84B1-737128458FB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4B0EC2-8D06-44FF-9055-35CD910AC1A7}"/>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0427646-D16A-4065-9000-B09D7990AA2C}"/>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41644F-5F13-446A-9FA3-C32A7EE4BC4B}"/>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3AEF3BFA-7C6C-424B-85C4-0AC5D76152BB}"/>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8F707B-3CBD-4087-A7CB-45D8B7A54240}"/>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9CEE7EB-CF88-4136-B19A-2A844330FBB6}"/>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01</a:t>
            </a:r>
          </a:p>
        </p:txBody>
      </p:sp>
      <p:pic>
        <p:nvPicPr>
          <p:cNvPr id="17" name="">
            <a:extLst xmlns:a="http://schemas.openxmlformats.org/drawingml/2006/main">
              <a:ext uri="{FF2B5EF4-FFF2-40B4-BE49-F238E27FC236}">
                <a16:creationId xmlns:a16="http://schemas.microsoft.com/office/drawing/2014/main" id="{D47E8D7B-5C1F-409E-9CD5-6A2A5902C364}"/>
              </a:ext>
            </a:extLst>
          </p:cNvPr>
          <p:cNvPicPr>
            <a:picLocks xmlns:a="http://schemas.openxmlformats.org/drawingml/2006/main" noChangeAspect="1"/>
          </p:cNvPicPr>
          <p:nvPr/>
        </p:nvPicPr>
        <p:blipFill>
          <a:blip xmlns:r="http://schemas.openxmlformats.org/officeDocument/2006/relationships" xmlns:a="http://schemas.openxmlformats.org/drawingml/2006/main" r:embed="R3c9ae368d9494e06"/>
          <a:srcRect xmlns:a="http://schemas.openxmlformats.org/drawingml/2006/main" l="14321" t="0" r="14321" b="0"/>
          <a:stretch xmlns:a="http://schemas.openxmlformats.org/drawingml/2006/main">
            <a:fillRect l="0" t="0" r="0" b="0"/>
          </a:stretch>
        </p:blipFill>
        <p:spPr>
          <a:xfrm xmlns:a="http://schemas.openxmlformats.org/drawingml/2006/main">
            <a:off x="6858000" y="1428750"/>
            <a:ext cx="6400800" cy="5048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455445B7-5BBE-40A6-9C78-15442ED13AA6}"/>
              </a:ext>
            </a:extLst>
          </p:cNvPr>
          <p:cNvSpPr>
            <a:spLocks xmlns:a="http://schemas.openxmlformats.org/drawingml/2006/main" noGrp="1"/>
          </p:cNvSpPr>
          <p:nvPr/>
        </p:nvSpPr>
        <p:spPr>
          <a:xfrm xmlns:a="http://schemas.openxmlformats.org/drawingml/2006/main">
            <a:off x="523875" y="1466850"/>
            <a:ext cx="59055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100" b="1">
                <a:solidFill>
                  <a:srgbClr val="165DAE"/>
                </a:solidFill>
                <a:latin typeface="Arial"/>
                <a:ea typeface="Arial"/>
                <a:cs typeface="Arial"/>
              </a:defRPr>
            </a:defPPr>
            <a:lvl1pPr algn="l">
              <a:defRPr sz="5100" b="1">
                <a:solidFill>
                  <a:srgbClr val="165DAE"/>
                </a:solidFill>
                <a:latin typeface="Arial"/>
                <a:ea typeface="Arial"/>
                <a:cs typeface="Arial"/>
              </a:defRPr>
            </a:lvl1pPr>
            <a:lvl2pPr algn="l">
              <a:defRPr sz="5100" b="1">
                <a:solidFill>
                  <a:srgbClr val="165DAE"/>
                </a:solidFill>
                <a:latin typeface="Arial"/>
                <a:ea typeface="Arial"/>
                <a:cs typeface="Arial"/>
              </a:defRPr>
            </a:lvl2pPr>
            <a:lvl3pPr algn="l">
              <a:defRPr sz="5100" b="1">
                <a:solidFill>
                  <a:srgbClr val="165DAE"/>
                </a:solidFill>
                <a:latin typeface="Arial"/>
                <a:ea typeface="Arial"/>
                <a:cs typeface="Arial"/>
              </a:defRPr>
            </a:lvl3pPr>
            <a:lvl4pPr algn="l">
              <a:defRPr sz="5100" b="1">
                <a:solidFill>
                  <a:srgbClr val="165DAE"/>
                </a:solidFill>
                <a:latin typeface="Arial"/>
                <a:ea typeface="Arial"/>
                <a:cs typeface="Arial"/>
              </a:defRPr>
            </a:lvl4pPr>
            <a:lvl5pPr algn="l">
              <a:defRPr sz="5100" b="1">
                <a:solidFill>
                  <a:srgbClr val="165DAE"/>
                </a:solidFill>
                <a:latin typeface="Arial"/>
                <a:ea typeface="Arial"/>
                <a:cs typeface="Arial"/>
              </a:defRPr>
            </a:lvl5pPr>
            <a:lvl6pPr algn="l">
              <a:defRPr sz="5100" b="1">
                <a:solidFill>
                  <a:srgbClr val="165DAE"/>
                </a:solidFill>
                <a:latin typeface="Arial"/>
                <a:ea typeface="Arial"/>
                <a:cs typeface="Arial"/>
              </a:defRPr>
            </a:lvl6pPr>
            <a:lvl7pPr algn="l">
              <a:defRPr sz="5100" b="1">
                <a:solidFill>
                  <a:srgbClr val="165DAE"/>
                </a:solidFill>
                <a:latin typeface="Arial"/>
                <a:ea typeface="Arial"/>
                <a:cs typeface="Arial"/>
              </a:defRPr>
            </a:lvl7pPr>
            <a:lvl8pPr algn="l">
              <a:defRPr sz="5100" b="1">
                <a:solidFill>
                  <a:srgbClr val="165DAE"/>
                </a:solidFill>
                <a:latin typeface="Arial"/>
                <a:ea typeface="Arial"/>
                <a:cs typeface="Arial"/>
              </a:defRPr>
            </a:lvl8pPr>
            <a:lvl9pPr algn="l">
              <a:defRPr sz="5100" b="1">
                <a:solidFill>
                  <a:srgbClr val="165DAE"/>
                </a:solidFill>
                <a:latin typeface="Arial"/>
                <a:ea typeface="Arial"/>
                <a:cs typeface="Arial"/>
              </a:defRPr>
            </a:lvl9pPr>
          </a:lstStyle>
          <a:p xmlns:a="http://schemas.openxmlformats.org/drawingml/2006/main">
            <a:pPr algn="l">
              <a:defRPr sz="5100" b="1">
                <a:solidFill>
                  <a:srgbClr val="165DAE"/>
                </a:solidFill>
              </a:defRPr>
            </a:pPr>
            <a:r>
              <a:rPr sz="5100" b="1">
                <a:solidFill>
                  <a:srgbClr val="165DAE"/>
                </a:solidFill>
                <a:latin typeface="Arial"/>
                <a:ea typeface="Arial"/>
                <a:cs typeface="Arial"/>
              </a:rPr>
              <a:t>SAP Retail Signal</a:t>
            </a:r>
          </a:p>
        </p:txBody>
      </p:sp>
      <p:sp>
        <p:nvSpPr>
          <p:cNvPr id="19" name="">
            <a:extLst xmlns:a="http://schemas.openxmlformats.org/drawingml/2006/main">
              <a:ext uri="{FF2B5EF4-FFF2-40B4-BE49-F238E27FC236}">
                <a16:creationId xmlns:a16="http://schemas.microsoft.com/office/drawing/2014/main" id="{C149216F-13DA-413B-A222-9FE34775C4C4}"/>
              </a:ext>
            </a:extLst>
          </p:cNvPr>
          <p:cNvSpPr>
            <a:spLocks xmlns:a="http://schemas.openxmlformats.org/drawingml/2006/main" noGrp="1"/>
          </p:cNvSpPr>
          <p:nvPr/>
        </p:nvSpPr>
        <p:spPr>
          <a:xfrm xmlns:a="http://schemas.openxmlformats.org/drawingml/2006/main">
            <a:off x="552450" y="3257550"/>
            <a:ext cx="5810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52047"/>
                </a:solidFill>
                <a:latin typeface="Arial"/>
                <a:ea typeface="Arial"/>
                <a:cs typeface="Arial"/>
              </a:defRPr>
            </a:defPPr>
            <a:lvl1pPr algn="l">
              <a:defRPr sz="2550" b="1">
                <a:solidFill>
                  <a:srgbClr val="152047"/>
                </a:solidFill>
                <a:latin typeface="Arial"/>
                <a:ea typeface="Arial"/>
                <a:cs typeface="Arial"/>
              </a:defRPr>
            </a:lvl1pPr>
            <a:lvl2pPr algn="l">
              <a:defRPr sz="2550" b="1">
                <a:solidFill>
                  <a:srgbClr val="152047"/>
                </a:solidFill>
                <a:latin typeface="Arial"/>
                <a:ea typeface="Arial"/>
                <a:cs typeface="Arial"/>
              </a:defRPr>
            </a:lvl2pPr>
            <a:lvl3pPr algn="l">
              <a:defRPr sz="2550" b="1">
                <a:solidFill>
                  <a:srgbClr val="152047"/>
                </a:solidFill>
                <a:latin typeface="Arial"/>
                <a:ea typeface="Arial"/>
                <a:cs typeface="Arial"/>
              </a:defRPr>
            </a:lvl3pPr>
            <a:lvl4pPr algn="l">
              <a:defRPr sz="2550" b="1">
                <a:solidFill>
                  <a:srgbClr val="152047"/>
                </a:solidFill>
                <a:latin typeface="Arial"/>
                <a:ea typeface="Arial"/>
                <a:cs typeface="Arial"/>
              </a:defRPr>
            </a:lvl4pPr>
            <a:lvl5pPr algn="l">
              <a:defRPr sz="2550" b="1">
                <a:solidFill>
                  <a:srgbClr val="152047"/>
                </a:solidFill>
                <a:latin typeface="Arial"/>
                <a:ea typeface="Arial"/>
                <a:cs typeface="Arial"/>
              </a:defRPr>
            </a:lvl5pPr>
            <a:lvl6pPr algn="l">
              <a:defRPr sz="2550" b="1">
                <a:solidFill>
                  <a:srgbClr val="152047"/>
                </a:solidFill>
                <a:latin typeface="Arial"/>
                <a:ea typeface="Arial"/>
                <a:cs typeface="Arial"/>
              </a:defRPr>
            </a:lvl6pPr>
            <a:lvl7pPr algn="l">
              <a:defRPr sz="2550" b="1">
                <a:solidFill>
                  <a:srgbClr val="152047"/>
                </a:solidFill>
                <a:latin typeface="Arial"/>
                <a:ea typeface="Arial"/>
                <a:cs typeface="Arial"/>
              </a:defRPr>
            </a:lvl7pPr>
            <a:lvl8pPr algn="l">
              <a:defRPr sz="2550" b="1">
                <a:solidFill>
                  <a:srgbClr val="152047"/>
                </a:solidFill>
                <a:latin typeface="Arial"/>
                <a:ea typeface="Arial"/>
                <a:cs typeface="Arial"/>
              </a:defRPr>
            </a:lvl8pPr>
            <a:lvl9pPr algn="l">
              <a:defRPr sz="2550" b="1">
                <a:solidFill>
                  <a:srgbClr val="152047"/>
                </a:solidFill>
                <a:latin typeface="Arial"/>
                <a:ea typeface="Arial"/>
                <a:cs typeface="Arial"/>
              </a:defRPr>
            </a:lvl9pPr>
          </a:lstStyle>
          <a:p xmlns:a="http://schemas.openxmlformats.org/drawingml/2006/main">
            <a:pPr algn="l">
              <a:defRPr sz="2550" b="1">
                <a:solidFill>
                  <a:srgbClr val="152047"/>
                </a:solidFill>
              </a:defRPr>
            </a:pPr>
            <a:r>
              <a:rPr sz="2550" b="1">
                <a:solidFill>
                  <a:srgbClr val="152047"/>
                </a:solidFill>
                <a:latin typeface="Arial"/>
                <a:ea typeface="Arial"/>
                <a:cs typeface="Arial"/>
              </a:rPr>
              <a:t>One product connects early customer intent with a decision the business can carry out.</a:t>
            </a:r>
          </a:p>
        </p:txBody>
      </p:sp>
      <p:sp>
        <p:nvSpPr>
          <p:cNvPr id="20" name="">
            <a:extLst xmlns:a="http://schemas.openxmlformats.org/drawingml/2006/main">
              <a:ext uri="{FF2B5EF4-FFF2-40B4-BE49-F238E27FC236}">
                <a16:creationId xmlns:a16="http://schemas.microsoft.com/office/drawing/2014/main" id="{79E337A9-0CAF-4372-81B3-98A761FC13F4}"/>
              </a:ext>
            </a:extLst>
          </p:cNvPr>
          <p:cNvSpPr>
            <a:spLocks xmlns:a="http://schemas.openxmlformats.org/drawingml/2006/main" noGrp="1"/>
          </p:cNvSpPr>
          <p:nvPr/>
        </p:nvSpPr>
        <p:spPr>
          <a:xfrm xmlns:a="http://schemas.openxmlformats.org/drawingml/2006/main">
            <a:off x="552450" y="4953000"/>
            <a:ext cx="5810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Apparel merchandisers see transactions. They need to see missed demand and act while it still matters.</a:t>
            </a:r>
          </a:p>
        </p:txBody>
      </p:sp>
    </p:spTree>
    <p:extLst>
      <p:ext uri="{BB962C8B-B14F-4D97-AF65-F5344CB8AC3E}">
        <p14:creationId xmlns:p14="http://schemas.microsoft.com/office/powerpoint/2010/main" val="1674547476"/>
      </p:ext>
    </p:extLst>
  </p:cSld>
</p:sld>
</file>

<file path=ppt/slides/slide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6FEDCD-D6AF-4181-B162-F8C4BCEC3A0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3BF75C-2F6C-4B4F-BF49-C7A3529B824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COMPANY OVERVIEW</a:t>
            </a:r>
          </a:p>
        </p:txBody>
      </p:sp>
      <p:sp>
        <p:nvSpPr>
          <p:cNvPr id="4" name="">
            <a:extLst xmlns:a="http://schemas.openxmlformats.org/drawingml/2006/main">
              <a:ext uri="{FF2B5EF4-FFF2-40B4-BE49-F238E27FC236}">
                <a16:creationId xmlns:a16="http://schemas.microsoft.com/office/drawing/2014/main" id="{F8C211C5-1C05-4EC1-A62C-ED45467F1EB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already supports the retailer’s core business</a:t>
            </a:r>
          </a:p>
        </p:txBody>
      </p:sp>
      <p:sp>
        <p:nvSpPr>
          <p:cNvPr id="5" name="">
            <a:extLst xmlns:a="http://schemas.openxmlformats.org/drawingml/2006/main">
              <a:ext uri="{FF2B5EF4-FFF2-40B4-BE49-F238E27FC236}">
                <a16:creationId xmlns:a16="http://schemas.microsoft.com/office/drawing/2014/main" id="{CED9033A-0305-4B93-B6E4-45C5DC5987E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Customer counts describe SAP’s broader footprint, not the addressable apparel market.</a:t>
            </a:r>
          </a:p>
        </p:txBody>
      </p:sp>
      <p:sp>
        <p:nvSpPr>
          <p:cNvPr id="6" name="">
            <a:extLst xmlns:a="http://schemas.openxmlformats.org/drawingml/2006/main">
              <a:ext uri="{FF2B5EF4-FFF2-40B4-BE49-F238E27FC236}">
                <a16:creationId xmlns:a16="http://schemas.microsoft.com/office/drawing/2014/main" id="{8EEC039A-C254-42EF-935A-11FC87FB3E6F}"/>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ADD05E-CD30-4628-9784-261780356128}"/>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E8D39B2E-37AF-4F8B-BECB-4E6E7D238CB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DD9DB1-37B5-4601-BB7C-EFDA18F6FD3E}"/>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C3D50C4-E7BC-4888-89C0-7D9A414CC4F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492F5B0-907C-4054-97C1-22CFF79A7E20}"/>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CE45DC3-5808-4743-96C1-99A28B0A4493}"/>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5FE411-7FF5-4729-8866-03496B94819C}"/>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BCDABD3A-3C55-43C7-B25B-BDD77514AB9A}"/>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C4A3252-EDCE-4DB6-80CA-58F9D9EBBFA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7C1B2A95-15DF-44E3-9574-72D31EF3873C}"/>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13283722-FA3B-4BB2-9940-F800AE5E79C4}"/>
              </a:ext>
            </a:extLst>
          </p:cNvPr>
          <p:cNvSpPr>
            <a:spLocks xmlns:a="http://schemas.openxmlformats.org/drawingml/2006/main" noGrp="1"/>
          </p:cNvSpPr>
          <p:nvPr/>
        </p:nvSpPr>
        <p:spPr>
          <a:xfrm xmlns:a="http://schemas.openxmlformats.org/drawingml/2006/main">
            <a:off x="457200" y="1457325"/>
            <a:ext cx="8096250" cy="34004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CDD579BA-EACA-45B8-8B29-393761F0E0A7}"/>
              </a:ext>
            </a:extLst>
          </p:cNvPr>
          <p:cNvPicPr>
            <a:picLocks xmlns:a="http://schemas.openxmlformats.org/drawingml/2006/main" noChangeAspect="1"/>
          </p:cNvPicPr>
          <p:nvPr/>
        </p:nvPicPr>
        <p:blipFill>
          <a:blip xmlns:r="http://schemas.openxmlformats.org/officeDocument/2006/relationships" xmlns:a="http://schemas.openxmlformats.org/drawingml/2006/main" r:embed="R2ed3989190f74773"/>
          <a:srcRect xmlns:a="http://schemas.openxmlformats.org/drawingml/2006/main" l="15000" t="5000" r="0" b="38000"/>
          <a:stretch xmlns:a="http://schemas.openxmlformats.org/drawingml/2006/main"/>
        </p:blipFill>
        <p:spPr>
          <a:xfrm xmlns:a="http://schemas.openxmlformats.org/drawingml/2006/main">
            <a:off x="1070697" y="1457325"/>
            <a:ext cx="6869256" cy="34004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0C490B2-B464-4920-9B05-1A096BAC387D}"/>
              </a:ext>
            </a:extLst>
          </p:cNvPr>
          <p:cNvSpPr>
            <a:spLocks xmlns:a="http://schemas.openxmlformats.org/drawingml/2006/main" noGrp="1"/>
          </p:cNvSpPr>
          <p:nvPr/>
        </p:nvSpPr>
        <p:spPr>
          <a:xfrm xmlns:a="http://schemas.openxmlformats.org/drawingml/2006/main">
            <a:off x="9010650" y="1562100"/>
            <a:ext cx="40290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250" b="0">
                <a:solidFill>
                  <a:srgbClr val="152047"/>
                </a:solidFill>
                <a:latin typeface="Arial"/>
                <a:ea typeface="Arial"/>
                <a:cs typeface="Arial"/>
              </a:defRPr>
            </a:defPPr>
            <a:lvl1pPr algn="l">
              <a:defRPr sz="2250" b="0">
                <a:solidFill>
                  <a:srgbClr val="152047"/>
                </a:solidFill>
                <a:latin typeface="Arial"/>
                <a:ea typeface="Arial"/>
                <a:cs typeface="Arial"/>
              </a:defRPr>
            </a:lvl1pPr>
            <a:lvl2pPr algn="l">
              <a:defRPr sz="2250" b="0">
                <a:solidFill>
                  <a:srgbClr val="152047"/>
                </a:solidFill>
                <a:latin typeface="Arial"/>
                <a:ea typeface="Arial"/>
                <a:cs typeface="Arial"/>
              </a:defRPr>
            </a:lvl2pPr>
            <a:lvl3pPr algn="l">
              <a:defRPr sz="2250" b="0">
                <a:solidFill>
                  <a:srgbClr val="152047"/>
                </a:solidFill>
                <a:latin typeface="Arial"/>
                <a:ea typeface="Arial"/>
                <a:cs typeface="Arial"/>
              </a:defRPr>
            </a:lvl3pPr>
            <a:lvl4pPr algn="l">
              <a:defRPr sz="2250" b="0">
                <a:solidFill>
                  <a:srgbClr val="152047"/>
                </a:solidFill>
                <a:latin typeface="Arial"/>
                <a:ea typeface="Arial"/>
                <a:cs typeface="Arial"/>
              </a:defRPr>
            </a:lvl4pPr>
            <a:lvl5pPr algn="l">
              <a:defRPr sz="2250" b="0">
                <a:solidFill>
                  <a:srgbClr val="152047"/>
                </a:solidFill>
                <a:latin typeface="Arial"/>
                <a:ea typeface="Arial"/>
                <a:cs typeface="Arial"/>
              </a:defRPr>
            </a:lvl5pPr>
            <a:lvl6pPr algn="l">
              <a:defRPr sz="2250" b="0">
                <a:solidFill>
                  <a:srgbClr val="152047"/>
                </a:solidFill>
                <a:latin typeface="Arial"/>
                <a:ea typeface="Arial"/>
                <a:cs typeface="Arial"/>
              </a:defRPr>
            </a:lvl6pPr>
            <a:lvl7pPr algn="l">
              <a:defRPr sz="2250" b="0">
                <a:solidFill>
                  <a:srgbClr val="152047"/>
                </a:solidFill>
                <a:latin typeface="Arial"/>
                <a:ea typeface="Arial"/>
                <a:cs typeface="Arial"/>
              </a:defRPr>
            </a:lvl7pPr>
            <a:lvl8pPr algn="l">
              <a:defRPr sz="2250" b="0">
                <a:solidFill>
                  <a:srgbClr val="152047"/>
                </a:solidFill>
                <a:latin typeface="Arial"/>
                <a:ea typeface="Arial"/>
                <a:cs typeface="Arial"/>
              </a:defRPr>
            </a:lvl8pPr>
            <a:lvl9pPr algn="l">
              <a:defRPr sz="2250" b="0">
                <a:solidFill>
                  <a:srgbClr val="152047"/>
                </a:solidFill>
                <a:latin typeface="Arial"/>
                <a:ea typeface="Arial"/>
                <a:cs typeface="Arial"/>
              </a:defRPr>
            </a:lvl9pPr>
          </a:lstStyle>
          <a:p xmlns:a="http://schemas.openxmlformats.org/drawingml/2006/main">
            <a:pPr algn="l">
              <a:defRPr sz="2250" b="0">
                <a:solidFill>
                  <a:srgbClr val="152047"/>
                </a:solidFill>
              </a:defRPr>
            </a:pPr>
            <a:r>
              <a:rPr sz="2250" b="0">
                <a:solidFill>
                  <a:srgbClr val="152047"/>
                </a:solidFill>
                <a:latin typeface="Arial"/>
                <a:ea typeface="Arial"/>
                <a:cs typeface="Arial"/>
              </a:rPr>
              <a:t>Retail Signal would extend existing transaction, commerce and planning systems with early demand evidence and a shared response workflow.</a:t>
            </a:r>
          </a:p>
        </p:txBody>
      </p:sp>
      <p:sp>
        <p:nvSpPr>
          <p:cNvPr id="20" name="">
            <a:extLst xmlns:a="http://schemas.openxmlformats.org/drawingml/2006/main">
              <a:ext uri="{FF2B5EF4-FFF2-40B4-BE49-F238E27FC236}">
                <a16:creationId xmlns:a16="http://schemas.microsoft.com/office/drawing/2014/main" id="{D8CC18AC-FBD9-4DE8-984F-90020B8E97EE}"/>
              </a:ext>
            </a:extLst>
          </p:cNvPr>
          <p:cNvSpPr>
            <a:spLocks xmlns:a="http://schemas.openxmlformats.org/drawingml/2006/main" noGrp="1"/>
          </p:cNvSpPr>
          <p:nvPr/>
        </p:nvSpPr>
        <p:spPr>
          <a:xfrm xmlns:a="http://schemas.openxmlformats.org/drawingml/2006/main">
            <a:off x="552450"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440,000+</a:t>
            </a:r>
          </a:p>
        </p:txBody>
      </p:sp>
      <p:sp>
        <p:nvSpPr>
          <p:cNvPr id="21" name="">
            <a:extLst xmlns:a="http://schemas.openxmlformats.org/drawingml/2006/main">
              <a:ext uri="{FF2B5EF4-FFF2-40B4-BE49-F238E27FC236}">
                <a16:creationId xmlns:a16="http://schemas.microsoft.com/office/drawing/2014/main" id="{91902C57-4F9D-4477-A3A7-52204092CE60}"/>
              </a:ext>
            </a:extLst>
          </p:cNvPr>
          <p:cNvSpPr>
            <a:spLocks xmlns:a="http://schemas.openxmlformats.org/drawingml/2006/main" noGrp="1"/>
          </p:cNvSpPr>
          <p:nvPr/>
        </p:nvSpPr>
        <p:spPr>
          <a:xfrm xmlns:a="http://schemas.openxmlformats.org/drawingml/2006/main">
            <a:off x="552450"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enterprise customers</a:t>
            </a:r>
          </a:p>
        </p:txBody>
      </p:sp>
      <p:sp>
        <p:nvSpPr>
          <p:cNvPr id="22" name="">
            <a:extLst xmlns:a="http://schemas.openxmlformats.org/drawingml/2006/main">
              <a:ext uri="{FF2B5EF4-FFF2-40B4-BE49-F238E27FC236}">
                <a16:creationId xmlns:a16="http://schemas.microsoft.com/office/drawing/2014/main" id="{535868F9-E779-4DB0-A4F9-29B6B8E8CD85}"/>
              </a:ext>
            </a:extLst>
          </p:cNvPr>
          <p:cNvSpPr>
            <a:spLocks xmlns:a="http://schemas.openxmlformats.org/drawingml/2006/main" noGrp="1"/>
          </p:cNvSpPr>
          <p:nvPr/>
        </p:nvSpPr>
        <p:spPr>
          <a:xfrm xmlns:a="http://schemas.openxmlformats.org/drawingml/2006/main">
            <a:off x="552450"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Case-package baseline</a:t>
            </a:r>
          </a:p>
        </p:txBody>
      </p:sp>
      <p:sp>
        <p:nvSpPr>
          <p:cNvPr id="23" name="">
            <a:extLst xmlns:a="http://schemas.openxmlformats.org/drawingml/2006/main">
              <a:ext uri="{FF2B5EF4-FFF2-40B4-BE49-F238E27FC236}">
                <a16:creationId xmlns:a16="http://schemas.microsoft.com/office/drawing/2014/main" id="{8E61F6E8-ABEB-41DA-996E-0CFC155A783D}"/>
              </a:ext>
            </a:extLst>
          </p:cNvPr>
          <p:cNvSpPr>
            <a:spLocks xmlns:a="http://schemas.openxmlformats.org/drawingml/2006/main" noGrp="1"/>
          </p:cNvSpPr>
          <p:nvPr/>
        </p:nvSpPr>
        <p:spPr>
          <a:xfrm xmlns:a="http://schemas.openxmlformats.org/drawingml/2006/main">
            <a:off x="4848225"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180</a:t>
            </a:r>
          </a:p>
        </p:txBody>
      </p:sp>
      <p:sp>
        <p:nvSpPr>
          <p:cNvPr id="24" name="">
            <a:extLst xmlns:a="http://schemas.openxmlformats.org/drawingml/2006/main">
              <a:ext uri="{FF2B5EF4-FFF2-40B4-BE49-F238E27FC236}">
                <a16:creationId xmlns:a16="http://schemas.microsoft.com/office/drawing/2014/main" id="{C3B2928A-608E-4BB1-9865-76587DDA0F43}"/>
              </a:ext>
            </a:extLst>
          </p:cNvPr>
          <p:cNvSpPr>
            <a:spLocks xmlns:a="http://schemas.openxmlformats.org/drawingml/2006/main" noGrp="1"/>
          </p:cNvSpPr>
          <p:nvPr/>
        </p:nvSpPr>
        <p:spPr>
          <a:xfrm xmlns:a="http://schemas.openxmlformats.org/drawingml/2006/main">
            <a:off x="4848225"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countries</a:t>
            </a:r>
          </a:p>
        </p:txBody>
      </p:sp>
      <p:sp>
        <p:nvSpPr>
          <p:cNvPr id="25" name="">
            <a:extLst xmlns:a="http://schemas.openxmlformats.org/drawingml/2006/main">
              <a:ext uri="{FF2B5EF4-FFF2-40B4-BE49-F238E27FC236}">
                <a16:creationId xmlns:a16="http://schemas.microsoft.com/office/drawing/2014/main" id="{1141B2F4-1271-4EAC-8C2F-8DD76DA617F4}"/>
              </a:ext>
            </a:extLst>
          </p:cNvPr>
          <p:cNvSpPr>
            <a:spLocks xmlns:a="http://schemas.openxmlformats.org/drawingml/2006/main" noGrp="1"/>
          </p:cNvSpPr>
          <p:nvPr/>
        </p:nvSpPr>
        <p:spPr>
          <a:xfrm xmlns:a="http://schemas.openxmlformats.org/drawingml/2006/main">
            <a:off x="4848225"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Case-package baseline</a:t>
            </a:r>
          </a:p>
        </p:txBody>
      </p:sp>
      <p:sp>
        <p:nvSpPr>
          <p:cNvPr id="26" name="">
            <a:extLst xmlns:a="http://schemas.openxmlformats.org/drawingml/2006/main">
              <a:ext uri="{FF2B5EF4-FFF2-40B4-BE49-F238E27FC236}">
                <a16:creationId xmlns:a16="http://schemas.microsoft.com/office/drawing/2014/main" id="{05D541F9-49F1-4EDC-9BAF-301B4F878630}"/>
              </a:ext>
            </a:extLst>
          </p:cNvPr>
          <p:cNvSpPr>
            <a:spLocks xmlns:a="http://schemas.openxmlformats.org/drawingml/2006/main" noGrp="1"/>
          </p:cNvSpPr>
          <p:nvPr/>
        </p:nvSpPr>
        <p:spPr>
          <a:xfrm xmlns:a="http://schemas.openxmlformats.org/drawingml/2006/main">
            <a:off x="9144000" y="5200650"/>
            <a:ext cx="3962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350" b="1">
                <a:solidFill>
                  <a:srgbClr val="165DAE"/>
                </a:solidFill>
                <a:latin typeface="Arial"/>
                <a:ea typeface="Arial"/>
                <a:cs typeface="Arial"/>
              </a:defRPr>
            </a:defPPr>
            <a:lvl1pPr algn="l">
              <a:defRPr sz="4350" b="1">
                <a:solidFill>
                  <a:srgbClr val="165DAE"/>
                </a:solidFill>
                <a:latin typeface="Arial"/>
                <a:ea typeface="Arial"/>
                <a:cs typeface="Arial"/>
              </a:defRPr>
            </a:lvl1pPr>
            <a:lvl2pPr algn="l">
              <a:defRPr sz="4350" b="1">
                <a:solidFill>
                  <a:srgbClr val="165DAE"/>
                </a:solidFill>
                <a:latin typeface="Arial"/>
                <a:ea typeface="Arial"/>
                <a:cs typeface="Arial"/>
              </a:defRPr>
            </a:lvl2pPr>
            <a:lvl3pPr algn="l">
              <a:defRPr sz="4350" b="1">
                <a:solidFill>
                  <a:srgbClr val="165DAE"/>
                </a:solidFill>
                <a:latin typeface="Arial"/>
                <a:ea typeface="Arial"/>
                <a:cs typeface="Arial"/>
              </a:defRPr>
            </a:lvl3pPr>
            <a:lvl4pPr algn="l">
              <a:defRPr sz="4350" b="1">
                <a:solidFill>
                  <a:srgbClr val="165DAE"/>
                </a:solidFill>
                <a:latin typeface="Arial"/>
                <a:ea typeface="Arial"/>
                <a:cs typeface="Arial"/>
              </a:defRPr>
            </a:lvl4pPr>
            <a:lvl5pPr algn="l">
              <a:defRPr sz="4350" b="1">
                <a:solidFill>
                  <a:srgbClr val="165DAE"/>
                </a:solidFill>
                <a:latin typeface="Arial"/>
                <a:ea typeface="Arial"/>
                <a:cs typeface="Arial"/>
              </a:defRPr>
            </a:lvl5pPr>
            <a:lvl6pPr algn="l">
              <a:defRPr sz="4350" b="1">
                <a:solidFill>
                  <a:srgbClr val="165DAE"/>
                </a:solidFill>
                <a:latin typeface="Arial"/>
                <a:ea typeface="Arial"/>
                <a:cs typeface="Arial"/>
              </a:defRPr>
            </a:lvl6pPr>
            <a:lvl7pPr algn="l">
              <a:defRPr sz="4350" b="1">
                <a:solidFill>
                  <a:srgbClr val="165DAE"/>
                </a:solidFill>
                <a:latin typeface="Arial"/>
                <a:ea typeface="Arial"/>
                <a:cs typeface="Arial"/>
              </a:defRPr>
            </a:lvl7pPr>
            <a:lvl8pPr algn="l">
              <a:defRPr sz="4350" b="1">
                <a:solidFill>
                  <a:srgbClr val="165DAE"/>
                </a:solidFill>
                <a:latin typeface="Arial"/>
                <a:ea typeface="Arial"/>
                <a:cs typeface="Arial"/>
              </a:defRPr>
            </a:lvl8pPr>
            <a:lvl9pPr algn="l">
              <a:defRPr sz="4350" b="1">
                <a:solidFill>
                  <a:srgbClr val="165DAE"/>
                </a:solidFill>
                <a:latin typeface="Arial"/>
                <a:ea typeface="Arial"/>
                <a:cs typeface="Arial"/>
              </a:defRPr>
            </a:lvl9pPr>
          </a:lstStyle>
          <a:p xmlns:a="http://schemas.openxmlformats.org/drawingml/2006/main">
            <a:pPr algn="l">
              <a:defRPr sz="4350" b="1">
                <a:solidFill>
                  <a:srgbClr val="165DAE"/>
                </a:solidFill>
              </a:defRPr>
            </a:pPr>
            <a:r>
              <a:rPr sz="4350" b="1">
                <a:solidFill>
                  <a:srgbClr val="165DAE"/>
                </a:solidFill>
                <a:latin typeface="Arial"/>
                <a:ea typeface="Arial"/>
                <a:cs typeface="Arial"/>
              </a:rPr>
              <a:t>14,000+</a:t>
            </a:r>
          </a:p>
        </p:txBody>
      </p:sp>
      <p:sp>
        <p:nvSpPr>
          <p:cNvPr id="27" name="">
            <a:extLst xmlns:a="http://schemas.openxmlformats.org/drawingml/2006/main">
              <a:ext uri="{FF2B5EF4-FFF2-40B4-BE49-F238E27FC236}">
                <a16:creationId xmlns:a16="http://schemas.microsoft.com/office/drawing/2014/main" id="{49DEC538-47CE-4320-85C0-D62A854780AB}"/>
              </a:ext>
            </a:extLst>
          </p:cNvPr>
          <p:cNvSpPr>
            <a:spLocks xmlns:a="http://schemas.openxmlformats.org/drawingml/2006/main" noGrp="1"/>
          </p:cNvSpPr>
          <p:nvPr/>
        </p:nvSpPr>
        <p:spPr>
          <a:xfrm xmlns:a="http://schemas.openxmlformats.org/drawingml/2006/main">
            <a:off x="9144000" y="5886450"/>
            <a:ext cx="3962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1">
                <a:solidFill>
                  <a:srgbClr val="152047"/>
                </a:solidFill>
                <a:latin typeface="Arial"/>
                <a:ea typeface="Arial"/>
                <a:cs typeface="Arial"/>
              </a:defRPr>
            </a:defPPr>
            <a:lvl1pPr algn="l">
              <a:defRPr sz="1950" b="1">
                <a:solidFill>
                  <a:srgbClr val="152047"/>
                </a:solidFill>
                <a:latin typeface="Arial"/>
                <a:ea typeface="Arial"/>
                <a:cs typeface="Arial"/>
              </a:defRPr>
            </a:lvl1pPr>
            <a:lvl2pPr algn="l">
              <a:defRPr sz="1950" b="1">
                <a:solidFill>
                  <a:srgbClr val="152047"/>
                </a:solidFill>
                <a:latin typeface="Arial"/>
                <a:ea typeface="Arial"/>
                <a:cs typeface="Arial"/>
              </a:defRPr>
            </a:lvl2pPr>
            <a:lvl3pPr algn="l">
              <a:defRPr sz="1950" b="1">
                <a:solidFill>
                  <a:srgbClr val="152047"/>
                </a:solidFill>
                <a:latin typeface="Arial"/>
                <a:ea typeface="Arial"/>
                <a:cs typeface="Arial"/>
              </a:defRPr>
            </a:lvl3pPr>
            <a:lvl4pPr algn="l">
              <a:defRPr sz="1950" b="1">
                <a:solidFill>
                  <a:srgbClr val="152047"/>
                </a:solidFill>
                <a:latin typeface="Arial"/>
                <a:ea typeface="Arial"/>
                <a:cs typeface="Arial"/>
              </a:defRPr>
            </a:lvl4pPr>
            <a:lvl5pPr algn="l">
              <a:defRPr sz="1950" b="1">
                <a:solidFill>
                  <a:srgbClr val="152047"/>
                </a:solidFill>
                <a:latin typeface="Arial"/>
                <a:ea typeface="Arial"/>
                <a:cs typeface="Arial"/>
              </a:defRPr>
            </a:lvl5pPr>
            <a:lvl6pPr algn="l">
              <a:defRPr sz="1950" b="1">
                <a:solidFill>
                  <a:srgbClr val="152047"/>
                </a:solidFill>
                <a:latin typeface="Arial"/>
                <a:ea typeface="Arial"/>
                <a:cs typeface="Arial"/>
              </a:defRPr>
            </a:lvl6pPr>
            <a:lvl7pPr algn="l">
              <a:defRPr sz="1950" b="1">
                <a:solidFill>
                  <a:srgbClr val="152047"/>
                </a:solidFill>
                <a:latin typeface="Arial"/>
                <a:ea typeface="Arial"/>
                <a:cs typeface="Arial"/>
              </a:defRPr>
            </a:lvl7pPr>
            <a:lvl8pPr algn="l">
              <a:defRPr sz="1950" b="1">
                <a:solidFill>
                  <a:srgbClr val="152047"/>
                </a:solidFill>
                <a:latin typeface="Arial"/>
                <a:ea typeface="Arial"/>
                <a:cs typeface="Arial"/>
              </a:defRPr>
            </a:lvl8pPr>
            <a:lvl9pPr algn="l">
              <a:defRPr sz="1950" b="1">
                <a:solidFill>
                  <a:srgbClr val="152047"/>
                </a:solidFill>
                <a:latin typeface="Arial"/>
                <a:ea typeface="Arial"/>
                <a:cs typeface="Arial"/>
              </a:defRPr>
            </a:lvl9pPr>
          </a:lstStyle>
          <a:p xmlns:a="http://schemas.openxmlformats.org/drawingml/2006/main">
            <a:pPr algn="l">
              <a:defRPr sz="1950" b="1">
                <a:solidFill>
                  <a:srgbClr val="152047"/>
                </a:solidFill>
              </a:defRPr>
            </a:pPr>
            <a:r>
              <a:rPr sz="1950" b="1">
                <a:solidFill>
                  <a:srgbClr val="152047"/>
                </a:solidFill>
                <a:latin typeface="Arial"/>
                <a:ea typeface="Arial"/>
                <a:cs typeface="Arial"/>
              </a:rPr>
              <a:t>retail customers</a:t>
            </a:r>
          </a:p>
        </p:txBody>
      </p:sp>
      <p:sp>
        <p:nvSpPr>
          <p:cNvPr id="28" name="">
            <a:extLst xmlns:a="http://schemas.openxmlformats.org/drawingml/2006/main">
              <a:ext uri="{FF2B5EF4-FFF2-40B4-BE49-F238E27FC236}">
                <a16:creationId xmlns:a16="http://schemas.microsoft.com/office/drawing/2014/main" id="{3140E5AF-8D93-4802-AF6A-59CC5E62E855}"/>
              </a:ext>
            </a:extLst>
          </p:cNvPr>
          <p:cNvSpPr>
            <a:spLocks xmlns:a="http://schemas.openxmlformats.org/drawingml/2006/main" noGrp="1"/>
          </p:cNvSpPr>
          <p:nvPr/>
        </p:nvSpPr>
        <p:spPr>
          <a:xfrm xmlns:a="http://schemas.openxmlformats.org/drawingml/2006/main">
            <a:off x="9144000" y="6257925"/>
            <a:ext cx="3962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SAP Future of Retail</a:t>
            </a:r>
          </a:p>
        </p:txBody>
      </p:sp>
    </p:spTree>
    <p:extLst>
      <p:ext uri="{BB962C8B-B14F-4D97-AF65-F5344CB8AC3E}">
        <p14:creationId xmlns:p14="http://schemas.microsoft.com/office/powerpoint/2010/main" val="1432052352"/>
      </p:ext>
    </p:extLst>
  </p:cSld>
</p:sld>
</file>

<file path=ppt/slides/slide3.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8EA41FB-D615-41E5-B9F0-DF7831A4D77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0B2CB6-DF04-489C-91D8-B6E651E55FE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KEY ISSUES</a:t>
            </a:r>
          </a:p>
        </p:txBody>
      </p:sp>
      <p:sp>
        <p:nvSpPr>
          <p:cNvPr id="4" name="">
            <a:extLst xmlns:a="http://schemas.openxmlformats.org/drawingml/2006/main">
              <a:ext uri="{FF2B5EF4-FFF2-40B4-BE49-F238E27FC236}">
                <a16:creationId xmlns:a16="http://schemas.microsoft.com/office/drawing/2014/main" id="{8E5E975D-8B41-48A8-8990-B9C6804F045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Three gaps delay the same decision</a:t>
            </a:r>
          </a:p>
        </p:txBody>
      </p:sp>
      <p:sp>
        <p:nvSpPr>
          <p:cNvPr id="5" name="">
            <a:extLst xmlns:a="http://schemas.openxmlformats.org/drawingml/2006/main">
              <a:ext uri="{FF2B5EF4-FFF2-40B4-BE49-F238E27FC236}">
                <a16:creationId xmlns:a16="http://schemas.microsoft.com/office/drawing/2014/main" id="{930F4F6D-8B84-444F-8BCF-7B486C53F33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Case-based problem hypothesis. Validate the frequency and cost through planner interviews and a pilot.</a:t>
            </a:r>
          </a:p>
        </p:txBody>
      </p:sp>
      <p:sp>
        <p:nvSpPr>
          <p:cNvPr id="6" name="">
            <a:extLst xmlns:a="http://schemas.openxmlformats.org/drawingml/2006/main">
              <a:ext uri="{FF2B5EF4-FFF2-40B4-BE49-F238E27FC236}">
                <a16:creationId xmlns:a16="http://schemas.microsoft.com/office/drawing/2014/main" id="{0C231509-535F-4C16-9D86-3A2872FF0F1D}"/>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21C390-7C47-497B-A273-1547A4295D31}"/>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7B87DD7-BCF8-4ED7-944B-994E4CB46EF3}"/>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30BB12-D608-4CD2-8FFA-15BAD7CFC73D}"/>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F8A5CF9-433B-4E8D-9470-9C7D0315F0E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3625ED-33A4-4F26-9075-48DC55A23C66}"/>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22467847-6813-41D4-96AE-FB39FD80BD4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52DD7C-A4B4-4C68-959D-AAA41A80AD4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0F4EDD72-A02E-4890-B272-691F92AFC3FA}"/>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D699B2-3547-499B-B514-12103DF9BDD7}"/>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5108CDEA-7F12-43C9-B16C-48D6AF1490C0}"/>
              </a:ext>
            </a:extLst>
          </p:cNvPr>
          <p:cNvSpPr>
            <a:spLocks xmlns:a="http://schemas.openxmlformats.org/drawingml/2006/main" noGrp="1"/>
          </p:cNvSpPr>
          <p:nvPr/>
        </p:nvSpPr>
        <p:spPr>
          <a:xfrm xmlns:a="http://schemas.openxmlformats.org/drawingml/2006/main">
            <a:off x="916305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2625" b="1">
                <a:solidFill>
                  <a:srgbClr val="165DAE"/>
                </a:solidFill>
                <a:latin typeface="Arial"/>
                <a:ea typeface="Arial"/>
                <a:cs typeface="Arial"/>
              </a:defRPr>
            </a:defPPr>
            <a:lvl1pPr algn="r">
              <a:defRPr sz="2625" b="1">
                <a:solidFill>
                  <a:srgbClr val="165DAE"/>
                </a:solidFill>
                <a:latin typeface="Arial"/>
                <a:ea typeface="Arial"/>
                <a:cs typeface="Arial"/>
              </a:defRPr>
            </a:lvl1pPr>
            <a:lvl2pPr algn="r">
              <a:defRPr sz="2625" b="1">
                <a:solidFill>
                  <a:srgbClr val="165DAE"/>
                </a:solidFill>
                <a:latin typeface="Arial"/>
                <a:ea typeface="Arial"/>
                <a:cs typeface="Arial"/>
              </a:defRPr>
            </a:lvl2pPr>
            <a:lvl3pPr algn="r">
              <a:defRPr sz="2625" b="1">
                <a:solidFill>
                  <a:srgbClr val="165DAE"/>
                </a:solidFill>
                <a:latin typeface="Arial"/>
                <a:ea typeface="Arial"/>
                <a:cs typeface="Arial"/>
              </a:defRPr>
            </a:lvl3pPr>
            <a:lvl4pPr algn="r">
              <a:defRPr sz="2625" b="1">
                <a:solidFill>
                  <a:srgbClr val="165DAE"/>
                </a:solidFill>
                <a:latin typeface="Arial"/>
                <a:ea typeface="Arial"/>
                <a:cs typeface="Arial"/>
              </a:defRPr>
            </a:lvl4pPr>
            <a:lvl5pPr algn="r">
              <a:defRPr sz="2625" b="1">
                <a:solidFill>
                  <a:srgbClr val="165DAE"/>
                </a:solidFill>
                <a:latin typeface="Arial"/>
                <a:ea typeface="Arial"/>
                <a:cs typeface="Arial"/>
              </a:defRPr>
            </a:lvl5pPr>
            <a:lvl6pPr algn="r">
              <a:defRPr sz="2625" b="1">
                <a:solidFill>
                  <a:srgbClr val="165DAE"/>
                </a:solidFill>
                <a:latin typeface="Arial"/>
                <a:ea typeface="Arial"/>
                <a:cs typeface="Arial"/>
              </a:defRPr>
            </a:lvl6pPr>
            <a:lvl7pPr algn="r">
              <a:defRPr sz="2625" b="1">
                <a:solidFill>
                  <a:srgbClr val="165DAE"/>
                </a:solidFill>
                <a:latin typeface="Arial"/>
                <a:ea typeface="Arial"/>
                <a:cs typeface="Arial"/>
              </a:defRPr>
            </a:lvl7pPr>
            <a:lvl8pPr algn="r">
              <a:defRPr sz="2625" b="1">
                <a:solidFill>
                  <a:srgbClr val="165DAE"/>
                </a:solidFill>
                <a:latin typeface="Arial"/>
                <a:ea typeface="Arial"/>
                <a:cs typeface="Arial"/>
              </a:defRPr>
            </a:lvl8pPr>
            <a:lvl9pPr algn="r">
              <a:defRPr sz="2625" b="1">
                <a:solidFill>
                  <a:srgbClr val="165DAE"/>
                </a:solidFill>
                <a:latin typeface="Arial"/>
                <a:ea typeface="Arial"/>
                <a:cs typeface="Arial"/>
              </a:defRPr>
            </a:lvl9pPr>
          </a:lstStyle>
          <a:p xmlns:a="http://schemas.openxmlformats.org/drawingml/2006/main">
            <a:pPr algn="r">
              <a:defRPr sz="1275" b="1">
                <a:solidFill>
                  <a:srgbClr val="165DAE"/>
                </a:solidFill>
              </a:defRPr>
            </a:pPr>
            <a:r>
              <a:rPr sz="2625" b="1">
                <a:solidFill>
                  <a:srgbClr val="165DAE"/>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EB8CA0B6-FB1F-4147-8649-38B842BE90C2}"/>
              </a:ext>
            </a:extLst>
          </p:cNvPr>
          <p:cNvSpPr>
            <a:spLocks xmlns:a="http://schemas.openxmlformats.org/drawingml/2006/main" noGrp="1"/>
          </p:cNvSpPr>
          <p:nvPr/>
        </p:nvSpPr>
        <p:spPr>
          <a:xfrm xmlns:a="http://schemas.openxmlformats.org/drawingml/2006/main">
            <a:off x="457200"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81930AEB-BF49-44F6-825E-56024D0518E1}"/>
              </a:ext>
            </a:extLst>
          </p:cNvPr>
          <p:cNvPicPr>
            <a:picLocks xmlns:a="http://schemas.openxmlformats.org/drawingml/2006/main" noChangeAspect="1"/>
          </p:cNvPicPr>
          <p:nvPr/>
        </p:nvPicPr>
        <p:blipFill>
          <a:blip xmlns:r="http://schemas.openxmlformats.org/officeDocument/2006/relationships" xmlns:a="http://schemas.openxmlformats.org/drawingml/2006/main" r:embed="Rcb167c340ccb4e8a"/>
          <a:srcRect xmlns:a="http://schemas.openxmlformats.org/drawingml/2006/main" l="17000" t="35000" r="30000" b="28000"/>
          <a:stretch xmlns:a="http://schemas.openxmlformats.org/drawingml/2006/main"/>
        </p:blipFill>
        <p:spPr>
          <a:xfrm xmlns:a="http://schemas.openxmlformats.org/drawingml/2006/main">
            <a:off x="457200" y="1530687"/>
            <a:ext cx="4095750" cy="2110702"/>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AD8D2A6F-404A-437C-9F95-140C78DE3DEF}"/>
              </a:ext>
            </a:extLst>
          </p:cNvPr>
          <p:cNvSpPr>
            <a:spLocks xmlns:a="http://schemas.openxmlformats.org/drawingml/2006/main" noGrp="1"/>
          </p:cNvSpPr>
          <p:nvPr/>
        </p:nvSpPr>
        <p:spPr>
          <a:xfrm xmlns:a="http://schemas.openxmlformats.org/drawingml/2006/main">
            <a:off x="457200"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165DAE"/>
                </a:solidFill>
                <a:latin typeface="Arial"/>
                <a:ea typeface="Arial"/>
                <a:cs typeface="Arial"/>
              </a:defRPr>
            </a:defPPr>
            <a:lvl1pPr algn="l">
              <a:defRPr sz="2625" b="1">
                <a:solidFill>
                  <a:srgbClr val="165DAE"/>
                </a:solidFill>
                <a:latin typeface="Arial"/>
                <a:ea typeface="Arial"/>
                <a:cs typeface="Arial"/>
              </a:defRPr>
            </a:lvl1pPr>
            <a:lvl2pPr algn="l">
              <a:defRPr sz="2625" b="1">
                <a:solidFill>
                  <a:srgbClr val="165DAE"/>
                </a:solidFill>
                <a:latin typeface="Arial"/>
                <a:ea typeface="Arial"/>
                <a:cs typeface="Arial"/>
              </a:defRPr>
            </a:lvl2pPr>
            <a:lvl3pPr algn="l">
              <a:defRPr sz="2625" b="1">
                <a:solidFill>
                  <a:srgbClr val="165DAE"/>
                </a:solidFill>
                <a:latin typeface="Arial"/>
                <a:ea typeface="Arial"/>
                <a:cs typeface="Arial"/>
              </a:defRPr>
            </a:lvl3pPr>
            <a:lvl4pPr algn="l">
              <a:defRPr sz="2625" b="1">
                <a:solidFill>
                  <a:srgbClr val="165DAE"/>
                </a:solidFill>
                <a:latin typeface="Arial"/>
                <a:ea typeface="Arial"/>
                <a:cs typeface="Arial"/>
              </a:defRPr>
            </a:lvl4pPr>
            <a:lvl5pPr algn="l">
              <a:defRPr sz="2625" b="1">
                <a:solidFill>
                  <a:srgbClr val="165DAE"/>
                </a:solidFill>
                <a:latin typeface="Arial"/>
                <a:ea typeface="Arial"/>
                <a:cs typeface="Arial"/>
              </a:defRPr>
            </a:lvl5pPr>
            <a:lvl6pPr algn="l">
              <a:defRPr sz="2625" b="1">
                <a:solidFill>
                  <a:srgbClr val="165DAE"/>
                </a:solidFill>
                <a:latin typeface="Arial"/>
                <a:ea typeface="Arial"/>
                <a:cs typeface="Arial"/>
              </a:defRPr>
            </a:lvl6pPr>
            <a:lvl7pPr algn="l">
              <a:defRPr sz="2625" b="1">
                <a:solidFill>
                  <a:srgbClr val="165DAE"/>
                </a:solidFill>
                <a:latin typeface="Arial"/>
                <a:ea typeface="Arial"/>
                <a:cs typeface="Arial"/>
              </a:defRPr>
            </a:lvl7pPr>
            <a:lvl8pPr algn="l">
              <a:defRPr sz="2625" b="1">
                <a:solidFill>
                  <a:srgbClr val="165DAE"/>
                </a:solidFill>
                <a:latin typeface="Arial"/>
                <a:ea typeface="Arial"/>
                <a:cs typeface="Arial"/>
              </a:defRPr>
            </a:lvl8pPr>
            <a:lvl9pPr algn="l">
              <a:defRPr sz="2625" b="1">
                <a:solidFill>
                  <a:srgbClr val="165DAE"/>
                </a:solidFill>
                <a:latin typeface="Arial"/>
                <a:ea typeface="Arial"/>
                <a:cs typeface="Arial"/>
              </a:defRPr>
            </a:lvl9pPr>
          </a:lstStyle>
          <a:p xmlns:a="http://schemas.openxmlformats.org/drawingml/2006/main">
            <a:pPr algn="l">
              <a:defRPr sz="3225" b="1">
                <a:solidFill>
                  <a:srgbClr val="165DAE"/>
                </a:solidFill>
              </a:defRPr>
            </a:pPr>
            <a:r>
              <a:rPr sz="2625" b="1">
                <a:solidFill>
                  <a:srgbClr val="165DAE"/>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AA340103-920B-4B09-9915-3243F72A40C3}"/>
              </a:ext>
            </a:extLst>
          </p:cNvPr>
          <p:cNvSpPr>
            <a:spLocks xmlns:a="http://schemas.openxmlformats.org/drawingml/2006/main" noGrp="1"/>
          </p:cNvSpPr>
          <p:nvPr/>
        </p:nvSpPr>
        <p:spPr>
          <a:xfrm xmlns:a="http://schemas.openxmlformats.org/drawingml/2006/main">
            <a:off x="1219200"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Interest is invisible</a:t>
            </a:r>
          </a:p>
        </p:txBody>
      </p:sp>
      <p:sp>
        <p:nvSpPr>
          <p:cNvPr id="21" name="">
            <a:extLst xmlns:a="http://schemas.openxmlformats.org/drawingml/2006/main">
              <a:ext uri="{FF2B5EF4-FFF2-40B4-BE49-F238E27FC236}">
                <a16:creationId xmlns:a16="http://schemas.microsoft.com/office/drawing/2014/main" id="{2C9FA6E1-A570-4E74-B16F-9D5B98FDFF3C}"/>
              </a:ext>
            </a:extLst>
          </p:cNvPr>
          <p:cNvSpPr>
            <a:spLocks xmlns:a="http://schemas.openxmlformats.org/drawingml/2006/main" noGrp="1"/>
          </p:cNvSpPr>
          <p:nvPr/>
        </p:nvSpPr>
        <p:spPr>
          <a:xfrm xmlns:a="http://schemas.openxmlformats.org/drawingml/2006/main">
            <a:off x="485775"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Store teams see what sold, but not which sizes were tried and left behind.</a:t>
            </a:r>
          </a:p>
        </p:txBody>
      </p:sp>
      <p:sp>
        <p:nvSpPr>
          <p:cNvPr id="22" name="">
            <a:extLst xmlns:a="http://schemas.openxmlformats.org/drawingml/2006/main">
              <a:ext uri="{FF2B5EF4-FFF2-40B4-BE49-F238E27FC236}">
                <a16:creationId xmlns:a16="http://schemas.microsoft.com/office/drawing/2014/main" id="{CDC637E4-9624-4A5A-BF1F-020895D747EF}"/>
              </a:ext>
            </a:extLst>
          </p:cNvPr>
          <p:cNvSpPr>
            <a:spLocks xmlns:a="http://schemas.openxmlformats.org/drawingml/2006/main" noGrp="1"/>
          </p:cNvSpPr>
          <p:nvPr/>
        </p:nvSpPr>
        <p:spPr>
          <a:xfrm xmlns:a="http://schemas.openxmlformats.org/drawingml/2006/main">
            <a:off x="4810125"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F4049EC1-5DCF-4222-ABCB-3CFDAB49F05B}"/>
              </a:ext>
            </a:extLst>
          </p:cNvPr>
          <p:cNvPicPr>
            <a:picLocks xmlns:a="http://schemas.openxmlformats.org/drawingml/2006/main" noChangeAspect="1"/>
          </p:cNvPicPr>
          <p:nvPr/>
        </p:nvPicPr>
        <p:blipFill>
          <a:blip xmlns:r="http://schemas.openxmlformats.org/officeDocument/2006/relationships" xmlns:a="http://schemas.openxmlformats.org/drawingml/2006/main" r:embed="Rffe6b96964c34801"/>
          <a:srcRect xmlns:a="http://schemas.openxmlformats.org/drawingml/2006/main" l="17000" t="35000" r="30000" b="28000"/>
          <a:stretch xmlns:a="http://schemas.openxmlformats.org/drawingml/2006/main"/>
        </p:blipFill>
        <p:spPr>
          <a:xfrm xmlns:a="http://schemas.openxmlformats.org/drawingml/2006/main">
            <a:off x="4810125" y="1530687"/>
            <a:ext cx="4095750" cy="2110702"/>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57CC42D-1A9F-4023-AC9E-F196AD6FB699}"/>
              </a:ext>
            </a:extLst>
          </p:cNvPr>
          <p:cNvSpPr>
            <a:spLocks xmlns:a="http://schemas.openxmlformats.org/drawingml/2006/main" noGrp="1"/>
          </p:cNvSpPr>
          <p:nvPr/>
        </p:nvSpPr>
        <p:spPr>
          <a:xfrm xmlns:a="http://schemas.openxmlformats.org/drawingml/2006/main">
            <a:off x="4810125" y="39052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625" b="1">
                <a:solidFill>
                  <a:srgbClr val="165DAE"/>
                </a:solidFill>
                <a:latin typeface="Arial"/>
                <a:ea typeface="Arial"/>
                <a:cs typeface="Arial"/>
              </a:defRPr>
            </a:defPPr>
            <a:lvl1pPr algn="l">
              <a:defRPr sz="2625" b="1">
                <a:solidFill>
                  <a:srgbClr val="165DAE"/>
                </a:solidFill>
                <a:latin typeface="Arial"/>
                <a:ea typeface="Arial"/>
                <a:cs typeface="Arial"/>
              </a:defRPr>
            </a:lvl1pPr>
            <a:lvl2pPr algn="l">
              <a:defRPr sz="2625" b="1">
                <a:solidFill>
                  <a:srgbClr val="165DAE"/>
                </a:solidFill>
                <a:latin typeface="Arial"/>
                <a:ea typeface="Arial"/>
                <a:cs typeface="Arial"/>
              </a:defRPr>
            </a:lvl2pPr>
            <a:lvl3pPr algn="l">
              <a:defRPr sz="2625" b="1">
                <a:solidFill>
                  <a:srgbClr val="165DAE"/>
                </a:solidFill>
                <a:latin typeface="Arial"/>
                <a:ea typeface="Arial"/>
                <a:cs typeface="Arial"/>
              </a:defRPr>
            </a:lvl3pPr>
            <a:lvl4pPr algn="l">
              <a:defRPr sz="2625" b="1">
                <a:solidFill>
                  <a:srgbClr val="165DAE"/>
                </a:solidFill>
                <a:latin typeface="Arial"/>
                <a:ea typeface="Arial"/>
                <a:cs typeface="Arial"/>
              </a:defRPr>
            </a:lvl4pPr>
            <a:lvl5pPr algn="l">
              <a:defRPr sz="2625" b="1">
                <a:solidFill>
                  <a:srgbClr val="165DAE"/>
                </a:solidFill>
                <a:latin typeface="Arial"/>
                <a:ea typeface="Arial"/>
                <a:cs typeface="Arial"/>
              </a:defRPr>
            </a:lvl5pPr>
            <a:lvl6pPr algn="l">
              <a:defRPr sz="2625" b="1">
                <a:solidFill>
                  <a:srgbClr val="165DAE"/>
                </a:solidFill>
                <a:latin typeface="Arial"/>
                <a:ea typeface="Arial"/>
                <a:cs typeface="Arial"/>
              </a:defRPr>
            </a:lvl6pPr>
            <a:lvl7pPr algn="l">
              <a:defRPr sz="2625" b="1">
                <a:solidFill>
                  <a:srgbClr val="165DAE"/>
                </a:solidFill>
                <a:latin typeface="Arial"/>
                <a:ea typeface="Arial"/>
                <a:cs typeface="Arial"/>
              </a:defRPr>
            </a:lvl7pPr>
            <a:lvl8pPr algn="l">
              <a:defRPr sz="2625" b="1">
                <a:solidFill>
                  <a:srgbClr val="165DAE"/>
                </a:solidFill>
                <a:latin typeface="Arial"/>
                <a:ea typeface="Arial"/>
                <a:cs typeface="Arial"/>
              </a:defRPr>
            </a:lvl8pPr>
            <a:lvl9pPr algn="l">
              <a:defRPr sz="2625" b="1">
                <a:solidFill>
                  <a:srgbClr val="165DAE"/>
                </a:solidFill>
                <a:latin typeface="Arial"/>
                <a:ea typeface="Arial"/>
                <a:cs typeface="Arial"/>
              </a:defRPr>
            </a:lvl9pPr>
          </a:lstStyle>
          <a:p xmlns:a="http://schemas.openxmlformats.org/drawingml/2006/main">
            <a:pPr algn="l">
              <a:defRPr sz="3225" b="1">
                <a:solidFill>
                  <a:srgbClr val="165DAE"/>
                </a:solidFill>
              </a:defRPr>
            </a:pPr>
            <a:r>
              <a:rPr sz="2625" b="1">
                <a:solidFill>
                  <a:srgbClr val="165DAE"/>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E9E8515C-C65B-4375-BC5F-13D5D53637BA}"/>
              </a:ext>
            </a:extLst>
          </p:cNvPr>
          <p:cNvSpPr>
            <a:spLocks xmlns:a="http://schemas.openxmlformats.org/drawingml/2006/main" noGrp="1"/>
          </p:cNvSpPr>
          <p:nvPr/>
        </p:nvSpPr>
        <p:spPr>
          <a:xfrm xmlns:a="http://schemas.openxmlformats.org/drawingml/2006/main">
            <a:off x="5572125"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Unmet online demand disappears</a:t>
            </a:r>
          </a:p>
        </p:txBody>
      </p:sp>
      <p:sp>
        <p:nvSpPr>
          <p:cNvPr id="26" name="">
            <a:extLst xmlns:a="http://schemas.openxmlformats.org/drawingml/2006/main">
              <a:ext uri="{FF2B5EF4-FFF2-40B4-BE49-F238E27FC236}">
                <a16:creationId xmlns:a16="http://schemas.microsoft.com/office/drawing/2014/main" id="{FA66B0D0-0A7A-48EE-BD03-4240A9294CB8}"/>
              </a:ext>
            </a:extLst>
          </p:cNvPr>
          <p:cNvSpPr>
            <a:spLocks xmlns:a="http://schemas.openxmlformats.org/drawingml/2006/main" noGrp="1"/>
          </p:cNvSpPr>
          <p:nvPr/>
        </p:nvSpPr>
        <p:spPr>
          <a:xfrm xmlns:a="http://schemas.openxmlformats.org/drawingml/2006/main">
            <a:off x="4838700"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Searching an unavailable size can end without a sale or a restock request.</a:t>
            </a:r>
          </a:p>
        </p:txBody>
      </p:sp>
      <p:sp>
        <p:nvSpPr>
          <p:cNvPr id="27" name="">
            <a:extLst xmlns:a="http://schemas.openxmlformats.org/drawingml/2006/main">
              <a:ext uri="{FF2B5EF4-FFF2-40B4-BE49-F238E27FC236}">
                <a16:creationId xmlns:a16="http://schemas.microsoft.com/office/drawing/2014/main" id="{6E0F450F-F661-4467-91D1-40069AE704E1}"/>
              </a:ext>
            </a:extLst>
          </p:cNvPr>
          <p:cNvSpPr>
            <a:spLocks xmlns:a="http://schemas.openxmlformats.org/drawingml/2006/main" noGrp="1"/>
          </p:cNvSpPr>
          <p:nvPr/>
        </p:nvSpPr>
        <p:spPr>
          <a:xfrm xmlns:a="http://schemas.openxmlformats.org/drawingml/2006/main">
            <a:off x="9163050" y="1476375"/>
            <a:ext cx="4095750" cy="2219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BB26143F-4CDC-498E-8D43-B5AAD4D20BA6}"/>
              </a:ext>
            </a:extLst>
          </p:cNvPr>
          <p:cNvPicPr>
            <a:picLocks xmlns:a="http://schemas.openxmlformats.org/drawingml/2006/main" noChangeAspect="1"/>
          </p:cNvPicPr>
          <p:nvPr/>
        </p:nvPicPr>
        <p:blipFill>
          <a:blip xmlns:r="http://schemas.openxmlformats.org/officeDocument/2006/relationships" xmlns:a="http://schemas.openxmlformats.org/drawingml/2006/main" r:embed="Rde11c7c98e834635"/>
          <a:srcRect xmlns:a="http://schemas.openxmlformats.org/drawingml/2006/main" l="17000" t="20000" r="1000" b="12000"/>
          <a:stretch xmlns:a="http://schemas.openxmlformats.org/drawingml/2006/main"/>
        </p:blipFill>
        <p:spPr>
          <a:xfrm xmlns:a="http://schemas.openxmlformats.org/drawingml/2006/main">
            <a:off x="9398215" y="1476375"/>
            <a:ext cx="3625420" cy="2219325"/>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8148667-8A0C-4B27-981D-CA4EC4D1D937}"/>
              </a:ext>
            </a:extLst>
          </p:cNvPr>
          <p:cNvSpPr>
            <a:spLocks xmlns:a="http://schemas.openxmlformats.org/drawingml/2006/main" noGrp="1"/>
          </p:cNvSpPr>
          <p:nvPr/>
        </p:nvSpPr>
        <p:spPr>
          <a:xfrm xmlns:a="http://schemas.openxmlformats.org/drawingml/2006/main">
            <a:off x="9163050" y="39052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225" b="1">
                <a:solidFill>
                  <a:srgbClr val="165DAE"/>
                </a:solidFill>
                <a:latin typeface="Arial"/>
                <a:ea typeface="Arial"/>
                <a:cs typeface="Arial"/>
              </a:defRPr>
            </a:defPPr>
            <a:lvl1pPr algn="l">
              <a:defRPr sz="3225" b="1">
                <a:solidFill>
                  <a:srgbClr val="165DAE"/>
                </a:solidFill>
                <a:latin typeface="Arial"/>
                <a:ea typeface="Arial"/>
                <a:cs typeface="Arial"/>
              </a:defRPr>
            </a:lvl1pPr>
            <a:lvl2pPr algn="l">
              <a:defRPr sz="3225" b="1">
                <a:solidFill>
                  <a:srgbClr val="165DAE"/>
                </a:solidFill>
                <a:latin typeface="Arial"/>
                <a:ea typeface="Arial"/>
                <a:cs typeface="Arial"/>
              </a:defRPr>
            </a:lvl2pPr>
            <a:lvl3pPr algn="l">
              <a:defRPr sz="3225" b="1">
                <a:solidFill>
                  <a:srgbClr val="165DAE"/>
                </a:solidFill>
                <a:latin typeface="Arial"/>
                <a:ea typeface="Arial"/>
                <a:cs typeface="Arial"/>
              </a:defRPr>
            </a:lvl3pPr>
            <a:lvl4pPr algn="l">
              <a:defRPr sz="3225" b="1">
                <a:solidFill>
                  <a:srgbClr val="165DAE"/>
                </a:solidFill>
                <a:latin typeface="Arial"/>
                <a:ea typeface="Arial"/>
                <a:cs typeface="Arial"/>
              </a:defRPr>
            </a:lvl4pPr>
            <a:lvl5pPr algn="l">
              <a:defRPr sz="3225" b="1">
                <a:solidFill>
                  <a:srgbClr val="165DAE"/>
                </a:solidFill>
                <a:latin typeface="Arial"/>
                <a:ea typeface="Arial"/>
                <a:cs typeface="Arial"/>
              </a:defRPr>
            </a:lvl5pPr>
            <a:lvl6pPr algn="l">
              <a:defRPr sz="3225" b="1">
                <a:solidFill>
                  <a:srgbClr val="165DAE"/>
                </a:solidFill>
                <a:latin typeface="Arial"/>
                <a:ea typeface="Arial"/>
                <a:cs typeface="Arial"/>
              </a:defRPr>
            </a:lvl6pPr>
            <a:lvl7pPr algn="l">
              <a:defRPr sz="3225" b="1">
                <a:solidFill>
                  <a:srgbClr val="165DAE"/>
                </a:solidFill>
                <a:latin typeface="Arial"/>
                <a:ea typeface="Arial"/>
                <a:cs typeface="Arial"/>
              </a:defRPr>
            </a:lvl7pPr>
            <a:lvl8pPr algn="l">
              <a:defRPr sz="3225" b="1">
                <a:solidFill>
                  <a:srgbClr val="165DAE"/>
                </a:solidFill>
                <a:latin typeface="Arial"/>
                <a:ea typeface="Arial"/>
                <a:cs typeface="Arial"/>
              </a:defRPr>
            </a:lvl8pPr>
            <a:lvl9pPr algn="l">
              <a:defRPr sz="3225" b="1">
                <a:solidFill>
                  <a:srgbClr val="165DAE"/>
                </a:solidFill>
                <a:latin typeface="Arial"/>
                <a:ea typeface="Arial"/>
                <a:cs typeface="Arial"/>
              </a:defRPr>
            </a:lvl9pPr>
          </a:lstStyle>
          <a:p xmlns:a="http://schemas.openxmlformats.org/drawingml/2006/main">
            <a:pPr algn="l">
              <a:defRPr sz="3225" b="1">
                <a:solidFill>
                  <a:srgbClr val="165DAE"/>
                </a:solidFill>
              </a:defRPr>
            </a:pPr>
            <a:r>
              <a:rPr sz="3225" b="1">
                <a:solidFill>
                  <a:srgbClr val="165DAE"/>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61517C2D-1788-455C-A662-2BE23B67BC85}"/>
              </a:ext>
            </a:extLst>
          </p:cNvPr>
          <p:cNvSpPr>
            <a:spLocks xmlns:a="http://schemas.openxmlformats.org/drawingml/2006/main" noGrp="1"/>
          </p:cNvSpPr>
          <p:nvPr/>
        </p:nvSpPr>
        <p:spPr>
          <a:xfrm xmlns:a="http://schemas.openxmlformats.org/drawingml/2006/main">
            <a:off x="9925050" y="3857625"/>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52047"/>
                </a:solidFill>
                <a:latin typeface="Arial"/>
                <a:ea typeface="Arial"/>
                <a:cs typeface="Arial"/>
              </a:defRPr>
            </a:defPPr>
            <a:lvl1pPr algn="l">
              <a:defRPr sz="2175" b="1">
                <a:solidFill>
                  <a:srgbClr val="152047"/>
                </a:solidFill>
                <a:latin typeface="Arial"/>
                <a:ea typeface="Arial"/>
                <a:cs typeface="Arial"/>
              </a:defRPr>
            </a:lvl1pPr>
            <a:lvl2pPr algn="l">
              <a:defRPr sz="2175" b="1">
                <a:solidFill>
                  <a:srgbClr val="152047"/>
                </a:solidFill>
                <a:latin typeface="Arial"/>
                <a:ea typeface="Arial"/>
                <a:cs typeface="Arial"/>
              </a:defRPr>
            </a:lvl2pPr>
            <a:lvl3pPr algn="l">
              <a:defRPr sz="2175" b="1">
                <a:solidFill>
                  <a:srgbClr val="152047"/>
                </a:solidFill>
                <a:latin typeface="Arial"/>
                <a:ea typeface="Arial"/>
                <a:cs typeface="Arial"/>
              </a:defRPr>
            </a:lvl3pPr>
            <a:lvl4pPr algn="l">
              <a:defRPr sz="2175" b="1">
                <a:solidFill>
                  <a:srgbClr val="152047"/>
                </a:solidFill>
                <a:latin typeface="Arial"/>
                <a:ea typeface="Arial"/>
                <a:cs typeface="Arial"/>
              </a:defRPr>
            </a:lvl4pPr>
            <a:lvl5pPr algn="l">
              <a:defRPr sz="2175" b="1">
                <a:solidFill>
                  <a:srgbClr val="152047"/>
                </a:solidFill>
                <a:latin typeface="Arial"/>
                <a:ea typeface="Arial"/>
                <a:cs typeface="Arial"/>
              </a:defRPr>
            </a:lvl5pPr>
            <a:lvl6pPr algn="l">
              <a:defRPr sz="2175" b="1">
                <a:solidFill>
                  <a:srgbClr val="152047"/>
                </a:solidFill>
                <a:latin typeface="Arial"/>
                <a:ea typeface="Arial"/>
                <a:cs typeface="Arial"/>
              </a:defRPr>
            </a:lvl6pPr>
            <a:lvl7pPr algn="l">
              <a:defRPr sz="2175" b="1">
                <a:solidFill>
                  <a:srgbClr val="152047"/>
                </a:solidFill>
                <a:latin typeface="Arial"/>
                <a:ea typeface="Arial"/>
                <a:cs typeface="Arial"/>
              </a:defRPr>
            </a:lvl7pPr>
            <a:lvl8pPr algn="l">
              <a:defRPr sz="2175" b="1">
                <a:solidFill>
                  <a:srgbClr val="152047"/>
                </a:solidFill>
                <a:latin typeface="Arial"/>
                <a:ea typeface="Arial"/>
                <a:cs typeface="Arial"/>
              </a:defRPr>
            </a:lvl8pPr>
            <a:lvl9pPr algn="l">
              <a:defRPr sz="2175" b="1">
                <a:solidFill>
                  <a:srgbClr val="152047"/>
                </a:solidFill>
                <a:latin typeface="Arial"/>
                <a:ea typeface="Arial"/>
                <a:cs typeface="Arial"/>
              </a:defRPr>
            </a:lvl9pPr>
          </a:lstStyle>
          <a:p xmlns:a="http://schemas.openxmlformats.org/drawingml/2006/main">
            <a:pPr algn="l">
              <a:defRPr sz="2175" b="1">
                <a:solidFill>
                  <a:srgbClr val="152047"/>
                </a:solidFill>
              </a:defRPr>
            </a:pPr>
            <a:r>
              <a:rPr sz="2175" b="1">
                <a:solidFill>
                  <a:srgbClr val="152047"/>
                </a:solidFill>
                <a:latin typeface="Arial"/>
                <a:ea typeface="Arial"/>
                <a:cs typeface="Arial"/>
              </a:rPr>
              <a:t>Supply risk arrives without context</a:t>
            </a:r>
          </a:p>
        </p:txBody>
      </p:sp>
      <p:sp>
        <p:nvSpPr>
          <p:cNvPr id="31" name="">
            <a:extLst xmlns:a="http://schemas.openxmlformats.org/drawingml/2006/main">
              <a:ext uri="{FF2B5EF4-FFF2-40B4-BE49-F238E27FC236}">
                <a16:creationId xmlns:a16="http://schemas.microsoft.com/office/drawing/2014/main" id="{8E861EA6-4D29-41A4-A28E-A6F24713A0C6}"/>
              </a:ext>
            </a:extLst>
          </p:cNvPr>
          <p:cNvSpPr>
            <a:spLocks xmlns:a="http://schemas.openxmlformats.org/drawingml/2006/main" noGrp="1"/>
          </p:cNvSpPr>
          <p:nvPr/>
        </p:nvSpPr>
        <p:spPr>
          <a:xfrm xmlns:a="http://schemas.openxmlformats.org/drawingml/2006/main">
            <a:off x="9191625" y="4924425"/>
            <a:ext cx="3962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2100" b="0">
                <a:solidFill>
                  <a:srgbClr val="152047"/>
                </a:solidFill>
              </a:defRPr>
            </a:pPr>
            <a:r>
              <a:rPr sz="1950" b="0">
                <a:solidFill>
                  <a:srgbClr val="152047"/>
                </a:solidFill>
                <a:latin typeface="Arial"/>
                <a:ea typeface="Arial"/>
                <a:cs typeface="Arial"/>
              </a:rPr>
              <a:t>A price or delivery change needs to be traced to affected products, stores and margins.</a:t>
            </a:r>
          </a:p>
        </p:txBody>
      </p:sp>
    </p:spTree>
    <p:extLst>
      <p:ext uri="{BB962C8B-B14F-4D97-AF65-F5344CB8AC3E}">
        <p14:creationId xmlns:p14="http://schemas.microsoft.com/office/powerpoint/2010/main" val="812917261"/>
      </p:ext>
    </p:extLst>
  </p:cSld>
</p:sld>
</file>

<file path=ppt/slides/slide4.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3301E31-FF2A-4CD1-BB46-9BCBED5294B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6A3797-34DA-45E4-A265-A09C4DD5237D}"/>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1 · CUSTOMER STORY</a:t>
            </a:r>
          </a:p>
        </p:txBody>
      </p:sp>
      <p:sp>
        <p:nvSpPr>
          <p:cNvPr id="4" name="">
            <a:extLst xmlns:a="http://schemas.openxmlformats.org/drawingml/2006/main">
              <a:ext uri="{FF2B5EF4-FFF2-40B4-BE49-F238E27FC236}">
                <a16:creationId xmlns:a16="http://schemas.microsoft.com/office/drawing/2014/main" id="{6D18A37F-FCC5-4794-A36D-A7C2BFF2EC1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Meet Bob, before Retail Signal</a:t>
            </a:r>
          </a:p>
        </p:txBody>
      </p:sp>
      <p:sp>
        <p:nvSpPr>
          <p:cNvPr id="5" name="">
            <a:extLst xmlns:a="http://schemas.openxmlformats.org/drawingml/2006/main">
              <a:ext uri="{FF2B5EF4-FFF2-40B4-BE49-F238E27FC236}">
                <a16:creationId xmlns:a16="http://schemas.microsoft.com/office/drawing/2014/main" id="{94A680E2-1E5A-426B-92D0-5B8312D88F3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Bob is a fictional persona. Product, supplier and location figures are seeded demo records.</a:t>
            </a:r>
          </a:p>
        </p:txBody>
      </p:sp>
      <p:sp>
        <p:nvSpPr>
          <p:cNvPr id="6" name="">
            <a:extLst xmlns:a="http://schemas.openxmlformats.org/drawingml/2006/main">
              <a:ext uri="{FF2B5EF4-FFF2-40B4-BE49-F238E27FC236}">
                <a16:creationId xmlns:a16="http://schemas.microsoft.com/office/drawing/2014/main" id="{C352D05F-C71F-4D1A-BE70-8B10C304A62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296179-DFD3-439E-8F62-F7B790001EFF}"/>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BEDE99B-1860-4E65-9DCA-7EDAC8B362FE}"/>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E37F6CF-35C3-4D3D-8DD3-432E3B1299F6}"/>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14911694-F112-48C6-9195-ADCA80A67A5D}"/>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023800-5A79-4369-8662-0E4DD79D7AB3}"/>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D74394DB-8EBC-4E8E-A3DA-79B6D9BCE206}"/>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7CE21B-B6D3-4348-A45E-9F5A95C6DD93}"/>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DEC7531-D87D-4574-AC29-57BA0082AD53}"/>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F79CFE-1784-446B-A378-D8A461BE88FD}"/>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59A5A36B-FB85-4B1B-B951-681C3190365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04</a:t>
            </a:r>
          </a:p>
        </p:txBody>
      </p:sp>
      <p:pic>
        <p:nvPicPr>
          <p:cNvPr id="17" name="">
            <a:extLst xmlns:a="http://schemas.openxmlformats.org/drawingml/2006/main">
              <a:ext uri="{FF2B5EF4-FFF2-40B4-BE49-F238E27FC236}">
                <a16:creationId xmlns:a16="http://schemas.microsoft.com/office/drawing/2014/main" id="{C24EA11B-5A0E-4D17-9DB8-19B9E90545EC}"/>
              </a:ext>
            </a:extLst>
          </p:cNvPr>
          <p:cNvPicPr>
            <a:picLocks xmlns:a="http://schemas.openxmlformats.org/drawingml/2006/main" noChangeAspect="1"/>
          </p:cNvPicPr>
          <p:nvPr/>
        </p:nvPicPr>
        <p:blipFill>
          <a:blip xmlns:r="http://schemas.openxmlformats.org/officeDocument/2006/relationships" xmlns:a="http://schemas.openxmlformats.org/drawingml/2006/main" r:embed="Rab65f7091b5c46f0"/>
          <a:srcRect xmlns:a="http://schemas.openxmlformats.org/drawingml/2006/main" l="0" t="2293" r="0" b="2293"/>
          <a:stretch xmlns:a="http://schemas.openxmlformats.org/drawingml/2006/main">
            <a:fillRect l="0" t="0" r="0" b="0"/>
          </a:stretch>
        </p:blipFill>
        <p:spPr>
          <a:xfrm xmlns:a="http://schemas.openxmlformats.org/drawingml/2006/main">
            <a:off x="457200" y="1495425"/>
            <a:ext cx="3905250" cy="3105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64C9AB7-F83D-47E7-B848-575376DAC469}"/>
              </a:ext>
            </a:extLst>
          </p:cNvPr>
          <p:cNvSpPr>
            <a:spLocks xmlns:a="http://schemas.openxmlformats.org/drawingml/2006/main" noGrp="1"/>
          </p:cNvSpPr>
          <p:nvPr/>
        </p:nvSpPr>
        <p:spPr>
          <a:xfrm xmlns:a="http://schemas.openxmlformats.org/drawingml/2006/main">
            <a:off x="504825" y="47720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750" b="1">
                <a:solidFill>
                  <a:srgbClr val="165DAE"/>
                </a:solidFill>
                <a:latin typeface="Arial"/>
                <a:ea typeface="Arial"/>
                <a:cs typeface="Arial"/>
              </a:defRPr>
            </a:defPPr>
            <a:lvl1pPr algn="l">
              <a:defRPr sz="3750" b="1">
                <a:solidFill>
                  <a:srgbClr val="165DAE"/>
                </a:solidFill>
                <a:latin typeface="Arial"/>
                <a:ea typeface="Arial"/>
                <a:cs typeface="Arial"/>
              </a:defRPr>
            </a:lvl1pPr>
            <a:lvl2pPr algn="l">
              <a:defRPr sz="3750" b="1">
                <a:solidFill>
                  <a:srgbClr val="165DAE"/>
                </a:solidFill>
                <a:latin typeface="Arial"/>
                <a:ea typeface="Arial"/>
                <a:cs typeface="Arial"/>
              </a:defRPr>
            </a:lvl2pPr>
            <a:lvl3pPr algn="l">
              <a:defRPr sz="3750" b="1">
                <a:solidFill>
                  <a:srgbClr val="165DAE"/>
                </a:solidFill>
                <a:latin typeface="Arial"/>
                <a:ea typeface="Arial"/>
                <a:cs typeface="Arial"/>
              </a:defRPr>
            </a:lvl3pPr>
            <a:lvl4pPr algn="l">
              <a:defRPr sz="3750" b="1">
                <a:solidFill>
                  <a:srgbClr val="165DAE"/>
                </a:solidFill>
                <a:latin typeface="Arial"/>
                <a:ea typeface="Arial"/>
                <a:cs typeface="Arial"/>
              </a:defRPr>
            </a:lvl4pPr>
            <a:lvl5pPr algn="l">
              <a:defRPr sz="3750" b="1">
                <a:solidFill>
                  <a:srgbClr val="165DAE"/>
                </a:solidFill>
                <a:latin typeface="Arial"/>
                <a:ea typeface="Arial"/>
                <a:cs typeface="Arial"/>
              </a:defRPr>
            </a:lvl5pPr>
            <a:lvl6pPr algn="l">
              <a:defRPr sz="3750" b="1">
                <a:solidFill>
                  <a:srgbClr val="165DAE"/>
                </a:solidFill>
                <a:latin typeface="Arial"/>
                <a:ea typeface="Arial"/>
                <a:cs typeface="Arial"/>
              </a:defRPr>
            </a:lvl6pPr>
            <a:lvl7pPr algn="l">
              <a:defRPr sz="3750" b="1">
                <a:solidFill>
                  <a:srgbClr val="165DAE"/>
                </a:solidFill>
                <a:latin typeface="Arial"/>
                <a:ea typeface="Arial"/>
                <a:cs typeface="Arial"/>
              </a:defRPr>
            </a:lvl7pPr>
            <a:lvl8pPr algn="l">
              <a:defRPr sz="3750" b="1">
                <a:solidFill>
                  <a:srgbClr val="165DAE"/>
                </a:solidFill>
                <a:latin typeface="Arial"/>
                <a:ea typeface="Arial"/>
                <a:cs typeface="Arial"/>
              </a:defRPr>
            </a:lvl8pPr>
            <a:lvl9pPr algn="l">
              <a:defRPr sz="3750" b="1">
                <a:solidFill>
                  <a:srgbClr val="165DAE"/>
                </a:solidFill>
                <a:latin typeface="Arial"/>
                <a:ea typeface="Arial"/>
                <a:cs typeface="Arial"/>
              </a:defRPr>
            </a:lvl9pPr>
          </a:lstStyle>
          <a:p xmlns:a="http://schemas.openxmlformats.org/drawingml/2006/main">
            <a:pPr algn="l">
              <a:defRPr sz="3750" b="1">
                <a:solidFill>
                  <a:srgbClr val="165DAE"/>
                </a:solidFill>
              </a:defRPr>
            </a:pPr>
            <a:r>
              <a:rPr sz="3750" b="1">
                <a:solidFill>
                  <a:srgbClr val="165DAE"/>
                </a:solidFill>
                <a:latin typeface="Arial"/>
                <a:ea typeface="Arial"/>
                <a:cs typeface="Arial"/>
              </a:rPr>
              <a:t>Bob</a:t>
            </a:r>
          </a:p>
        </p:txBody>
      </p:sp>
      <p:sp>
        <p:nvSpPr>
          <p:cNvPr id="19" name="">
            <a:extLst xmlns:a="http://schemas.openxmlformats.org/drawingml/2006/main">
              <a:ext uri="{FF2B5EF4-FFF2-40B4-BE49-F238E27FC236}">
                <a16:creationId xmlns:a16="http://schemas.microsoft.com/office/drawing/2014/main" id="{34E1692C-6D40-4CAA-9A92-8D86300B2AD5}"/>
              </a:ext>
            </a:extLst>
          </p:cNvPr>
          <p:cNvSpPr>
            <a:spLocks xmlns:a="http://schemas.openxmlformats.org/drawingml/2006/main" noGrp="1"/>
          </p:cNvSpPr>
          <p:nvPr/>
        </p:nvSpPr>
        <p:spPr>
          <a:xfrm xmlns:a="http://schemas.openxmlformats.org/drawingml/2006/main">
            <a:off x="523875" y="5467350"/>
            <a:ext cx="3676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Regional merchandise planner</a:t>
            </a:r>
          </a:p>
          <a:p xmlns:a="http://schemas.openxmlformats.org/drawingml/2006/main">
            <a:pPr algn="l">
              <a:defRPr sz="1950" b="0">
                <a:solidFill>
                  <a:srgbClr val="152047"/>
                </a:solidFill>
              </a:defRPr>
            </a:pPr>
            <a:r>
              <a:rPr sz="1950" b="0">
                <a:solidFill>
                  <a:srgbClr val="152047"/>
                </a:solidFill>
                <a:latin typeface="Arial"/>
                <a:ea typeface="Arial"/>
                <a:cs typeface="Arial"/>
              </a:rPr>
              <a:t>Fictional 100-store apparel retailer</a:t>
            </a:r>
          </a:p>
        </p:txBody>
      </p:sp>
      <p:sp>
        <p:nvSpPr>
          <p:cNvPr id="20" name="">
            <a:extLst xmlns:a="http://schemas.openxmlformats.org/drawingml/2006/main">
              <a:ext uri="{FF2B5EF4-FFF2-40B4-BE49-F238E27FC236}">
                <a16:creationId xmlns:a16="http://schemas.microsoft.com/office/drawing/2014/main" id="{494A8781-9E4B-4A31-9448-E94EA80FFE39}"/>
              </a:ext>
            </a:extLst>
          </p:cNvPr>
          <p:cNvSpPr>
            <a:spLocks xmlns:a="http://schemas.openxmlformats.org/drawingml/2006/main" noGrp="1"/>
          </p:cNvSpPr>
          <p:nvPr/>
        </p:nvSpPr>
        <p:spPr>
          <a:xfrm xmlns:a="http://schemas.openxmlformats.org/drawingml/2006/main">
            <a:off x="4810125" y="1562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8F3D03D-7095-4214-8ECA-F19320FC0608}"/>
              </a:ext>
            </a:extLst>
          </p:cNvPr>
          <p:cNvSpPr>
            <a:spLocks xmlns:a="http://schemas.openxmlformats.org/drawingml/2006/main" noGrp="1"/>
          </p:cNvSpPr>
          <p:nvPr/>
        </p:nvSpPr>
        <p:spPr>
          <a:xfrm xmlns:a="http://schemas.openxmlformats.org/drawingml/2006/main">
            <a:off x="4991100" y="1485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Sales look ordinary</a:t>
            </a:r>
          </a:p>
        </p:txBody>
      </p:sp>
      <p:sp>
        <p:nvSpPr>
          <p:cNvPr id="22" name="">
            <a:extLst xmlns:a="http://schemas.openxmlformats.org/drawingml/2006/main">
              <a:ext uri="{FF2B5EF4-FFF2-40B4-BE49-F238E27FC236}">
                <a16:creationId xmlns:a16="http://schemas.microsoft.com/office/drawing/2014/main" id="{780701A1-48F1-4AE4-91BA-13607B802EFC}"/>
              </a:ext>
            </a:extLst>
          </p:cNvPr>
          <p:cNvSpPr>
            <a:spLocks xmlns:a="http://schemas.openxmlformats.org/drawingml/2006/main" noGrp="1"/>
          </p:cNvSpPr>
          <p:nvPr/>
        </p:nvSpPr>
        <p:spPr>
          <a:xfrm xmlns:a="http://schemas.openxmlformats.org/drawingml/2006/main">
            <a:off x="4991100" y="1981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The cream medium top has only 8 units left in Vancouver.</a:t>
            </a:r>
          </a:p>
        </p:txBody>
      </p:sp>
      <p:sp>
        <p:nvSpPr>
          <p:cNvPr id="23" name="">
            <a:extLst xmlns:a="http://schemas.openxmlformats.org/drawingml/2006/main">
              <a:ext uri="{FF2B5EF4-FFF2-40B4-BE49-F238E27FC236}">
                <a16:creationId xmlns:a16="http://schemas.microsoft.com/office/drawing/2014/main" id="{96DB1D87-7A8C-4C2E-B9A7-1BD69D56A5B3}"/>
              </a:ext>
            </a:extLst>
          </p:cNvPr>
          <p:cNvSpPr>
            <a:spLocks xmlns:a="http://schemas.openxmlformats.org/drawingml/2006/main" noGrp="1"/>
          </p:cNvSpPr>
          <p:nvPr/>
        </p:nvSpPr>
        <p:spPr>
          <a:xfrm xmlns:a="http://schemas.openxmlformats.org/drawingml/2006/main">
            <a:off x="4810125" y="3213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A627C3E-66B6-4AFA-8E5A-70752C4FC7F5}"/>
              </a:ext>
            </a:extLst>
          </p:cNvPr>
          <p:cNvSpPr>
            <a:spLocks xmlns:a="http://schemas.openxmlformats.org/drawingml/2006/main" noGrp="1"/>
          </p:cNvSpPr>
          <p:nvPr/>
        </p:nvSpPr>
        <p:spPr>
          <a:xfrm xmlns:a="http://schemas.openxmlformats.org/drawingml/2006/main">
            <a:off x="4991100" y="3136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The signals live elsewhere</a:t>
            </a:r>
          </a:p>
        </p:txBody>
      </p:sp>
      <p:sp>
        <p:nvSpPr>
          <p:cNvPr id="25" name="">
            <a:extLst xmlns:a="http://schemas.openxmlformats.org/drawingml/2006/main">
              <a:ext uri="{FF2B5EF4-FFF2-40B4-BE49-F238E27FC236}">
                <a16:creationId xmlns:a16="http://schemas.microsoft.com/office/drawing/2014/main" id="{486E33BA-B145-4E8D-9D44-299FABEF4B71}"/>
              </a:ext>
            </a:extLst>
          </p:cNvPr>
          <p:cNvSpPr>
            <a:spLocks xmlns:a="http://schemas.openxmlformats.org/drawingml/2006/main" noGrp="1"/>
          </p:cNvSpPr>
          <p:nvPr/>
        </p:nvSpPr>
        <p:spPr>
          <a:xfrm xmlns:a="http://schemas.openxmlformats.org/drawingml/2006/main">
            <a:off x="4991100" y="3632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240 try-ons, 43 purchases and 162 out-of-stock sessions are not in his sales report.</a:t>
            </a:r>
          </a:p>
        </p:txBody>
      </p:sp>
      <p:sp>
        <p:nvSpPr>
          <p:cNvPr id="26" name="">
            <a:extLst xmlns:a="http://schemas.openxmlformats.org/drawingml/2006/main">
              <a:ext uri="{FF2B5EF4-FFF2-40B4-BE49-F238E27FC236}">
                <a16:creationId xmlns:a16="http://schemas.microsoft.com/office/drawing/2014/main" id="{1C78E718-AF56-4218-BAA9-607CF7F09EDB}"/>
              </a:ext>
            </a:extLst>
          </p:cNvPr>
          <p:cNvSpPr>
            <a:spLocks xmlns:a="http://schemas.openxmlformats.org/drawingml/2006/main" noGrp="1"/>
          </p:cNvSpPr>
          <p:nvPr/>
        </p:nvSpPr>
        <p:spPr>
          <a:xfrm xmlns:a="http://schemas.openxmlformats.org/drawingml/2006/main">
            <a:off x="4810125" y="48641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BE50136-194E-498E-AB00-DD65FD289B8D}"/>
              </a:ext>
            </a:extLst>
          </p:cNvPr>
          <p:cNvSpPr>
            <a:spLocks xmlns:a="http://schemas.openxmlformats.org/drawingml/2006/main" noGrp="1"/>
          </p:cNvSpPr>
          <p:nvPr/>
        </p:nvSpPr>
        <p:spPr>
          <a:xfrm xmlns:a="http://schemas.openxmlformats.org/drawingml/2006/main">
            <a:off x="4991100" y="4787900"/>
            <a:ext cx="8067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The replenishment misses the window</a:t>
            </a:r>
          </a:p>
        </p:txBody>
      </p:sp>
      <p:sp>
        <p:nvSpPr>
          <p:cNvPr id="28" name="">
            <a:extLst xmlns:a="http://schemas.openxmlformats.org/drawingml/2006/main">
              <a:ext uri="{FF2B5EF4-FFF2-40B4-BE49-F238E27FC236}">
                <a16:creationId xmlns:a16="http://schemas.microsoft.com/office/drawing/2014/main" id="{775E1136-414A-4F29-952F-E541757B4211}"/>
              </a:ext>
            </a:extLst>
          </p:cNvPr>
          <p:cNvSpPr>
            <a:spLocks xmlns:a="http://schemas.openxmlformats.org/drawingml/2006/main" noGrp="1"/>
          </p:cNvSpPr>
          <p:nvPr/>
        </p:nvSpPr>
        <p:spPr>
          <a:xfrm xmlns:a="http://schemas.openxmlformats.org/drawingml/2006/main">
            <a:off x="4991100" y="5283200"/>
            <a:ext cx="8029575" cy="105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The primary supplier needs 21 days; Bob still has to locate transferable stock.</a:t>
            </a:r>
          </a:p>
        </p:txBody>
      </p:sp>
    </p:spTree>
    <p:extLst>
      <p:ext uri="{BB962C8B-B14F-4D97-AF65-F5344CB8AC3E}">
        <p14:creationId xmlns:p14="http://schemas.microsoft.com/office/powerpoint/2010/main" val="1585720950"/>
      </p:ext>
    </p:extLst>
  </p:cSld>
</p:sld>
</file>

<file path=ppt/slides/slide5.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62B31D5-9640-4155-9A8C-F77E3C015F40}"/>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34BE92-9488-4588-B4D5-0CC28CC6CF2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RECOMMENDATION DEMO · 90 SECONDS</a:t>
            </a:r>
          </a:p>
        </p:txBody>
      </p:sp>
      <p:sp>
        <p:nvSpPr>
          <p:cNvPr id="4" name="">
            <a:extLst xmlns:a="http://schemas.openxmlformats.org/drawingml/2006/main">
              <a:ext uri="{FF2B5EF4-FFF2-40B4-BE49-F238E27FC236}">
                <a16:creationId xmlns:a16="http://schemas.microsoft.com/office/drawing/2014/main" id="{0BF6249A-B233-433A-A14F-CA3FCD646F7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One product, three connected parts</a:t>
            </a:r>
          </a:p>
        </p:txBody>
      </p:sp>
      <p:sp>
        <p:nvSpPr>
          <p:cNvPr id="5" name="">
            <a:extLst xmlns:a="http://schemas.openxmlformats.org/drawingml/2006/main">
              <a:ext uri="{FF2B5EF4-FFF2-40B4-BE49-F238E27FC236}">
                <a16:creationId xmlns:a16="http://schemas.microsoft.com/office/drawing/2014/main" id="{2BE61D29-3668-4914-9640-71075A5C020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Working website with seeded records. Joule-inspired explanations and SAP execution are simulated.</a:t>
            </a:r>
          </a:p>
        </p:txBody>
      </p:sp>
      <p:sp>
        <p:nvSpPr>
          <p:cNvPr id="6" name="">
            <a:extLst xmlns:a="http://schemas.openxmlformats.org/drawingml/2006/main">
              <a:ext uri="{FF2B5EF4-FFF2-40B4-BE49-F238E27FC236}">
                <a16:creationId xmlns:a16="http://schemas.microsoft.com/office/drawing/2014/main" id="{D42D6F04-7DB9-4895-94F7-EDE6097D4447}"/>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4F1E2A7-8909-48E0-B846-1A6E630E105B}"/>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80E1622-682D-4008-8C42-2DD75DAE2D0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5F0945-4923-4414-81A0-C9CDC52682B2}"/>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0F2C3CD6-3250-4C8B-9D16-AD4E71F08C6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885A41-F466-4E74-B520-D6E3846FA0AB}"/>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429E9F2B-3BFD-4D4A-8DBD-E28032D3E82A}"/>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81347F-3804-409B-AA9B-044D33BCACEF}"/>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35162D7-D528-43AB-A4F2-F9F30F96DBAF}"/>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1F8615-3998-47A7-942C-4348689B002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2298410-6D07-44B7-ACD0-EA3130411090}"/>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86A111EF-8D89-494A-9816-170A3D392A51}"/>
              </a:ext>
            </a:extLst>
          </p:cNvPr>
          <p:cNvSpPr>
            <a:spLocks xmlns:a="http://schemas.openxmlformats.org/drawingml/2006/main" noGrp="1"/>
          </p:cNvSpPr>
          <p:nvPr/>
        </p:nvSpPr>
        <p:spPr>
          <a:xfrm xmlns:a="http://schemas.openxmlformats.org/drawingml/2006/main">
            <a:off x="457200" y="1524000"/>
            <a:ext cx="3190875" cy="49530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48876A-B729-4AE8-83E7-FC466B30CFD3}"/>
              </a:ext>
            </a:extLst>
          </p:cNvPr>
          <p:cNvSpPr>
            <a:spLocks xmlns:a="http://schemas.openxmlformats.org/drawingml/2006/main" noGrp="1"/>
          </p:cNvSpPr>
          <p:nvPr/>
        </p:nvSpPr>
        <p:spPr>
          <a:xfrm xmlns:a="http://schemas.openxmlformats.org/drawingml/2006/main">
            <a:off x="590550" y="1552575"/>
            <a:ext cx="2924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The three parts</a:t>
            </a:r>
          </a:p>
        </p:txBody>
      </p:sp>
      <p:sp>
        <p:nvSpPr>
          <p:cNvPr id="19" name="">
            <a:extLst xmlns:a="http://schemas.openxmlformats.org/drawingml/2006/main">
              <a:ext uri="{FF2B5EF4-FFF2-40B4-BE49-F238E27FC236}">
                <a16:creationId xmlns:a16="http://schemas.microsoft.com/office/drawing/2014/main" id="{96752734-068D-4D82-A2BF-C9536B5F5989}"/>
              </a:ext>
            </a:extLst>
          </p:cNvPr>
          <p:cNvSpPr>
            <a:spLocks xmlns:a="http://schemas.openxmlformats.org/drawingml/2006/main" noGrp="1"/>
          </p:cNvSpPr>
          <p:nvPr/>
        </p:nvSpPr>
        <p:spPr>
          <a:xfrm xmlns:a="http://schemas.openxmlformats.org/drawingml/2006/main">
            <a:off x="514350" y="2228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4330F2FC-7A28-4BCC-95D4-CB7E08A6B9D8}"/>
              </a:ext>
            </a:extLst>
          </p:cNvPr>
          <p:cNvSpPr>
            <a:spLocks xmlns:a="http://schemas.openxmlformats.org/drawingml/2006/main" noGrp="1"/>
          </p:cNvSpPr>
          <p:nvPr/>
        </p:nvSpPr>
        <p:spPr>
          <a:xfrm xmlns:a="http://schemas.openxmlformats.org/drawingml/2006/main">
            <a:off x="1200150" y="221932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Fitting-room signals</a:t>
            </a:r>
          </a:p>
        </p:txBody>
      </p:sp>
      <p:sp>
        <p:nvSpPr>
          <p:cNvPr id="21" name="">
            <a:extLst xmlns:a="http://schemas.openxmlformats.org/drawingml/2006/main">
              <a:ext uri="{FF2B5EF4-FFF2-40B4-BE49-F238E27FC236}">
                <a16:creationId xmlns:a16="http://schemas.microsoft.com/office/drawing/2014/main" id="{1C6738C0-F884-47A7-924B-1B2414E5DC0A}"/>
              </a:ext>
            </a:extLst>
          </p:cNvPr>
          <p:cNvSpPr>
            <a:spLocks xmlns:a="http://schemas.openxmlformats.org/drawingml/2006/main" noGrp="1"/>
          </p:cNvSpPr>
          <p:nvPr/>
        </p:nvSpPr>
        <p:spPr>
          <a:xfrm xmlns:a="http://schemas.openxmlformats.org/drawingml/2006/main">
            <a:off x="1200150" y="300037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Reveal interest before purchase.</a:t>
            </a:r>
          </a:p>
        </p:txBody>
      </p:sp>
      <p:sp>
        <p:nvSpPr>
          <p:cNvPr id="22" name="">
            <a:extLst xmlns:a="http://schemas.openxmlformats.org/drawingml/2006/main">
              <a:ext uri="{FF2B5EF4-FFF2-40B4-BE49-F238E27FC236}">
                <a16:creationId xmlns:a16="http://schemas.microsoft.com/office/drawing/2014/main" id="{918AE18F-EAA1-4526-8EE2-A1865A3E0EA8}"/>
              </a:ext>
            </a:extLst>
          </p:cNvPr>
          <p:cNvSpPr>
            <a:spLocks xmlns:a="http://schemas.openxmlformats.org/drawingml/2006/main" noGrp="1"/>
          </p:cNvSpPr>
          <p:nvPr/>
        </p:nvSpPr>
        <p:spPr>
          <a:xfrm xmlns:a="http://schemas.openxmlformats.org/drawingml/2006/main">
            <a:off x="514350" y="3619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509913D7-9497-4398-8A34-39461F850996}"/>
              </a:ext>
            </a:extLst>
          </p:cNvPr>
          <p:cNvSpPr>
            <a:spLocks xmlns:a="http://schemas.openxmlformats.org/drawingml/2006/main" noGrp="1"/>
          </p:cNvSpPr>
          <p:nvPr/>
        </p:nvSpPr>
        <p:spPr>
          <a:xfrm xmlns:a="http://schemas.openxmlformats.org/drawingml/2006/main">
            <a:off x="1200150" y="360997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Out-of-stock demand</a:t>
            </a:r>
          </a:p>
        </p:txBody>
      </p:sp>
      <p:sp>
        <p:nvSpPr>
          <p:cNvPr id="24" name="">
            <a:extLst xmlns:a="http://schemas.openxmlformats.org/drawingml/2006/main">
              <a:ext uri="{FF2B5EF4-FFF2-40B4-BE49-F238E27FC236}">
                <a16:creationId xmlns:a16="http://schemas.microsoft.com/office/drawing/2014/main" id="{5EF470ED-66E3-4994-A5B7-E981EFE00807}"/>
              </a:ext>
            </a:extLst>
          </p:cNvPr>
          <p:cNvSpPr>
            <a:spLocks xmlns:a="http://schemas.openxmlformats.org/drawingml/2006/main" noGrp="1"/>
          </p:cNvSpPr>
          <p:nvPr/>
        </p:nvSpPr>
        <p:spPr>
          <a:xfrm xmlns:a="http://schemas.openxmlformats.org/drawingml/2006/main">
            <a:off x="1200150" y="439102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Qualify demand for unavailable sizes.</a:t>
            </a:r>
          </a:p>
        </p:txBody>
      </p:sp>
      <p:sp>
        <p:nvSpPr>
          <p:cNvPr id="25" name="">
            <a:extLst xmlns:a="http://schemas.openxmlformats.org/drawingml/2006/main">
              <a:ext uri="{FF2B5EF4-FFF2-40B4-BE49-F238E27FC236}">
                <a16:creationId xmlns:a16="http://schemas.microsoft.com/office/drawing/2014/main" id="{EF260C8A-8F2A-4C15-BDFD-12DB9D56E813}"/>
              </a:ext>
            </a:extLst>
          </p:cNvPr>
          <p:cNvSpPr>
            <a:spLocks xmlns:a="http://schemas.openxmlformats.org/drawingml/2006/main" noGrp="1"/>
          </p:cNvSpPr>
          <p:nvPr/>
        </p:nvSpPr>
        <p:spPr>
          <a:xfrm xmlns:a="http://schemas.openxmlformats.org/drawingml/2006/main">
            <a:off x="514350" y="50101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550" b="1">
                <a:solidFill>
                  <a:srgbClr val="165DAE"/>
                </a:solidFill>
                <a:latin typeface="Arial"/>
                <a:ea typeface="Arial"/>
                <a:cs typeface="Arial"/>
              </a:defRPr>
            </a:defPPr>
            <a:lvl1pPr algn="l">
              <a:defRPr sz="2550" b="1">
                <a:solidFill>
                  <a:srgbClr val="165DAE"/>
                </a:solidFill>
                <a:latin typeface="Arial"/>
                <a:ea typeface="Arial"/>
                <a:cs typeface="Arial"/>
              </a:defRPr>
            </a:lvl1pPr>
            <a:lvl2pPr algn="l">
              <a:defRPr sz="2550" b="1">
                <a:solidFill>
                  <a:srgbClr val="165DAE"/>
                </a:solidFill>
                <a:latin typeface="Arial"/>
                <a:ea typeface="Arial"/>
                <a:cs typeface="Arial"/>
              </a:defRPr>
            </a:lvl2pPr>
            <a:lvl3pPr algn="l">
              <a:defRPr sz="2550" b="1">
                <a:solidFill>
                  <a:srgbClr val="165DAE"/>
                </a:solidFill>
                <a:latin typeface="Arial"/>
                <a:ea typeface="Arial"/>
                <a:cs typeface="Arial"/>
              </a:defRPr>
            </a:lvl3pPr>
            <a:lvl4pPr algn="l">
              <a:defRPr sz="2550" b="1">
                <a:solidFill>
                  <a:srgbClr val="165DAE"/>
                </a:solidFill>
                <a:latin typeface="Arial"/>
                <a:ea typeface="Arial"/>
                <a:cs typeface="Arial"/>
              </a:defRPr>
            </a:lvl4pPr>
            <a:lvl5pPr algn="l">
              <a:defRPr sz="2550" b="1">
                <a:solidFill>
                  <a:srgbClr val="165DAE"/>
                </a:solidFill>
                <a:latin typeface="Arial"/>
                <a:ea typeface="Arial"/>
                <a:cs typeface="Arial"/>
              </a:defRPr>
            </a:lvl5pPr>
            <a:lvl6pPr algn="l">
              <a:defRPr sz="2550" b="1">
                <a:solidFill>
                  <a:srgbClr val="165DAE"/>
                </a:solidFill>
                <a:latin typeface="Arial"/>
                <a:ea typeface="Arial"/>
                <a:cs typeface="Arial"/>
              </a:defRPr>
            </a:lvl6pPr>
            <a:lvl7pPr algn="l">
              <a:defRPr sz="2550" b="1">
                <a:solidFill>
                  <a:srgbClr val="165DAE"/>
                </a:solidFill>
                <a:latin typeface="Arial"/>
                <a:ea typeface="Arial"/>
                <a:cs typeface="Arial"/>
              </a:defRPr>
            </a:lvl7pPr>
            <a:lvl8pPr algn="l">
              <a:defRPr sz="2550" b="1">
                <a:solidFill>
                  <a:srgbClr val="165DAE"/>
                </a:solidFill>
                <a:latin typeface="Arial"/>
                <a:ea typeface="Arial"/>
                <a:cs typeface="Arial"/>
              </a:defRPr>
            </a:lvl8pPr>
            <a:lvl9pPr algn="l">
              <a:defRPr sz="2550" b="1">
                <a:solidFill>
                  <a:srgbClr val="165DAE"/>
                </a:solidFill>
                <a:latin typeface="Arial"/>
                <a:ea typeface="Arial"/>
                <a:cs typeface="Arial"/>
              </a:defRPr>
            </a:lvl9pPr>
          </a:lstStyle>
          <a:p xmlns:a="http://schemas.openxmlformats.org/drawingml/2006/main">
            <a:pPr algn="l">
              <a:defRPr sz="2550" b="1">
                <a:solidFill>
                  <a:srgbClr val="165DAE"/>
                </a:solidFill>
              </a:defRPr>
            </a:pPr>
            <a:r>
              <a:rPr sz="2550" b="1">
                <a:solidFill>
                  <a:srgbClr val="165DAE"/>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A661FE08-E7E3-4535-8751-AE7D3E25D12C}"/>
              </a:ext>
            </a:extLst>
          </p:cNvPr>
          <p:cNvSpPr>
            <a:spLocks xmlns:a="http://schemas.openxmlformats.org/drawingml/2006/main" noGrp="1"/>
          </p:cNvSpPr>
          <p:nvPr/>
        </p:nvSpPr>
        <p:spPr>
          <a:xfrm xmlns:a="http://schemas.openxmlformats.org/drawingml/2006/main">
            <a:off x="1200150" y="5000625"/>
            <a:ext cx="2371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Supply risk and response</a:t>
            </a:r>
          </a:p>
        </p:txBody>
      </p:sp>
      <p:sp>
        <p:nvSpPr>
          <p:cNvPr id="27" name="">
            <a:extLst xmlns:a="http://schemas.openxmlformats.org/drawingml/2006/main">
              <a:ext uri="{FF2B5EF4-FFF2-40B4-BE49-F238E27FC236}">
                <a16:creationId xmlns:a16="http://schemas.microsoft.com/office/drawing/2014/main" id="{D59D26A0-29FF-4F79-A79F-D59F34A3512E}"/>
              </a:ext>
            </a:extLst>
          </p:cNvPr>
          <p:cNvSpPr>
            <a:spLocks xmlns:a="http://schemas.openxmlformats.org/drawingml/2006/main" noGrp="1"/>
          </p:cNvSpPr>
          <p:nvPr/>
        </p:nvSpPr>
        <p:spPr>
          <a:xfrm xmlns:a="http://schemas.openxmlformats.org/drawingml/2006/main">
            <a:off x="1200150" y="5781675"/>
            <a:ext cx="237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725" b="0">
                <a:solidFill>
                  <a:srgbClr val="152047"/>
                </a:solidFill>
              </a:defRPr>
            </a:pPr>
            <a:r>
              <a:rPr sz="1650" b="0">
                <a:solidFill>
                  <a:srgbClr val="152047"/>
                </a:solidFill>
                <a:latin typeface="Arial"/>
                <a:ea typeface="Arial"/>
                <a:cs typeface="Arial"/>
              </a:rPr>
              <a:t>Explain exposure and compare a response.</a:t>
            </a:r>
          </a:p>
        </p:txBody>
      </p:sp>
      <p:sp>
        <p:nvSpPr>
          <p:cNvPr id="28" name="">
            <a:extLst xmlns:a="http://schemas.openxmlformats.org/drawingml/2006/main">
              <a:ext uri="{FF2B5EF4-FFF2-40B4-BE49-F238E27FC236}">
                <a16:creationId xmlns:a16="http://schemas.microsoft.com/office/drawing/2014/main" id="{3CDFA5DA-2B2B-404B-93FB-04BC8EC97BC1}"/>
              </a:ext>
            </a:extLst>
          </p:cNvPr>
          <p:cNvSpPr>
            <a:spLocks xmlns:a="http://schemas.openxmlformats.org/drawingml/2006/main" noGrp="1"/>
          </p:cNvSpPr>
          <p:nvPr/>
        </p:nvSpPr>
        <p:spPr>
          <a:xfrm xmlns:a="http://schemas.openxmlformats.org/drawingml/2006/main">
            <a:off x="4000500" y="1524000"/>
            <a:ext cx="9258300" cy="4810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9" name="">
            <a:extLst xmlns:a="http://schemas.openxmlformats.org/drawingml/2006/main">
              <a:ext uri="{FF2B5EF4-FFF2-40B4-BE49-F238E27FC236}">
                <a16:creationId xmlns:a16="http://schemas.microsoft.com/office/drawing/2014/main" id="{59CEACE1-6A1F-435B-83D7-C7C8A849A2E5}"/>
              </a:ext>
            </a:extLst>
          </p:cNvPr>
          <p:cNvPicPr>
            <a:picLocks xmlns:a="http://schemas.openxmlformats.org/drawingml/2006/main" noChangeAspect="1"/>
          </p:cNvPicPr>
          <p:nvPr/>
        </p:nvPicPr>
        <p:blipFill>
          <a:blip xmlns:r="http://schemas.openxmlformats.org/officeDocument/2006/relationships" xmlns:a="http://schemas.openxmlformats.org/drawingml/2006/main" r:embed="Rf26bbe77461248fd"/>
          <a:srcRect xmlns:a="http://schemas.openxmlformats.org/drawingml/2006/main" l="16000" t="5000" r="0" b="40000"/>
          <a:stretch xmlns:a="http://schemas.openxmlformats.org/drawingml/2006/main"/>
        </p:blipFill>
        <p:spPr>
          <a:xfrm xmlns:a="http://schemas.openxmlformats.org/drawingml/2006/main">
            <a:off x="4000500" y="1691618"/>
            <a:ext cx="9258300" cy="4474888"/>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6C78D3A4-A081-42D1-AFED-65282C09717C}"/>
              </a:ext>
            </a:extLst>
          </p:cNvPr>
          <p:cNvSpPr>
            <a:spLocks xmlns:a="http://schemas.openxmlformats.org/drawingml/2006/main" noGrp="1"/>
          </p:cNvSpPr>
          <p:nvPr/>
        </p:nvSpPr>
        <p:spPr>
          <a:xfrm xmlns:a="http://schemas.openxmlformats.org/drawingml/2006/main">
            <a:off x="4152900" y="6343650"/>
            <a:ext cx="8963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1">
                <a:solidFill>
                  <a:srgbClr val="165DAE"/>
                </a:solidFill>
                <a:latin typeface="Arial"/>
                <a:ea typeface="Arial"/>
                <a:cs typeface="Arial"/>
              </a:defRPr>
            </a:defPPr>
            <a:lvl1pPr algn="l">
              <a:defRPr sz="1800" b="1">
                <a:solidFill>
                  <a:srgbClr val="165DAE"/>
                </a:solidFill>
                <a:latin typeface="Arial"/>
                <a:ea typeface="Arial"/>
                <a:cs typeface="Arial"/>
              </a:defRPr>
            </a:lvl1pPr>
            <a:lvl2pPr algn="l">
              <a:defRPr sz="1800" b="1">
                <a:solidFill>
                  <a:srgbClr val="165DAE"/>
                </a:solidFill>
                <a:latin typeface="Arial"/>
                <a:ea typeface="Arial"/>
                <a:cs typeface="Arial"/>
              </a:defRPr>
            </a:lvl2pPr>
            <a:lvl3pPr algn="l">
              <a:defRPr sz="1800" b="1">
                <a:solidFill>
                  <a:srgbClr val="165DAE"/>
                </a:solidFill>
                <a:latin typeface="Arial"/>
                <a:ea typeface="Arial"/>
                <a:cs typeface="Arial"/>
              </a:defRPr>
            </a:lvl3pPr>
            <a:lvl4pPr algn="l">
              <a:defRPr sz="1800" b="1">
                <a:solidFill>
                  <a:srgbClr val="165DAE"/>
                </a:solidFill>
                <a:latin typeface="Arial"/>
                <a:ea typeface="Arial"/>
                <a:cs typeface="Arial"/>
              </a:defRPr>
            </a:lvl4pPr>
            <a:lvl5pPr algn="l">
              <a:defRPr sz="1800" b="1">
                <a:solidFill>
                  <a:srgbClr val="165DAE"/>
                </a:solidFill>
                <a:latin typeface="Arial"/>
                <a:ea typeface="Arial"/>
                <a:cs typeface="Arial"/>
              </a:defRPr>
            </a:lvl5pPr>
            <a:lvl6pPr algn="l">
              <a:defRPr sz="1800" b="1">
                <a:solidFill>
                  <a:srgbClr val="165DAE"/>
                </a:solidFill>
                <a:latin typeface="Arial"/>
                <a:ea typeface="Arial"/>
                <a:cs typeface="Arial"/>
              </a:defRPr>
            </a:lvl6pPr>
            <a:lvl7pPr algn="l">
              <a:defRPr sz="1800" b="1">
                <a:solidFill>
                  <a:srgbClr val="165DAE"/>
                </a:solidFill>
                <a:latin typeface="Arial"/>
                <a:ea typeface="Arial"/>
                <a:cs typeface="Arial"/>
              </a:defRPr>
            </a:lvl7pPr>
            <a:lvl8pPr algn="l">
              <a:defRPr sz="1800" b="1">
                <a:solidFill>
                  <a:srgbClr val="165DAE"/>
                </a:solidFill>
                <a:latin typeface="Arial"/>
                <a:ea typeface="Arial"/>
                <a:cs typeface="Arial"/>
              </a:defRPr>
            </a:lvl8pPr>
            <a:lvl9pPr algn="l">
              <a:defRPr sz="1800" b="1">
                <a:solidFill>
                  <a:srgbClr val="165DAE"/>
                </a:solidFill>
                <a:latin typeface="Arial"/>
                <a:ea typeface="Arial"/>
                <a:cs typeface="Arial"/>
              </a:defRPr>
            </a:lvl9pPr>
          </a:lstStyle>
          <a:p xmlns:a="http://schemas.openxmlformats.org/drawingml/2006/main">
            <a:pPr algn="l">
              <a:defRPr sz="1800" b="1">
                <a:solidFill>
                  <a:srgbClr val="165DAE"/>
                </a:solidFill>
              </a:defRPr>
            </a:pPr>
            <a:r>
              <a:rPr sz="1800" b="1">
                <a:solidFill>
                  <a:srgbClr val="165DAE"/>
                </a:solidFill>
                <a:latin typeface="Arial"/>
                <a:ea typeface="Arial"/>
                <a:cs typeface="Arial"/>
              </a:rPr>
              <a:t>90-second demo: evidence, simulation and an approved response</a:t>
            </a:r>
          </a:p>
        </p:txBody>
      </p:sp>
    </p:spTree>
    <p:extLst>
      <p:ext uri="{BB962C8B-B14F-4D97-AF65-F5344CB8AC3E}">
        <p14:creationId xmlns:p14="http://schemas.microsoft.com/office/powerpoint/2010/main" val="1966165302"/>
      </p:ext>
    </p:extLst>
  </p:cSld>
</p:sld>
</file>

<file path=ppt/slides/slide6.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CD3D690-705D-483A-B88B-2862717848DD}"/>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F5FD22-B65E-426B-B52C-0F9334B2152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1 · PROPOSED PARTNER MODEL</a:t>
            </a:r>
          </a:p>
        </p:txBody>
      </p:sp>
      <p:sp>
        <p:nvSpPr>
          <p:cNvPr id="4" name="">
            <a:extLst xmlns:a="http://schemas.openxmlformats.org/drawingml/2006/main">
              <a:ext uri="{FF2B5EF4-FFF2-40B4-BE49-F238E27FC236}">
                <a16:creationId xmlns:a16="http://schemas.microsoft.com/office/drawing/2014/main" id="{D2FEB009-B7DC-4A7A-A0C4-D41A01CE746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Hardware partners and regional delivery</a:t>
            </a:r>
          </a:p>
        </p:txBody>
      </p:sp>
      <p:sp>
        <p:nvSpPr>
          <p:cNvPr id="5" name="">
            <a:extLst xmlns:a="http://schemas.openxmlformats.org/drawingml/2006/main">
              <a:ext uri="{FF2B5EF4-FFF2-40B4-BE49-F238E27FC236}">
                <a16:creationId xmlns:a16="http://schemas.microsoft.com/office/drawing/2014/main" id="{A14E9510-C999-4539-AEE5-C8E865BA2B43}"/>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partners, not signed agreements. Availability, product authorization and RF certification require country-level checks.</a:t>
            </a:r>
          </a:p>
        </p:txBody>
      </p:sp>
      <p:sp>
        <p:nvSpPr>
          <p:cNvPr id="6" name="">
            <a:extLst xmlns:a="http://schemas.openxmlformats.org/drawingml/2006/main">
              <a:ext uri="{FF2B5EF4-FFF2-40B4-BE49-F238E27FC236}">
                <a16:creationId xmlns:a16="http://schemas.microsoft.com/office/drawing/2014/main" id="{555DA24D-F2AA-4815-9960-2EE98DF97FB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D0F50A-255F-4FC5-8C1A-B12758EA3AC2}"/>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180B3B0-62AA-4915-8F2C-92A540D979F2}"/>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8C2886-3B07-4331-BA63-DDE97B3947BB}"/>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D9A67F8C-A4A8-4842-9308-07B66930548A}"/>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306ECC-4F54-4249-82DA-CA639D4993D5}"/>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E3696464-9689-41A9-BEE4-31D8F294FC13}"/>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AE37EE6-0D5D-46EE-BA60-FF64026E982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1CC427D-21FB-44B1-8004-EBB1830FBBD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3A9FEA8-A638-4925-9808-E916DA978344}"/>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AF102DB-512F-4FBC-BBF4-A0AC6BC28BF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06</a:t>
            </a:r>
          </a:p>
        </p:txBody>
      </p:sp>
      <p:pic>
        <p:nvPicPr>
          <p:cNvPr id="17" name="">
            <a:extLst xmlns:a="http://schemas.openxmlformats.org/drawingml/2006/main">
              <a:ext uri="{FF2B5EF4-FFF2-40B4-BE49-F238E27FC236}">
                <a16:creationId xmlns:a16="http://schemas.microsoft.com/office/drawing/2014/main" id="{2976EBD9-FD22-467B-AD16-B7A37CE2EFA6}"/>
              </a:ext>
            </a:extLst>
          </p:cNvPr>
          <p:cNvPicPr>
            <a:picLocks xmlns:a="http://schemas.openxmlformats.org/drawingml/2006/main" noChangeAspect="1"/>
          </p:cNvPicPr>
          <p:nvPr/>
        </p:nvPicPr>
        <p:blipFill>
          <a:blip xmlns:r="http://schemas.openxmlformats.org/officeDocument/2006/relationships" xmlns:a="http://schemas.openxmlformats.org/drawingml/2006/main" r:embed="R26a6e8aa08fa4062"/>
          <a:srcRect xmlns:a="http://schemas.openxmlformats.org/drawingml/2006/main" l="0" t="4711" r="0" b="4711"/>
          <a:stretch xmlns:a="http://schemas.openxmlformats.org/drawingml/2006/main">
            <a:fillRect l="0" t="0" r="0" b="0"/>
          </a:stretch>
        </p:blipFill>
        <p:spPr>
          <a:xfrm xmlns:a="http://schemas.openxmlformats.org/drawingml/2006/main">
            <a:off x="457200" y="1476375"/>
            <a:ext cx="4448175" cy="26860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7C8A899-F8BB-490D-987D-0EDA580BC2F5}"/>
              </a:ext>
            </a:extLst>
          </p:cNvPr>
          <p:cNvSpPr>
            <a:spLocks xmlns:a="http://schemas.openxmlformats.org/drawingml/2006/main" noGrp="1"/>
          </p:cNvSpPr>
          <p:nvPr/>
        </p:nvSpPr>
        <p:spPr>
          <a:xfrm xmlns:a="http://schemas.openxmlformats.org/drawingml/2006/main">
            <a:off x="504825" y="4333875"/>
            <a:ext cx="4362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165DAE"/>
                </a:solidFill>
                <a:latin typeface="Arial"/>
                <a:ea typeface="Arial"/>
                <a:cs typeface="Arial"/>
              </a:defRPr>
            </a:defPPr>
            <a:lvl1pPr algn="l">
              <a:defRPr sz="2175" b="1">
                <a:solidFill>
                  <a:srgbClr val="165DAE"/>
                </a:solidFill>
                <a:latin typeface="Arial"/>
                <a:ea typeface="Arial"/>
                <a:cs typeface="Arial"/>
              </a:defRPr>
            </a:lvl1pPr>
            <a:lvl2pPr algn="l">
              <a:defRPr sz="2175" b="1">
                <a:solidFill>
                  <a:srgbClr val="165DAE"/>
                </a:solidFill>
                <a:latin typeface="Arial"/>
                <a:ea typeface="Arial"/>
                <a:cs typeface="Arial"/>
              </a:defRPr>
            </a:lvl2pPr>
            <a:lvl3pPr algn="l">
              <a:defRPr sz="2175" b="1">
                <a:solidFill>
                  <a:srgbClr val="165DAE"/>
                </a:solidFill>
                <a:latin typeface="Arial"/>
                <a:ea typeface="Arial"/>
                <a:cs typeface="Arial"/>
              </a:defRPr>
            </a:lvl3pPr>
            <a:lvl4pPr algn="l">
              <a:defRPr sz="2175" b="1">
                <a:solidFill>
                  <a:srgbClr val="165DAE"/>
                </a:solidFill>
                <a:latin typeface="Arial"/>
                <a:ea typeface="Arial"/>
                <a:cs typeface="Arial"/>
              </a:defRPr>
            </a:lvl4pPr>
            <a:lvl5pPr algn="l">
              <a:defRPr sz="2175" b="1">
                <a:solidFill>
                  <a:srgbClr val="165DAE"/>
                </a:solidFill>
                <a:latin typeface="Arial"/>
                <a:ea typeface="Arial"/>
                <a:cs typeface="Arial"/>
              </a:defRPr>
            </a:lvl5pPr>
            <a:lvl6pPr algn="l">
              <a:defRPr sz="2175" b="1">
                <a:solidFill>
                  <a:srgbClr val="165DAE"/>
                </a:solidFill>
                <a:latin typeface="Arial"/>
                <a:ea typeface="Arial"/>
                <a:cs typeface="Arial"/>
              </a:defRPr>
            </a:lvl6pPr>
            <a:lvl7pPr algn="l">
              <a:defRPr sz="2175" b="1">
                <a:solidFill>
                  <a:srgbClr val="165DAE"/>
                </a:solidFill>
                <a:latin typeface="Arial"/>
                <a:ea typeface="Arial"/>
                <a:cs typeface="Arial"/>
              </a:defRPr>
            </a:lvl7pPr>
            <a:lvl8pPr algn="l">
              <a:defRPr sz="2175" b="1">
                <a:solidFill>
                  <a:srgbClr val="165DAE"/>
                </a:solidFill>
                <a:latin typeface="Arial"/>
                <a:ea typeface="Arial"/>
                <a:cs typeface="Arial"/>
              </a:defRPr>
            </a:lvl8pPr>
            <a:lvl9pPr algn="l">
              <a:defRPr sz="2175" b="1">
                <a:solidFill>
                  <a:srgbClr val="165DAE"/>
                </a:solidFill>
                <a:latin typeface="Arial"/>
                <a:ea typeface="Arial"/>
                <a:cs typeface="Arial"/>
              </a:defRPr>
            </a:lvl9pPr>
          </a:lstStyle>
          <a:p xmlns:a="http://schemas.openxmlformats.org/drawingml/2006/main">
            <a:pPr algn="l">
              <a:defRPr sz="2175" b="1">
                <a:solidFill>
                  <a:srgbClr val="165DAE"/>
                </a:solidFill>
              </a:defRPr>
            </a:pPr>
            <a:r>
              <a:rPr sz="2175" b="1">
                <a:solidFill>
                  <a:srgbClr val="165DAE"/>
                </a:solidFill>
                <a:latin typeface="Arial"/>
                <a:ea typeface="Arial"/>
                <a:cs typeface="Arial"/>
              </a:rPr>
              <a:t>Proposed hardware partners</a:t>
            </a:r>
          </a:p>
        </p:txBody>
      </p:sp>
      <p:sp>
        <p:nvSpPr>
          <p:cNvPr id="19" name="">
            <a:extLst xmlns:a="http://schemas.openxmlformats.org/drawingml/2006/main">
              <a:ext uri="{FF2B5EF4-FFF2-40B4-BE49-F238E27FC236}">
                <a16:creationId xmlns:a16="http://schemas.microsoft.com/office/drawing/2014/main" id="{9E8F545B-1517-4756-BB92-A5B8919A9DD9}"/>
              </a:ext>
            </a:extLst>
          </p:cNvPr>
          <p:cNvSpPr>
            <a:spLocks xmlns:a="http://schemas.openxmlformats.org/drawingml/2006/main" noGrp="1"/>
          </p:cNvSpPr>
          <p:nvPr/>
        </p:nvSpPr>
        <p:spPr>
          <a:xfrm xmlns:a="http://schemas.openxmlformats.org/drawingml/2006/main">
            <a:off x="514350" y="5029200"/>
            <a:ext cx="4295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Zebra</a:t>
            </a:r>
          </a:p>
        </p:txBody>
      </p:sp>
      <p:sp>
        <p:nvSpPr>
          <p:cNvPr id="20" name="">
            <a:extLst xmlns:a="http://schemas.openxmlformats.org/drawingml/2006/main">
              <a:ext uri="{FF2B5EF4-FFF2-40B4-BE49-F238E27FC236}">
                <a16:creationId xmlns:a16="http://schemas.microsoft.com/office/drawing/2014/main" id="{1BF48DA9-A19B-4718-9583-0E4FE4089EDA}"/>
              </a:ext>
            </a:extLst>
          </p:cNvPr>
          <p:cNvSpPr>
            <a:spLocks xmlns:a="http://schemas.openxmlformats.org/drawingml/2006/main" noGrp="1"/>
          </p:cNvSpPr>
          <p:nvPr/>
        </p:nvSpPr>
        <p:spPr>
          <a:xfrm xmlns:a="http://schemas.openxmlformats.org/drawingml/2006/main">
            <a:off x="514350" y="5467350"/>
            <a:ext cx="4295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Fixed readers and antennas</a:t>
            </a:r>
          </a:p>
        </p:txBody>
      </p:sp>
      <p:sp>
        <p:nvSpPr>
          <p:cNvPr id="21" name="">
            <a:extLst xmlns:a="http://schemas.openxmlformats.org/drawingml/2006/main">
              <a:ext uri="{FF2B5EF4-FFF2-40B4-BE49-F238E27FC236}">
                <a16:creationId xmlns:a16="http://schemas.microsoft.com/office/drawing/2014/main" id="{71D0CC6B-B1D8-4521-A4CA-273373E5EB4A}"/>
              </a:ext>
            </a:extLst>
          </p:cNvPr>
          <p:cNvSpPr>
            <a:spLocks xmlns:a="http://schemas.openxmlformats.org/drawingml/2006/main" noGrp="1"/>
          </p:cNvSpPr>
          <p:nvPr/>
        </p:nvSpPr>
        <p:spPr>
          <a:xfrm xmlns:a="http://schemas.openxmlformats.org/drawingml/2006/main">
            <a:off x="514350" y="5895975"/>
            <a:ext cx="42957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Avery Dennison</a:t>
            </a:r>
          </a:p>
        </p:txBody>
      </p:sp>
      <p:sp>
        <p:nvSpPr>
          <p:cNvPr id="22" name="">
            <a:extLst xmlns:a="http://schemas.openxmlformats.org/drawingml/2006/main">
              <a:ext uri="{FF2B5EF4-FFF2-40B4-BE49-F238E27FC236}">
                <a16:creationId xmlns:a16="http://schemas.microsoft.com/office/drawing/2014/main" id="{7B79264A-36AB-4E34-BDDC-685369BC1447}"/>
              </a:ext>
            </a:extLst>
          </p:cNvPr>
          <p:cNvSpPr>
            <a:spLocks xmlns:a="http://schemas.openxmlformats.org/drawingml/2006/main" noGrp="1"/>
          </p:cNvSpPr>
          <p:nvPr/>
        </p:nvSpPr>
        <p:spPr>
          <a:xfrm xmlns:a="http://schemas.openxmlformats.org/drawingml/2006/main">
            <a:off x="514350" y="6305550"/>
            <a:ext cx="4295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Garment tags and inlays</a:t>
            </a:r>
          </a:p>
        </p:txBody>
      </p:sp>
      <p:graphicFrame>
        <p:nvGraphicFramePr>
          <p:cNvPr id="23" name="">
            <a:extLst xmlns:a="http://schemas.openxmlformats.org/drawingml/2006/main">
              <a:ext uri="{FF2B5EF4-FFF2-40B4-BE49-F238E27FC236}">
                <a16:creationId xmlns:a16="http://schemas.microsoft.com/office/drawing/2014/main" id="{AEEF065E-9FAC-464C-A265-2F1946724AF3}"/>
              </a:ext>
            </a:extLst>
          </p:cNvPr>
          <p:cNvGraphicFramePr/>
          <p:nvPr/>
        </p:nvGraphicFramePr>
        <p:xfrm>
          <a:off xmlns:a="http://schemas.openxmlformats.org/drawingml/2006/main" x="5219700" y="1476375"/>
          <a:ext xmlns:a="http://schemas.openxmlformats.org/drawingml/2006/main" cx="8039100" cy="5067300"/>
        </p:xfrm>
        <a:graphic xmlns:a="http://schemas.openxmlformats.org/drawingml/2006/main">
          <a:graphicData uri="http://schemas.openxmlformats.org/drawingml/2006/table">
            <a:tbl>
              <a:tblPr/>
              <a:tblGrid>
                <a:gridCol w="2572512"/>
                <a:gridCol w="2572512"/>
                <a:gridCol w="2894076"/>
              </a:tblGrid>
              <a:tr h="844550">
                <a:tc>
                  <a:txBody>
                    <a:bodyPr/>
                    <a:lstStyle/>
                    <a:p>
                      <a:r>
                        <a:rPr sz="1575" b="1">
                          <a:solidFill>
                            <a:srgbClr val="FFFFFF"/>
                          </a:solidFill>
                          <a:latin typeface="Arial"/>
                          <a:ea typeface="Arial"/>
                          <a:cs typeface="Arial"/>
                        </a:rPr>
                        <a:t>Region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75" b="1">
                          <a:solidFill>
                            <a:srgbClr val="FFFFFF"/>
                          </a:solidFill>
                          <a:latin typeface="Arial"/>
                          <a:ea typeface="Arial"/>
                          <a:cs typeface="Arial"/>
                        </a:rPr>
                        <a:t>Proposed distribution lead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75" b="1">
                          <a:solidFill>
                            <a:srgbClr val="FFFFFF"/>
                          </a:solidFill>
                          <a:latin typeface="Arial"/>
                          <a:ea typeface="Arial"/>
                          <a:cs typeface="Arial"/>
                        </a:rPr>
                        <a:t>Deployment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44550">
                <a:tc>
                  <a:txBody>
                    <a:bodyPr/>
                    <a:lstStyle/>
                    <a:p>
                      <a:r>
                        <a:rPr sz="1575" b="1">
                          <a:solidFill>
                            <a:srgbClr val="FFFFFF"/>
                          </a:solidFill>
                          <a:latin typeface="Arial"/>
                          <a:ea typeface="Arial"/>
                          <a:cs typeface="Arial"/>
                        </a:rPr>
                        <a:t>North America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Ingram Micro</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575" b="1">
                          <a:solidFill>
                            <a:srgbClr val="FFFFFF"/>
                          </a:solidFill>
                          <a:latin typeface="Arial"/>
                          <a:ea typeface="Arial"/>
                          <a:cs typeface="Arial"/>
                        </a:rPr>
                        <a:t>Latin America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Ingram Micro</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75">
                          <a:solidFill>
                            <a:srgbClr val="152047"/>
                          </a:solidFill>
                          <a:latin typeface="Arial"/>
                          <a:ea typeface="Arial"/>
                          <a:cs typeface="Arial"/>
                        </a:rPr>
                        <a:t>Country-qualified integrators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575" b="1">
                          <a:solidFill>
                            <a:srgbClr val="FFFFFF"/>
                          </a:solidFill>
                          <a:latin typeface="Arial"/>
                          <a:ea typeface="Arial"/>
                          <a:cs typeface="Arial"/>
                        </a:rPr>
                        <a:t>Europe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TD SYNNEX</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575" b="1">
                          <a:solidFill>
                            <a:srgbClr val="FFFFFF"/>
                          </a:solidFill>
                          <a:latin typeface="Arial"/>
                          <a:ea typeface="Arial"/>
                          <a:cs typeface="Arial"/>
                        </a:rPr>
                        <a:t>Asia Pacific / Japan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TD SYNNEX</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575" b="1">
                          <a:solidFill>
                            <a:srgbClr val="FFFFFF"/>
                          </a:solidFill>
                          <a:latin typeface="Arial"/>
                          <a:ea typeface="Arial"/>
                          <a:cs typeface="Arial"/>
                        </a:rPr>
                        <a:t>India / Middle East / Africa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75">
                          <a:solidFill>
                            <a:srgbClr val="152047"/>
                          </a:solidFill>
                          <a:latin typeface="Arial"/>
                          <a:ea typeface="Arial"/>
                          <a:cs typeface="Arial"/>
                        </a:rPr>
                        <a:t>Redington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75">
                          <a:solidFill>
                            <a:srgbClr val="152047"/>
                          </a:solidFill>
                          <a:latin typeface="Arial"/>
                          <a:ea typeface="Arial"/>
                          <a:cs typeface="Arial"/>
                        </a:rPr>
                        <a:t>Local RFID integrators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2121028778"/>
      </p:ext>
    </p:extLst>
  </p:cSld>
</p:sld>
</file>

<file path=ppt/slides/slide7.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2AF73B-688E-460E-B6C1-57034CD556B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50E077-1924-4194-A42C-F70D5DC7132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PART 2 · CUSTOMER STORY</a:t>
            </a:r>
          </a:p>
        </p:txBody>
      </p:sp>
      <p:sp>
        <p:nvSpPr>
          <p:cNvPr id="4" name="">
            <a:extLst xmlns:a="http://schemas.openxmlformats.org/drawingml/2006/main">
              <a:ext uri="{FF2B5EF4-FFF2-40B4-BE49-F238E27FC236}">
                <a16:creationId xmlns:a16="http://schemas.microsoft.com/office/drawing/2014/main" id="{E110F60A-A851-4F26-A865-F2438ADC2D3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Meet Bob, with a response he can explain</a:t>
            </a:r>
          </a:p>
        </p:txBody>
      </p:sp>
      <p:sp>
        <p:nvSpPr>
          <p:cNvPr id="5" name="">
            <a:extLst xmlns:a="http://schemas.openxmlformats.org/drawingml/2006/main">
              <a:ext uri="{FF2B5EF4-FFF2-40B4-BE49-F238E27FC236}">
                <a16:creationId xmlns:a16="http://schemas.microsoft.com/office/drawing/2014/main" id="{A17643C7-0AFE-4091-AFCE-1B2EA012584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Simulation: 8 current units + 40 transfer units = 48 of 80 scenario units covered. Sales recovery is unproven.</a:t>
            </a:r>
          </a:p>
        </p:txBody>
      </p:sp>
      <p:sp>
        <p:nvSpPr>
          <p:cNvPr id="6" name="">
            <a:extLst xmlns:a="http://schemas.openxmlformats.org/drawingml/2006/main">
              <a:ext uri="{FF2B5EF4-FFF2-40B4-BE49-F238E27FC236}">
                <a16:creationId xmlns:a16="http://schemas.microsoft.com/office/drawing/2014/main" id="{59C2024B-F998-46EC-9393-70021642551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E16008-B445-424D-8834-88B6EA118EC2}"/>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F9ACC56-C591-4FBD-ACF8-2269D0E5C7D6}"/>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9125F2-8DF7-4DDD-9A0A-B9053135AACF}"/>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3665B5C-214D-4DDB-B111-A414BC7B8BA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4C115B-2B68-48D5-A809-B10E4FBBA0F4}"/>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6567C253-260B-42A5-9206-BA578D2B3B9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22C07E-BE40-41C3-A01E-8F3A57A23C8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EEE47125-F3BA-4290-B485-6AD48AE3004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ED66E6-B9DA-41DD-B40C-974995B7DB3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3ED74BA-05BF-44B9-A0E7-921C3D85127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07</a:t>
            </a:r>
          </a:p>
        </p:txBody>
      </p:sp>
      <p:sp>
        <p:nvSpPr>
          <p:cNvPr id="17" name="">
            <a:extLst xmlns:a="http://schemas.openxmlformats.org/drawingml/2006/main">
              <a:ext uri="{FF2B5EF4-FFF2-40B4-BE49-F238E27FC236}">
                <a16:creationId xmlns:a16="http://schemas.microsoft.com/office/drawing/2014/main" id="{4C99918B-56C2-43B8-9B14-17DD6ACBF6A6}"/>
              </a:ext>
            </a:extLst>
          </p:cNvPr>
          <p:cNvSpPr>
            <a:spLocks xmlns:a="http://schemas.openxmlformats.org/drawingml/2006/main" noGrp="1"/>
          </p:cNvSpPr>
          <p:nvPr/>
        </p:nvSpPr>
        <p:spPr>
          <a:xfrm xmlns:a="http://schemas.openxmlformats.org/drawingml/2006/main">
            <a:off x="523875" y="16192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500" b="1">
                <a:solidFill>
                  <a:srgbClr val="165DAE"/>
                </a:solidFill>
                <a:latin typeface="Arial"/>
                <a:ea typeface="Arial"/>
                <a:cs typeface="Arial"/>
              </a:defRPr>
            </a:defPPr>
            <a:lvl1pPr algn="l">
              <a:defRPr sz="4500" b="1">
                <a:solidFill>
                  <a:srgbClr val="165DAE"/>
                </a:solidFill>
                <a:latin typeface="Arial"/>
                <a:ea typeface="Arial"/>
                <a:cs typeface="Arial"/>
              </a:defRPr>
            </a:lvl1pPr>
            <a:lvl2pPr algn="l">
              <a:defRPr sz="4500" b="1">
                <a:solidFill>
                  <a:srgbClr val="165DAE"/>
                </a:solidFill>
                <a:latin typeface="Arial"/>
                <a:ea typeface="Arial"/>
                <a:cs typeface="Arial"/>
              </a:defRPr>
            </a:lvl2pPr>
            <a:lvl3pPr algn="l">
              <a:defRPr sz="4500" b="1">
                <a:solidFill>
                  <a:srgbClr val="165DAE"/>
                </a:solidFill>
                <a:latin typeface="Arial"/>
                <a:ea typeface="Arial"/>
                <a:cs typeface="Arial"/>
              </a:defRPr>
            </a:lvl3pPr>
            <a:lvl4pPr algn="l">
              <a:defRPr sz="4500" b="1">
                <a:solidFill>
                  <a:srgbClr val="165DAE"/>
                </a:solidFill>
                <a:latin typeface="Arial"/>
                <a:ea typeface="Arial"/>
                <a:cs typeface="Arial"/>
              </a:defRPr>
            </a:lvl4pPr>
            <a:lvl5pPr algn="l">
              <a:defRPr sz="4500" b="1">
                <a:solidFill>
                  <a:srgbClr val="165DAE"/>
                </a:solidFill>
                <a:latin typeface="Arial"/>
                <a:ea typeface="Arial"/>
                <a:cs typeface="Arial"/>
              </a:defRPr>
            </a:lvl5pPr>
            <a:lvl6pPr algn="l">
              <a:defRPr sz="4500" b="1">
                <a:solidFill>
                  <a:srgbClr val="165DAE"/>
                </a:solidFill>
                <a:latin typeface="Arial"/>
                <a:ea typeface="Arial"/>
                <a:cs typeface="Arial"/>
              </a:defRPr>
            </a:lvl6pPr>
            <a:lvl7pPr algn="l">
              <a:defRPr sz="4500" b="1">
                <a:solidFill>
                  <a:srgbClr val="165DAE"/>
                </a:solidFill>
                <a:latin typeface="Arial"/>
                <a:ea typeface="Arial"/>
                <a:cs typeface="Arial"/>
              </a:defRPr>
            </a:lvl7pPr>
            <a:lvl8pPr algn="l">
              <a:defRPr sz="4500" b="1">
                <a:solidFill>
                  <a:srgbClr val="165DAE"/>
                </a:solidFill>
                <a:latin typeface="Arial"/>
                <a:ea typeface="Arial"/>
                <a:cs typeface="Arial"/>
              </a:defRPr>
            </a:lvl8pPr>
            <a:lvl9pPr algn="l">
              <a:defRPr sz="4500" b="1">
                <a:solidFill>
                  <a:srgbClr val="165DAE"/>
                </a:solidFill>
                <a:latin typeface="Arial"/>
                <a:ea typeface="Arial"/>
                <a:cs typeface="Arial"/>
              </a:defRPr>
            </a:lvl9pPr>
          </a:lstStyle>
          <a:p xmlns:a="http://schemas.openxmlformats.org/drawingml/2006/main">
            <a:pPr algn="l">
              <a:defRPr sz="4500" b="1">
                <a:solidFill>
                  <a:srgbClr val="165DAE"/>
                </a:solidFill>
              </a:defRPr>
            </a:pPr>
            <a:r>
              <a:rPr sz="4500" b="1">
                <a:solidFill>
                  <a:srgbClr val="165DAE"/>
                </a:solidFill>
                <a:latin typeface="Arial"/>
                <a:ea typeface="Arial"/>
                <a:cs typeface="Arial"/>
              </a:rPr>
              <a:t>10% to 60%</a:t>
            </a:r>
          </a:p>
        </p:txBody>
      </p:sp>
      <p:sp>
        <p:nvSpPr>
          <p:cNvPr id="18" name="">
            <a:extLst xmlns:a="http://schemas.openxmlformats.org/drawingml/2006/main">
              <a:ext uri="{FF2B5EF4-FFF2-40B4-BE49-F238E27FC236}">
                <a16:creationId xmlns:a16="http://schemas.microsoft.com/office/drawing/2014/main" id="{0FD1D4B7-F913-47AC-9614-2FB9D9899F78}"/>
              </a:ext>
            </a:extLst>
          </p:cNvPr>
          <p:cNvSpPr>
            <a:spLocks xmlns:a="http://schemas.openxmlformats.org/drawingml/2006/main" noGrp="1"/>
          </p:cNvSpPr>
          <p:nvPr/>
        </p:nvSpPr>
        <p:spPr>
          <a:xfrm xmlns:a="http://schemas.openxmlformats.org/drawingml/2006/main">
            <a:off x="533400" y="2619375"/>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52047"/>
                </a:solidFill>
                <a:latin typeface="Arial"/>
                <a:ea typeface="Arial"/>
                <a:cs typeface="Arial"/>
              </a:defRPr>
            </a:defPPr>
            <a:lvl1pPr algn="l">
              <a:defRPr sz="2025" b="1">
                <a:solidFill>
                  <a:srgbClr val="152047"/>
                </a:solidFill>
                <a:latin typeface="Arial"/>
                <a:ea typeface="Arial"/>
                <a:cs typeface="Arial"/>
              </a:defRPr>
            </a:lvl1pPr>
            <a:lvl2pPr algn="l">
              <a:defRPr sz="2025" b="1">
                <a:solidFill>
                  <a:srgbClr val="152047"/>
                </a:solidFill>
                <a:latin typeface="Arial"/>
                <a:ea typeface="Arial"/>
                <a:cs typeface="Arial"/>
              </a:defRPr>
            </a:lvl2pPr>
            <a:lvl3pPr algn="l">
              <a:defRPr sz="2025" b="1">
                <a:solidFill>
                  <a:srgbClr val="152047"/>
                </a:solidFill>
                <a:latin typeface="Arial"/>
                <a:ea typeface="Arial"/>
                <a:cs typeface="Arial"/>
              </a:defRPr>
            </a:lvl3pPr>
            <a:lvl4pPr algn="l">
              <a:defRPr sz="2025" b="1">
                <a:solidFill>
                  <a:srgbClr val="152047"/>
                </a:solidFill>
                <a:latin typeface="Arial"/>
                <a:ea typeface="Arial"/>
                <a:cs typeface="Arial"/>
              </a:defRPr>
            </a:lvl4pPr>
            <a:lvl5pPr algn="l">
              <a:defRPr sz="2025" b="1">
                <a:solidFill>
                  <a:srgbClr val="152047"/>
                </a:solidFill>
                <a:latin typeface="Arial"/>
                <a:ea typeface="Arial"/>
                <a:cs typeface="Arial"/>
              </a:defRPr>
            </a:lvl5pPr>
            <a:lvl6pPr algn="l">
              <a:defRPr sz="2025" b="1">
                <a:solidFill>
                  <a:srgbClr val="152047"/>
                </a:solidFill>
                <a:latin typeface="Arial"/>
                <a:ea typeface="Arial"/>
                <a:cs typeface="Arial"/>
              </a:defRPr>
            </a:lvl6pPr>
            <a:lvl7pPr algn="l">
              <a:defRPr sz="2025" b="1">
                <a:solidFill>
                  <a:srgbClr val="152047"/>
                </a:solidFill>
                <a:latin typeface="Arial"/>
                <a:ea typeface="Arial"/>
                <a:cs typeface="Arial"/>
              </a:defRPr>
            </a:lvl7pPr>
            <a:lvl8pPr algn="l">
              <a:defRPr sz="2025" b="1">
                <a:solidFill>
                  <a:srgbClr val="152047"/>
                </a:solidFill>
                <a:latin typeface="Arial"/>
                <a:ea typeface="Arial"/>
                <a:cs typeface="Arial"/>
              </a:defRPr>
            </a:lvl8pPr>
            <a:lvl9pPr algn="l">
              <a:defRPr sz="2025" b="1">
                <a:solidFill>
                  <a:srgbClr val="152047"/>
                </a:solidFill>
                <a:latin typeface="Arial"/>
                <a:ea typeface="Arial"/>
                <a:cs typeface="Arial"/>
              </a:defRPr>
            </a:lvl9pPr>
          </a:lstStyle>
          <a:p xmlns:a="http://schemas.openxmlformats.org/drawingml/2006/main">
            <a:pPr algn="l">
              <a:defRPr sz="2025" b="1">
                <a:solidFill>
                  <a:srgbClr val="152047"/>
                </a:solidFill>
              </a:defRPr>
            </a:pPr>
            <a:r>
              <a:rPr sz="2025" b="1">
                <a:solidFill>
                  <a:srgbClr val="152047"/>
                </a:solidFill>
                <a:latin typeface="Arial"/>
                <a:ea typeface="Arial"/>
                <a:cs typeface="Arial"/>
              </a:rPr>
              <a:t>Seven-day coverage in the transfer scenario</a:t>
            </a:r>
          </a:p>
        </p:txBody>
      </p:sp>
      <p:sp>
        <p:nvSpPr>
          <p:cNvPr id="19" name="">
            <a:extLst xmlns:a="http://schemas.openxmlformats.org/drawingml/2006/main">
              <a:ext uri="{FF2B5EF4-FFF2-40B4-BE49-F238E27FC236}">
                <a16:creationId xmlns:a16="http://schemas.microsoft.com/office/drawing/2014/main" id="{3B4F6052-0FAD-4DB7-9232-2119BFC6CB94}"/>
              </a:ext>
            </a:extLst>
          </p:cNvPr>
          <p:cNvSpPr>
            <a:spLocks xmlns:a="http://schemas.openxmlformats.org/drawingml/2006/main" noGrp="1"/>
          </p:cNvSpPr>
          <p:nvPr/>
        </p:nvSpPr>
        <p:spPr>
          <a:xfrm xmlns:a="http://schemas.openxmlformats.org/drawingml/2006/main">
            <a:off x="552450" y="3619500"/>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40 units</a:t>
            </a:r>
          </a:p>
        </p:txBody>
      </p:sp>
      <p:sp>
        <p:nvSpPr>
          <p:cNvPr id="20" name="">
            <a:extLst xmlns:a="http://schemas.openxmlformats.org/drawingml/2006/main">
              <a:ext uri="{FF2B5EF4-FFF2-40B4-BE49-F238E27FC236}">
                <a16:creationId xmlns:a16="http://schemas.microsoft.com/office/drawing/2014/main" id="{1DECD40C-C4C8-4879-BA74-682F39C84179}"/>
              </a:ext>
            </a:extLst>
          </p:cNvPr>
          <p:cNvSpPr>
            <a:spLocks xmlns:a="http://schemas.openxmlformats.org/drawingml/2006/main" noGrp="1"/>
          </p:cNvSpPr>
          <p:nvPr/>
        </p:nvSpPr>
        <p:spPr>
          <a:xfrm xmlns:a="http://schemas.openxmlformats.org/drawingml/2006/main">
            <a:off x="552450" y="4305300"/>
            <a:ext cx="4095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CAD 60 transfer cost</a:t>
            </a:r>
          </a:p>
          <a:p xmlns:a="http://schemas.openxmlformats.org/drawingml/2006/main">
            <a:pPr algn="l">
              <a:defRPr sz="2175" b="0">
                <a:solidFill>
                  <a:srgbClr val="152047"/>
                </a:solidFill>
              </a:defRPr>
            </a:pPr>
            <a:r>
              <a:rPr sz="2175" b="0">
                <a:solidFill>
                  <a:srgbClr val="152047"/>
                </a:solidFill>
                <a:latin typeface="Arial"/>
                <a:ea typeface="Arial"/>
                <a:cs typeface="Arial"/>
              </a:rPr>
              <a:t>2-day assumed transit</a:t>
            </a:r>
          </a:p>
        </p:txBody>
      </p:sp>
      <p:sp>
        <p:nvSpPr>
          <p:cNvPr id="21" name="">
            <a:extLst xmlns:a="http://schemas.openxmlformats.org/drawingml/2006/main">
              <a:ext uri="{FF2B5EF4-FFF2-40B4-BE49-F238E27FC236}">
                <a16:creationId xmlns:a16="http://schemas.microsoft.com/office/drawing/2014/main" id="{18571621-3B1A-4C3F-980F-522BECDD2588}"/>
              </a:ext>
            </a:extLst>
          </p:cNvPr>
          <p:cNvSpPr>
            <a:spLocks xmlns:a="http://schemas.openxmlformats.org/drawingml/2006/main" noGrp="1"/>
          </p:cNvSpPr>
          <p:nvPr/>
        </p:nvSpPr>
        <p:spPr>
          <a:xfrm xmlns:a="http://schemas.openxmlformats.org/drawingml/2006/main">
            <a:off x="552450" y="5610225"/>
            <a:ext cx="4095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100" b="1">
                <a:solidFill>
                  <a:srgbClr val="152047"/>
                </a:solidFill>
              </a:defRPr>
            </a:pPr>
            <a:r>
              <a:rPr sz="2100" b="1">
                <a:solidFill>
                  <a:srgbClr val="152047"/>
                </a:solidFill>
                <a:latin typeface="Arial"/>
                <a:ea typeface="Arial"/>
                <a:cs typeface="Arial"/>
              </a:rPr>
              <a:t>32 units still uncovered</a:t>
            </a:r>
          </a:p>
        </p:txBody>
      </p:sp>
      <p:sp>
        <p:nvSpPr>
          <p:cNvPr id="22" name="">
            <a:extLst xmlns:a="http://schemas.openxmlformats.org/drawingml/2006/main">
              <a:ext uri="{FF2B5EF4-FFF2-40B4-BE49-F238E27FC236}">
                <a16:creationId xmlns:a16="http://schemas.microsoft.com/office/drawing/2014/main" id="{14A28BD1-E206-4995-863C-DAED76FDC2CB}"/>
              </a:ext>
            </a:extLst>
          </p:cNvPr>
          <p:cNvSpPr>
            <a:spLocks xmlns:a="http://schemas.openxmlformats.org/drawingml/2006/main" noGrp="1"/>
          </p:cNvSpPr>
          <p:nvPr/>
        </p:nvSpPr>
        <p:spPr>
          <a:xfrm xmlns:a="http://schemas.openxmlformats.org/drawingml/2006/main">
            <a:off x="5219700" y="1466850"/>
            <a:ext cx="8039100" cy="45624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EA44A59E-CCCB-47CE-BF41-DB1F50062B98}"/>
              </a:ext>
            </a:extLst>
          </p:cNvPr>
          <p:cNvPicPr>
            <a:picLocks xmlns:a="http://schemas.openxmlformats.org/drawingml/2006/main" noChangeAspect="1"/>
          </p:cNvPicPr>
          <p:nvPr/>
        </p:nvPicPr>
        <p:blipFill>
          <a:blip xmlns:r="http://schemas.openxmlformats.org/officeDocument/2006/relationships" xmlns:a="http://schemas.openxmlformats.org/drawingml/2006/main" r:embed="R069f40c88fab4252"/>
          <a:srcRect xmlns:a="http://schemas.openxmlformats.org/drawingml/2006/main" l="16000" t="55000" r="0" b="0"/>
          <a:stretch xmlns:a="http://schemas.openxmlformats.org/drawingml/2006/main"/>
        </p:blipFill>
        <p:spPr>
          <a:xfrm xmlns:a="http://schemas.openxmlformats.org/drawingml/2006/main">
            <a:off x="5219700" y="2158523"/>
            <a:ext cx="8039100" cy="3179129"/>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4CB5571-6900-4724-BF68-62EAA7DDA42A}"/>
              </a:ext>
            </a:extLst>
          </p:cNvPr>
          <p:cNvSpPr>
            <a:spLocks xmlns:a="http://schemas.openxmlformats.org/drawingml/2006/main" noGrp="1"/>
          </p:cNvSpPr>
          <p:nvPr/>
        </p:nvSpPr>
        <p:spPr>
          <a:xfrm xmlns:a="http://schemas.openxmlformats.org/drawingml/2006/main">
            <a:off x="5381625" y="6134100"/>
            <a:ext cx="771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65DAE"/>
                </a:solidFill>
                <a:latin typeface="Arial"/>
                <a:ea typeface="Arial"/>
                <a:cs typeface="Arial"/>
              </a:defRPr>
            </a:defPPr>
            <a:lvl1pPr algn="l">
              <a:defRPr sz="1875" b="1">
                <a:solidFill>
                  <a:srgbClr val="165DAE"/>
                </a:solidFill>
                <a:latin typeface="Arial"/>
                <a:ea typeface="Arial"/>
                <a:cs typeface="Arial"/>
              </a:defRPr>
            </a:lvl1pPr>
            <a:lvl2pPr algn="l">
              <a:defRPr sz="1875" b="1">
                <a:solidFill>
                  <a:srgbClr val="165DAE"/>
                </a:solidFill>
                <a:latin typeface="Arial"/>
                <a:ea typeface="Arial"/>
                <a:cs typeface="Arial"/>
              </a:defRPr>
            </a:lvl2pPr>
            <a:lvl3pPr algn="l">
              <a:defRPr sz="1875" b="1">
                <a:solidFill>
                  <a:srgbClr val="165DAE"/>
                </a:solidFill>
                <a:latin typeface="Arial"/>
                <a:ea typeface="Arial"/>
                <a:cs typeface="Arial"/>
              </a:defRPr>
            </a:lvl3pPr>
            <a:lvl4pPr algn="l">
              <a:defRPr sz="1875" b="1">
                <a:solidFill>
                  <a:srgbClr val="165DAE"/>
                </a:solidFill>
                <a:latin typeface="Arial"/>
                <a:ea typeface="Arial"/>
                <a:cs typeface="Arial"/>
              </a:defRPr>
            </a:lvl4pPr>
            <a:lvl5pPr algn="l">
              <a:defRPr sz="1875" b="1">
                <a:solidFill>
                  <a:srgbClr val="165DAE"/>
                </a:solidFill>
                <a:latin typeface="Arial"/>
                <a:ea typeface="Arial"/>
                <a:cs typeface="Arial"/>
              </a:defRPr>
            </a:lvl5pPr>
            <a:lvl6pPr algn="l">
              <a:defRPr sz="1875" b="1">
                <a:solidFill>
                  <a:srgbClr val="165DAE"/>
                </a:solidFill>
                <a:latin typeface="Arial"/>
                <a:ea typeface="Arial"/>
                <a:cs typeface="Arial"/>
              </a:defRPr>
            </a:lvl6pPr>
            <a:lvl7pPr algn="l">
              <a:defRPr sz="1875" b="1">
                <a:solidFill>
                  <a:srgbClr val="165DAE"/>
                </a:solidFill>
                <a:latin typeface="Arial"/>
                <a:ea typeface="Arial"/>
                <a:cs typeface="Arial"/>
              </a:defRPr>
            </a:lvl7pPr>
            <a:lvl8pPr algn="l">
              <a:defRPr sz="1875" b="1">
                <a:solidFill>
                  <a:srgbClr val="165DAE"/>
                </a:solidFill>
                <a:latin typeface="Arial"/>
                <a:ea typeface="Arial"/>
                <a:cs typeface="Arial"/>
              </a:defRPr>
            </a:lvl8pPr>
            <a:lvl9pPr algn="l">
              <a:defRPr sz="1875" b="1">
                <a:solidFill>
                  <a:srgbClr val="165DAE"/>
                </a:solidFill>
                <a:latin typeface="Arial"/>
                <a:ea typeface="Arial"/>
                <a:cs typeface="Arial"/>
              </a:defRPr>
            </a:lvl9pPr>
          </a:lstStyle>
          <a:p xmlns:a="http://schemas.openxmlformats.org/drawingml/2006/main">
            <a:pPr algn="l">
              <a:defRPr sz="1875" b="1">
                <a:solidFill>
                  <a:srgbClr val="165DAE"/>
                </a:solidFill>
              </a:defRPr>
            </a:pPr>
            <a:r>
              <a:rPr sz="1875" b="1">
                <a:solidFill>
                  <a:srgbClr val="165DAE"/>
                </a:solidFill>
                <a:latin typeface="Arial"/>
                <a:ea typeface="Arial"/>
                <a:cs typeface="Arial"/>
              </a:rPr>
              <a:t>Bob can compare options, approve a transfer and confirm receipt.</a:t>
            </a:r>
          </a:p>
        </p:txBody>
      </p:sp>
    </p:spTree>
    <p:extLst>
      <p:ext uri="{BB962C8B-B14F-4D97-AF65-F5344CB8AC3E}">
        <p14:creationId xmlns:p14="http://schemas.microsoft.com/office/powerpoint/2010/main" val="1960684030"/>
      </p:ext>
    </p:extLst>
  </p:cSld>
</p:sld>
</file>

<file path=ppt/slides/slide8.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F1BE05-4D93-4722-B072-53E9EA8CB2B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5C2383-5C80-41D2-85D8-925D7F387C3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MARKET RESEARCH</a:t>
            </a:r>
          </a:p>
        </p:txBody>
      </p:sp>
      <p:sp>
        <p:nvSpPr>
          <p:cNvPr id="4" name="">
            <a:extLst xmlns:a="http://schemas.openxmlformats.org/drawingml/2006/main">
              <a:ext uri="{FF2B5EF4-FFF2-40B4-BE49-F238E27FC236}">
                <a16:creationId xmlns:a16="http://schemas.microsoft.com/office/drawing/2014/main" id="{359ED833-BFEB-4DD4-B0E6-3AAFF627CBE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The first buyers are SAP-connected apparel chains</a:t>
            </a:r>
          </a:p>
        </p:txBody>
      </p:sp>
      <p:sp>
        <p:nvSpPr>
          <p:cNvPr id="5" name="">
            <a:extLst xmlns:a="http://schemas.openxmlformats.org/drawingml/2006/main">
              <a:ext uri="{FF2B5EF4-FFF2-40B4-BE49-F238E27FC236}">
                <a16:creationId xmlns:a16="http://schemas.microsoft.com/office/drawing/2014/main" id="{09422539-1D91-4818-ACB3-FD06985F5D5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Account counts and contract values are planning assumptions, not verified market counts. 150 customers is 30% of the modeled SAM.</a:t>
            </a:r>
          </a:p>
        </p:txBody>
      </p:sp>
      <p:sp>
        <p:nvSpPr>
          <p:cNvPr id="6" name="">
            <a:extLst xmlns:a="http://schemas.openxmlformats.org/drawingml/2006/main">
              <a:ext uri="{FF2B5EF4-FFF2-40B4-BE49-F238E27FC236}">
                <a16:creationId xmlns:a16="http://schemas.microsoft.com/office/drawing/2014/main" id="{905C6CE8-F50A-480E-80DB-4EBD1EF355C6}"/>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F92564-B56E-4533-9B0C-018D6DB9215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6FFB596-54DD-465C-8F79-44AF014F647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9B5B68-1BDC-4D5A-B426-79AA57547C3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BC09E2D9-CA8B-4411-874D-5E9D12BBF42B}"/>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C9F1B06-C2EE-460E-8129-F70FA3EC4A5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783EDF9-B284-4E2A-A78A-55D6134221FF}"/>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9113E0-E30E-416B-8707-C59A2B3B6342}"/>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256441B-518F-442F-81E6-6B6FA65F0BE3}"/>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7E83FE-8DA1-4233-986B-5D4287D1EE9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01044935-FCDD-4DEF-A2F0-A7ED9327265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08</a:t>
            </a:r>
          </a:p>
        </p:txBody>
      </p:sp>
      <p:sp>
        <p:nvSpPr>
          <p:cNvPr id="17" name="">
            <a:extLst xmlns:a="http://schemas.openxmlformats.org/drawingml/2006/main">
              <a:ext uri="{FF2B5EF4-FFF2-40B4-BE49-F238E27FC236}">
                <a16:creationId xmlns:a16="http://schemas.microsoft.com/office/drawing/2014/main" id="{55BF71FD-CF22-4AF4-8B69-6970199E7187}"/>
              </a:ext>
            </a:extLst>
          </p:cNvPr>
          <p:cNvSpPr>
            <a:spLocks xmlns:a="http://schemas.openxmlformats.org/drawingml/2006/main" noGrp="1"/>
          </p:cNvSpPr>
          <p:nvPr/>
        </p:nvSpPr>
        <p:spPr>
          <a:xfrm xmlns:a="http://schemas.openxmlformats.org/drawingml/2006/main">
            <a:off x="552450" y="1590675"/>
            <a:ext cx="766762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Primary users: merchandise and inventory planners</a:t>
            </a:r>
          </a:p>
          <a:p xmlns:a="http://schemas.openxmlformats.org/drawingml/2006/main">
            <a:pPr algn="l">
              <a:defRPr sz="2175" b="0">
                <a:solidFill>
                  <a:srgbClr val="152047"/>
                </a:solidFill>
              </a:defRPr>
            </a:pPr>
            <a:r>
              <a:rPr sz="2175" b="0">
                <a:solidFill>
                  <a:srgbClr val="152047"/>
                </a:solidFill>
                <a:latin typeface="Arial"/>
                <a:ea typeface="Arial"/>
                <a:cs typeface="Arial"/>
              </a:rPr>
              <a:t>Economic buyer: COO / merchandising leader, with CFO approval</a:t>
            </a:r>
          </a:p>
          <a:p xmlns:a="http://schemas.openxmlformats.org/drawingml/2006/main">
            <a:pPr algn="l">
              <a:defRPr sz="2175" b="0">
                <a:solidFill>
                  <a:srgbClr val="152047"/>
                </a:solidFill>
              </a:defRPr>
            </a:pPr>
            <a:r>
              <a:rPr sz="2175" b="0">
                <a:solidFill>
                  <a:srgbClr val="152047"/>
                </a:solidFill>
                <a:latin typeface="Arial"/>
                <a:ea typeface="Arial"/>
                <a:cs typeface="Arial"/>
              </a:rPr>
              <a:t>First segment: 50–250 stores, online sales and reliable SKU-level stock</a:t>
            </a:r>
          </a:p>
        </p:txBody>
      </p:sp>
      <p:pic>
        <p:nvPicPr>
          <p:cNvPr id="18" name="">
            <a:extLst xmlns:a="http://schemas.openxmlformats.org/drawingml/2006/main">
              <a:ext uri="{FF2B5EF4-FFF2-40B4-BE49-F238E27FC236}">
                <a16:creationId xmlns:a16="http://schemas.microsoft.com/office/drawing/2014/main" id="{5FF008EF-B282-47B8-ABAF-0763311AC790}"/>
              </a:ext>
            </a:extLst>
          </p:cNvPr>
          <p:cNvPicPr>
            <a:picLocks xmlns:a="http://schemas.openxmlformats.org/drawingml/2006/main" noChangeAspect="1"/>
          </p:cNvPicPr>
          <p:nvPr/>
        </p:nvPicPr>
        <p:blipFill>
          <a:blip xmlns:r="http://schemas.openxmlformats.org/officeDocument/2006/relationships" xmlns:a="http://schemas.openxmlformats.org/drawingml/2006/main" r:embed="R718161eac5914962"/>
          <a:srcRect xmlns:a="http://schemas.openxmlformats.org/drawingml/2006/main" l="0" t="5064" r="0" b="5064"/>
          <a:stretch xmlns:a="http://schemas.openxmlformats.org/drawingml/2006/main">
            <a:fillRect l="0" t="0" r="0" b="0"/>
          </a:stretch>
        </p:blipFill>
        <p:spPr>
          <a:xfrm xmlns:a="http://schemas.openxmlformats.org/drawingml/2006/main">
            <a:off x="8791575" y="1495425"/>
            <a:ext cx="4467225" cy="26765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2787E412-BDE4-48B8-B9E0-22A19FBBE16D}"/>
              </a:ext>
            </a:extLst>
          </p:cNvPr>
          <p:cNvSpPr>
            <a:spLocks xmlns:a="http://schemas.openxmlformats.org/drawingml/2006/main" noGrp="1"/>
          </p:cNvSpPr>
          <p:nvPr/>
        </p:nvSpPr>
        <p:spPr>
          <a:xfrm xmlns:a="http://schemas.openxmlformats.org/drawingml/2006/main">
            <a:off x="552450"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AA68D44-0B76-436D-B694-A8D1984AB57A}"/>
              </a:ext>
            </a:extLst>
          </p:cNvPr>
          <p:cNvSpPr>
            <a:spLocks xmlns:a="http://schemas.openxmlformats.org/drawingml/2006/main" noGrp="1"/>
          </p:cNvSpPr>
          <p:nvPr/>
        </p:nvSpPr>
        <p:spPr>
          <a:xfrm xmlns:a="http://schemas.openxmlformats.org/drawingml/2006/main">
            <a:off x="552450"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1.40B</a:t>
            </a:r>
          </a:p>
        </p:txBody>
      </p:sp>
      <p:sp>
        <p:nvSpPr>
          <p:cNvPr id="21" name="">
            <a:extLst xmlns:a="http://schemas.openxmlformats.org/drawingml/2006/main">
              <a:ext uri="{FF2B5EF4-FFF2-40B4-BE49-F238E27FC236}">
                <a16:creationId xmlns:a16="http://schemas.microsoft.com/office/drawing/2014/main" id="{BDC6D7E9-3535-499A-A9E3-C31BE2AE3E44}"/>
              </a:ext>
            </a:extLst>
          </p:cNvPr>
          <p:cNvSpPr>
            <a:spLocks xmlns:a="http://schemas.openxmlformats.org/drawingml/2006/main" noGrp="1"/>
          </p:cNvSpPr>
          <p:nvPr/>
        </p:nvSpPr>
        <p:spPr>
          <a:xfrm xmlns:a="http://schemas.openxmlformats.org/drawingml/2006/main">
            <a:off x="552450"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Illustrative TAM</a:t>
            </a:r>
          </a:p>
        </p:txBody>
      </p:sp>
      <p:sp>
        <p:nvSpPr>
          <p:cNvPr id="22" name="">
            <a:extLst xmlns:a="http://schemas.openxmlformats.org/drawingml/2006/main">
              <a:ext uri="{FF2B5EF4-FFF2-40B4-BE49-F238E27FC236}">
                <a16:creationId xmlns:a16="http://schemas.microsoft.com/office/drawing/2014/main" id="{F456EFD4-BCBC-414B-9842-8067F0E4E08F}"/>
              </a:ext>
            </a:extLst>
          </p:cNvPr>
          <p:cNvSpPr>
            <a:spLocks xmlns:a="http://schemas.openxmlformats.org/drawingml/2006/main" noGrp="1"/>
          </p:cNvSpPr>
          <p:nvPr/>
        </p:nvSpPr>
        <p:spPr>
          <a:xfrm xmlns:a="http://schemas.openxmlformats.org/drawingml/2006/main">
            <a:off x="552450"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4,000 eligible chains × CAD 350k/year</a:t>
            </a:r>
          </a:p>
        </p:txBody>
      </p:sp>
      <p:sp>
        <p:nvSpPr>
          <p:cNvPr id="23" name="">
            <a:extLst xmlns:a="http://schemas.openxmlformats.org/drawingml/2006/main">
              <a:ext uri="{FF2B5EF4-FFF2-40B4-BE49-F238E27FC236}">
                <a16:creationId xmlns:a16="http://schemas.microsoft.com/office/drawing/2014/main" id="{83E59AAA-FCF6-4386-A27F-9D3BF945115C}"/>
              </a:ext>
            </a:extLst>
          </p:cNvPr>
          <p:cNvSpPr>
            <a:spLocks xmlns:a="http://schemas.openxmlformats.org/drawingml/2006/main" noGrp="1"/>
          </p:cNvSpPr>
          <p:nvPr/>
        </p:nvSpPr>
        <p:spPr>
          <a:xfrm xmlns:a="http://schemas.openxmlformats.org/drawingml/2006/main">
            <a:off x="4848225"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463996F-B472-4698-97DB-B17544671D5B}"/>
              </a:ext>
            </a:extLst>
          </p:cNvPr>
          <p:cNvSpPr>
            <a:spLocks xmlns:a="http://schemas.openxmlformats.org/drawingml/2006/main" noGrp="1"/>
          </p:cNvSpPr>
          <p:nvPr/>
        </p:nvSpPr>
        <p:spPr>
          <a:xfrm xmlns:a="http://schemas.openxmlformats.org/drawingml/2006/main">
            <a:off x="4848225"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175M</a:t>
            </a:r>
          </a:p>
        </p:txBody>
      </p:sp>
      <p:sp>
        <p:nvSpPr>
          <p:cNvPr id="25" name="">
            <a:extLst xmlns:a="http://schemas.openxmlformats.org/drawingml/2006/main">
              <a:ext uri="{FF2B5EF4-FFF2-40B4-BE49-F238E27FC236}">
                <a16:creationId xmlns:a16="http://schemas.microsoft.com/office/drawing/2014/main" id="{08116B78-A185-4C5B-8468-36D67350E42A}"/>
              </a:ext>
            </a:extLst>
          </p:cNvPr>
          <p:cNvSpPr>
            <a:spLocks xmlns:a="http://schemas.openxmlformats.org/drawingml/2006/main" noGrp="1"/>
          </p:cNvSpPr>
          <p:nvPr/>
        </p:nvSpPr>
        <p:spPr>
          <a:xfrm xmlns:a="http://schemas.openxmlformats.org/drawingml/2006/main">
            <a:off x="4848225"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Illustrative SAM</a:t>
            </a:r>
          </a:p>
        </p:txBody>
      </p:sp>
      <p:sp>
        <p:nvSpPr>
          <p:cNvPr id="26" name="">
            <a:extLst xmlns:a="http://schemas.openxmlformats.org/drawingml/2006/main">
              <a:ext uri="{FF2B5EF4-FFF2-40B4-BE49-F238E27FC236}">
                <a16:creationId xmlns:a16="http://schemas.microsoft.com/office/drawing/2014/main" id="{A66DE5FA-4B10-4CE9-BC84-05830EB5B315}"/>
              </a:ext>
            </a:extLst>
          </p:cNvPr>
          <p:cNvSpPr>
            <a:spLocks xmlns:a="http://schemas.openxmlformats.org/drawingml/2006/main" noGrp="1"/>
          </p:cNvSpPr>
          <p:nvPr/>
        </p:nvSpPr>
        <p:spPr>
          <a:xfrm xmlns:a="http://schemas.openxmlformats.org/drawingml/2006/main">
            <a:off x="4848225"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500 initial serviceable chains × CAD 350k/year</a:t>
            </a:r>
          </a:p>
        </p:txBody>
      </p:sp>
      <p:sp>
        <p:nvSpPr>
          <p:cNvPr id="27" name="">
            <a:extLst xmlns:a="http://schemas.openxmlformats.org/drawingml/2006/main">
              <a:ext uri="{FF2B5EF4-FFF2-40B4-BE49-F238E27FC236}">
                <a16:creationId xmlns:a16="http://schemas.microsoft.com/office/drawing/2014/main" id="{8D810F3B-0721-49EB-8E11-D2EF858CB6BD}"/>
              </a:ext>
            </a:extLst>
          </p:cNvPr>
          <p:cNvSpPr>
            <a:spLocks xmlns:a="http://schemas.openxmlformats.org/drawingml/2006/main" noGrp="1"/>
          </p:cNvSpPr>
          <p:nvPr/>
        </p:nvSpPr>
        <p:spPr>
          <a:xfrm xmlns:a="http://schemas.openxmlformats.org/drawingml/2006/main">
            <a:off x="9144000" y="4629150"/>
            <a:ext cx="3943350" cy="2857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EC8C461-98AE-4617-8E80-02BDC18979B1}"/>
              </a:ext>
            </a:extLst>
          </p:cNvPr>
          <p:cNvSpPr>
            <a:spLocks xmlns:a="http://schemas.openxmlformats.org/drawingml/2006/main" noGrp="1"/>
          </p:cNvSpPr>
          <p:nvPr/>
        </p:nvSpPr>
        <p:spPr>
          <a:xfrm xmlns:a="http://schemas.openxmlformats.org/drawingml/2006/main">
            <a:off x="9144000" y="4857750"/>
            <a:ext cx="3981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600" b="1">
                <a:solidFill>
                  <a:srgbClr val="165DAE"/>
                </a:solidFill>
                <a:latin typeface="Arial"/>
                <a:ea typeface="Arial"/>
                <a:cs typeface="Arial"/>
              </a:defRPr>
            </a:defPPr>
            <a:lvl1pPr algn="l">
              <a:defRPr sz="3600" b="1">
                <a:solidFill>
                  <a:srgbClr val="165DAE"/>
                </a:solidFill>
                <a:latin typeface="Arial"/>
                <a:ea typeface="Arial"/>
                <a:cs typeface="Arial"/>
              </a:defRPr>
            </a:lvl1pPr>
            <a:lvl2pPr algn="l">
              <a:defRPr sz="3600" b="1">
                <a:solidFill>
                  <a:srgbClr val="165DAE"/>
                </a:solidFill>
                <a:latin typeface="Arial"/>
                <a:ea typeface="Arial"/>
                <a:cs typeface="Arial"/>
              </a:defRPr>
            </a:lvl2pPr>
            <a:lvl3pPr algn="l">
              <a:defRPr sz="3600" b="1">
                <a:solidFill>
                  <a:srgbClr val="165DAE"/>
                </a:solidFill>
                <a:latin typeface="Arial"/>
                <a:ea typeface="Arial"/>
                <a:cs typeface="Arial"/>
              </a:defRPr>
            </a:lvl3pPr>
            <a:lvl4pPr algn="l">
              <a:defRPr sz="3600" b="1">
                <a:solidFill>
                  <a:srgbClr val="165DAE"/>
                </a:solidFill>
                <a:latin typeface="Arial"/>
                <a:ea typeface="Arial"/>
                <a:cs typeface="Arial"/>
              </a:defRPr>
            </a:lvl4pPr>
            <a:lvl5pPr algn="l">
              <a:defRPr sz="3600" b="1">
                <a:solidFill>
                  <a:srgbClr val="165DAE"/>
                </a:solidFill>
                <a:latin typeface="Arial"/>
                <a:ea typeface="Arial"/>
                <a:cs typeface="Arial"/>
              </a:defRPr>
            </a:lvl5pPr>
            <a:lvl6pPr algn="l">
              <a:defRPr sz="3600" b="1">
                <a:solidFill>
                  <a:srgbClr val="165DAE"/>
                </a:solidFill>
                <a:latin typeface="Arial"/>
                <a:ea typeface="Arial"/>
                <a:cs typeface="Arial"/>
              </a:defRPr>
            </a:lvl6pPr>
            <a:lvl7pPr algn="l">
              <a:defRPr sz="3600" b="1">
                <a:solidFill>
                  <a:srgbClr val="165DAE"/>
                </a:solidFill>
                <a:latin typeface="Arial"/>
                <a:ea typeface="Arial"/>
                <a:cs typeface="Arial"/>
              </a:defRPr>
            </a:lvl7pPr>
            <a:lvl8pPr algn="l">
              <a:defRPr sz="3600" b="1">
                <a:solidFill>
                  <a:srgbClr val="165DAE"/>
                </a:solidFill>
                <a:latin typeface="Arial"/>
                <a:ea typeface="Arial"/>
                <a:cs typeface="Arial"/>
              </a:defRPr>
            </a:lvl8pPr>
            <a:lvl9pPr algn="l">
              <a:defRPr sz="3600" b="1">
                <a:solidFill>
                  <a:srgbClr val="165DAE"/>
                </a:solidFill>
                <a:latin typeface="Arial"/>
                <a:ea typeface="Arial"/>
                <a:cs typeface="Arial"/>
              </a:defRPr>
            </a:lvl9pPr>
          </a:lstStyle>
          <a:p xmlns:a="http://schemas.openxmlformats.org/drawingml/2006/main">
            <a:pPr algn="l">
              <a:defRPr sz="3600" b="1">
                <a:solidFill>
                  <a:srgbClr val="165DAE"/>
                </a:solidFill>
              </a:defRPr>
            </a:pPr>
            <a:r>
              <a:rPr sz="3600" b="1">
                <a:solidFill>
                  <a:srgbClr val="165DAE"/>
                </a:solidFill>
                <a:latin typeface="Arial"/>
                <a:ea typeface="Arial"/>
                <a:cs typeface="Arial"/>
              </a:rPr>
              <a:t>CAD 52.5M</a:t>
            </a:r>
          </a:p>
        </p:txBody>
      </p:sp>
      <p:sp>
        <p:nvSpPr>
          <p:cNvPr id="29" name="">
            <a:extLst xmlns:a="http://schemas.openxmlformats.org/drawingml/2006/main">
              <a:ext uri="{FF2B5EF4-FFF2-40B4-BE49-F238E27FC236}">
                <a16:creationId xmlns:a16="http://schemas.microsoft.com/office/drawing/2014/main" id="{73A36309-D573-4ED0-BACA-0080E4E9B67E}"/>
              </a:ext>
            </a:extLst>
          </p:cNvPr>
          <p:cNvSpPr>
            <a:spLocks xmlns:a="http://schemas.openxmlformats.org/drawingml/2006/main" noGrp="1"/>
          </p:cNvSpPr>
          <p:nvPr/>
        </p:nvSpPr>
        <p:spPr>
          <a:xfrm xmlns:a="http://schemas.openxmlformats.org/drawingml/2006/main">
            <a:off x="9144000" y="5695950"/>
            <a:ext cx="398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1">
                <a:solidFill>
                  <a:srgbClr val="152047"/>
                </a:solidFill>
                <a:latin typeface="Arial"/>
                <a:ea typeface="Arial"/>
                <a:cs typeface="Arial"/>
              </a:defRPr>
            </a:defPPr>
            <a:lvl1pPr algn="l">
              <a:defRPr sz="1875" b="1">
                <a:solidFill>
                  <a:srgbClr val="152047"/>
                </a:solidFill>
                <a:latin typeface="Arial"/>
                <a:ea typeface="Arial"/>
                <a:cs typeface="Arial"/>
              </a:defRPr>
            </a:lvl1pPr>
            <a:lvl2pPr algn="l">
              <a:defRPr sz="1875" b="1">
                <a:solidFill>
                  <a:srgbClr val="152047"/>
                </a:solidFill>
                <a:latin typeface="Arial"/>
                <a:ea typeface="Arial"/>
                <a:cs typeface="Arial"/>
              </a:defRPr>
            </a:lvl2pPr>
            <a:lvl3pPr algn="l">
              <a:defRPr sz="1875" b="1">
                <a:solidFill>
                  <a:srgbClr val="152047"/>
                </a:solidFill>
                <a:latin typeface="Arial"/>
                <a:ea typeface="Arial"/>
                <a:cs typeface="Arial"/>
              </a:defRPr>
            </a:lvl3pPr>
            <a:lvl4pPr algn="l">
              <a:defRPr sz="1875" b="1">
                <a:solidFill>
                  <a:srgbClr val="152047"/>
                </a:solidFill>
                <a:latin typeface="Arial"/>
                <a:ea typeface="Arial"/>
                <a:cs typeface="Arial"/>
              </a:defRPr>
            </a:lvl4pPr>
            <a:lvl5pPr algn="l">
              <a:defRPr sz="1875" b="1">
                <a:solidFill>
                  <a:srgbClr val="152047"/>
                </a:solidFill>
                <a:latin typeface="Arial"/>
                <a:ea typeface="Arial"/>
                <a:cs typeface="Arial"/>
              </a:defRPr>
            </a:lvl5pPr>
            <a:lvl6pPr algn="l">
              <a:defRPr sz="1875" b="1">
                <a:solidFill>
                  <a:srgbClr val="152047"/>
                </a:solidFill>
                <a:latin typeface="Arial"/>
                <a:ea typeface="Arial"/>
                <a:cs typeface="Arial"/>
              </a:defRPr>
            </a:lvl6pPr>
            <a:lvl7pPr algn="l">
              <a:defRPr sz="1875" b="1">
                <a:solidFill>
                  <a:srgbClr val="152047"/>
                </a:solidFill>
                <a:latin typeface="Arial"/>
                <a:ea typeface="Arial"/>
                <a:cs typeface="Arial"/>
              </a:defRPr>
            </a:lvl7pPr>
            <a:lvl8pPr algn="l">
              <a:defRPr sz="1875" b="1">
                <a:solidFill>
                  <a:srgbClr val="152047"/>
                </a:solidFill>
                <a:latin typeface="Arial"/>
                <a:ea typeface="Arial"/>
                <a:cs typeface="Arial"/>
              </a:defRPr>
            </a:lvl8pPr>
            <a:lvl9pPr algn="l">
              <a:defRPr sz="1875" b="1">
                <a:solidFill>
                  <a:srgbClr val="152047"/>
                </a:solidFill>
                <a:latin typeface="Arial"/>
                <a:ea typeface="Arial"/>
                <a:cs typeface="Arial"/>
              </a:defRPr>
            </a:lvl9pPr>
          </a:lstStyle>
          <a:p xmlns:a="http://schemas.openxmlformats.org/drawingml/2006/main">
            <a:pPr algn="l">
              <a:defRPr sz="1875" b="1">
                <a:solidFill>
                  <a:srgbClr val="152047"/>
                </a:solidFill>
              </a:defRPr>
            </a:pPr>
            <a:r>
              <a:rPr sz="1875" b="1">
                <a:solidFill>
                  <a:srgbClr val="152047"/>
                </a:solidFill>
                <a:latin typeface="Arial"/>
                <a:ea typeface="Arial"/>
                <a:cs typeface="Arial"/>
              </a:rPr>
              <a:t>Year-3 ending ARR target</a:t>
            </a:r>
          </a:p>
        </p:txBody>
      </p:sp>
      <p:sp>
        <p:nvSpPr>
          <p:cNvPr id="30" name="">
            <a:extLst xmlns:a="http://schemas.openxmlformats.org/drawingml/2006/main">
              <a:ext uri="{FF2B5EF4-FFF2-40B4-BE49-F238E27FC236}">
                <a16:creationId xmlns:a16="http://schemas.microsoft.com/office/drawing/2014/main" id="{475E0935-D74B-4020-AD84-1D0A0BB591C6}"/>
              </a:ext>
            </a:extLst>
          </p:cNvPr>
          <p:cNvSpPr>
            <a:spLocks xmlns:a="http://schemas.openxmlformats.org/drawingml/2006/main" noGrp="1"/>
          </p:cNvSpPr>
          <p:nvPr/>
        </p:nvSpPr>
        <p:spPr>
          <a:xfrm xmlns:a="http://schemas.openxmlformats.org/drawingml/2006/main">
            <a:off x="9144000" y="6143625"/>
            <a:ext cx="39814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650" b="0">
                <a:solidFill>
                  <a:srgbClr val="152047"/>
                </a:solidFill>
                <a:latin typeface="Arial"/>
                <a:ea typeface="Arial"/>
                <a:cs typeface="Arial"/>
              </a:defRPr>
            </a:defPPr>
            <a:lvl1pPr algn="l">
              <a:defRPr sz="1650" b="0">
                <a:solidFill>
                  <a:srgbClr val="152047"/>
                </a:solidFill>
                <a:latin typeface="Arial"/>
                <a:ea typeface="Arial"/>
                <a:cs typeface="Arial"/>
              </a:defRPr>
            </a:lvl1pPr>
            <a:lvl2pPr algn="l">
              <a:defRPr sz="1650" b="0">
                <a:solidFill>
                  <a:srgbClr val="152047"/>
                </a:solidFill>
                <a:latin typeface="Arial"/>
                <a:ea typeface="Arial"/>
                <a:cs typeface="Arial"/>
              </a:defRPr>
            </a:lvl2pPr>
            <a:lvl3pPr algn="l">
              <a:defRPr sz="1650" b="0">
                <a:solidFill>
                  <a:srgbClr val="152047"/>
                </a:solidFill>
                <a:latin typeface="Arial"/>
                <a:ea typeface="Arial"/>
                <a:cs typeface="Arial"/>
              </a:defRPr>
            </a:lvl3pPr>
            <a:lvl4pPr algn="l">
              <a:defRPr sz="1650" b="0">
                <a:solidFill>
                  <a:srgbClr val="152047"/>
                </a:solidFill>
                <a:latin typeface="Arial"/>
                <a:ea typeface="Arial"/>
                <a:cs typeface="Arial"/>
              </a:defRPr>
            </a:lvl4pPr>
            <a:lvl5pPr algn="l">
              <a:defRPr sz="1650" b="0">
                <a:solidFill>
                  <a:srgbClr val="152047"/>
                </a:solidFill>
                <a:latin typeface="Arial"/>
                <a:ea typeface="Arial"/>
                <a:cs typeface="Arial"/>
              </a:defRPr>
            </a:lvl5pPr>
            <a:lvl6pPr algn="l">
              <a:defRPr sz="1650" b="0">
                <a:solidFill>
                  <a:srgbClr val="152047"/>
                </a:solidFill>
                <a:latin typeface="Arial"/>
                <a:ea typeface="Arial"/>
                <a:cs typeface="Arial"/>
              </a:defRPr>
            </a:lvl6pPr>
            <a:lvl7pPr algn="l">
              <a:defRPr sz="1650" b="0">
                <a:solidFill>
                  <a:srgbClr val="152047"/>
                </a:solidFill>
                <a:latin typeface="Arial"/>
                <a:ea typeface="Arial"/>
                <a:cs typeface="Arial"/>
              </a:defRPr>
            </a:lvl7pPr>
            <a:lvl8pPr algn="l">
              <a:defRPr sz="1650" b="0">
                <a:solidFill>
                  <a:srgbClr val="152047"/>
                </a:solidFill>
                <a:latin typeface="Arial"/>
                <a:ea typeface="Arial"/>
                <a:cs typeface="Arial"/>
              </a:defRPr>
            </a:lvl8pPr>
            <a:lvl9pPr algn="l">
              <a:defRPr sz="1650" b="0">
                <a:solidFill>
                  <a:srgbClr val="152047"/>
                </a:solidFill>
                <a:latin typeface="Arial"/>
                <a:ea typeface="Arial"/>
                <a:cs typeface="Arial"/>
              </a:defRPr>
            </a:lvl9pPr>
          </a:lstStyle>
          <a:p xmlns:a="http://schemas.openxmlformats.org/drawingml/2006/main">
            <a:pPr algn="l">
              <a:defRPr sz="1650" b="0">
                <a:solidFill>
                  <a:srgbClr val="152047"/>
                </a:solidFill>
              </a:defRPr>
            </a:pPr>
            <a:r>
              <a:rPr sz="1650" b="0">
                <a:solidFill>
                  <a:srgbClr val="152047"/>
                </a:solidFill>
                <a:latin typeface="Arial"/>
                <a:ea typeface="Arial"/>
                <a:cs typeface="Arial"/>
              </a:rPr>
              <a:t>150 customers × CAD 350k/year</a:t>
            </a:r>
          </a:p>
        </p:txBody>
      </p:sp>
    </p:spTree>
    <p:extLst>
      <p:ext uri="{BB962C8B-B14F-4D97-AF65-F5344CB8AC3E}">
        <p14:creationId xmlns:p14="http://schemas.microsoft.com/office/powerpoint/2010/main" val="1303289485"/>
      </p:ext>
    </p:extLst>
  </p:cSld>
</p:sld>
</file>

<file path=ppt/slides/slide9.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6B54E-6820-418E-9369-C3CA49BF685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833D2B-624A-4A3E-91B4-5BBB8A1A6FD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COMPETITOR ANALYSIS</a:t>
            </a:r>
          </a:p>
        </p:txBody>
      </p:sp>
      <p:sp>
        <p:nvSpPr>
          <p:cNvPr id="4" name="">
            <a:extLst xmlns:a="http://schemas.openxmlformats.org/drawingml/2006/main">
              <a:ext uri="{FF2B5EF4-FFF2-40B4-BE49-F238E27FC236}">
                <a16:creationId xmlns:a16="http://schemas.microsoft.com/office/drawing/2014/main" id="{A7B212DE-A221-4EE2-A310-33000CB3A1C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Competitors validate the need; integration decides the fit</a:t>
            </a:r>
          </a:p>
        </p:txBody>
      </p:sp>
      <p:sp>
        <p:nvSpPr>
          <p:cNvPr id="5" name="">
            <a:extLst xmlns:a="http://schemas.openxmlformats.org/drawingml/2006/main">
              <a:ext uri="{FF2B5EF4-FFF2-40B4-BE49-F238E27FC236}">
                <a16:creationId xmlns:a16="http://schemas.microsoft.com/office/drawing/2014/main" id="{26D55730-0AF7-4CE3-80E9-02F43FCBFB06}"/>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Qualitative positioning from public vendor descriptions. Competitors are commercial offerings; Retail Signal is a prototype.</a:t>
            </a:r>
          </a:p>
        </p:txBody>
      </p:sp>
      <p:sp>
        <p:nvSpPr>
          <p:cNvPr id="6" name="">
            <a:extLst xmlns:a="http://schemas.openxmlformats.org/drawingml/2006/main">
              <a:ext uri="{FF2B5EF4-FFF2-40B4-BE49-F238E27FC236}">
                <a16:creationId xmlns:a16="http://schemas.microsoft.com/office/drawing/2014/main" id="{950CB740-DCE8-4359-875C-5728FD96476F}"/>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FFE559-29F9-44A0-A9D8-C524CCD8CF4D}"/>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0FEEF5D9-B3D5-4363-9F17-33F4C8BF68B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E450881-E7F8-4715-BBDF-A36D82E38BCF}"/>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9D11D42A-8D59-4148-A890-1AD3A46FD5D7}"/>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A1F285-74B9-4058-83A3-903455D95AA9}"/>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0C621AFB-F1EB-4451-8E91-1BF14FE4D22A}"/>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1F1677C-2C13-4977-AF2B-CA4D5EDF537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1ACDD53E-2987-4F0C-986F-B538576B8EB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64B1D9-7DB3-4DC5-8440-C54014739F85}"/>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10B6AB8F-18E1-4977-BF5E-63FAE0CCE93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09</a:t>
            </a:r>
          </a:p>
        </p:txBody>
      </p:sp>
      <p:graphicFrame>
        <p:nvGraphicFramePr>
          <p:cNvPr id="17" name="">
            <a:extLst xmlns:a="http://schemas.openxmlformats.org/drawingml/2006/main">
              <a:ext uri="{FF2B5EF4-FFF2-40B4-BE49-F238E27FC236}">
                <a16:creationId xmlns:a16="http://schemas.microsoft.com/office/drawing/2014/main" id="{4A0F92B3-A97C-471F-B9FF-D07E98312D90}"/>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981075">
                <a:tc>
                  <a:txBody>
                    <a:bodyPr/>
                    <a:lstStyle/>
                    <a:p>
                      <a:r>
                        <a:rPr sz="1875" b="1">
                          <a:solidFill>
                            <a:srgbClr val="FFFFFF"/>
                          </a:solidFill>
                          <a:latin typeface="Arial"/>
                          <a:ea typeface="Arial"/>
                          <a:cs typeface="Arial"/>
                        </a:rPr>
                        <a:t>Alternative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Established strength</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Retail Signal’s proposed fit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81075">
                <a:tc>
                  <a:txBody>
                    <a:bodyPr/>
                    <a:lstStyle/>
                    <a:p>
                      <a:r>
                        <a:rPr sz="1875" b="1">
                          <a:solidFill>
                            <a:srgbClr val="FFFFFF"/>
                          </a:solidFill>
                          <a:latin typeface="Arial"/>
                          <a:ea typeface="Arial"/>
                          <a:cs typeface="Arial"/>
                        </a:rPr>
                        <a:t>Sensormatic TrueVUE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RFID inventory and fitting-room insight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Use equivalent event inputs in a wider decision workflow.</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Oracle Retail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Connected merchandising, inventory and AI planning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Focus on retailers whose execution already runs on 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81075">
                <a:tc>
                  <a:txBody>
                    <a:bodyPr/>
                    <a:lstStyle/>
                    <a:p>
                      <a:r>
                        <a:rPr sz="1875" b="1">
                          <a:solidFill>
                            <a:srgbClr val="FFFFFF"/>
                          </a:solidFill>
                          <a:latin typeface="Arial"/>
                          <a:ea typeface="Arial"/>
                          <a:cs typeface="Arial"/>
                        </a:rPr>
                        <a:t>Blue Yonder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Retail planning, scenarios and network intelligence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Bring early intent to a concise SAP approval workflow.</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Existing SAP IBP / CAR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Demand planning and retail transaction context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Extend these products; reuse their planning and data services.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660722614"/>
      </p:ext>
    </p:extLst>
  </p:cSld>
</p:sld>
</file>

<file path=ppt/slides/slide10.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0A2865B-25E5-4865-B27A-95435E1D7646}"/>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B21D83-74B1-4962-B819-D66CB514AD3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COMPETITIVE ADVANTAGE</a:t>
            </a:r>
          </a:p>
        </p:txBody>
      </p:sp>
      <p:sp>
        <p:nvSpPr>
          <p:cNvPr id="4" name="">
            <a:extLst xmlns:a="http://schemas.openxmlformats.org/drawingml/2006/main">
              <a:ext uri="{FF2B5EF4-FFF2-40B4-BE49-F238E27FC236}">
                <a16:creationId xmlns:a16="http://schemas.microsoft.com/office/drawing/2014/main" id="{B7468D3E-ECB1-4CBD-8617-2D2626D2013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SAP’s ecosystem can shorten the path to action</a:t>
            </a:r>
          </a:p>
        </p:txBody>
      </p:sp>
      <p:sp>
        <p:nvSpPr>
          <p:cNvPr id="5" name="">
            <a:extLst xmlns:a="http://schemas.openxmlformats.org/drawingml/2006/main">
              <a:ext uri="{FF2B5EF4-FFF2-40B4-BE49-F238E27FC236}">
                <a16:creationId xmlns:a16="http://schemas.microsoft.com/office/drawing/2014/main" id="{AAE06559-5F75-4DD6-A96A-EC02F3EC5BAF}"/>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architecture. No live SAP integration or cross-customer training is present in this demo.</a:t>
            </a:r>
          </a:p>
        </p:txBody>
      </p:sp>
      <p:sp>
        <p:nvSpPr>
          <p:cNvPr id="6" name="">
            <a:extLst xmlns:a="http://schemas.openxmlformats.org/drawingml/2006/main">
              <a:ext uri="{FF2B5EF4-FFF2-40B4-BE49-F238E27FC236}">
                <a16:creationId xmlns:a16="http://schemas.microsoft.com/office/drawing/2014/main" id="{B5FD1B25-0F4E-40DE-95BF-67970DEA231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63D503-A4E3-4CC8-B252-D6C182F2E35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1C8709E7-129B-4FC6-B4B3-8D9C0F2F023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F6B38F1-80D5-4EFF-B51B-58B5A3A8DEE1}"/>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F99532C-4137-48E9-87F5-05F9472418BF}"/>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CA5D8C-5D63-4B7D-9846-429483DCAEC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30D77BC0-F8D9-445A-A957-A7239E81527E}"/>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4D654F-435C-41B0-B935-0DCD150FE3C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6F1CA6A6-B1C4-429D-8A74-E0DCBBBE73C2}"/>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2E491E-8766-4DD6-9EA5-A3EF790788A7}"/>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4D1C4CE6-6BE7-4E80-B709-C01E39D9B5D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10</a:t>
            </a:r>
          </a:p>
        </p:txBody>
      </p:sp>
      <p:sp>
        <p:nvSpPr>
          <p:cNvPr id="17" name="">
            <a:extLst xmlns:a="http://schemas.openxmlformats.org/drawingml/2006/main">
              <a:ext uri="{FF2B5EF4-FFF2-40B4-BE49-F238E27FC236}">
                <a16:creationId xmlns:a16="http://schemas.microsoft.com/office/drawing/2014/main" id="{89B55A89-BEEE-4ABF-8832-FBA59689C805}"/>
              </a:ext>
            </a:extLst>
          </p:cNvPr>
          <p:cNvSpPr>
            <a:spLocks xmlns:a="http://schemas.openxmlformats.org/drawingml/2006/main" noGrp="1"/>
          </p:cNvSpPr>
          <p:nvPr/>
        </p:nvSpPr>
        <p:spPr>
          <a:xfrm xmlns:a="http://schemas.openxmlformats.org/drawingml/2006/main">
            <a:off x="457200" y="1495425"/>
            <a:ext cx="6858000" cy="49149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a:extLst xmlns:a="http://schemas.openxmlformats.org/drawingml/2006/main">
              <a:ext uri="{FF2B5EF4-FFF2-40B4-BE49-F238E27FC236}">
                <a16:creationId xmlns:a16="http://schemas.microsoft.com/office/drawing/2014/main" id="{EE665DF7-DD35-4E1F-890F-13F7F9C559EE}"/>
              </a:ext>
            </a:extLst>
          </p:cNvPr>
          <p:cNvPicPr>
            <a:picLocks xmlns:a="http://schemas.openxmlformats.org/drawingml/2006/main" noChangeAspect="1"/>
          </p:cNvPicPr>
          <p:nvPr/>
        </p:nvPicPr>
        <p:blipFill>
          <a:blip xmlns:r="http://schemas.openxmlformats.org/officeDocument/2006/relationships" xmlns:a="http://schemas.openxmlformats.org/drawingml/2006/main" r:embed="R453feeea0ba1465a"/>
          <a:srcRect xmlns:a="http://schemas.openxmlformats.org/drawingml/2006/main" l="17000" t="5000" r="0" b="0"/>
          <a:stretch xmlns:a="http://schemas.openxmlformats.org/drawingml/2006/main"/>
        </p:blipFill>
        <p:spPr>
          <a:xfrm xmlns:a="http://schemas.openxmlformats.org/drawingml/2006/main">
            <a:off x="977683" y="1495425"/>
            <a:ext cx="5817034" cy="49149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A9F62AB-2B24-4BAA-80BD-9D4C6C65AE87}"/>
              </a:ext>
            </a:extLst>
          </p:cNvPr>
          <p:cNvSpPr>
            <a:spLocks xmlns:a="http://schemas.openxmlformats.org/drawingml/2006/main" noGrp="1"/>
          </p:cNvSpPr>
          <p:nvPr/>
        </p:nvSpPr>
        <p:spPr>
          <a:xfrm xmlns:a="http://schemas.openxmlformats.org/drawingml/2006/main">
            <a:off x="7715250" y="158115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96722BD-0883-4CCE-8EDC-33D57D302ADF}"/>
              </a:ext>
            </a:extLst>
          </p:cNvPr>
          <p:cNvSpPr>
            <a:spLocks xmlns:a="http://schemas.openxmlformats.org/drawingml/2006/main" noGrp="1"/>
          </p:cNvSpPr>
          <p:nvPr/>
        </p:nvSpPr>
        <p:spPr>
          <a:xfrm xmlns:a="http://schemas.openxmlformats.org/drawingml/2006/main">
            <a:off x="7896225" y="150495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Connected execution</a:t>
            </a:r>
          </a:p>
        </p:txBody>
      </p:sp>
      <p:sp>
        <p:nvSpPr>
          <p:cNvPr id="21" name="">
            <a:extLst xmlns:a="http://schemas.openxmlformats.org/drawingml/2006/main">
              <a:ext uri="{FF2B5EF4-FFF2-40B4-BE49-F238E27FC236}">
                <a16:creationId xmlns:a16="http://schemas.microsoft.com/office/drawing/2014/main" id="{74CAC8FE-325D-4923-936D-D24798296D79}"/>
              </a:ext>
            </a:extLst>
          </p:cNvPr>
          <p:cNvSpPr>
            <a:spLocks xmlns:a="http://schemas.openxmlformats.org/drawingml/2006/main" noGrp="1"/>
          </p:cNvSpPr>
          <p:nvPr/>
        </p:nvSpPr>
        <p:spPr>
          <a:xfrm xmlns:a="http://schemas.openxmlformats.org/drawingml/2006/main">
            <a:off x="7896225" y="2000250"/>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S/4HANA holds stock movements and purchasing. Commerce Cloud contributes online context. IBP supports planning.</a:t>
            </a:r>
          </a:p>
        </p:txBody>
      </p:sp>
      <p:sp>
        <p:nvSpPr>
          <p:cNvPr id="22" name="">
            <a:extLst xmlns:a="http://schemas.openxmlformats.org/drawingml/2006/main">
              <a:ext uri="{FF2B5EF4-FFF2-40B4-BE49-F238E27FC236}">
                <a16:creationId xmlns:a16="http://schemas.microsoft.com/office/drawing/2014/main" id="{9CF47071-5DC7-4505-8899-A233B78490C4}"/>
              </a:ext>
            </a:extLst>
          </p:cNvPr>
          <p:cNvSpPr>
            <a:spLocks xmlns:a="http://schemas.openxmlformats.org/drawingml/2006/main" noGrp="1"/>
          </p:cNvSpPr>
          <p:nvPr/>
        </p:nvSpPr>
        <p:spPr>
          <a:xfrm xmlns:a="http://schemas.openxmlformats.org/drawingml/2006/main">
            <a:off x="7715250" y="32607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46C8883-B566-4249-B7C6-6E52CE11ED38}"/>
              </a:ext>
            </a:extLst>
          </p:cNvPr>
          <p:cNvSpPr>
            <a:spLocks xmlns:a="http://schemas.openxmlformats.org/drawingml/2006/main" noGrp="1"/>
          </p:cNvSpPr>
          <p:nvPr/>
        </p:nvSpPr>
        <p:spPr>
          <a:xfrm xmlns:a="http://schemas.openxmlformats.org/drawingml/2006/main">
            <a:off x="7896225" y="3184525"/>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Consistent business context</a:t>
            </a:r>
          </a:p>
        </p:txBody>
      </p:sp>
      <p:sp>
        <p:nvSpPr>
          <p:cNvPr id="24" name="">
            <a:extLst xmlns:a="http://schemas.openxmlformats.org/drawingml/2006/main">
              <a:ext uri="{FF2B5EF4-FFF2-40B4-BE49-F238E27FC236}">
                <a16:creationId xmlns:a16="http://schemas.microsoft.com/office/drawing/2014/main" id="{EC53A38C-2F0B-408D-8C51-4A33E2C4C28A}"/>
              </a:ext>
            </a:extLst>
          </p:cNvPr>
          <p:cNvSpPr>
            <a:spLocks xmlns:a="http://schemas.openxmlformats.org/drawingml/2006/main" noGrp="1"/>
          </p:cNvSpPr>
          <p:nvPr/>
        </p:nvSpPr>
        <p:spPr>
          <a:xfrm xmlns:a="http://schemas.openxmlformats.org/drawingml/2006/main">
            <a:off x="7896225" y="3679825"/>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Authorized product, location, cost and supplier data can make recommendations more relevant to the retailer.</a:t>
            </a:r>
          </a:p>
        </p:txBody>
      </p:sp>
      <p:sp>
        <p:nvSpPr>
          <p:cNvPr id="25" name="">
            <a:extLst xmlns:a="http://schemas.openxmlformats.org/drawingml/2006/main">
              <a:ext uri="{FF2B5EF4-FFF2-40B4-BE49-F238E27FC236}">
                <a16:creationId xmlns:a16="http://schemas.microsoft.com/office/drawing/2014/main" id="{94DFAEB1-BC2E-4F91-A506-B8EE82A755F0}"/>
              </a:ext>
            </a:extLst>
          </p:cNvPr>
          <p:cNvSpPr>
            <a:spLocks xmlns:a="http://schemas.openxmlformats.org/drawingml/2006/main" noGrp="1"/>
          </p:cNvSpPr>
          <p:nvPr/>
        </p:nvSpPr>
        <p:spPr>
          <a:xfrm xmlns:a="http://schemas.openxmlformats.org/drawingml/2006/main">
            <a:off x="7715250" y="49403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DBAF4DC-4089-4BE9-819C-D0E93216182A}"/>
              </a:ext>
            </a:extLst>
          </p:cNvPr>
          <p:cNvSpPr>
            <a:spLocks xmlns:a="http://schemas.openxmlformats.org/drawingml/2006/main" noGrp="1"/>
          </p:cNvSpPr>
          <p:nvPr/>
        </p:nvSpPr>
        <p:spPr>
          <a:xfrm xmlns:a="http://schemas.openxmlformats.org/drawingml/2006/main">
            <a:off x="7896225" y="4864100"/>
            <a:ext cx="5200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Learning with permission</a:t>
            </a:r>
          </a:p>
        </p:txBody>
      </p:sp>
      <p:sp>
        <p:nvSpPr>
          <p:cNvPr id="27" name="">
            <a:extLst xmlns:a="http://schemas.openxmlformats.org/drawingml/2006/main">
              <a:ext uri="{FF2B5EF4-FFF2-40B4-BE49-F238E27FC236}">
                <a16:creationId xmlns:a16="http://schemas.microsoft.com/office/drawing/2014/main" id="{F53E532E-A41C-425F-B370-A777381B4D23}"/>
              </a:ext>
            </a:extLst>
          </p:cNvPr>
          <p:cNvSpPr>
            <a:spLocks xmlns:a="http://schemas.openxmlformats.org/drawingml/2006/main" noGrp="1"/>
          </p:cNvSpPr>
          <p:nvPr/>
        </p:nvSpPr>
        <p:spPr>
          <a:xfrm xmlns:a="http://schemas.openxmlformats.org/drawingml/2006/main">
            <a:off x="7896225" y="5359400"/>
            <a:ext cx="5162550" cy="107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00" b="0">
                <a:solidFill>
                  <a:srgbClr val="152047"/>
                </a:solidFill>
                <a:latin typeface="Arial"/>
                <a:ea typeface="Arial"/>
                <a:cs typeface="Arial"/>
              </a:defRPr>
            </a:defPPr>
            <a:lvl1pPr algn="l">
              <a:defRPr sz="1800" b="0">
                <a:solidFill>
                  <a:srgbClr val="152047"/>
                </a:solidFill>
                <a:latin typeface="Arial"/>
                <a:ea typeface="Arial"/>
                <a:cs typeface="Arial"/>
              </a:defRPr>
            </a:lvl1pPr>
            <a:lvl2pPr algn="l">
              <a:defRPr sz="1800" b="0">
                <a:solidFill>
                  <a:srgbClr val="152047"/>
                </a:solidFill>
                <a:latin typeface="Arial"/>
                <a:ea typeface="Arial"/>
                <a:cs typeface="Arial"/>
              </a:defRPr>
            </a:lvl2pPr>
            <a:lvl3pPr algn="l">
              <a:defRPr sz="1800" b="0">
                <a:solidFill>
                  <a:srgbClr val="152047"/>
                </a:solidFill>
                <a:latin typeface="Arial"/>
                <a:ea typeface="Arial"/>
                <a:cs typeface="Arial"/>
              </a:defRPr>
            </a:lvl3pPr>
            <a:lvl4pPr algn="l">
              <a:defRPr sz="1800" b="0">
                <a:solidFill>
                  <a:srgbClr val="152047"/>
                </a:solidFill>
                <a:latin typeface="Arial"/>
                <a:ea typeface="Arial"/>
                <a:cs typeface="Arial"/>
              </a:defRPr>
            </a:lvl4pPr>
            <a:lvl5pPr algn="l">
              <a:defRPr sz="1800" b="0">
                <a:solidFill>
                  <a:srgbClr val="152047"/>
                </a:solidFill>
                <a:latin typeface="Arial"/>
                <a:ea typeface="Arial"/>
                <a:cs typeface="Arial"/>
              </a:defRPr>
            </a:lvl5pPr>
            <a:lvl6pPr algn="l">
              <a:defRPr sz="1800" b="0">
                <a:solidFill>
                  <a:srgbClr val="152047"/>
                </a:solidFill>
                <a:latin typeface="Arial"/>
                <a:ea typeface="Arial"/>
                <a:cs typeface="Arial"/>
              </a:defRPr>
            </a:lvl6pPr>
            <a:lvl7pPr algn="l">
              <a:defRPr sz="1800" b="0">
                <a:solidFill>
                  <a:srgbClr val="152047"/>
                </a:solidFill>
                <a:latin typeface="Arial"/>
                <a:ea typeface="Arial"/>
                <a:cs typeface="Arial"/>
              </a:defRPr>
            </a:lvl7pPr>
            <a:lvl8pPr algn="l">
              <a:defRPr sz="1800" b="0">
                <a:solidFill>
                  <a:srgbClr val="152047"/>
                </a:solidFill>
                <a:latin typeface="Arial"/>
                <a:ea typeface="Arial"/>
                <a:cs typeface="Arial"/>
              </a:defRPr>
            </a:lvl8pPr>
            <a:lvl9pPr algn="l">
              <a:defRPr sz="1800" b="0">
                <a:solidFill>
                  <a:srgbClr val="152047"/>
                </a:solidFill>
                <a:latin typeface="Arial"/>
                <a:ea typeface="Arial"/>
                <a:cs typeface="Arial"/>
              </a:defRPr>
            </a:lvl9pPr>
          </a:lstStyle>
          <a:p xmlns:a="http://schemas.openxmlformats.org/drawingml/2006/main">
            <a:pPr algn="l">
              <a:defRPr sz="1800" b="0">
                <a:solidFill>
                  <a:srgbClr val="152047"/>
                </a:solidFill>
              </a:defRPr>
            </a:pPr>
            <a:r>
              <a:rPr sz="1800" b="0">
                <a:solidFill>
                  <a:srgbClr val="152047"/>
                </a:solidFill>
                <a:latin typeface="Arial"/>
                <a:ea typeface="Arial"/>
                <a:cs typeface="Arial"/>
              </a:rPr>
              <a:t>SAP’s large client base creates a potential learning advantage, subject to contracts, consent and evaluation. More data alone does not prove better accuracy.</a:t>
            </a:r>
          </a:p>
        </p:txBody>
      </p:sp>
    </p:spTree>
    <p:extLst>
      <p:ext uri="{BB962C8B-B14F-4D97-AF65-F5344CB8AC3E}">
        <p14:creationId xmlns:p14="http://schemas.microsoft.com/office/powerpoint/2010/main" val="1530779112"/>
      </p:ext>
    </p:extLst>
  </p:cSld>
</p:sld>
</file>

<file path=ppt/slides/slide1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A0DA025-2B4E-4803-9CBB-50D020BDD216}"/>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558F871-424B-41E6-816C-2135CDC565A3}"/>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SWOT ANALYSIS</a:t>
            </a:r>
          </a:p>
        </p:txBody>
      </p:sp>
      <p:sp>
        <p:nvSpPr>
          <p:cNvPr id="4" name="">
            <a:extLst xmlns:a="http://schemas.openxmlformats.org/drawingml/2006/main">
              <a:ext uri="{FF2B5EF4-FFF2-40B4-BE49-F238E27FC236}">
                <a16:creationId xmlns:a16="http://schemas.microsoft.com/office/drawing/2014/main" id="{AC757C76-AC1E-4838-84E0-1736C94161FF}"/>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SWOT: a credible extension with execution risk</a:t>
            </a:r>
          </a:p>
        </p:txBody>
      </p:sp>
      <p:sp>
        <p:nvSpPr>
          <p:cNvPr id="5" name="">
            <a:extLst xmlns:a="http://schemas.openxmlformats.org/drawingml/2006/main">
              <a:ext uri="{FF2B5EF4-FFF2-40B4-BE49-F238E27FC236}">
                <a16:creationId xmlns:a16="http://schemas.microsoft.com/office/drawing/2014/main" id="{8B4BFFE9-B432-4043-99CE-2360C50ED67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Strategic assessment by Plus One Braincell; pilot evidence is needed to validate the opportunity.</a:t>
            </a:r>
          </a:p>
        </p:txBody>
      </p:sp>
      <p:sp>
        <p:nvSpPr>
          <p:cNvPr id="6" name="">
            <a:extLst xmlns:a="http://schemas.openxmlformats.org/drawingml/2006/main">
              <a:ext uri="{FF2B5EF4-FFF2-40B4-BE49-F238E27FC236}">
                <a16:creationId xmlns:a16="http://schemas.microsoft.com/office/drawing/2014/main" id="{4EBC1F51-9689-4501-A690-EE083C21705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6A4151-009F-47A3-9E38-47EA93B9C610}"/>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0A763EC-0D70-4D2E-99C5-938439D7266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011840-5CFB-4F18-B21B-BDA311F80B10}"/>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509D40F9-DE29-4E99-9DBB-1A1976FE793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A5C06C-5EFC-4D4F-9D33-36591CF15238}"/>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A22E6B93-CA81-4162-9204-31E3AB47FA8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CFA916-3079-47AA-96BB-EBC923C414C0}"/>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CFE70117-A600-467C-8F06-DA8EF2B1413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EF2DC6A-6F6F-451C-AA2A-D25D3473E02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8B7DC58-4BA5-41F2-BC2B-8A95FD42F59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11</a:t>
            </a:r>
          </a:p>
        </p:txBody>
      </p:sp>
      <p:sp>
        <p:nvSpPr>
          <p:cNvPr id="17" name="">
            <a:extLst xmlns:a="http://schemas.openxmlformats.org/drawingml/2006/main">
              <a:ext uri="{FF2B5EF4-FFF2-40B4-BE49-F238E27FC236}">
                <a16:creationId xmlns:a16="http://schemas.microsoft.com/office/drawing/2014/main" id="{773C908C-B532-4216-B585-164C96995780}"/>
              </a:ext>
            </a:extLst>
          </p:cNvPr>
          <p:cNvSpPr>
            <a:spLocks xmlns:a="http://schemas.openxmlformats.org/drawingml/2006/main" noGrp="1"/>
          </p:cNvSpPr>
          <p:nvPr/>
        </p:nvSpPr>
        <p:spPr>
          <a:xfrm xmlns:a="http://schemas.openxmlformats.org/drawingml/2006/main">
            <a:off x="457200" y="15335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32E322-6379-4A26-93F9-7CBA264E193C}"/>
              </a:ext>
            </a:extLst>
          </p:cNvPr>
          <p:cNvSpPr>
            <a:spLocks xmlns:a="http://schemas.openxmlformats.org/drawingml/2006/main" noGrp="1"/>
          </p:cNvSpPr>
          <p:nvPr/>
        </p:nvSpPr>
        <p:spPr>
          <a:xfrm xmlns:a="http://schemas.openxmlformats.org/drawingml/2006/main">
            <a:off x="590550" y="15621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STRENGTHS</a:t>
            </a:r>
          </a:p>
        </p:txBody>
      </p:sp>
      <p:sp>
        <p:nvSpPr>
          <p:cNvPr id="19" name="">
            <a:extLst xmlns:a="http://schemas.openxmlformats.org/drawingml/2006/main">
              <a:ext uri="{FF2B5EF4-FFF2-40B4-BE49-F238E27FC236}">
                <a16:creationId xmlns:a16="http://schemas.microsoft.com/office/drawing/2014/main" id="{324F19C8-3763-495D-A405-67BFC380A035}"/>
              </a:ext>
            </a:extLst>
          </p:cNvPr>
          <p:cNvSpPr>
            <a:spLocks xmlns:a="http://schemas.openxmlformats.org/drawingml/2006/main" noGrp="1"/>
          </p:cNvSpPr>
          <p:nvPr/>
        </p:nvSpPr>
        <p:spPr>
          <a:xfrm xmlns:a="http://schemas.openxmlformats.org/drawingml/2006/main">
            <a:off x="457200" y="20859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52A492E-EFFE-4244-8A52-7407F14B9830}"/>
              </a:ext>
            </a:extLst>
          </p:cNvPr>
          <p:cNvSpPr>
            <a:spLocks xmlns:a="http://schemas.openxmlformats.org/drawingml/2006/main" noGrp="1"/>
          </p:cNvSpPr>
          <p:nvPr/>
        </p:nvSpPr>
        <p:spPr>
          <a:xfrm xmlns:a="http://schemas.openxmlformats.org/drawingml/2006/main">
            <a:off x="647700" y="23336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S</a:t>
            </a:r>
          </a:p>
        </p:txBody>
      </p:sp>
      <p:sp>
        <p:nvSpPr>
          <p:cNvPr id="21" name="">
            <a:extLst xmlns:a="http://schemas.openxmlformats.org/drawingml/2006/main">
              <a:ext uri="{FF2B5EF4-FFF2-40B4-BE49-F238E27FC236}">
                <a16:creationId xmlns:a16="http://schemas.microsoft.com/office/drawing/2014/main" id="{E1783128-3CF1-4CD5-B411-96FB7264E874}"/>
              </a:ext>
            </a:extLst>
          </p:cNvPr>
          <p:cNvSpPr>
            <a:spLocks xmlns:a="http://schemas.openxmlformats.org/drawingml/2006/main" noGrp="1"/>
          </p:cNvSpPr>
          <p:nvPr/>
        </p:nvSpPr>
        <p:spPr>
          <a:xfrm xmlns:a="http://schemas.openxmlformats.org/drawingml/2006/main">
            <a:off x="1676400" y="23241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Existing SAP workflows</a:t>
            </a:r>
          </a:p>
          <a:p xmlns:a="http://schemas.openxmlformats.org/drawingml/2006/main">
            <a:pPr algn="l">
              <a:defRPr sz="2175" b="0">
                <a:solidFill>
                  <a:srgbClr val="152047"/>
                </a:solidFill>
              </a:defRPr>
            </a:pPr>
            <a:r>
              <a:rPr sz="2175" b="0">
                <a:solidFill>
                  <a:srgbClr val="152047"/>
                </a:solidFill>
                <a:latin typeface="Arial"/>
                <a:ea typeface="Arial"/>
                <a:cs typeface="Arial"/>
              </a:rPr>
              <a:t>One evidence-to-action experience</a:t>
            </a:r>
          </a:p>
        </p:txBody>
      </p:sp>
      <p:sp>
        <p:nvSpPr>
          <p:cNvPr id="22" name="">
            <a:extLst xmlns:a="http://schemas.openxmlformats.org/drawingml/2006/main">
              <a:ext uri="{FF2B5EF4-FFF2-40B4-BE49-F238E27FC236}">
                <a16:creationId xmlns:a16="http://schemas.microsoft.com/office/drawing/2014/main" id="{5A28A437-5BCD-4A19-BD28-19FCDC7C73E4}"/>
              </a:ext>
            </a:extLst>
          </p:cNvPr>
          <p:cNvSpPr>
            <a:spLocks xmlns:a="http://schemas.openxmlformats.org/drawingml/2006/main" noGrp="1"/>
          </p:cNvSpPr>
          <p:nvPr/>
        </p:nvSpPr>
        <p:spPr>
          <a:xfrm xmlns:a="http://schemas.openxmlformats.org/drawingml/2006/main">
            <a:off x="6991350" y="15335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66D850B-B8A3-4C5D-A84D-2362088B2300}"/>
              </a:ext>
            </a:extLst>
          </p:cNvPr>
          <p:cNvSpPr>
            <a:spLocks xmlns:a="http://schemas.openxmlformats.org/drawingml/2006/main" noGrp="1"/>
          </p:cNvSpPr>
          <p:nvPr/>
        </p:nvSpPr>
        <p:spPr>
          <a:xfrm xmlns:a="http://schemas.openxmlformats.org/drawingml/2006/main">
            <a:off x="7124700" y="15621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WEAKNESSES</a:t>
            </a:r>
          </a:p>
        </p:txBody>
      </p:sp>
      <p:sp>
        <p:nvSpPr>
          <p:cNvPr id="24" name="">
            <a:extLst xmlns:a="http://schemas.openxmlformats.org/drawingml/2006/main">
              <a:ext uri="{FF2B5EF4-FFF2-40B4-BE49-F238E27FC236}">
                <a16:creationId xmlns:a16="http://schemas.microsoft.com/office/drawing/2014/main" id="{B4B5C349-498D-466A-9772-A0D5ACBFAD47}"/>
              </a:ext>
            </a:extLst>
          </p:cNvPr>
          <p:cNvSpPr>
            <a:spLocks xmlns:a="http://schemas.openxmlformats.org/drawingml/2006/main" noGrp="1"/>
          </p:cNvSpPr>
          <p:nvPr/>
        </p:nvSpPr>
        <p:spPr>
          <a:xfrm xmlns:a="http://schemas.openxmlformats.org/drawingml/2006/main">
            <a:off x="6991350" y="20859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259F40F-3DB1-4A90-9D30-7DBC8CA91C23}"/>
              </a:ext>
            </a:extLst>
          </p:cNvPr>
          <p:cNvSpPr>
            <a:spLocks xmlns:a="http://schemas.openxmlformats.org/drawingml/2006/main" noGrp="1"/>
          </p:cNvSpPr>
          <p:nvPr/>
        </p:nvSpPr>
        <p:spPr>
          <a:xfrm xmlns:a="http://schemas.openxmlformats.org/drawingml/2006/main">
            <a:off x="7181850" y="23336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W</a:t>
            </a:r>
          </a:p>
        </p:txBody>
      </p:sp>
      <p:sp>
        <p:nvSpPr>
          <p:cNvPr id="26" name="">
            <a:extLst xmlns:a="http://schemas.openxmlformats.org/drawingml/2006/main">
              <a:ext uri="{FF2B5EF4-FFF2-40B4-BE49-F238E27FC236}">
                <a16:creationId xmlns:a16="http://schemas.microsoft.com/office/drawing/2014/main" id="{8ABE2B0C-7C7D-44C9-90FE-336CF92368FA}"/>
              </a:ext>
            </a:extLst>
          </p:cNvPr>
          <p:cNvSpPr>
            <a:spLocks xmlns:a="http://schemas.openxmlformats.org/drawingml/2006/main" noGrp="1"/>
          </p:cNvSpPr>
          <p:nvPr/>
        </p:nvSpPr>
        <p:spPr>
          <a:xfrm xmlns:a="http://schemas.openxmlformats.org/drawingml/2006/main">
            <a:off x="8210550" y="23241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Prototype, not production</a:t>
            </a:r>
          </a:p>
          <a:p xmlns:a="http://schemas.openxmlformats.org/drawingml/2006/main">
            <a:pPr algn="l">
              <a:defRPr sz="2175" b="0">
                <a:solidFill>
                  <a:srgbClr val="152047"/>
                </a:solidFill>
              </a:defRPr>
            </a:pPr>
            <a:r>
              <a:rPr sz="2175" b="0">
                <a:solidFill>
                  <a:srgbClr val="152047"/>
                </a:solidFill>
                <a:latin typeface="Arial"/>
                <a:ea typeface="Arial"/>
                <a:cs typeface="Arial"/>
              </a:rPr>
              <a:t>Hardware and data-quality dependence</a:t>
            </a:r>
          </a:p>
        </p:txBody>
      </p:sp>
      <p:sp>
        <p:nvSpPr>
          <p:cNvPr id="27" name="">
            <a:extLst xmlns:a="http://schemas.openxmlformats.org/drawingml/2006/main">
              <a:ext uri="{FF2B5EF4-FFF2-40B4-BE49-F238E27FC236}">
                <a16:creationId xmlns:a16="http://schemas.microsoft.com/office/drawing/2014/main" id="{942D5355-57AF-4198-ADDD-E5E45BDAB5D9}"/>
              </a:ext>
            </a:extLst>
          </p:cNvPr>
          <p:cNvSpPr>
            <a:spLocks xmlns:a="http://schemas.openxmlformats.org/drawingml/2006/main" noGrp="1"/>
          </p:cNvSpPr>
          <p:nvPr/>
        </p:nvSpPr>
        <p:spPr>
          <a:xfrm xmlns:a="http://schemas.openxmlformats.org/drawingml/2006/main">
            <a:off x="457200" y="40100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ACE4680-8AC9-4CFD-A8A8-DDDC06A3655D}"/>
              </a:ext>
            </a:extLst>
          </p:cNvPr>
          <p:cNvSpPr>
            <a:spLocks xmlns:a="http://schemas.openxmlformats.org/drawingml/2006/main" noGrp="1"/>
          </p:cNvSpPr>
          <p:nvPr/>
        </p:nvSpPr>
        <p:spPr>
          <a:xfrm xmlns:a="http://schemas.openxmlformats.org/drawingml/2006/main">
            <a:off x="590550" y="40386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OPPORTUNITIES</a:t>
            </a:r>
          </a:p>
        </p:txBody>
      </p:sp>
      <p:sp>
        <p:nvSpPr>
          <p:cNvPr id="29" name="">
            <a:extLst xmlns:a="http://schemas.openxmlformats.org/drawingml/2006/main">
              <a:ext uri="{FF2B5EF4-FFF2-40B4-BE49-F238E27FC236}">
                <a16:creationId xmlns:a16="http://schemas.microsoft.com/office/drawing/2014/main" id="{9BC0B94D-756E-4655-8F0A-6E335CDEA52B}"/>
              </a:ext>
            </a:extLst>
          </p:cNvPr>
          <p:cNvSpPr>
            <a:spLocks xmlns:a="http://schemas.openxmlformats.org/drawingml/2006/main" noGrp="1"/>
          </p:cNvSpPr>
          <p:nvPr/>
        </p:nvSpPr>
        <p:spPr>
          <a:xfrm xmlns:a="http://schemas.openxmlformats.org/drawingml/2006/main">
            <a:off x="457200" y="45624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29064DC-708F-4A8E-B3C3-70B9BF402E53}"/>
              </a:ext>
            </a:extLst>
          </p:cNvPr>
          <p:cNvSpPr>
            <a:spLocks xmlns:a="http://schemas.openxmlformats.org/drawingml/2006/main" noGrp="1"/>
          </p:cNvSpPr>
          <p:nvPr/>
        </p:nvSpPr>
        <p:spPr>
          <a:xfrm xmlns:a="http://schemas.openxmlformats.org/drawingml/2006/main">
            <a:off x="647700" y="48101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O</a:t>
            </a:r>
          </a:p>
        </p:txBody>
      </p:sp>
      <p:sp>
        <p:nvSpPr>
          <p:cNvPr id="31" name="">
            <a:extLst xmlns:a="http://schemas.openxmlformats.org/drawingml/2006/main">
              <a:ext uri="{FF2B5EF4-FFF2-40B4-BE49-F238E27FC236}">
                <a16:creationId xmlns:a16="http://schemas.microsoft.com/office/drawing/2014/main" id="{1DBA173B-F1EF-4D3F-AE4D-70E26E69A37B}"/>
              </a:ext>
            </a:extLst>
          </p:cNvPr>
          <p:cNvSpPr>
            <a:spLocks xmlns:a="http://schemas.openxmlformats.org/drawingml/2006/main" noGrp="1"/>
          </p:cNvSpPr>
          <p:nvPr/>
        </p:nvSpPr>
        <p:spPr>
          <a:xfrm xmlns:a="http://schemas.openxmlformats.org/drawingml/2006/main">
            <a:off x="1676400" y="48006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Sell into SAP retail relationships</a:t>
            </a:r>
          </a:p>
          <a:p xmlns:a="http://schemas.openxmlformats.org/drawingml/2006/main">
            <a:pPr algn="l">
              <a:defRPr sz="2175" b="0">
                <a:solidFill>
                  <a:srgbClr val="152047"/>
                </a:solidFill>
              </a:defRPr>
            </a:pPr>
            <a:r>
              <a:rPr sz="2175" b="0">
                <a:solidFill>
                  <a:srgbClr val="152047"/>
                </a:solidFill>
                <a:latin typeface="Arial"/>
                <a:ea typeface="Arial"/>
                <a:cs typeface="Arial"/>
              </a:rPr>
              <a:t>Prove value on unavailable sizes</a:t>
            </a:r>
          </a:p>
        </p:txBody>
      </p:sp>
      <p:sp>
        <p:nvSpPr>
          <p:cNvPr id="32" name="">
            <a:extLst xmlns:a="http://schemas.openxmlformats.org/drawingml/2006/main">
              <a:ext uri="{FF2B5EF4-FFF2-40B4-BE49-F238E27FC236}">
                <a16:creationId xmlns:a16="http://schemas.microsoft.com/office/drawing/2014/main" id="{E9EE6F22-9639-481F-B460-E6DAEFDB2252}"/>
              </a:ext>
            </a:extLst>
          </p:cNvPr>
          <p:cNvSpPr>
            <a:spLocks xmlns:a="http://schemas.openxmlformats.org/drawingml/2006/main" noGrp="1"/>
          </p:cNvSpPr>
          <p:nvPr/>
        </p:nvSpPr>
        <p:spPr>
          <a:xfrm xmlns:a="http://schemas.openxmlformats.org/drawingml/2006/main">
            <a:off x="6991350" y="4010025"/>
            <a:ext cx="6267450" cy="5524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01F93EB-8F97-4488-A7E3-20C2FDC6479C}"/>
              </a:ext>
            </a:extLst>
          </p:cNvPr>
          <p:cNvSpPr>
            <a:spLocks xmlns:a="http://schemas.openxmlformats.org/drawingml/2006/main" noGrp="1"/>
          </p:cNvSpPr>
          <p:nvPr/>
        </p:nvSpPr>
        <p:spPr>
          <a:xfrm xmlns:a="http://schemas.openxmlformats.org/drawingml/2006/main">
            <a:off x="7124700" y="4038600"/>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THREATS</a:t>
            </a:r>
          </a:p>
        </p:txBody>
      </p:sp>
      <p:sp>
        <p:nvSpPr>
          <p:cNvPr id="34" name="">
            <a:extLst xmlns:a="http://schemas.openxmlformats.org/drawingml/2006/main">
              <a:ext uri="{FF2B5EF4-FFF2-40B4-BE49-F238E27FC236}">
                <a16:creationId xmlns:a16="http://schemas.microsoft.com/office/drawing/2014/main" id="{7C339232-EE0D-4ED6-9032-45F65D0D67F5}"/>
              </a:ext>
            </a:extLst>
          </p:cNvPr>
          <p:cNvSpPr>
            <a:spLocks xmlns:a="http://schemas.openxmlformats.org/drawingml/2006/main" noGrp="1"/>
          </p:cNvSpPr>
          <p:nvPr/>
        </p:nvSpPr>
        <p:spPr>
          <a:xfrm xmlns:a="http://schemas.openxmlformats.org/drawingml/2006/main">
            <a:off x="6991350" y="4562475"/>
            <a:ext cx="6267450" cy="1714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FF85EB-48D4-486B-BDF2-82B2F856DDA6}"/>
              </a:ext>
            </a:extLst>
          </p:cNvPr>
          <p:cNvSpPr>
            <a:spLocks xmlns:a="http://schemas.openxmlformats.org/drawingml/2006/main" noGrp="1"/>
          </p:cNvSpPr>
          <p:nvPr/>
        </p:nvSpPr>
        <p:spPr>
          <a:xfrm xmlns:a="http://schemas.openxmlformats.org/drawingml/2006/main">
            <a:off x="7181850" y="4810125"/>
            <a:ext cx="85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700" b="1">
                <a:solidFill>
                  <a:srgbClr val="165DAE"/>
                </a:solidFill>
                <a:latin typeface="Arial"/>
                <a:ea typeface="Arial"/>
                <a:cs typeface="Arial"/>
              </a:defRPr>
            </a:defPPr>
            <a:lvl1pPr algn="l">
              <a:defRPr sz="5700" b="1">
                <a:solidFill>
                  <a:srgbClr val="165DAE"/>
                </a:solidFill>
                <a:latin typeface="Arial"/>
                <a:ea typeface="Arial"/>
                <a:cs typeface="Arial"/>
              </a:defRPr>
            </a:lvl1pPr>
            <a:lvl2pPr algn="l">
              <a:defRPr sz="5700" b="1">
                <a:solidFill>
                  <a:srgbClr val="165DAE"/>
                </a:solidFill>
                <a:latin typeface="Arial"/>
                <a:ea typeface="Arial"/>
                <a:cs typeface="Arial"/>
              </a:defRPr>
            </a:lvl2pPr>
            <a:lvl3pPr algn="l">
              <a:defRPr sz="5700" b="1">
                <a:solidFill>
                  <a:srgbClr val="165DAE"/>
                </a:solidFill>
                <a:latin typeface="Arial"/>
                <a:ea typeface="Arial"/>
                <a:cs typeface="Arial"/>
              </a:defRPr>
            </a:lvl3pPr>
            <a:lvl4pPr algn="l">
              <a:defRPr sz="5700" b="1">
                <a:solidFill>
                  <a:srgbClr val="165DAE"/>
                </a:solidFill>
                <a:latin typeface="Arial"/>
                <a:ea typeface="Arial"/>
                <a:cs typeface="Arial"/>
              </a:defRPr>
            </a:lvl4pPr>
            <a:lvl5pPr algn="l">
              <a:defRPr sz="5700" b="1">
                <a:solidFill>
                  <a:srgbClr val="165DAE"/>
                </a:solidFill>
                <a:latin typeface="Arial"/>
                <a:ea typeface="Arial"/>
                <a:cs typeface="Arial"/>
              </a:defRPr>
            </a:lvl5pPr>
            <a:lvl6pPr algn="l">
              <a:defRPr sz="5700" b="1">
                <a:solidFill>
                  <a:srgbClr val="165DAE"/>
                </a:solidFill>
                <a:latin typeface="Arial"/>
                <a:ea typeface="Arial"/>
                <a:cs typeface="Arial"/>
              </a:defRPr>
            </a:lvl6pPr>
            <a:lvl7pPr algn="l">
              <a:defRPr sz="5700" b="1">
                <a:solidFill>
                  <a:srgbClr val="165DAE"/>
                </a:solidFill>
                <a:latin typeface="Arial"/>
                <a:ea typeface="Arial"/>
                <a:cs typeface="Arial"/>
              </a:defRPr>
            </a:lvl7pPr>
            <a:lvl8pPr algn="l">
              <a:defRPr sz="5700" b="1">
                <a:solidFill>
                  <a:srgbClr val="165DAE"/>
                </a:solidFill>
                <a:latin typeface="Arial"/>
                <a:ea typeface="Arial"/>
                <a:cs typeface="Arial"/>
              </a:defRPr>
            </a:lvl8pPr>
            <a:lvl9pPr algn="l">
              <a:defRPr sz="5700" b="1">
                <a:solidFill>
                  <a:srgbClr val="165DAE"/>
                </a:solidFill>
                <a:latin typeface="Arial"/>
                <a:ea typeface="Arial"/>
                <a:cs typeface="Arial"/>
              </a:defRPr>
            </a:lvl9pPr>
          </a:lstStyle>
          <a:p xmlns:a="http://schemas.openxmlformats.org/drawingml/2006/main">
            <a:pPr algn="l">
              <a:defRPr sz="5700" b="1">
                <a:solidFill>
                  <a:srgbClr val="165DAE"/>
                </a:solidFill>
              </a:defRPr>
            </a:pPr>
            <a:r>
              <a:rPr sz="5700" b="1">
                <a:solidFill>
                  <a:srgbClr val="165DAE"/>
                </a:solidFill>
                <a:latin typeface="Arial"/>
                <a:ea typeface="Arial"/>
                <a:cs typeface="Arial"/>
              </a:rPr>
              <a:t>T</a:t>
            </a:r>
          </a:p>
        </p:txBody>
      </p:sp>
      <p:sp>
        <p:nvSpPr>
          <p:cNvPr id="36" name="">
            <a:extLst xmlns:a="http://schemas.openxmlformats.org/drawingml/2006/main">
              <a:ext uri="{FF2B5EF4-FFF2-40B4-BE49-F238E27FC236}">
                <a16:creationId xmlns:a16="http://schemas.microsoft.com/office/drawing/2014/main" id="{61A67C5C-9303-4863-A9C1-3D3F4CF98FCF}"/>
              </a:ext>
            </a:extLst>
          </p:cNvPr>
          <p:cNvSpPr>
            <a:spLocks xmlns:a="http://schemas.openxmlformats.org/drawingml/2006/main" noGrp="1"/>
          </p:cNvSpPr>
          <p:nvPr/>
        </p:nvSpPr>
        <p:spPr>
          <a:xfrm xmlns:a="http://schemas.openxmlformats.org/drawingml/2006/main">
            <a:off x="8210550" y="4800600"/>
            <a:ext cx="47815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Strong planning and RFID vendors</a:t>
            </a:r>
          </a:p>
          <a:p xmlns:a="http://schemas.openxmlformats.org/drawingml/2006/main">
            <a:pPr algn="l">
              <a:defRPr sz="2175" b="0">
                <a:solidFill>
                  <a:srgbClr val="152047"/>
                </a:solidFill>
              </a:defRPr>
            </a:pPr>
            <a:r>
              <a:rPr sz="2175" b="0">
                <a:solidFill>
                  <a:srgbClr val="152047"/>
                </a:solidFill>
                <a:latin typeface="Arial"/>
                <a:ea typeface="Arial"/>
                <a:cs typeface="Arial"/>
              </a:rPr>
              <a:t>Budget pressure and long sales cycles</a:t>
            </a:r>
          </a:p>
        </p:txBody>
      </p:sp>
    </p:spTree>
    <p:extLst>
      <p:ext uri="{BB962C8B-B14F-4D97-AF65-F5344CB8AC3E}">
        <p14:creationId xmlns:p14="http://schemas.microsoft.com/office/powerpoint/2010/main" val="23942001"/>
      </p:ext>
    </p:extLst>
  </p:cSld>
</p:sld>
</file>

<file path=ppt/slides/slide1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8CB1CB-87A7-4B34-9460-41349AF5DFC7}"/>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0397D-6EEB-4E47-AD27-83E8C5942F38}"/>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DEPENDENCIES</a:t>
            </a:r>
          </a:p>
        </p:txBody>
      </p:sp>
      <p:sp>
        <p:nvSpPr>
          <p:cNvPr id="4" name="">
            <a:extLst xmlns:a="http://schemas.openxmlformats.org/drawingml/2006/main">
              <a:ext uri="{FF2B5EF4-FFF2-40B4-BE49-F238E27FC236}">
                <a16:creationId xmlns:a16="http://schemas.microsoft.com/office/drawing/2014/main" id="{2921185B-2789-47A6-8260-3112E50A39B6}"/>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Dependencies come before automation</a:t>
            </a:r>
          </a:p>
        </p:txBody>
      </p:sp>
      <p:sp>
        <p:nvSpPr>
          <p:cNvPr id="5" name="">
            <a:extLst xmlns:a="http://schemas.openxmlformats.org/drawingml/2006/main">
              <a:ext uri="{FF2B5EF4-FFF2-40B4-BE49-F238E27FC236}">
                <a16:creationId xmlns:a16="http://schemas.microsoft.com/office/drawing/2014/main" id="{A637A2A7-8D2F-4AE1-A0B6-0AFD00FF0D8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SAP roles: CAR = transaction context; S/4HANA = execution; Commerce = online channel; IBP = planning.</a:t>
            </a:r>
          </a:p>
        </p:txBody>
      </p:sp>
      <p:sp>
        <p:nvSpPr>
          <p:cNvPr id="6" name="">
            <a:extLst xmlns:a="http://schemas.openxmlformats.org/drawingml/2006/main">
              <a:ext uri="{FF2B5EF4-FFF2-40B4-BE49-F238E27FC236}">
                <a16:creationId xmlns:a16="http://schemas.microsoft.com/office/drawing/2014/main" id="{FA13DB55-ACE0-4F1E-B3E2-D38733105D33}"/>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4796BE-E4F3-4776-A854-52E2ADB04FD9}"/>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408B6D0-2467-42D1-B27E-9F18BD15892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B2ED0F9-B6DE-4FF2-A3B0-8B1D2A208CA8}"/>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887A1953-3F63-4DAA-B5AA-B356FE7A64FC}"/>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949F8E-853C-4AF0-8339-613A899CF8E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04C5B0AC-4EF8-4D80-A224-505AF89F7342}"/>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9FA879-B8C9-4376-9454-B27309661798}"/>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7DB20450-3276-4E82-8DAC-AD3CA01B3048}"/>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4FC72C-681D-41E9-8CB1-71766B82279F}"/>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AD020F85-D678-4866-AA73-FE41C2C2274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12</a:t>
            </a:r>
          </a:p>
        </p:txBody>
      </p:sp>
      <p:graphicFrame>
        <p:nvGraphicFramePr>
          <p:cNvPr id="17" name="">
            <a:extLst xmlns:a="http://schemas.openxmlformats.org/drawingml/2006/main">
              <a:ext uri="{FF2B5EF4-FFF2-40B4-BE49-F238E27FC236}">
                <a16:creationId xmlns:a16="http://schemas.microsoft.com/office/drawing/2014/main" id="{FE001B28-6563-429A-988D-476B7FA6B85A}"/>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981075">
                <a:tc>
                  <a:txBody>
                    <a:bodyPr/>
                    <a:lstStyle/>
                    <a:p>
                      <a:r>
                        <a:rPr sz="1875" b="1">
                          <a:solidFill>
                            <a:srgbClr val="FFFFFF"/>
                          </a:solidFill>
                          <a:latin typeface="Arial"/>
                          <a:ea typeface="Arial"/>
                          <a:cs typeface="Arial"/>
                        </a:rPr>
                        <a:t>Dependency</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Required before pilot actions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Owner</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81075">
                <a:tc>
                  <a:txBody>
                    <a:bodyPr/>
                    <a:lstStyle/>
                    <a:p>
                      <a:r>
                        <a:rPr sz="1875" b="1">
                          <a:solidFill>
                            <a:srgbClr val="FFFFFF"/>
                          </a:solidFill>
                          <a:latin typeface="Arial"/>
                          <a:ea typeface="Arial"/>
                          <a:cs typeface="Arial"/>
                        </a:rPr>
                        <a:t>Reliable shared records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Match SKU / size / location; reconcile stock and timestamps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Retail IT + data lead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Safe SAP integration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Tenant sandbox, supported interfaces, roles and audit trail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SAP / retailer integration team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81075">
                <a:tc>
                  <a:txBody>
                    <a:bodyPr/>
                    <a:lstStyle/>
                    <a:p>
                      <a:r>
                        <a:rPr sz="1875" b="1">
                          <a:solidFill>
                            <a:srgbClr val="FFFFFF"/>
                          </a:solidFill>
                          <a:latin typeface="Arial"/>
                          <a:ea typeface="Arial"/>
                          <a:cs typeface="Arial"/>
                        </a:rPr>
                        <a:t>Qualified demand events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RFID zone tests; session deduplication; bot filtering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Hardware + commerce teams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81075">
                <a:tc>
                  <a:txBody>
                    <a:bodyPr/>
                    <a:lstStyle/>
                    <a:p>
                      <a:r>
                        <a:rPr sz="1875" b="1">
                          <a:solidFill>
                            <a:srgbClr val="FFFFFF"/>
                          </a:solidFill>
                          <a:latin typeface="Arial"/>
                          <a:ea typeface="Arial"/>
                          <a:cs typeface="Arial"/>
                        </a:rPr>
                        <a:t>Commercial and privacy terms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Partner quotes, data agreement and retention policy</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Procurement + privacy lead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492830980"/>
      </p:ext>
    </p:extLst>
  </p:cSld>
</p:sld>
</file>

<file path=ppt/slides/slide13.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C24B8A-1A07-4001-89D8-8028B852E52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56C4A3-59A0-44D7-83E9-951A8F5753A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RISKS AND MITIGATIONS</a:t>
            </a:r>
          </a:p>
        </p:txBody>
      </p:sp>
      <p:sp>
        <p:nvSpPr>
          <p:cNvPr id="4" name="">
            <a:extLst xmlns:a="http://schemas.openxmlformats.org/drawingml/2006/main">
              <a:ext uri="{FF2B5EF4-FFF2-40B4-BE49-F238E27FC236}">
                <a16:creationId xmlns:a16="http://schemas.microsoft.com/office/drawing/2014/main" id="{4C1B2B89-943F-423B-8194-BAF6917AC6FB}"/>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Three risks could stop the pilot</a:t>
            </a:r>
          </a:p>
        </p:txBody>
      </p:sp>
      <p:sp>
        <p:nvSpPr>
          <p:cNvPr id="5" name="">
            <a:extLst xmlns:a="http://schemas.openxmlformats.org/drawingml/2006/main">
              <a:ext uri="{FF2B5EF4-FFF2-40B4-BE49-F238E27FC236}">
                <a16:creationId xmlns:a16="http://schemas.microsoft.com/office/drawing/2014/main" id="{94D54ED6-85E5-461E-B1A7-E8C5DA6008B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Risk owners: retail operations, privacy lead and CFO respectively. Thresholds are proposed pilot gates.</a:t>
            </a:r>
          </a:p>
        </p:txBody>
      </p:sp>
      <p:sp>
        <p:nvSpPr>
          <p:cNvPr id="6" name="">
            <a:extLst xmlns:a="http://schemas.openxmlformats.org/drawingml/2006/main">
              <a:ext uri="{FF2B5EF4-FFF2-40B4-BE49-F238E27FC236}">
                <a16:creationId xmlns:a16="http://schemas.microsoft.com/office/drawing/2014/main" id="{D2D64B78-4347-454E-A45D-37B86F061F1B}"/>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4AC490-0E60-4C21-93C3-37AE1FCD920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BE614C9F-74A1-469B-A659-D5EB1F69BD7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C4F4571-F053-411C-8F08-EE99C6248C0C}"/>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A1E6F26-9436-4504-87ED-55B8BEF3F719}"/>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EFBAB2-C15E-45AA-964A-54ED69D5DAFB}"/>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EF5CE42C-8268-40DB-B69E-4AFE70B0E33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4D23D3-7941-494D-AA05-F5080C1D2DF4}"/>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F32D53AA-BA15-4A15-9ADD-BC2D9E86EDA5}"/>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E2EEAF2-4D0D-4E64-8A57-FD11E074E513}"/>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13CF565-D643-4956-B729-BEF4E6A62677}"/>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13</a:t>
            </a:r>
          </a:p>
        </p:txBody>
      </p:sp>
      <p:graphicFrame>
        <p:nvGraphicFramePr>
          <p:cNvPr id="17" name="">
            <a:extLst xmlns:a="http://schemas.openxmlformats.org/drawingml/2006/main">
              <a:ext uri="{FF2B5EF4-FFF2-40B4-BE49-F238E27FC236}">
                <a16:creationId xmlns:a16="http://schemas.microsoft.com/office/drawing/2014/main" id="{F1C6C70A-EFE0-4A12-AF66-927CBBF68336}"/>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1226344">
                <a:tc>
                  <a:txBody>
                    <a:bodyPr/>
                    <a:lstStyle/>
                    <a:p>
                      <a:r>
                        <a:rPr sz="1875" b="1">
                          <a:solidFill>
                            <a:srgbClr val="FFFFFF"/>
                          </a:solidFill>
                          <a:latin typeface="Arial"/>
                          <a:ea typeface="Arial"/>
                          <a:cs typeface="Arial"/>
                        </a:rPr>
                        <a:t>Risk</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Mitigation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Stop / review trigger</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226344">
                <a:tc>
                  <a:txBody>
                    <a:bodyPr/>
                    <a:lstStyle/>
                    <a:p>
                      <a:r>
                        <a:rPr sz="1875" b="1">
                          <a:solidFill>
                            <a:srgbClr val="FFFFFF"/>
                          </a:solidFill>
                          <a:latin typeface="Arial"/>
                          <a:ea typeface="Arial"/>
                          <a:cs typeface="Arial"/>
                        </a:rPr>
                        <a:t>Wrong demand or stale stock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Confidence thresholds; fresh-stock check; planner approval; reconcile receipts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Stock mismatch &gt;2% or repeated bad transfers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226344">
                <a:tc>
                  <a:txBody>
                    <a:bodyPr/>
                    <a:lstStyle/>
                    <a:p>
                      <a:r>
                        <a:rPr sz="1875" b="1">
                          <a:solidFill>
                            <a:srgbClr val="FFFFFF"/>
                          </a:solidFill>
                          <a:latin typeface="Arial"/>
                          <a:ea typeface="Arial"/>
                          <a:cs typeface="Arial"/>
                        </a:rPr>
                        <a:t>Fitting-room privacy and trust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Garment events only; no cameras or identities; aggregate; short retention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Unresolved privacy concern or missing approval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226344">
                <a:tc>
                  <a:txBody>
                    <a:bodyPr/>
                    <a:lstStyle/>
                    <a:p>
                      <a:r>
                        <a:rPr sz="1875" b="1">
                          <a:solidFill>
                            <a:srgbClr val="FFFFFF"/>
                          </a:solidFill>
                          <a:latin typeface="Arial"/>
                          <a:ea typeface="Arial"/>
                          <a:cs typeface="Arial"/>
                        </a:rPr>
                        <a:t>Low adoption or weak economics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Planner co-design; top exceptions only; matched comparison; capped pilot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No response-time improvement or no path to positive value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908320990"/>
      </p:ext>
    </p:extLst>
  </p:cSld>
</p:sld>
</file>

<file path=ppt/slides/slide14.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AA75530-5336-42B7-B68B-10FBBCF60EA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74DA73-1890-43CD-898A-3ECAD0085BD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STAKEHOLDER ALIGNMENT</a:t>
            </a:r>
          </a:p>
        </p:txBody>
      </p:sp>
      <p:sp>
        <p:nvSpPr>
          <p:cNvPr id="4" name="">
            <a:extLst xmlns:a="http://schemas.openxmlformats.org/drawingml/2006/main">
              <a:ext uri="{FF2B5EF4-FFF2-40B4-BE49-F238E27FC236}">
                <a16:creationId xmlns:a16="http://schemas.microsoft.com/office/drawing/2014/main" id="{00F5D40A-B4A8-486C-8CE2-F284695E1C5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Decision rights resolve competing stakeholder needs</a:t>
            </a:r>
          </a:p>
        </p:txBody>
      </p:sp>
      <p:sp>
        <p:nvSpPr>
          <p:cNvPr id="5" name="">
            <a:extLst xmlns:a="http://schemas.openxmlformats.org/drawingml/2006/main">
              <a:ext uri="{FF2B5EF4-FFF2-40B4-BE49-F238E27FC236}">
                <a16:creationId xmlns:a16="http://schemas.microsoft.com/office/drawing/2014/main" id="{164BD49D-A840-4FD7-9088-4E47EE43CEDA}"/>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Escalation: margin or reserve conflict → retail operations leader; data/privacy failure → pause affected actions.</a:t>
            </a:r>
          </a:p>
        </p:txBody>
      </p:sp>
      <p:sp>
        <p:nvSpPr>
          <p:cNvPr id="6" name="">
            <a:extLst xmlns:a="http://schemas.openxmlformats.org/drawingml/2006/main">
              <a:ext uri="{FF2B5EF4-FFF2-40B4-BE49-F238E27FC236}">
                <a16:creationId xmlns:a16="http://schemas.microsoft.com/office/drawing/2014/main" id="{FFE13567-0AA9-4233-98BC-45C3E189BB6C}"/>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92C379-5366-4D8E-A909-636B8C576FF3}"/>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D88BFFD4-D29C-469D-BDDB-D1735AB67387}"/>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6948B4-F1E5-4227-B66E-429A094CA48E}"/>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E1FDFE25-E6BA-4C61-B120-4F08D839CE2E}"/>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DC4703-C1E8-4DA0-A022-5A7724C2AFAE}"/>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4FB31351-BDDA-4130-8F94-13AB3B729E56}"/>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41BC7B-281D-428C-95CD-132424584B57}"/>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07A9115C-32E4-4ACF-9F80-103A61D69575}"/>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6F739EB-B317-41ED-860F-ACDE4E70DBA1}"/>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0651687F-9C20-414B-AA49-B3848BB6693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14</a:t>
            </a:r>
          </a:p>
        </p:txBody>
      </p:sp>
      <p:graphicFrame>
        <p:nvGraphicFramePr>
          <p:cNvPr id="17" name="">
            <a:extLst xmlns:a="http://schemas.openxmlformats.org/drawingml/2006/main">
              <a:ext uri="{FF2B5EF4-FFF2-40B4-BE49-F238E27FC236}">
                <a16:creationId xmlns:a16="http://schemas.microsoft.com/office/drawing/2014/main" id="{1EF0E1D6-D8F6-4B72-86C1-4781870ACC41}"/>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817563">
                <a:tc>
                  <a:txBody>
                    <a:bodyPr/>
                    <a:lstStyle/>
                    <a:p>
                      <a:r>
                        <a:rPr sz="1875" b="1">
                          <a:solidFill>
                            <a:srgbClr val="FFFFFF"/>
                          </a:solidFill>
                          <a:latin typeface="Arial"/>
                          <a:ea typeface="Arial"/>
                          <a:cs typeface="Arial"/>
                        </a:rPr>
                        <a:t>Stakeholder</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What they need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Decision / concession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17563">
                <a:tc>
                  <a:txBody>
                    <a:bodyPr/>
                    <a:lstStyle/>
                    <a:p>
                      <a:r>
                        <a:rPr sz="1875" b="1">
                          <a:solidFill>
                            <a:srgbClr val="FFFFFF"/>
                          </a:solidFill>
                          <a:latin typeface="Arial"/>
                          <a:ea typeface="Arial"/>
                          <a:cs typeface="Arial"/>
                        </a:rPr>
                        <a:t>Bob + store managers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Fast action without draining another store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Planner proposes; source manager protects reserve.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CFO / COO</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Value, margin and spending control</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CFO owns pilot gate and spending limits.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Retail IT + SAP product team</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Secure integration and a clear product boundary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Reuse IBP / CAR; IT can block stale or invalid data.</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Privacy + shoppers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No personal surveillance</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Privacy lead approves collection and retention.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Hardware / service partners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Commercial incentive and support clarity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Partners earn hardware and deployment revenue.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952490667"/>
      </p:ext>
    </p:extLst>
  </p:cSld>
</p:sld>
</file>

<file path=ppt/slides/slide15.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59075E9-701C-44C1-A856-A7B53A2F620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4E453C-6497-4028-8C50-0383FB1F626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TRADE-OFFS AND LIMITATIONS</a:t>
            </a:r>
          </a:p>
        </p:txBody>
      </p:sp>
      <p:sp>
        <p:nvSpPr>
          <p:cNvPr id="4" name="">
            <a:extLst xmlns:a="http://schemas.openxmlformats.org/drawingml/2006/main">
              <a:ext uri="{FF2B5EF4-FFF2-40B4-BE49-F238E27FC236}">
                <a16:creationId xmlns:a16="http://schemas.microsoft.com/office/drawing/2014/main" id="{6354C1BC-A4B1-43DF-8BC8-8BDD21432BFE}"/>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Trade-offs are deliberate</a:t>
            </a:r>
          </a:p>
        </p:txBody>
      </p:sp>
      <p:sp>
        <p:nvSpPr>
          <p:cNvPr id="5" name="">
            <a:extLst xmlns:a="http://schemas.openxmlformats.org/drawingml/2006/main">
              <a:ext uri="{FF2B5EF4-FFF2-40B4-BE49-F238E27FC236}">
                <a16:creationId xmlns:a16="http://schemas.microsoft.com/office/drawing/2014/main" id="{8A222590-6560-492E-A429-43E28D2193A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Try-ons and searches indicate interest, not guaranteed purchases or the cause of non-purchase.</a:t>
            </a:r>
          </a:p>
        </p:txBody>
      </p:sp>
      <p:sp>
        <p:nvSpPr>
          <p:cNvPr id="6" name="">
            <a:extLst xmlns:a="http://schemas.openxmlformats.org/drawingml/2006/main">
              <a:ext uri="{FF2B5EF4-FFF2-40B4-BE49-F238E27FC236}">
                <a16:creationId xmlns:a16="http://schemas.microsoft.com/office/drawing/2014/main" id="{A7D66F25-AB0C-4DCF-9007-2608CF13339D}"/>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F21BEC7-E4FD-4FB5-BE66-0FF8B1A65E9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47B576E-1C0F-4166-A6C8-84FBFF5723F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DFD744-8B01-4E0F-8B18-3E6670FF489C}"/>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0EE40B53-81E7-4225-8520-7ABB6282074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ACAC3A-1C7C-477C-A952-0E705F8F5D2C}"/>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8AE89BCA-61E4-4A06-B9AA-3C98DAB858AF}"/>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026DFF-0933-4189-B549-10CA3EA72771}"/>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BA29788-2196-462B-BC19-C92B84CDDD6C}"/>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06256A5-8271-4C9C-97DA-A79923D069A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2F89CDC9-E0CE-48FE-9C8F-90C7B88D80A0}"/>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15</a:t>
            </a:r>
          </a:p>
        </p:txBody>
      </p:sp>
      <p:sp>
        <p:nvSpPr>
          <p:cNvPr id="17" name="">
            <a:extLst xmlns:a="http://schemas.openxmlformats.org/drawingml/2006/main">
              <a:ext uri="{FF2B5EF4-FFF2-40B4-BE49-F238E27FC236}">
                <a16:creationId xmlns:a16="http://schemas.microsoft.com/office/drawing/2014/main" id="{05F13C58-9FE5-4B94-9A97-F356B7D6F6E4}"/>
              </a:ext>
            </a:extLst>
          </p:cNvPr>
          <p:cNvSpPr>
            <a:spLocks xmlns:a="http://schemas.openxmlformats.org/drawingml/2006/main" noGrp="1"/>
          </p:cNvSpPr>
          <p:nvPr/>
        </p:nvSpPr>
        <p:spPr>
          <a:xfrm xmlns:a="http://schemas.openxmlformats.org/drawingml/2006/main">
            <a:off x="457200" y="15335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B5CE0A-CA9D-4964-BD74-546F2B64B522}"/>
              </a:ext>
            </a:extLst>
          </p:cNvPr>
          <p:cNvSpPr>
            <a:spLocks xmlns:a="http://schemas.openxmlformats.org/drawingml/2006/main" noGrp="1"/>
          </p:cNvSpPr>
          <p:nvPr/>
        </p:nvSpPr>
        <p:spPr>
          <a:xfrm xmlns:a="http://schemas.openxmlformats.org/drawingml/2006/main">
            <a:off x="638175" y="1457325"/>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Human approval</a:t>
            </a:r>
          </a:p>
        </p:txBody>
      </p:sp>
      <p:sp>
        <p:nvSpPr>
          <p:cNvPr id="19" name="">
            <a:extLst xmlns:a="http://schemas.openxmlformats.org/drawingml/2006/main">
              <a:ext uri="{FF2B5EF4-FFF2-40B4-BE49-F238E27FC236}">
                <a16:creationId xmlns:a16="http://schemas.microsoft.com/office/drawing/2014/main" id="{35E1DCE0-4A0B-4D47-8F64-D943F95CDB2E}"/>
              </a:ext>
            </a:extLst>
          </p:cNvPr>
          <p:cNvSpPr>
            <a:spLocks xmlns:a="http://schemas.openxmlformats.org/drawingml/2006/main" noGrp="1"/>
          </p:cNvSpPr>
          <p:nvPr/>
        </p:nvSpPr>
        <p:spPr>
          <a:xfrm xmlns:a="http://schemas.openxmlformats.org/drawingml/2006/main">
            <a:off x="638175" y="1952625"/>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Slower than full automation; safer while evidence is uncertain.</a:t>
            </a:r>
          </a:p>
        </p:txBody>
      </p:sp>
      <p:sp>
        <p:nvSpPr>
          <p:cNvPr id="20" name="">
            <a:extLst xmlns:a="http://schemas.openxmlformats.org/drawingml/2006/main">
              <a:ext uri="{FF2B5EF4-FFF2-40B4-BE49-F238E27FC236}">
                <a16:creationId xmlns:a16="http://schemas.microsoft.com/office/drawing/2014/main" id="{C65B17EB-65E5-4A0C-9730-828A9626E37E}"/>
              </a:ext>
            </a:extLst>
          </p:cNvPr>
          <p:cNvSpPr>
            <a:spLocks xmlns:a="http://schemas.openxmlformats.org/drawingml/2006/main" noGrp="1"/>
          </p:cNvSpPr>
          <p:nvPr/>
        </p:nvSpPr>
        <p:spPr>
          <a:xfrm xmlns:a="http://schemas.openxmlformats.org/drawingml/2006/main">
            <a:off x="457200" y="280035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19D571-E992-431E-98BA-437407E91907}"/>
              </a:ext>
            </a:extLst>
          </p:cNvPr>
          <p:cNvSpPr>
            <a:spLocks xmlns:a="http://schemas.openxmlformats.org/drawingml/2006/main" noGrp="1"/>
          </p:cNvSpPr>
          <p:nvPr/>
        </p:nvSpPr>
        <p:spPr>
          <a:xfrm xmlns:a="http://schemas.openxmlformats.org/drawingml/2006/main">
            <a:off x="638175" y="272415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Apparel and existing SAP users first</a:t>
            </a:r>
          </a:p>
        </p:txBody>
      </p:sp>
      <p:sp>
        <p:nvSpPr>
          <p:cNvPr id="22" name="">
            <a:extLst xmlns:a="http://schemas.openxmlformats.org/drawingml/2006/main">
              <a:ext uri="{FF2B5EF4-FFF2-40B4-BE49-F238E27FC236}">
                <a16:creationId xmlns:a16="http://schemas.microsoft.com/office/drawing/2014/main" id="{7EE3559B-0A87-4DB2-8BF0-DC9F9611695F}"/>
              </a:ext>
            </a:extLst>
          </p:cNvPr>
          <p:cNvSpPr>
            <a:spLocks xmlns:a="http://schemas.openxmlformats.org/drawingml/2006/main" noGrp="1"/>
          </p:cNvSpPr>
          <p:nvPr/>
        </p:nvSpPr>
        <p:spPr>
          <a:xfrm xmlns:a="http://schemas.openxmlformats.org/drawingml/2006/main">
            <a:off x="638175" y="3219450"/>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Narrower reach; lower initial workflow and data complexity.</a:t>
            </a:r>
          </a:p>
        </p:txBody>
      </p:sp>
      <p:sp>
        <p:nvSpPr>
          <p:cNvPr id="23" name="">
            <a:extLst xmlns:a="http://schemas.openxmlformats.org/drawingml/2006/main">
              <a:ext uri="{FF2B5EF4-FFF2-40B4-BE49-F238E27FC236}">
                <a16:creationId xmlns:a16="http://schemas.microsoft.com/office/drawing/2014/main" id="{ED1A810D-5DE1-409B-981D-5D997BA9E1E4}"/>
              </a:ext>
            </a:extLst>
          </p:cNvPr>
          <p:cNvSpPr>
            <a:spLocks xmlns:a="http://schemas.openxmlformats.org/drawingml/2006/main" noGrp="1"/>
          </p:cNvSpPr>
          <p:nvPr/>
        </p:nvSpPr>
        <p:spPr>
          <a:xfrm xmlns:a="http://schemas.openxmlformats.org/drawingml/2006/main">
            <a:off x="457200" y="406717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1A2834-5894-488E-94EC-2FF3FBF22369}"/>
              </a:ext>
            </a:extLst>
          </p:cNvPr>
          <p:cNvSpPr>
            <a:spLocks xmlns:a="http://schemas.openxmlformats.org/drawingml/2006/main" noGrp="1"/>
          </p:cNvSpPr>
          <p:nvPr/>
        </p:nvSpPr>
        <p:spPr>
          <a:xfrm xmlns:a="http://schemas.openxmlformats.org/drawingml/2006/main">
            <a:off x="638175" y="3990975"/>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RFID in selected stores</a:t>
            </a:r>
          </a:p>
        </p:txBody>
      </p:sp>
      <p:sp>
        <p:nvSpPr>
          <p:cNvPr id="25" name="">
            <a:extLst xmlns:a="http://schemas.openxmlformats.org/drawingml/2006/main">
              <a:ext uri="{FF2B5EF4-FFF2-40B4-BE49-F238E27FC236}">
                <a16:creationId xmlns:a16="http://schemas.microsoft.com/office/drawing/2014/main" id="{D1D2B051-1510-47F8-996D-985E109CDCE1}"/>
              </a:ext>
            </a:extLst>
          </p:cNvPr>
          <p:cNvSpPr>
            <a:spLocks xmlns:a="http://schemas.openxmlformats.org/drawingml/2006/main" noGrp="1"/>
          </p:cNvSpPr>
          <p:nvPr/>
        </p:nvSpPr>
        <p:spPr>
          <a:xfrm xmlns:a="http://schemas.openxmlformats.org/drawingml/2006/main">
            <a:off x="638175" y="4486275"/>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Less coverage; avoids outfitting every store before value is proven.</a:t>
            </a:r>
          </a:p>
        </p:txBody>
      </p:sp>
      <p:sp>
        <p:nvSpPr>
          <p:cNvPr id="26" name="">
            <a:extLst xmlns:a="http://schemas.openxmlformats.org/drawingml/2006/main">
              <a:ext uri="{FF2B5EF4-FFF2-40B4-BE49-F238E27FC236}">
                <a16:creationId xmlns:a16="http://schemas.microsoft.com/office/drawing/2014/main" id="{B80DAE22-AA4C-48CD-9D25-6890F29DE0B0}"/>
              </a:ext>
            </a:extLst>
          </p:cNvPr>
          <p:cNvSpPr>
            <a:spLocks xmlns:a="http://schemas.openxmlformats.org/drawingml/2006/main" noGrp="1"/>
          </p:cNvSpPr>
          <p:nvPr/>
        </p:nvSpPr>
        <p:spPr>
          <a:xfrm xmlns:a="http://schemas.openxmlformats.org/drawingml/2006/main">
            <a:off x="457200" y="5334000"/>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0220647-DEE3-4F3F-93EB-3D2A1A251520}"/>
              </a:ext>
            </a:extLst>
          </p:cNvPr>
          <p:cNvSpPr>
            <a:spLocks xmlns:a="http://schemas.openxmlformats.org/drawingml/2006/main" noGrp="1"/>
          </p:cNvSpPr>
          <p:nvPr/>
        </p:nvSpPr>
        <p:spPr>
          <a:xfrm xmlns:a="http://schemas.openxmlformats.org/drawingml/2006/main">
            <a:off x="638175" y="5257800"/>
            <a:ext cx="6153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Evidence before prediction</a:t>
            </a:r>
          </a:p>
        </p:txBody>
      </p:sp>
      <p:sp>
        <p:nvSpPr>
          <p:cNvPr id="28" name="">
            <a:extLst xmlns:a="http://schemas.openxmlformats.org/drawingml/2006/main">
              <a:ext uri="{FF2B5EF4-FFF2-40B4-BE49-F238E27FC236}">
                <a16:creationId xmlns:a16="http://schemas.microsoft.com/office/drawing/2014/main" id="{E86E9208-47B1-42DC-9A38-72E0FF69B077}"/>
              </a:ext>
            </a:extLst>
          </p:cNvPr>
          <p:cNvSpPr>
            <a:spLocks xmlns:a="http://schemas.openxmlformats.org/drawingml/2006/main" noGrp="1"/>
          </p:cNvSpPr>
          <p:nvPr/>
        </p:nvSpPr>
        <p:spPr>
          <a:xfrm xmlns:a="http://schemas.openxmlformats.org/drawingml/2006/main">
            <a:off x="638175" y="5753100"/>
            <a:ext cx="611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The demo explains scenarios; live news prediction and autonomous procurement remain future work.</a:t>
            </a:r>
          </a:p>
        </p:txBody>
      </p:sp>
      <p:sp>
        <p:nvSpPr>
          <p:cNvPr id="29" name="">
            <a:extLst xmlns:a="http://schemas.openxmlformats.org/drawingml/2006/main">
              <a:ext uri="{FF2B5EF4-FFF2-40B4-BE49-F238E27FC236}">
                <a16:creationId xmlns:a16="http://schemas.microsoft.com/office/drawing/2014/main" id="{A54D45C8-9B26-4012-9DCC-B06AC7825E88}"/>
              </a:ext>
            </a:extLst>
          </p:cNvPr>
          <p:cNvSpPr>
            <a:spLocks xmlns:a="http://schemas.openxmlformats.org/drawingml/2006/main" noGrp="1"/>
          </p:cNvSpPr>
          <p:nvPr/>
        </p:nvSpPr>
        <p:spPr>
          <a:xfrm xmlns:a="http://schemas.openxmlformats.org/drawingml/2006/main">
            <a:off x="7239000" y="1495425"/>
            <a:ext cx="6019800" cy="48863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 name="">
            <a:extLst xmlns:a="http://schemas.openxmlformats.org/drawingml/2006/main">
              <a:ext uri="{FF2B5EF4-FFF2-40B4-BE49-F238E27FC236}">
                <a16:creationId xmlns:a16="http://schemas.microsoft.com/office/drawing/2014/main" id="{5B5CBF33-CF37-4579-8ECD-C3491EEB8376}"/>
              </a:ext>
            </a:extLst>
          </p:cNvPr>
          <p:cNvPicPr>
            <a:picLocks xmlns:a="http://schemas.openxmlformats.org/drawingml/2006/main" noChangeAspect="1"/>
          </p:cNvPicPr>
          <p:nvPr/>
        </p:nvPicPr>
        <p:blipFill>
          <a:blip xmlns:r="http://schemas.openxmlformats.org/officeDocument/2006/relationships" xmlns:a="http://schemas.openxmlformats.org/drawingml/2006/main" r:embed="Rbecae9b9eb2247de"/>
          <a:srcRect xmlns:a="http://schemas.openxmlformats.org/drawingml/2006/main" l="16000" t="5000" r="0" b="0"/>
          <a:stretch xmlns:a="http://schemas.openxmlformats.org/drawingml/2006/main"/>
        </p:blipFill>
        <p:spPr>
          <a:xfrm xmlns:a="http://schemas.openxmlformats.org/drawingml/2006/main">
            <a:off x="7322454" y="1495425"/>
            <a:ext cx="5852892" cy="4886325"/>
          </a:xfrm>
          <a:prstGeom xmlns:a="http://schemas.openxmlformats.org/drawingml/2006/main" prst="rect">
            <a:avLst/>
          </a:prstGeom>
        </p:spPr>
      </p:pic>
    </p:spTree>
    <p:extLst>
      <p:ext uri="{BB962C8B-B14F-4D97-AF65-F5344CB8AC3E}">
        <p14:creationId xmlns:p14="http://schemas.microsoft.com/office/powerpoint/2010/main" val="1543608229"/>
      </p:ext>
    </p:extLst>
  </p:cSld>
</p:sld>
</file>

<file path=ppt/slides/slide16.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2B3A7F-CB81-48B0-B629-927942F23523}"/>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066CED5-B5DD-426D-BAAA-C03D0BB7CEB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IMPLEMENTATION TIMELINE</a:t>
            </a:r>
          </a:p>
        </p:txBody>
      </p:sp>
      <p:sp>
        <p:nvSpPr>
          <p:cNvPr id="4" name="">
            <a:extLst xmlns:a="http://schemas.openxmlformats.org/drawingml/2006/main">
              <a:ext uri="{FF2B5EF4-FFF2-40B4-BE49-F238E27FC236}">
                <a16:creationId xmlns:a16="http://schemas.microsoft.com/office/drawing/2014/main" id="{2237D2EE-A117-43C0-9C4A-6BA7596F252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A 12-week pilot earns the right to scale</a:t>
            </a:r>
          </a:p>
        </p:txBody>
      </p:sp>
      <p:sp>
        <p:nvSpPr>
          <p:cNvPr id="5" name="">
            <a:extLst xmlns:a="http://schemas.openxmlformats.org/drawingml/2006/main">
              <a:ext uri="{FF2B5EF4-FFF2-40B4-BE49-F238E27FC236}">
                <a16:creationId xmlns:a16="http://schemas.microsoft.com/office/drawing/2014/main" id="{528C8C59-8A5E-45AF-85A7-FB2422408594}"/>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Resources: SAP product lead, 2 integration engineers, full-stack engineer, analyst, UX/change lead; retail and partner counterparts.</a:t>
            </a:r>
          </a:p>
        </p:txBody>
      </p:sp>
      <p:sp>
        <p:nvSpPr>
          <p:cNvPr id="6" name="">
            <a:extLst xmlns:a="http://schemas.openxmlformats.org/drawingml/2006/main">
              <a:ext uri="{FF2B5EF4-FFF2-40B4-BE49-F238E27FC236}">
                <a16:creationId xmlns:a16="http://schemas.microsoft.com/office/drawing/2014/main" id="{9818B982-DB3B-402D-BDAD-11CB3C4D98B5}"/>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50BCF6-9387-4B1D-99DC-0B7C6777958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5FFD8E7-E097-4590-9668-8649999508B0}"/>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989610-8370-43FF-A32A-FB8B1F0567C9}"/>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A16973A-3C38-4AF3-9DCB-A0B200DE1315}"/>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D3E3FE-E529-4AB1-9C93-82CD54A8F568}"/>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7FAFA89-0AEE-4ABD-94DB-E810AAB3E03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937901-A378-41A0-904F-D2B0067472B1}"/>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4D40BCC1-0877-4E5D-87D1-C6EDDEDDE916}"/>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BC5290-555B-4A7A-B2A7-5B9148419D7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64E68298-E919-49A5-9044-F4D651105C4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16</a:t>
            </a:r>
          </a:p>
        </p:txBody>
      </p:sp>
      <p:sp>
        <p:nvSpPr>
          <p:cNvPr id="17" name="">
            <a:extLst xmlns:a="http://schemas.openxmlformats.org/drawingml/2006/main">
              <a:ext uri="{FF2B5EF4-FFF2-40B4-BE49-F238E27FC236}">
                <a16:creationId xmlns:a16="http://schemas.microsoft.com/office/drawing/2014/main" id="{83128391-D07B-42D0-9CDA-BEC0BD2A288C}"/>
              </a:ext>
            </a:extLst>
          </p:cNvPr>
          <p:cNvSpPr>
            <a:spLocks xmlns:a="http://schemas.openxmlformats.org/drawingml/2006/main" noGrp="1"/>
          </p:cNvSpPr>
          <p:nvPr/>
        </p:nvSpPr>
        <p:spPr>
          <a:xfrm xmlns:a="http://schemas.openxmlformats.org/drawingml/2006/main">
            <a:off x="762000" y="2190750"/>
            <a:ext cx="12068175" cy="47625"/>
          </a:xfrm>
          <a:prstGeom xmlns:a="http://schemas.openxmlformats.org/drawingml/2006/main" prst="rect">
            <a:avLst/>
          </a:prstGeom>
          <a:solidFill xmlns:a="http://schemas.openxmlformats.org/drawingml/2006/main">
            <a:srgbClr val="C6D7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58B8FC-8FE6-4710-B654-BE4AA6FD0247}"/>
              </a:ext>
            </a:extLst>
          </p:cNvPr>
          <p:cNvSpPr>
            <a:spLocks xmlns:a="http://schemas.openxmlformats.org/drawingml/2006/main" noGrp="1"/>
          </p:cNvSpPr>
          <p:nvPr/>
        </p:nvSpPr>
        <p:spPr>
          <a:xfrm xmlns:a="http://schemas.openxmlformats.org/drawingml/2006/main">
            <a:off x="59055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19" name="">
            <a:extLst xmlns:a="http://schemas.openxmlformats.org/drawingml/2006/main">
              <a:ext uri="{FF2B5EF4-FFF2-40B4-BE49-F238E27FC236}">
                <a16:creationId xmlns:a16="http://schemas.microsoft.com/office/drawing/2014/main" id="{BB45A4E3-BF60-48EE-8CDC-3271AFFEDE23}"/>
              </a:ext>
            </a:extLst>
          </p:cNvPr>
          <p:cNvSpPr>
            <a:spLocks xmlns:a="http://schemas.openxmlformats.org/drawingml/2006/main" noGrp="1"/>
          </p:cNvSpPr>
          <p:nvPr/>
        </p:nvSpPr>
        <p:spPr>
          <a:xfrm xmlns:a="http://schemas.openxmlformats.org/drawingml/2006/main">
            <a:off x="55245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1–2</a:t>
            </a:r>
          </a:p>
        </p:txBody>
      </p:sp>
      <p:sp>
        <p:nvSpPr>
          <p:cNvPr id="20" name="">
            <a:extLst xmlns:a="http://schemas.openxmlformats.org/drawingml/2006/main">
              <a:ext uri="{FF2B5EF4-FFF2-40B4-BE49-F238E27FC236}">
                <a16:creationId xmlns:a16="http://schemas.microsoft.com/office/drawing/2014/main" id="{DCF0E297-C4F0-40D1-99C0-3672F147E59A}"/>
              </a:ext>
            </a:extLst>
          </p:cNvPr>
          <p:cNvSpPr>
            <a:spLocks xmlns:a="http://schemas.openxmlformats.org/drawingml/2006/main" noGrp="1"/>
          </p:cNvSpPr>
          <p:nvPr/>
        </p:nvSpPr>
        <p:spPr>
          <a:xfrm xmlns:a="http://schemas.openxmlformats.org/drawingml/2006/main">
            <a:off x="55245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Establish trust</a:t>
            </a:r>
          </a:p>
        </p:txBody>
      </p:sp>
      <p:sp>
        <p:nvSpPr>
          <p:cNvPr id="21" name="">
            <a:extLst xmlns:a="http://schemas.openxmlformats.org/drawingml/2006/main">
              <a:ext uri="{FF2B5EF4-FFF2-40B4-BE49-F238E27FC236}">
                <a16:creationId xmlns:a16="http://schemas.microsoft.com/office/drawing/2014/main" id="{6DB9CFA4-EE87-4F44-AAB6-DE0FA324A4C8}"/>
              </a:ext>
            </a:extLst>
          </p:cNvPr>
          <p:cNvSpPr>
            <a:spLocks xmlns:a="http://schemas.openxmlformats.org/drawingml/2006/main" noGrp="1"/>
          </p:cNvSpPr>
          <p:nvPr/>
        </p:nvSpPr>
        <p:spPr>
          <a:xfrm xmlns:a="http://schemas.openxmlformats.org/drawingml/2006/main">
            <a:off x="55245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5 planner interviews; baseline workflow; privacy and stock mapping.</a:t>
            </a:r>
          </a:p>
        </p:txBody>
      </p:sp>
      <p:sp>
        <p:nvSpPr>
          <p:cNvPr id="22" name="">
            <a:extLst xmlns:a="http://schemas.openxmlformats.org/drawingml/2006/main">
              <a:ext uri="{FF2B5EF4-FFF2-40B4-BE49-F238E27FC236}">
                <a16:creationId xmlns:a16="http://schemas.microsoft.com/office/drawing/2014/main" id="{90F3BC84-BD3B-451E-BD3D-9FC1BEDA6E64}"/>
              </a:ext>
            </a:extLst>
          </p:cNvPr>
          <p:cNvSpPr>
            <a:spLocks xmlns:a="http://schemas.openxmlformats.org/drawingml/2006/main" noGrp="1"/>
          </p:cNvSpPr>
          <p:nvPr/>
        </p:nvSpPr>
        <p:spPr>
          <a:xfrm xmlns:a="http://schemas.openxmlformats.org/drawingml/2006/main">
            <a:off x="381000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23" name="">
            <a:extLst xmlns:a="http://schemas.openxmlformats.org/drawingml/2006/main">
              <a:ext uri="{FF2B5EF4-FFF2-40B4-BE49-F238E27FC236}">
                <a16:creationId xmlns:a16="http://schemas.microsoft.com/office/drawing/2014/main" id="{8FD8B438-1B9E-431E-A5DE-EB08046CDE82}"/>
              </a:ext>
            </a:extLst>
          </p:cNvPr>
          <p:cNvSpPr>
            <a:spLocks xmlns:a="http://schemas.openxmlformats.org/drawingml/2006/main" noGrp="1"/>
          </p:cNvSpPr>
          <p:nvPr/>
        </p:nvSpPr>
        <p:spPr>
          <a:xfrm xmlns:a="http://schemas.openxmlformats.org/drawingml/2006/main">
            <a:off x="377190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3–5</a:t>
            </a:r>
          </a:p>
        </p:txBody>
      </p:sp>
      <p:sp>
        <p:nvSpPr>
          <p:cNvPr id="24" name="">
            <a:extLst xmlns:a="http://schemas.openxmlformats.org/drawingml/2006/main">
              <a:ext uri="{FF2B5EF4-FFF2-40B4-BE49-F238E27FC236}">
                <a16:creationId xmlns:a16="http://schemas.microsoft.com/office/drawing/2014/main" id="{2346F972-DEA6-4C56-8C81-5E84AE1AD8F6}"/>
              </a:ext>
            </a:extLst>
          </p:cNvPr>
          <p:cNvSpPr>
            <a:spLocks xmlns:a="http://schemas.openxmlformats.org/drawingml/2006/main" noGrp="1"/>
          </p:cNvSpPr>
          <p:nvPr/>
        </p:nvSpPr>
        <p:spPr>
          <a:xfrm xmlns:a="http://schemas.openxmlformats.org/drawingml/2006/main">
            <a:off x="377190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Connect demand</a:t>
            </a:r>
          </a:p>
        </p:txBody>
      </p:sp>
      <p:sp>
        <p:nvSpPr>
          <p:cNvPr id="25" name="">
            <a:extLst xmlns:a="http://schemas.openxmlformats.org/drawingml/2006/main">
              <a:ext uri="{FF2B5EF4-FFF2-40B4-BE49-F238E27FC236}">
                <a16:creationId xmlns:a16="http://schemas.microsoft.com/office/drawing/2014/main" id="{C0879AF3-2A23-4075-894B-710DC8CEB586}"/>
              </a:ext>
            </a:extLst>
          </p:cNvPr>
          <p:cNvSpPr>
            <a:spLocks xmlns:a="http://schemas.openxmlformats.org/drawingml/2006/main" noGrp="1"/>
          </p:cNvSpPr>
          <p:nvPr/>
        </p:nvSpPr>
        <p:spPr>
          <a:xfrm xmlns:a="http://schemas.openxmlformats.org/drawingml/2006/main">
            <a:off x="377190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Online signals and stock read-only; shadow recommendations; hardware zone tests.</a:t>
            </a:r>
          </a:p>
        </p:txBody>
      </p:sp>
      <p:sp>
        <p:nvSpPr>
          <p:cNvPr id="26" name="">
            <a:extLst xmlns:a="http://schemas.openxmlformats.org/drawingml/2006/main">
              <a:ext uri="{FF2B5EF4-FFF2-40B4-BE49-F238E27FC236}">
                <a16:creationId xmlns:a16="http://schemas.microsoft.com/office/drawing/2014/main" id="{83670E17-CED7-4BE5-80C0-81D6019E744E}"/>
              </a:ext>
            </a:extLst>
          </p:cNvPr>
          <p:cNvSpPr>
            <a:spLocks xmlns:a="http://schemas.openxmlformats.org/drawingml/2006/main" noGrp="1"/>
          </p:cNvSpPr>
          <p:nvPr/>
        </p:nvSpPr>
        <p:spPr>
          <a:xfrm xmlns:a="http://schemas.openxmlformats.org/drawingml/2006/main">
            <a:off x="702945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27" name="">
            <a:extLst xmlns:a="http://schemas.openxmlformats.org/drawingml/2006/main">
              <a:ext uri="{FF2B5EF4-FFF2-40B4-BE49-F238E27FC236}">
                <a16:creationId xmlns:a16="http://schemas.microsoft.com/office/drawing/2014/main" id="{DF906D87-BE7F-4B44-9339-F507381B50F1}"/>
              </a:ext>
            </a:extLst>
          </p:cNvPr>
          <p:cNvSpPr>
            <a:spLocks xmlns:a="http://schemas.openxmlformats.org/drawingml/2006/main" noGrp="1"/>
          </p:cNvSpPr>
          <p:nvPr/>
        </p:nvSpPr>
        <p:spPr>
          <a:xfrm xmlns:a="http://schemas.openxmlformats.org/drawingml/2006/main">
            <a:off x="699135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6–8</a:t>
            </a:r>
          </a:p>
        </p:txBody>
      </p:sp>
      <p:sp>
        <p:nvSpPr>
          <p:cNvPr id="28" name="">
            <a:extLst xmlns:a="http://schemas.openxmlformats.org/drawingml/2006/main">
              <a:ext uri="{FF2B5EF4-FFF2-40B4-BE49-F238E27FC236}">
                <a16:creationId xmlns:a16="http://schemas.microsoft.com/office/drawing/2014/main" id="{08E84181-3CC9-4503-8F60-5A2BA4E95ADE}"/>
              </a:ext>
            </a:extLst>
          </p:cNvPr>
          <p:cNvSpPr>
            <a:spLocks xmlns:a="http://schemas.openxmlformats.org/drawingml/2006/main" noGrp="1"/>
          </p:cNvSpPr>
          <p:nvPr/>
        </p:nvSpPr>
        <p:spPr>
          <a:xfrm xmlns:a="http://schemas.openxmlformats.org/drawingml/2006/main">
            <a:off x="699135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Approve limited actions</a:t>
            </a:r>
          </a:p>
        </p:txBody>
      </p:sp>
      <p:sp>
        <p:nvSpPr>
          <p:cNvPr id="29" name="">
            <a:extLst xmlns:a="http://schemas.openxmlformats.org/drawingml/2006/main">
              <a:ext uri="{FF2B5EF4-FFF2-40B4-BE49-F238E27FC236}">
                <a16:creationId xmlns:a16="http://schemas.microsoft.com/office/drawing/2014/main" id="{D2E8CF2C-8ED7-4690-AD0F-E928E0228A2C}"/>
              </a:ext>
            </a:extLst>
          </p:cNvPr>
          <p:cNvSpPr>
            <a:spLocks xmlns:a="http://schemas.openxmlformats.org/drawingml/2006/main" noGrp="1"/>
          </p:cNvSpPr>
          <p:nvPr/>
        </p:nvSpPr>
        <p:spPr>
          <a:xfrm xmlns:a="http://schemas.openxmlformats.org/drawingml/2006/main">
            <a:off x="699135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10 stores; controlled transfers; RFID evidence; reconcile all receipts.</a:t>
            </a:r>
          </a:p>
        </p:txBody>
      </p:sp>
      <p:sp>
        <p:nvSpPr>
          <p:cNvPr id="30" name="">
            <a:extLst xmlns:a="http://schemas.openxmlformats.org/drawingml/2006/main">
              <a:ext uri="{FF2B5EF4-FFF2-40B4-BE49-F238E27FC236}">
                <a16:creationId xmlns:a16="http://schemas.microsoft.com/office/drawing/2014/main" id="{CF233170-EE52-4F8F-B726-388CB6313482}"/>
              </a:ext>
            </a:extLst>
          </p:cNvPr>
          <p:cNvSpPr>
            <a:spLocks xmlns:a="http://schemas.openxmlformats.org/drawingml/2006/main" noGrp="1"/>
          </p:cNvSpPr>
          <p:nvPr/>
        </p:nvSpPr>
        <p:spPr>
          <a:xfrm xmlns:a="http://schemas.openxmlformats.org/drawingml/2006/main">
            <a:off x="10248900" y="2076450"/>
            <a:ext cx="266700" cy="266700"/>
          </a:xfrm>
          <a:prstGeom xmlns:a="http://schemas.openxmlformats.org/drawingml/2006/main" prst="ellipse">
            <a:avLst/>
          </a:prstGeom>
          <a:solidFill xmlns:a="http://schemas.openxmlformats.org/drawingml/2006/main">
            <a:srgbClr val="165DAE"/>
          </a:solidFill>
          <a:ln xmlns:a="http://schemas.openxmlformats.org/drawingml/2006/main" w="28575">
            <a:solidFill>
              <a:srgbClr val="FFFFFF"/>
            </a:solidFill>
          </a:ln>
        </p:spPr>
      </p:sp>
      <p:sp>
        <p:nvSpPr>
          <p:cNvPr id="31" name="">
            <a:extLst xmlns:a="http://schemas.openxmlformats.org/drawingml/2006/main">
              <a:ext uri="{FF2B5EF4-FFF2-40B4-BE49-F238E27FC236}">
                <a16:creationId xmlns:a16="http://schemas.microsoft.com/office/drawing/2014/main" id="{C931EE39-6677-4A83-A4B6-1493D3644675}"/>
              </a:ext>
            </a:extLst>
          </p:cNvPr>
          <p:cNvSpPr>
            <a:spLocks xmlns:a="http://schemas.openxmlformats.org/drawingml/2006/main" noGrp="1"/>
          </p:cNvSpPr>
          <p:nvPr/>
        </p:nvSpPr>
        <p:spPr>
          <a:xfrm xmlns:a="http://schemas.openxmlformats.org/drawingml/2006/main">
            <a:off x="10210800" y="14763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165DAE"/>
                </a:solidFill>
                <a:latin typeface="Arial"/>
                <a:ea typeface="Arial"/>
                <a:cs typeface="Arial"/>
              </a:defRPr>
            </a:defPPr>
            <a:lvl1pPr algn="l">
              <a:defRPr sz="2700" b="1">
                <a:solidFill>
                  <a:srgbClr val="165DAE"/>
                </a:solidFill>
                <a:latin typeface="Arial"/>
                <a:ea typeface="Arial"/>
                <a:cs typeface="Arial"/>
              </a:defRPr>
            </a:lvl1pPr>
            <a:lvl2pPr algn="l">
              <a:defRPr sz="2700" b="1">
                <a:solidFill>
                  <a:srgbClr val="165DAE"/>
                </a:solidFill>
                <a:latin typeface="Arial"/>
                <a:ea typeface="Arial"/>
                <a:cs typeface="Arial"/>
              </a:defRPr>
            </a:lvl2pPr>
            <a:lvl3pPr algn="l">
              <a:defRPr sz="2700" b="1">
                <a:solidFill>
                  <a:srgbClr val="165DAE"/>
                </a:solidFill>
                <a:latin typeface="Arial"/>
                <a:ea typeface="Arial"/>
                <a:cs typeface="Arial"/>
              </a:defRPr>
            </a:lvl3pPr>
            <a:lvl4pPr algn="l">
              <a:defRPr sz="2700" b="1">
                <a:solidFill>
                  <a:srgbClr val="165DAE"/>
                </a:solidFill>
                <a:latin typeface="Arial"/>
                <a:ea typeface="Arial"/>
                <a:cs typeface="Arial"/>
              </a:defRPr>
            </a:lvl4pPr>
            <a:lvl5pPr algn="l">
              <a:defRPr sz="2700" b="1">
                <a:solidFill>
                  <a:srgbClr val="165DAE"/>
                </a:solidFill>
                <a:latin typeface="Arial"/>
                <a:ea typeface="Arial"/>
                <a:cs typeface="Arial"/>
              </a:defRPr>
            </a:lvl5pPr>
            <a:lvl6pPr algn="l">
              <a:defRPr sz="2700" b="1">
                <a:solidFill>
                  <a:srgbClr val="165DAE"/>
                </a:solidFill>
                <a:latin typeface="Arial"/>
                <a:ea typeface="Arial"/>
                <a:cs typeface="Arial"/>
              </a:defRPr>
            </a:lvl6pPr>
            <a:lvl7pPr algn="l">
              <a:defRPr sz="2700" b="1">
                <a:solidFill>
                  <a:srgbClr val="165DAE"/>
                </a:solidFill>
                <a:latin typeface="Arial"/>
                <a:ea typeface="Arial"/>
                <a:cs typeface="Arial"/>
              </a:defRPr>
            </a:lvl7pPr>
            <a:lvl8pPr algn="l">
              <a:defRPr sz="2700" b="1">
                <a:solidFill>
                  <a:srgbClr val="165DAE"/>
                </a:solidFill>
                <a:latin typeface="Arial"/>
                <a:ea typeface="Arial"/>
                <a:cs typeface="Arial"/>
              </a:defRPr>
            </a:lvl8pPr>
            <a:lvl9pPr algn="l">
              <a:defRPr sz="2700" b="1">
                <a:solidFill>
                  <a:srgbClr val="165DAE"/>
                </a:solidFill>
                <a:latin typeface="Arial"/>
                <a:ea typeface="Arial"/>
                <a:cs typeface="Arial"/>
              </a:defRPr>
            </a:lvl9pPr>
          </a:lstStyle>
          <a:p xmlns:a="http://schemas.openxmlformats.org/drawingml/2006/main">
            <a:pPr algn="l">
              <a:defRPr sz="2250" b="1">
                <a:solidFill>
                  <a:srgbClr val="165DAE"/>
                </a:solidFill>
              </a:defRPr>
            </a:pPr>
            <a:r>
              <a:rPr sz="2700" b="1">
                <a:solidFill>
                  <a:srgbClr val="165DAE"/>
                </a:solidFill>
                <a:latin typeface="Arial"/>
                <a:ea typeface="Arial"/>
                <a:cs typeface="Arial"/>
              </a:rPr>
              <a:t>9–12</a:t>
            </a:r>
          </a:p>
        </p:txBody>
      </p:sp>
      <p:sp>
        <p:nvSpPr>
          <p:cNvPr id="32" name="">
            <a:extLst xmlns:a="http://schemas.openxmlformats.org/drawingml/2006/main">
              <a:ext uri="{FF2B5EF4-FFF2-40B4-BE49-F238E27FC236}">
                <a16:creationId xmlns:a16="http://schemas.microsoft.com/office/drawing/2014/main" id="{EAF4CD9F-2740-43B8-83FF-905D1EF6E528}"/>
              </a:ext>
            </a:extLst>
          </p:cNvPr>
          <p:cNvSpPr>
            <a:spLocks xmlns:a="http://schemas.openxmlformats.org/drawingml/2006/main" noGrp="1"/>
          </p:cNvSpPr>
          <p:nvPr/>
        </p:nvSpPr>
        <p:spPr>
          <a:xfrm xmlns:a="http://schemas.openxmlformats.org/drawingml/2006/main">
            <a:off x="10210800" y="26289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475" b="1">
                <a:solidFill>
                  <a:srgbClr val="152047"/>
                </a:solidFill>
                <a:latin typeface="Arial"/>
                <a:ea typeface="Arial"/>
                <a:cs typeface="Arial"/>
              </a:defRPr>
            </a:defPPr>
            <a:lvl1pPr algn="l">
              <a:defRPr sz="2475" b="1">
                <a:solidFill>
                  <a:srgbClr val="152047"/>
                </a:solidFill>
                <a:latin typeface="Arial"/>
                <a:ea typeface="Arial"/>
                <a:cs typeface="Arial"/>
              </a:defRPr>
            </a:lvl1pPr>
            <a:lvl2pPr algn="l">
              <a:defRPr sz="2475" b="1">
                <a:solidFill>
                  <a:srgbClr val="152047"/>
                </a:solidFill>
                <a:latin typeface="Arial"/>
                <a:ea typeface="Arial"/>
                <a:cs typeface="Arial"/>
              </a:defRPr>
            </a:lvl2pPr>
            <a:lvl3pPr algn="l">
              <a:defRPr sz="2475" b="1">
                <a:solidFill>
                  <a:srgbClr val="152047"/>
                </a:solidFill>
                <a:latin typeface="Arial"/>
                <a:ea typeface="Arial"/>
                <a:cs typeface="Arial"/>
              </a:defRPr>
            </a:lvl3pPr>
            <a:lvl4pPr algn="l">
              <a:defRPr sz="2475" b="1">
                <a:solidFill>
                  <a:srgbClr val="152047"/>
                </a:solidFill>
                <a:latin typeface="Arial"/>
                <a:ea typeface="Arial"/>
                <a:cs typeface="Arial"/>
              </a:defRPr>
            </a:lvl4pPr>
            <a:lvl5pPr algn="l">
              <a:defRPr sz="2475" b="1">
                <a:solidFill>
                  <a:srgbClr val="152047"/>
                </a:solidFill>
                <a:latin typeface="Arial"/>
                <a:ea typeface="Arial"/>
                <a:cs typeface="Arial"/>
              </a:defRPr>
            </a:lvl5pPr>
            <a:lvl6pPr algn="l">
              <a:defRPr sz="2475" b="1">
                <a:solidFill>
                  <a:srgbClr val="152047"/>
                </a:solidFill>
                <a:latin typeface="Arial"/>
                <a:ea typeface="Arial"/>
                <a:cs typeface="Arial"/>
              </a:defRPr>
            </a:lvl6pPr>
            <a:lvl7pPr algn="l">
              <a:defRPr sz="2475" b="1">
                <a:solidFill>
                  <a:srgbClr val="152047"/>
                </a:solidFill>
                <a:latin typeface="Arial"/>
                <a:ea typeface="Arial"/>
                <a:cs typeface="Arial"/>
              </a:defRPr>
            </a:lvl7pPr>
            <a:lvl8pPr algn="l">
              <a:defRPr sz="2475" b="1">
                <a:solidFill>
                  <a:srgbClr val="152047"/>
                </a:solidFill>
                <a:latin typeface="Arial"/>
                <a:ea typeface="Arial"/>
                <a:cs typeface="Arial"/>
              </a:defRPr>
            </a:lvl8pPr>
            <a:lvl9pPr algn="l">
              <a:defRPr sz="2475" b="1">
                <a:solidFill>
                  <a:srgbClr val="152047"/>
                </a:solidFill>
                <a:latin typeface="Arial"/>
                <a:ea typeface="Arial"/>
                <a:cs typeface="Arial"/>
              </a:defRPr>
            </a:lvl9pPr>
          </a:lstStyle>
          <a:p xmlns:a="http://schemas.openxmlformats.org/drawingml/2006/main">
            <a:pPr algn="l">
              <a:defRPr sz="2475" b="1">
                <a:solidFill>
                  <a:srgbClr val="152047"/>
                </a:solidFill>
              </a:defRPr>
            </a:pPr>
            <a:r>
              <a:rPr sz="2475" b="1">
                <a:solidFill>
                  <a:srgbClr val="152047"/>
                </a:solidFill>
                <a:latin typeface="Arial"/>
                <a:ea typeface="Arial"/>
                <a:cs typeface="Arial"/>
              </a:rPr>
              <a:t>Measure and decide</a:t>
            </a:r>
          </a:p>
        </p:txBody>
      </p:sp>
      <p:sp>
        <p:nvSpPr>
          <p:cNvPr id="33" name="">
            <a:extLst xmlns:a="http://schemas.openxmlformats.org/drawingml/2006/main">
              <a:ext uri="{FF2B5EF4-FFF2-40B4-BE49-F238E27FC236}">
                <a16:creationId xmlns:a16="http://schemas.microsoft.com/office/drawing/2014/main" id="{72AC7AEC-A9FC-4D30-A43D-7A0B3FA0888A}"/>
              </a:ext>
            </a:extLst>
          </p:cNvPr>
          <p:cNvSpPr>
            <a:spLocks xmlns:a="http://schemas.openxmlformats.org/drawingml/2006/main" noGrp="1"/>
          </p:cNvSpPr>
          <p:nvPr/>
        </p:nvSpPr>
        <p:spPr>
          <a:xfrm xmlns:a="http://schemas.openxmlformats.org/drawingml/2006/main">
            <a:off x="10210800" y="3829050"/>
            <a:ext cx="28003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Matched-store evaluation; cost scenarios; CFO / COO scale or stop gate.</a:t>
            </a:r>
          </a:p>
        </p:txBody>
      </p:sp>
    </p:spTree>
    <p:extLst>
      <p:ext uri="{BB962C8B-B14F-4D97-AF65-F5344CB8AC3E}">
        <p14:creationId xmlns:p14="http://schemas.microsoft.com/office/powerpoint/2010/main" val="1736785413"/>
      </p:ext>
    </p:extLst>
  </p:cSld>
</p:sld>
</file>

<file path=ppt/slides/slide17.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4F341E9-7B6E-4751-A12A-916BE7A0360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0BDFEE-D058-445A-B167-C5E80B7BD3B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PILOT KPIs</a:t>
            </a:r>
          </a:p>
        </p:txBody>
      </p:sp>
      <p:sp>
        <p:nvSpPr>
          <p:cNvPr id="4" name="">
            <a:extLst xmlns:a="http://schemas.openxmlformats.org/drawingml/2006/main">
              <a:ext uri="{FF2B5EF4-FFF2-40B4-BE49-F238E27FC236}">
                <a16:creationId xmlns:a16="http://schemas.microsoft.com/office/drawing/2014/main" id="{F52E1286-46AF-4DD5-8CB5-6D82639B0F1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Success means a faster, verified response</a:t>
            </a:r>
          </a:p>
        </p:txBody>
      </p:sp>
      <p:sp>
        <p:nvSpPr>
          <p:cNvPr id="5" name="">
            <a:extLst xmlns:a="http://schemas.openxmlformats.org/drawingml/2006/main">
              <a:ext uri="{FF2B5EF4-FFF2-40B4-BE49-F238E27FC236}">
                <a16:creationId xmlns:a16="http://schemas.microsoft.com/office/drawing/2014/main" id="{F52DF44A-ECFF-4F61-9E09-738E5F79EF6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Targets, not achieved results. Compare pilot with matched stores and pre-pilot baseline; report uncertainty.</a:t>
            </a:r>
          </a:p>
        </p:txBody>
      </p:sp>
      <p:sp>
        <p:nvSpPr>
          <p:cNvPr id="6" name="">
            <a:extLst xmlns:a="http://schemas.openxmlformats.org/drawingml/2006/main">
              <a:ext uri="{FF2B5EF4-FFF2-40B4-BE49-F238E27FC236}">
                <a16:creationId xmlns:a16="http://schemas.microsoft.com/office/drawing/2014/main" id="{1819C374-C11B-44D2-B55E-FFEDCF8BE05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E9A9FC-E7E9-43BD-9BD3-F64A83EBC4FD}"/>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64CF0051-8F90-4E88-ADCA-962BFE89636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463DB5-5E0E-4592-B904-D36516CE0394}"/>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635CF44D-A2D8-4F80-ABC0-575FBC496E93}"/>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88283A-C358-4DCD-A3CA-25228ABD5D8F}"/>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DBB7792B-3A32-45F3-BD6E-82E72BA26F9C}"/>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1116B0-5798-47B6-BB68-71DFF2BDFB0A}"/>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22B006F-C010-4423-AE32-EABEC8FBF921}"/>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38C544A-32AB-41A5-A6E9-2DFD6CBCDC0B}"/>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ED83CF99-04C6-4AC2-AB76-84F7BA8A38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17</a:t>
            </a:r>
          </a:p>
        </p:txBody>
      </p:sp>
      <p:sp>
        <p:nvSpPr>
          <p:cNvPr id="17" name="">
            <a:extLst xmlns:a="http://schemas.openxmlformats.org/drawingml/2006/main">
              <a:ext uri="{FF2B5EF4-FFF2-40B4-BE49-F238E27FC236}">
                <a16:creationId xmlns:a16="http://schemas.microsoft.com/office/drawing/2014/main" id="{25479EA8-FA07-43D1-B0FE-6A29AC65C254}"/>
              </a:ext>
            </a:extLst>
          </p:cNvPr>
          <p:cNvSpPr>
            <a:spLocks xmlns:a="http://schemas.openxmlformats.org/drawingml/2006/main" noGrp="1"/>
          </p:cNvSpPr>
          <p:nvPr/>
        </p:nvSpPr>
        <p:spPr>
          <a:xfrm xmlns:a="http://schemas.openxmlformats.org/drawingml/2006/main">
            <a:off x="552450"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−50%</a:t>
            </a:r>
          </a:p>
        </p:txBody>
      </p:sp>
      <p:sp>
        <p:nvSpPr>
          <p:cNvPr id="18" name="">
            <a:extLst xmlns:a="http://schemas.openxmlformats.org/drawingml/2006/main">
              <a:ext uri="{FF2B5EF4-FFF2-40B4-BE49-F238E27FC236}">
                <a16:creationId xmlns:a16="http://schemas.microsoft.com/office/drawing/2014/main" id="{BC273077-9867-4378-9F9A-A5144117FC67}"/>
              </a:ext>
            </a:extLst>
          </p:cNvPr>
          <p:cNvSpPr>
            <a:spLocks xmlns:a="http://schemas.openxmlformats.org/drawingml/2006/main" noGrp="1"/>
          </p:cNvSpPr>
          <p:nvPr/>
        </p:nvSpPr>
        <p:spPr>
          <a:xfrm xmlns:a="http://schemas.openxmlformats.org/drawingml/2006/main">
            <a:off x="552450"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median response time</a:t>
            </a:r>
          </a:p>
        </p:txBody>
      </p:sp>
      <p:sp>
        <p:nvSpPr>
          <p:cNvPr id="19" name="">
            <a:extLst xmlns:a="http://schemas.openxmlformats.org/drawingml/2006/main">
              <a:ext uri="{FF2B5EF4-FFF2-40B4-BE49-F238E27FC236}">
                <a16:creationId xmlns:a16="http://schemas.microsoft.com/office/drawing/2014/main" id="{5F758434-F60A-45B6-B2D9-E0869E322CAE}"/>
              </a:ext>
            </a:extLst>
          </p:cNvPr>
          <p:cNvSpPr>
            <a:spLocks xmlns:a="http://schemas.openxmlformats.org/drawingml/2006/main" noGrp="1"/>
          </p:cNvSpPr>
          <p:nvPr/>
        </p:nvSpPr>
        <p:spPr>
          <a:xfrm xmlns:a="http://schemas.openxmlformats.org/drawingml/2006/main">
            <a:off x="552450"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Qualified signal → approved action</a:t>
            </a:r>
          </a:p>
        </p:txBody>
      </p:sp>
      <p:sp>
        <p:nvSpPr>
          <p:cNvPr id="20" name="">
            <a:extLst xmlns:a="http://schemas.openxmlformats.org/drawingml/2006/main">
              <a:ext uri="{FF2B5EF4-FFF2-40B4-BE49-F238E27FC236}">
                <a16:creationId xmlns:a16="http://schemas.microsoft.com/office/drawing/2014/main" id="{B0C96C0A-E7A0-4247-BB61-2715426238FF}"/>
              </a:ext>
            </a:extLst>
          </p:cNvPr>
          <p:cNvSpPr>
            <a:spLocks xmlns:a="http://schemas.openxmlformats.org/drawingml/2006/main" noGrp="1"/>
          </p:cNvSpPr>
          <p:nvPr/>
        </p:nvSpPr>
        <p:spPr>
          <a:xfrm xmlns:a="http://schemas.openxmlformats.org/drawingml/2006/main">
            <a:off x="4848225"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≥98%</a:t>
            </a:r>
          </a:p>
        </p:txBody>
      </p:sp>
      <p:sp>
        <p:nvSpPr>
          <p:cNvPr id="21" name="">
            <a:extLst xmlns:a="http://schemas.openxmlformats.org/drawingml/2006/main">
              <a:ext uri="{FF2B5EF4-FFF2-40B4-BE49-F238E27FC236}">
                <a16:creationId xmlns:a16="http://schemas.microsoft.com/office/drawing/2014/main" id="{4A2C416D-CA36-4267-8BF0-4B3643C5996F}"/>
              </a:ext>
            </a:extLst>
          </p:cNvPr>
          <p:cNvSpPr>
            <a:spLocks xmlns:a="http://schemas.openxmlformats.org/drawingml/2006/main" noGrp="1"/>
          </p:cNvSpPr>
          <p:nvPr/>
        </p:nvSpPr>
        <p:spPr>
          <a:xfrm xmlns:a="http://schemas.openxmlformats.org/drawingml/2006/main">
            <a:off x="4848225"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inventory reconciliation</a:t>
            </a:r>
          </a:p>
        </p:txBody>
      </p:sp>
      <p:sp>
        <p:nvSpPr>
          <p:cNvPr id="22" name="">
            <a:extLst xmlns:a="http://schemas.openxmlformats.org/drawingml/2006/main">
              <a:ext uri="{FF2B5EF4-FFF2-40B4-BE49-F238E27FC236}">
                <a16:creationId xmlns:a16="http://schemas.microsoft.com/office/drawing/2014/main" id="{CA4907C8-1232-4034-8E32-3ED8B957E4AB}"/>
              </a:ext>
            </a:extLst>
          </p:cNvPr>
          <p:cNvSpPr>
            <a:spLocks xmlns:a="http://schemas.openxmlformats.org/drawingml/2006/main" noGrp="1"/>
          </p:cNvSpPr>
          <p:nvPr/>
        </p:nvSpPr>
        <p:spPr>
          <a:xfrm xmlns:a="http://schemas.openxmlformats.org/drawingml/2006/main">
            <a:off x="4848225"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Physical / recorded stock agreement</a:t>
            </a:r>
          </a:p>
        </p:txBody>
      </p:sp>
      <p:sp>
        <p:nvSpPr>
          <p:cNvPr id="23" name="">
            <a:extLst xmlns:a="http://schemas.openxmlformats.org/drawingml/2006/main">
              <a:ext uri="{FF2B5EF4-FFF2-40B4-BE49-F238E27FC236}">
                <a16:creationId xmlns:a16="http://schemas.microsoft.com/office/drawing/2014/main" id="{65FFB4C3-264A-4ABE-AB36-459EF8C3CA8C}"/>
              </a:ext>
            </a:extLst>
          </p:cNvPr>
          <p:cNvSpPr>
            <a:spLocks xmlns:a="http://schemas.openxmlformats.org/drawingml/2006/main" noGrp="1"/>
          </p:cNvSpPr>
          <p:nvPr/>
        </p:nvSpPr>
        <p:spPr>
          <a:xfrm xmlns:a="http://schemas.openxmlformats.org/drawingml/2006/main">
            <a:off x="9144000" y="1952625"/>
            <a:ext cx="39624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7350" b="1">
                <a:solidFill>
                  <a:srgbClr val="165DAE"/>
                </a:solidFill>
                <a:latin typeface="Arial"/>
                <a:ea typeface="Arial"/>
                <a:cs typeface="Arial"/>
              </a:defRPr>
            </a:defPPr>
            <a:lvl1pPr algn="l">
              <a:defRPr sz="7350" b="1">
                <a:solidFill>
                  <a:srgbClr val="165DAE"/>
                </a:solidFill>
                <a:latin typeface="Arial"/>
                <a:ea typeface="Arial"/>
                <a:cs typeface="Arial"/>
              </a:defRPr>
            </a:lvl1pPr>
            <a:lvl2pPr algn="l">
              <a:defRPr sz="7350" b="1">
                <a:solidFill>
                  <a:srgbClr val="165DAE"/>
                </a:solidFill>
                <a:latin typeface="Arial"/>
                <a:ea typeface="Arial"/>
                <a:cs typeface="Arial"/>
              </a:defRPr>
            </a:lvl2pPr>
            <a:lvl3pPr algn="l">
              <a:defRPr sz="7350" b="1">
                <a:solidFill>
                  <a:srgbClr val="165DAE"/>
                </a:solidFill>
                <a:latin typeface="Arial"/>
                <a:ea typeface="Arial"/>
                <a:cs typeface="Arial"/>
              </a:defRPr>
            </a:lvl3pPr>
            <a:lvl4pPr algn="l">
              <a:defRPr sz="7350" b="1">
                <a:solidFill>
                  <a:srgbClr val="165DAE"/>
                </a:solidFill>
                <a:latin typeface="Arial"/>
                <a:ea typeface="Arial"/>
                <a:cs typeface="Arial"/>
              </a:defRPr>
            </a:lvl4pPr>
            <a:lvl5pPr algn="l">
              <a:defRPr sz="7350" b="1">
                <a:solidFill>
                  <a:srgbClr val="165DAE"/>
                </a:solidFill>
                <a:latin typeface="Arial"/>
                <a:ea typeface="Arial"/>
                <a:cs typeface="Arial"/>
              </a:defRPr>
            </a:lvl5pPr>
            <a:lvl6pPr algn="l">
              <a:defRPr sz="7350" b="1">
                <a:solidFill>
                  <a:srgbClr val="165DAE"/>
                </a:solidFill>
                <a:latin typeface="Arial"/>
                <a:ea typeface="Arial"/>
                <a:cs typeface="Arial"/>
              </a:defRPr>
            </a:lvl6pPr>
            <a:lvl7pPr algn="l">
              <a:defRPr sz="7350" b="1">
                <a:solidFill>
                  <a:srgbClr val="165DAE"/>
                </a:solidFill>
                <a:latin typeface="Arial"/>
                <a:ea typeface="Arial"/>
                <a:cs typeface="Arial"/>
              </a:defRPr>
            </a:lvl7pPr>
            <a:lvl8pPr algn="l">
              <a:defRPr sz="7350" b="1">
                <a:solidFill>
                  <a:srgbClr val="165DAE"/>
                </a:solidFill>
                <a:latin typeface="Arial"/>
                <a:ea typeface="Arial"/>
                <a:cs typeface="Arial"/>
              </a:defRPr>
            </a:lvl8pPr>
            <a:lvl9pPr algn="l">
              <a:defRPr sz="7350" b="1">
                <a:solidFill>
                  <a:srgbClr val="165DAE"/>
                </a:solidFill>
                <a:latin typeface="Arial"/>
                <a:ea typeface="Arial"/>
                <a:cs typeface="Arial"/>
              </a:defRPr>
            </a:lvl9pPr>
          </a:lstStyle>
          <a:p xmlns:a="http://schemas.openxmlformats.org/drawingml/2006/main">
            <a:pPr algn="l">
              <a:defRPr sz="7350" b="1">
                <a:solidFill>
                  <a:srgbClr val="165DAE"/>
                </a:solidFill>
              </a:defRPr>
            </a:pPr>
            <a:r>
              <a:rPr sz="7350" b="1">
                <a:solidFill>
                  <a:srgbClr val="165DAE"/>
                </a:solidFill>
                <a:latin typeface="Arial"/>
                <a:ea typeface="Arial"/>
                <a:cs typeface="Arial"/>
              </a:rPr>
              <a:t>≥70%</a:t>
            </a:r>
          </a:p>
        </p:txBody>
      </p:sp>
      <p:sp>
        <p:nvSpPr>
          <p:cNvPr id="24" name="">
            <a:extLst xmlns:a="http://schemas.openxmlformats.org/drawingml/2006/main">
              <a:ext uri="{FF2B5EF4-FFF2-40B4-BE49-F238E27FC236}">
                <a16:creationId xmlns:a16="http://schemas.microsoft.com/office/drawing/2014/main" id="{14E21702-13BE-4EE8-9FEA-B87CD137FEE4}"/>
              </a:ext>
            </a:extLst>
          </p:cNvPr>
          <p:cNvSpPr>
            <a:spLocks xmlns:a="http://schemas.openxmlformats.org/drawingml/2006/main" noGrp="1"/>
          </p:cNvSpPr>
          <p:nvPr/>
        </p:nvSpPr>
        <p:spPr>
          <a:xfrm xmlns:a="http://schemas.openxmlformats.org/drawingml/2006/main">
            <a:off x="9144000" y="3514725"/>
            <a:ext cx="3962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1">
                <a:solidFill>
                  <a:srgbClr val="152047"/>
                </a:solidFill>
                <a:latin typeface="Arial"/>
                <a:ea typeface="Arial"/>
                <a:cs typeface="Arial"/>
              </a:defRPr>
            </a:defPPr>
            <a:lvl1pPr algn="l">
              <a:defRPr sz="2100" b="1">
                <a:solidFill>
                  <a:srgbClr val="152047"/>
                </a:solidFill>
                <a:latin typeface="Arial"/>
                <a:ea typeface="Arial"/>
                <a:cs typeface="Arial"/>
              </a:defRPr>
            </a:lvl1pPr>
            <a:lvl2pPr algn="l">
              <a:defRPr sz="2100" b="1">
                <a:solidFill>
                  <a:srgbClr val="152047"/>
                </a:solidFill>
                <a:latin typeface="Arial"/>
                <a:ea typeface="Arial"/>
                <a:cs typeface="Arial"/>
              </a:defRPr>
            </a:lvl2pPr>
            <a:lvl3pPr algn="l">
              <a:defRPr sz="2100" b="1">
                <a:solidFill>
                  <a:srgbClr val="152047"/>
                </a:solidFill>
                <a:latin typeface="Arial"/>
                <a:ea typeface="Arial"/>
                <a:cs typeface="Arial"/>
              </a:defRPr>
            </a:lvl3pPr>
            <a:lvl4pPr algn="l">
              <a:defRPr sz="2100" b="1">
                <a:solidFill>
                  <a:srgbClr val="152047"/>
                </a:solidFill>
                <a:latin typeface="Arial"/>
                <a:ea typeface="Arial"/>
                <a:cs typeface="Arial"/>
              </a:defRPr>
            </a:lvl4pPr>
            <a:lvl5pPr algn="l">
              <a:defRPr sz="2100" b="1">
                <a:solidFill>
                  <a:srgbClr val="152047"/>
                </a:solidFill>
                <a:latin typeface="Arial"/>
                <a:ea typeface="Arial"/>
                <a:cs typeface="Arial"/>
              </a:defRPr>
            </a:lvl5pPr>
            <a:lvl6pPr algn="l">
              <a:defRPr sz="2100" b="1">
                <a:solidFill>
                  <a:srgbClr val="152047"/>
                </a:solidFill>
                <a:latin typeface="Arial"/>
                <a:ea typeface="Arial"/>
                <a:cs typeface="Arial"/>
              </a:defRPr>
            </a:lvl6pPr>
            <a:lvl7pPr algn="l">
              <a:defRPr sz="2100" b="1">
                <a:solidFill>
                  <a:srgbClr val="152047"/>
                </a:solidFill>
                <a:latin typeface="Arial"/>
                <a:ea typeface="Arial"/>
                <a:cs typeface="Arial"/>
              </a:defRPr>
            </a:lvl7pPr>
            <a:lvl8pPr algn="l">
              <a:defRPr sz="2100" b="1">
                <a:solidFill>
                  <a:srgbClr val="152047"/>
                </a:solidFill>
                <a:latin typeface="Arial"/>
                <a:ea typeface="Arial"/>
                <a:cs typeface="Arial"/>
              </a:defRPr>
            </a:lvl8pPr>
            <a:lvl9pPr algn="l">
              <a:defRPr sz="2100" b="1">
                <a:solidFill>
                  <a:srgbClr val="152047"/>
                </a:solidFill>
                <a:latin typeface="Arial"/>
                <a:ea typeface="Arial"/>
                <a:cs typeface="Arial"/>
              </a:defRPr>
            </a:lvl9pPr>
          </a:lstStyle>
          <a:p xmlns:a="http://schemas.openxmlformats.org/drawingml/2006/main">
            <a:pPr algn="l">
              <a:defRPr sz="2400" b="1">
                <a:solidFill>
                  <a:srgbClr val="152047"/>
                </a:solidFill>
              </a:defRPr>
            </a:pPr>
            <a:r>
              <a:rPr sz="2100" b="1">
                <a:solidFill>
                  <a:srgbClr val="152047"/>
                </a:solidFill>
                <a:latin typeface="Arial"/>
                <a:ea typeface="Arial"/>
                <a:cs typeface="Arial"/>
              </a:rPr>
              <a:t>weekly planner use</a:t>
            </a:r>
          </a:p>
        </p:txBody>
      </p:sp>
      <p:sp>
        <p:nvSpPr>
          <p:cNvPr id="25" name="">
            <a:extLst xmlns:a="http://schemas.openxmlformats.org/drawingml/2006/main">
              <a:ext uri="{FF2B5EF4-FFF2-40B4-BE49-F238E27FC236}">
                <a16:creationId xmlns:a16="http://schemas.microsoft.com/office/drawing/2014/main" id="{F63A695C-4504-4803-BDFE-9FE12F0F588F}"/>
              </a:ext>
            </a:extLst>
          </p:cNvPr>
          <p:cNvSpPr>
            <a:spLocks xmlns:a="http://schemas.openxmlformats.org/drawingml/2006/main" noGrp="1"/>
          </p:cNvSpPr>
          <p:nvPr/>
        </p:nvSpPr>
        <p:spPr>
          <a:xfrm xmlns:a="http://schemas.openxmlformats.org/drawingml/2006/main">
            <a:off x="9144000" y="4314825"/>
            <a:ext cx="3962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Eligible pilot planners</a:t>
            </a:r>
          </a:p>
        </p:txBody>
      </p:sp>
      <p:sp>
        <p:nvSpPr>
          <p:cNvPr id="26" name="">
            <a:extLst xmlns:a="http://schemas.openxmlformats.org/drawingml/2006/main">
              <a:ext uri="{FF2B5EF4-FFF2-40B4-BE49-F238E27FC236}">
                <a16:creationId xmlns:a16="http://schemas.microsoft.com/office/drawing/2014/main" id="{F1DD46AD-17E3-48B1-8C43-D00D3D9CF0F6}"/>
              </a:ext>
            </a:extLst>
          </p:cNvPr>
          <p:cNvSpPr>
            <a:spLocks xmlns:a="http://schemas.openxmlformats.org/drawingml/2006/main" noGrp="1"/>
          </p:cNvSpPr>
          <p:nvPr/>
        </p:nvSpPr>
        <p:spPr>
          <a:xfrm xmlns:a="http://schemas.openxmlformats.org/drawingml/2006/main">
            <a:off x="457200" y="5543550"/>
            <a:ext cx="12801600" cy="962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3A16ABF-CA4B-4A8B-BBF0-B31A5004C0A7}"/>
              </a:ext>
            </a:extLst>
          </p:cNvPr>
          <p:cNvSpPr>
            <a:spLocks xmlns:a="http://schemas.openxmlformats.org/drawingml/2006/main" noGrp="1"/>
          </p:cNvSpPr>
          <p:nvPr/>
        </p:nvSpPr>
        <p:spPr>
          <a:xfrm xmlns:a="http://schemas.openxmlformats.org/drawingml/2006/main">
            <a:off x="676275" y="5619750"/>
            <a:ext cx="123253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00" b="0">
                <a:solidFill>
                  <a:srgbClr val="152047"/>
                </a:solidFill>
                <a:latin typeface="Arial"/>
                <a:ea typeface="Arial"/>
                <a:cs typeface="Arial"/>
              </a:defRPr>
            </a:defPPr>
            <a:lvl1pPr algn="l">
              <a:defRPr sz="2100" b="0">
                <a:solidFill>
                  <a:srgbClr val="152047"/>
                </a:solidFill>
                <a:latin typeface="Arial"/>
                <a:ea typeface="Arial"/>
                <a:cs typeface="Arial"/>
              </a:defRPr>
            </a:lvl1pPr>
            <a:lvl2pPr algn="l">
              <a:defRPr sz="2100" b="0">
                <a:solidFill>
                  <a:srgbClr val="152047"/>
                </a:solidFill>
                <a:latin typeface="Arial"/>
                <a:ea typeface="Arial"/>
                <a:cs typeface="Arial"/>
              </a:defRPr>
            </a:lvl2pPr>
            <a:lvl3pPr algn="l">
              <a:defRPr sz="2100" b="0">
                <a:solidFill>
                  <a:srgbClr val="152047"/>
                </a:solidFill>
                <a:latin typeface="Arial"/>
                <a:ea typeface="Arial"/>
                <a:cs typeface="Arial"/>
              </a:defRPr>
            </a:lvl3pPr>
            <a:lvl4pPr algn="l">
              <a:defRPr sz="2100" b="0">
                <a:solidFill>
                  <a:srgbClr val="152047"/>
                </a:solidFill>
                <a:latin typeface="Arial"/>
                <a:ea typeface="Arial"/>
                <a:cs typeface="Arial"/>
              </a:defRPr>
            </a:lvl4pPr>
            <a:lvl5pPr algn="l">
              <a:defRPr sz="2100" b="0">
                <a:solidFill>
                  <a:srgbClr val="152047"/>
                </a:solidFill>
                <a:latin typeface="Arial"/>
                <a:ea typeface="Arial"/>
                <a:cs typeface="Arial"/>
              </a:defRPr>
            </a:lvl5pPr>
            <a:lvl6pPr algn="l">
              <a:defRPr sz="2100" b="0">
                <a:solidFill>
                  <a:srgbClr val="152047"/>
                </a:solidFill>
                <a:latin typeface="Arial"/>
                <a:ea typeface="Arial"/>
                <a:cs typeface="Arial"/>
              </a:defRPr>
            </a:lvl6pPr>
            <a:lvl7pPr algn="l">
              <a:defRPr sz="2100" b="0">
                <a:solidFill>
                  <a:srgbClr val="152047"/>
                </a:solidFill>
                <a:latin typeface="Arial"/>
                <a:ea typeface="Arial"/>
                <a:cs typeface="Arial"/>
              </a:defRPr>
            </a:lvl7pPr>
            <a:lvl8pPr algn="l">
              <a:defRPr sz="2100" b="0">
                <a:solidFill>
                  <a:srgbClr val="152047"/>
                </a:solidFill>
                <a:latin typeface="Arial"/>
                <a:ea typeface="Arial"/>
                <a:cs typeface="Arial"/>
              </a:defRPr>
            </a:lvl8pPr>
            <a:lvl9pPr algn="l">
              <a:defRPr sz="2100" b="0">
                <a:solidFill>
                  <a:srgbClr val="152047"/>
                </a:solidFill>
                <a:latin typeface="Arial"/>
                <a:ea typeface="Arial"/>
                <a:cs typeface="Arial"/>
              </a:defRPr>
            </a:lvl9pPr>
          </a:lstStyle>
          <a:p xmlns:a="http://schemas.openxmlformats.org/drawingml/2006/main">
            <a:pPr algn="l">
              <a:defRPr sz="2100" b="0">
                <a:solidFill>
                  <a:srgbClr val="152047"/>
                </a:solidFill>
              </a:defRPr>
            </a:pPr>
            <a:r>
              <a:rPr sz="2100" b="0">
                <a:solidFill>
                  <a:srgbClr val="152047"/>
                </a:solidFill>
                <a:latin typeface="Arial"/>
                <a:ea typeface="Arial"/>
                <a:cs typeface="Arial"/>
              </a:rPr>
              <a:t>Business gate: positive incremental contribution after transfer costs and returns, with a credible cash payback within 24 months at the negotiated price.</a:t>
            </a:r>
          </a:p>
        </p:txBody>
      </p:sp>
    </p:spTree>
    <p:extLst>
      <p:ext uri="{BB962C8B-B14F-4D97-AF65-F5344CB8AC3E}">
        <p14:creationId xmlns:p14="http://schemas.microsoft.com/office/powerpoint/2010/main" val="297682516"/>
      </p:ext>
    </p:extLst>
  </p:cSld>
</p:sld>
</file>

<file path=ppt/slides/slide18.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12EA5F-DF51-4946-A8C4-612AC877C4E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ED9409-C775-4CB8-8AB2-BEFC59224F4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PRICING AND REVENUE SPLIT</a:t>
            </a:r>
          </a:p>
        </p:txBody>
      </p:sp>
      <p:sp>
        <p:nvSpPr>
          <p:cNvPr id="4" name="">
            <a:extLst xmlns:a="http://schemas.openxmlformats.org/drawingml/2006/main">
              <a:ext uri="{FF2B5EF4-FFF2-40B4-BE49-F238E27FC236}">
                <a16:creationId xmlns:a16="http://schemas.microsoft.com/office/drawing/2014/main" id="{C0F3FBC8-A640-4CF2-BF59-57F58D8F015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One subscription; partners earn the hardware work</a:t>
            </a:r>
          </a:p>
        </p:txBody>
      </p:sp>
      <p:sp>
        <p:nvSpPr>
          <p:cNvPr id="5" name="">
            <a:extLst xmlns:a="http://schemas.openxmlformats.org/drawingml/2006/main">
              <a:ext uri="{FF2B5EF4-FFF2-40B4-BE49-F238E27FC236}">
                <a16:creationId xmlns:a16="http://schemas.microsoft.com/office/drawing/2014/main" id="{608E1FB1-013A-431D-AA28-DEBEF62177D1}"/>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Proposed commercial model; quotes and accounting treatment unconfirmed. Existing tagged merchandise assumed; taxes and new tag programs excluded.</a:t>
            </a:r>
          </a:p>
        </p:txBody>
      </p:sp>
      <p:sp>
        <p:nvSpPr>
          <p:cNvPr id="6" name="">
            <a:extLst xmlns:a="http://schemas.openxmlformats.org/drawingml/2006/main">
              <a:ext uri="{FF2B5EF4-FFF2-40B4-BE49-F238E27FC236}">
                <a16:creationId xmlns:a16="http://schemas.microsoft.com/office/drawing/2014/main" id="{C27C87D9-BB34-4A94-8BD1-9163AEAD52F2}"/>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FB2010-1B1E-4B39-B58D-E97D68300034}"/>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4DA5A3AB-5EB4-41D7-AAC5-D58FEA9DFF5A}"/>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34F666-5547-40D5-A249-22634226C3D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44E9D1A5-CBB1-468D-8CF6-2568943371E4}"/>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EBDC60-D67A-4EAF-8051-67AC90B62D53}"/>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2BC793AE-9A37-4623-8FCF-7136566DFFE8}"/>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BA88EC-05B5-46F0-B63C-688B59CBE5F6}"/>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A9C0AF96-ADAF-4B24-9F4C-474797BADA99}"/>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50F605-1923-43DB-9BE1-158ECBEC2560}"/>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1D98F59-0AE2-4368-A8B1-29E84E5BB8B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18</a:t>
            </a:r>
          </a:p>
        </p:txBody>
      </p:sp>
      <p:sp>
        <p:nvSpPr>
          <p:cNvPr id="17" name="">
            <a:extLst xmlns:a="http://schemas.openxmlformats.org/drawingml/2006/main">
              <a:ext uri="{FF2B5EF4-FFF2-40B4-BE49-F238E27FC236}">
                <a16:creationId xmlns:a16="http://schemas.microsoft.com/office/drawing/2014/main" id="{F253867E-56D2-4B33-B51F-6B2EF8737CBC}"/>
              </a:ext>
            </a:extLst>
          </p:cNvPr>
          <p:cNvSpPr>
            <a:spLocks xmlns:a="http://schemas.openxmlformats.org/drawingml/2006/main" noGrp="1"/>
          </p:cNvSpPr>
          <p:nvPr/>
        </p:nvSpPr>
        <p:spPr>
          <a:xfrm xmlns:a="http://schemas.openxmlformats.org/drawingml/2006/main">
            <a:off x="571500" y="1419225"/>
            <a:ext cx="685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4125" b="1">
                <a:solidFill>
                  <a:srgbClr val="165DAE"/>
                </a:solidFill>
                <a:latin typeface="Arial"/>
                <a:ea typeface="Arial"/>
                <a:cs typeface="Arial"/>
              </a:defRPr>
            </a:defPPr>
            <a:lvl1pPr algn="l">
              <a:defRPr sz="4125" b="1">
                <a:solidFill>
                  <a:srgbClr val="165DAE"/>
                </a:solidFill>
                <a:latin typeface="Arial"/>
                <a:ea typeface="Arial"/>
                <a:cs typeface="Arial"/>
              </a:defRPr>
            </a:lvl1pPr>
            <a:lvl2pPr algn="l">
              <a:defRPr sz="4125" b="1">
                <a:solidFill>
                  <a:srgbClr val="165DAE"/>
                </a:solidFill>
                <a:latin typeface="Arial"/>
                <a:ea typeface="Arial"/>
                <a:cs typeface="Arial"/>
              </a:defRPr>
            </a:lvl2pPr>
            <a:lvl3pPr algn="l">
              <a:defRPr sz="4125" b="1">
                <a:solidFill>
                  <a:srgbClr val="165DAE"/>
                </a:solidFill>
                <a:latin typeface="Arial"/>
                <a:ea typeface="Arial"/>
                <a:cs typeface="Arial"/>
              </a:defRPr>
            </a:lvl3pPr>
            <a:lvl4pPr algn="l">
              <a:defRPr sz="4125" b="1">
                <a:solidFill>
                  <a:srgbClr val="165DAE"/>
                </a:solidFill>
                <a:latin typeface="Arial"/>
                <a:ea typeface="Arial"/>
                <a:cs typeface="Arial"/>
              </a:defRPr>
            </a:lvl4pPr>
            <a:lvl5pPr algn="l">
              <a:defRPr sz="4125" b="1">
                <a:solidFill>
                  <a:srgbClr val="165DAE"/>
                </a:solidFill>
                <a:latin typeface="Arial"/>
                <a:ea typeface="Arial"/>
                <a:cs typeface="Arial"/>
              </a:defRPr>
            </a:lvl5pPr>
            <a:lvl6pPr algn="l">
              <a:defRPr sz="4125" b="1">
                <a:solidFill>
                  <a:srgbClr val="165DAE"/>
                </a:solidFill>
                <a:latin typeface="Arial"/>
                <a:ea typeface="Arial"/>
                <a:cs typeface="Arial"/>
              </a:defRPr>
            </a:lvl6pPr>
            <a:lvl7pPr algn="l">
              <a:defRPr sz="4125" b="1">
                <a:solidFill>
                  <a:srgbClr val="165DAE"/>
                </a:solidFill>
                <a:latin typeface="Arial"/>
                <a:ea typeface="Arial"/>
                <a:cs typeface="Arial"/>
              </a:defRPr>
            </a:lvl7pPr>
            <a:lvl8pPr algn="l">
              <a:defRPr sz="4125" b="1">
                <a:solidFill>
                  <a:srgbClr val="165DAE"/>
                </a:solidFill>
                <a:latin typeface="Arial"/>
                <a:ea typeface="Arial"/>
                <a:cs typeface="Arial"/>
              </a:defRPr>
            </a:lvl8pPr>
            <a:lvl9pPr algn="l">
              <a:defRPr sz="4125" b="1">
                <a:solidFill>
                  <a:srgbClr val="165DAE"/>
                </a:solidFill>
                <a:latin typeface="Arial"/>
                <a:ea typeface="Arial"/>
                <a:cs typeface="Arial"/>
              </a:defRPr>
            </a:lvl9pPr>
          </a:lstStyle>
          <a:p xmlns:a="http://schemas.openxmlformats.org/drawingml/2006/main">
            <a:pPr algn="l">
              <a:defRPr sz="4125" b="1">
                <a:solidFill>
                  <a:srgbClr val="165DAE"/>
                </a:solidFill>
              </a:defRPr>
            </a:pPr>
            <a:r>
              <a:rPr sz="4125" b="1">
                <a:solidFill>
                  <a:srgbClr val="165DAE"/>
                </a:solidFill>
                <a:latin typeface="Arial"/>
                <a:ea typeface="Arial"/>
                <a:cs typeface="Arial"/>
              </a:rPr>
              <a:t>CAD 350k / year</a:t>
            </a:r>
          </a:p>
        </p:txBody>
      </p:sp>
      <p:sp>
        <p:nvSpPr>
          <p:cNvPr id="18" name="">
            <a:extLst xmlns:a="http://schemas.openxmlformats.org/drawingml/2006/main">
              <a:ext uri="{FF2B5EF4-FFF2-40B4-BE49-F238E27FC236}">
                <a16:creationId xmlns:a16="http://schemas.microsoft.com/office/drawing/2014/main" id="{D9CBFA42-F7F7-4E92-A190-B1EB64C5C2D6}"/>
              </a:ext>
            </a:extLst>
          </p:cNvPr>
          <p:cNvSpPr>
            <a:spLocks xmlns:a="http://schemas.openxmlformats.org/drawingml/2006/main" noGrp="1"/>
          </p:cNvSpPr>
          <p:nvPr/>
        </p:nvSpPr>
        <p:spPr>
          <a:xfrm xmlns:a="http://schemas.openxmlformats.org/drawingml/2006/main">
            <a:off x="7810500" y="14954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0">
                <a:solidFill>
                  <a:srgbClr val="152047"/>
                </a:solidFill>
                <a:latin typeface="Arial"/>
                <a:ea typeface="Arial"/>
                <a:cs typeface="Arial"/>
              </a:defRPr>
            </a:defPPr>
            <a:lvl1pPr algn="l">
              <a:defRPr sz="2025" b="0">
                <a:solidFill>
                  <a:srgbClr val="152047"/>
                </a:solidFill>
                <a:latin typeface="Arial"/>
                <a:ea typeface="Arial"/>
                <a:cs typeface="Arial"/>
              </a:defRPr>
            </a:lvl1pPr>
            <a:lvl2pPr algn="l">
              <a:defRPr sz="2025" b="0">
                <a:solidFill>
                  <a:srgbClr val="152047"/>
                </a:solidFill>
                <a:latin typeface="Arial"/>
                <a:ea typeface="Arial"/>
                <a:cs typeface="Arial"/>
              </a:defRPr>
            </a:lvl2pPr>
            <a:lvl3pPr algn="l">
              <a:defRPr sz="2025" b="0">
                <a:solidFill>
                  <a:srgbClr val="152047"/>
                </a:solidFill>
                <a:latin typeface="Arial"/>
                <a:ea typeface="Arial"/>
                <a:cs typeface="Arial"/>
              </a:defRPr>
            </a:lvl3pPr>
            <a:lvl4pPr algn="l">
              <a:defRPr sz="2025" b="0">
                <a:solidFill>
                  <a:srgbClr val="152047"/>
                </a:solidFill>
                <a:latin typeface="Arial"/>
                <a:ea typeface="Arial"/>
                <a:cs typeface="Arial"/>
              </a:defRPr>
            </a:lvl4pPr>
            <a:lvl5pPr algn="l">
              <a:defRPr sz="2025" b="0">
                <a:solidFill>
                  <a:srgbClr val="152047"/>
                </a:solidFill>
                <a:latin typeface="Arial"/>
                <a:ea typeface="Arial"/>
                <a:cs typeface="Arial"/>
              </a:defRPr>
            </a:lvl5pPr>
            <a:lvl6pPr algn="l">
              <a:defRPr sz="2025" b="0">
                <a:solidFill>
                  <a:srgbClr val="152047"/>
                </a:solidFill>
                <a:latin typeface="Arial"/>
                <a:ea typeface="Arial"/>
                <a:cs typeface="Arial"/>
              </a:defRPr>
            </a:lvl6pPr>
            <a:lvl7pPr algn="l">
              <a:defRPr sz="2025" b="0">
                <a:solidFill>
                  <a:srgbClr val="152047"/>
                </a:solidFill>
                <a:latin typeface="Arial"/>
                <a:ea typeface="Arial"/>
                <a:cs typeface="Arial"/>
              </a:defRPr>
            </a:lvl7pPr>
            <a:lvl8pPr algn="l">
              <a:defRPr sz="2025" b="0">
                <a:solidFill>
                  <a:srgbClr val="152047"/>
                </a:solidFill>
                <a:latin typeface="Arial"/>
                <a:ea typeface="Arial"/>
                <a:cs typeface="Arial"/>
              </a:defRPr>
            </a:lvl8pPr>
            <a:lvl9pPr algn="l">
              <a:defRPr sz="2025" b="0">
                <a:solidFill>
                  <a:srgbClr val="152047"/>
                </a:solidFill>
                <a:latin typeface="Arial"/>
                <a:ea typeface="Arial"/>
                <a:cs typeface="Arial"/>
              </a:defRPr>
            </a:lvl9pPr>
          </a:lstStyle>
          <a:p xmlns:a="http://schemas.openxmlformats.org/drawingml/2006/main">
            <a:pPr algn="l">
              <a:defRPr sz="2025" b="0">
                <a:solidFill>
                  <a:srgbClr val="152047"/>
                </a:solidFill>
              </a:defRPr>
            </a:pPr>
            <a:r>
              <a:rPr sz="2025" b="0">
                <a:solidFill>
                  <a:srgbClr val="152047"/>
                </a:solidFill>
                <a:latin typeface="Arial"/>
                <a:ea typeface="Arial"/>
                <a:cs typeface="Arial"/>
              </a:rPr>
              <a:t>Reference customer: 100 stores</a:t>
            </a:r>
          </a:p>
          <a:p xmlns:a="http://schemas.openxmlformats.org/drawingml/2006/main">
            <a:pPr algn="l">
              <a:defRPr sz="2025" b="0">
                <a:solidFill>
                  <a:srgbClr val="152047"/>
                </a:solidFill>
              </a:defRPr>
            </a:pPr>
            <a:r>
              <a:rPr sz="2025" b="0">
                <a:solidFill>
                  <a:srgbClr val="152047"/>
                </a:solidFill>
                <a:latin typeface="Arial"/>
                <a:ea typeface="Arial"/>
                <a:cs typeface="Arial"/>
              </a:rPr>
              <a:t>CAD 50k platform + CAD 3k per store</a:t>
            </a:r>
          </a:p>
        </p:txBody>
      </p:sp>
      <p:graphicFrame>
        <p:nvGraphicFramePr>
          <p:cNvPr id="19" name="">
            <a:extLst xmlns:a="http://schemas.openxmlformats.org/drawingml/2006/main">
              <a:ext uri="{FF2B5EF4-FFF2-40B4-BE49-F238E27FC236}">
                <a16:creationId xmlns:a16="http://schemas.microsoft.com/office/drawing/2014/main" id="{8D4B42BA-E021-4F11-87B8-5C013875A291}"/>
              </a:ext>
            </a:extLst>
          </p:cNvPr>
          <p:cNvGraphicFramePr/>
          <p:nvPr/>
        </p:nvGraphicFramePr>
        <p:xfrm>
          <a:off xmlns:a="http://schemas.openxmlformats.org/drawingml/2006/main" x="457200" y="2667000"/>
          <a:ext xmlns:a="http://schemas.openxmlformats.org/drawingml/2006/main" cx="12801600" cy="3686175"/>
        </p:xfrm>
        <a:graphic xmlns:a="http://schemas.openxmlformats.org/drawingml/2006/main">
          <a:graphicData uri="http://schemas.openxmlformats.org/drawingml/2006/table">
            <a:tbl>
              <a:tblPr/>
              <a:tblGrid>
                <a:gridCol w="4480560"/>
                <a:gridCol w="8321040"/>
              </a:tblGrid>
              <a:tr h="921544">
                <a:tc>
                  <a:txBody>
                    <a:bodyPr/>
                    <a:lstStyle/>
                    <a:p>
                      <a:r>
                        <a:rPr sz="1875" b="1">
                          <a:solidFill>
                            <a:srgbClr val="FFFFFF"/>
                          </a:solidFill>
                          <a:latin typeface="Arial"/>
                          <a:ea typeface="Arial"/>
                          <a:cs typeface="Arial"/>
                        </a:rPr>
                        <a:t>Illustrative charge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Recipient / split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921544">
                <a:tc>
                  <a:txBody>
                    <a:bodyPr/>
                    <a:lstStyle/>
                    <a:p>
                      <a:r>
                        <a:rPr sz="1875" b="1">
                          <a:solidFill>
                            <a:srgbClr val="FFFFFF"/>
                          </a:solidFill>
                          <a:latin typeface="Arial"/>
                          <a:ea typeface="Arial"/>
                          <a:cs typeface="Arial"/>
                        </a:rPr>
                        <a:t>CAD 8k per equipped store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OEM / tag supplier 62.5% · distributor 12.5% · installer 25%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921544">
                <a:tc>
                  <a:txBody>
                    <a:bodyPr/>
                    <a:lstStyle/>
                    <a:p>
                      <a:r>
                        <a:rPr sz="1875" b="1">
                          <a:solidFill>
                            <a:srgbClr val="FFFFFF"/>
                          </a:solidFill>
                          <a:latin typeface="Arial"/>
                          <a:ea typeface="Arial"/>
                          <a:cs typeface="Arial"/>
                        </a:rPr>
                        <a:t>CAD 75k customer onboarding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Delivery partner 80% · SAP coordination fee 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921544">
                <a:tc>
                  <a:txBody>
                    <a:bodyPr/>
                    <a:lstStyle/>
                    <a:p>
                      <a:r>
                        <a:rPr sz="1875" b="1">
                          <a:solidFill>
                            <a:srgbClr val="FFFFFF"/>
                          </a:solidFill>
                          <a:latin typeface="Arial"/>
                          <a:ea typeface="Arial"/>
                          <a:cs typeface="Arial"/>
                        </a:rPr>
                        <a:t>Annual product subscription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SAP 100%; partner hardware invoiced separately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2058258968"/>
      </p:ext>
    </p:extLst>
  </p:cSld>
</p:sld>
</file>

<file path=ppt/slides/slide19.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8F1AF89-A7FC-4D2E-B6B2-0F2186A040E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68A98D-DE3A-480C-A763-39713200D0A2}"/>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REFERENCE CUSTOMER</a:t>
            </a:r>
          </a:p>
        </p:txBody>
      </p:sp>
      <p:sp>
        <p:nvSpPr>
          <p:cNvPr id="4" name="">
            <a:extLst xmlns:a="http://schemas.openxmlformats.org/drawingml/2006/main">
              <a:ext uri="{FF2B5EF4-FFF2-40B4-BE49-F238E27FC236}">
                <a16:creationId xmlns:a16="http://schemas.microsoft.com/office/drawing/2014/main" id="{99E3EA4B-B46A-4B49-B741-1FCD946D344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value must clear the cash-only test</a:t>
            </a:r>
          </a:p>
        </p:txBody>
      </p:sp>
      <p:sp>
        <p:nvSpPr>
          <p:cNvPr id="5" name="">
            <a:extLst xmlns:a="http://schemas.openxmlformats.org/drawingml/2006/main">
              <a:ext uri="{FF2B5EF4-FFF2-40B4-BE49-F238E27FC236}">
                <a16:creationId xmlns:a16="http://schemas.microsoft.com/office/drawing/2014/main" id="{9D3362DB-8DA8-4735-8077-1DE87BE7AB8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steady-state annual benefits; not measured. Base cash-only payback misses the 24-month scale gate.</a:t>
            </a:r>
          </a:p>
        </p:txBody>
      </p:sp>
      <p:sp>
        <p:nvSpPr>
          <p:cNvPr id="6" name="">
            <a:extLst xmlns:a="http://schemas.openxmlformats.org/drawingml/2006/main">
              <a:ext uri="{FF2B5EF4-FFF2-40B4-BE49-F238E27FC236}">
                <a16:creationId xmlns:a16="http://schemas.microsoft.com/office/drawing/2014/main" id="{3D080044-796B-4D33-AA84-83A1629FE434}"/>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6B11096-BC81-4BE3-9EDE-514BA856E628}"/>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E832DDA-F9E2-4A2B-991A-A69B54D60707}"/>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D2E05B8-C53D-4458-9A91-C56D16DE963D}"/>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F1E83F7B-5214-40FA-A935-B725C9606186}"/>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AAA830-FEAF-42AD-93E8-BF3F0D772BE6}"/>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36F7CB98-6D16-47E9-BAC6-968BDA43A5AD}"/>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EE8058-D844-4F21-9D1D-2C1031F7AEC5}"/>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125BA187-1E8E-4036-AEB5-51BB67CCE6E0}"/>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B2D9D88-D711-4D66-B113-38959369C8C9}"/>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8E012EBA-D6F9-48CC-BCF7-F8AC827BF21C}"/>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19</a:t>
            </a:r>
          </a:p>
        </p:txBody>
      </p:sp>
      <p:graphicFrame>
        <p:nvGraphicFramePr>
          <p:cNvPr id="17" name="">
            <a:extLst xmlns:a="http://schemas.openxmlformats.org/drawingml/2006/main">
              <a:ext uri="{FF2B5EF4-FFF2-40B4-BE49-F238E27FC236}">
                <a16:creationId xmlns:a16="http://schemas.microsoft.com/office/drawing/2014/main" id="{B9D88831-843C-46F0-8D58-13C79B00F6A4}"/>
              </a:ext>
            </a:extLst>
          </p:cNvPr>
          <p:cNvGraphicFramePr/>
          <p:nvPr/>
        </p:nvGraphicFramePr>
        <p:xfrm>
          <a:off xmlns:a="http://schemas.openxmlformats.org/drawingml/2006/main" x="457200" y="1524000"/>
          <a:ext xmlns:a="http://schemas.openxmlformats.org/drawingml/2006/main" cx="12801600" cy="3343275"/>
        </p:xfrm>
        <a:graphic xmlns:a="http://schemas.openxmlformats.org/drawingml/2006/main">
          <a:graphicData uri="http://schemas.openxmlformats.org/drawingml/2006/table">
            <a:tbl>
              <a:tblPr/>
              <a:tblGrid>
                <a:gridCol w="3968496"/>
                <a:gridCol w="2176272"/>
                <a:gridCol w="6656832"/>
              </a:tblGrid>
              <a:tr h="668655">
                <a:tc>
                  <a:txBody>
                    <a:bodyPr/>
                    <a:lstStyle/>
                    <a:p>
                      <a:r>
                        <a:rPr sz="1725" b="1">
                          <a:solidFill>
                            <a:srgbClr val="FFFFFF"/>
                          </a:solidFill>
                          <a:latin typeface="Arial"/>
                          <a:ea typeface="Arial"/>
                          <a:cs typeface="Arial"/>
                        </a:rPr>
                        <a:t>Annual value / cost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Basis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668655">
                <a:tc>
                  <a:txBody>
                    <a:bodyPr/>
                    <a:lstStyle/>
                    <a:p>
                      <a:r>
                        <a:rPr sz="1725" b="1">
                          <a:solidFill>
                            <a:srgbClr val="FFFFFF"/>
                          </a:solidFill>
                          <a:latin typeface="Arial"/>
                          <a:ea typeface="Arial"/>
                          <a:cs typeface="Arial"/>
                        </a:rPr>
                        <a:t>Recovered-sales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 of CAD 100M sales × 45% contribution margin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68655">
                <a:tc>
                  <a:txBody>
                    <a:bodyPr/>
                    <a:lstStyle/>
                    <a:p>
                      <a:r>
                        <a:rPr sz="1725" b="1">
                          <a:solidFill>
                            <a:srgbClr val="FFFFFF"/>
                          </a:solidFill>
                          <a:latin typeface="Arial"/>
                          <a:ea typeface="Arial"/>
                          <a:cs typeface="Arial"/>
                        </a:rPr>
                        <a:t>Planner / store capacity freed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364,000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 h/store/week × 100 × 52 × CAD 35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68655">
                <a:tc>
                  <a:txBody>
                    <a:bodyPr/>
                    <a:lstStyle/>
                    <a:p>
                      <a:r>
                        <a:rPr sz="1725" b="1">
                          <a:solidFill>
                            <a:srgbClr val="FFFFFF"/>
                          </a:solidFill>
                          <a:latin typeface="Arial"/>
                          <a:ea typeface="Arial"/>
                          <a:cs typeface="Arial"/>
                        </a:rPr>
                        <a:t>Subscription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100-store reference price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68655">
                <a:tc>
                  <a:txBody>
                    <a:bodyPr/>
                    <a:lstStyle/>
                    <a:p>
                      <a:r>
                        <a:rPr sz="1725" b="1">
                          <a:solidFill>
                            <a:srgbClr val="FFFFFF"/>
                          </a:solidFill>
                          <a:latin typeface="Arial"/>
                          <a:ea typeface="Arial"/>
                          <a:cs typeface="Arial"/>
                        </a:rPr>
                        <a:t>Upfront deployment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235,000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20 RFID stores × CAD 8k + CAD 75k onboarding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8" name="">
            <a:extLst xmlns:a="http://schemas.openxmlformats.org/drawingml/2006/main">
              <a:ext uri="{FF2B5EF4-FFF2-40B4-BE49-F238E27FC236}">
                <a16:creationId xmlns:a16="http://schemas.microsoft.com/office/drawing/2014/main" id="{80EC5160-4676-4E5B-8FC4-06FF9B312F44}"/>
              </a:ext>
            </a:extLst>
          </p:cNvPr>
          <p:cNvSpPr>
            <a:spLocks xmlns:a="http://schemas.openxmlformats.org/drawingml/2006/main" noGrp="1"/>
          </p:cNvSpPr>
          <p:nvPr/>
        </p:nvSpPr>
        <p:spPr>
          <a:xfrm xmlns:a="http://schemas.openxmlformats.org/drawingml/2006/main">
            <a:off x="457200" y="5153025"/>
            <a:ext cx="6276975" cy="428625"/>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36B058-F8CD-4FC6-9DD5-FACCBED0F468}"/>
              </a:ext>
            </a:extLst>
          </p:cNvPr>
          <p:cNvSpPr>
            <a:spLocks xmlns:a="http://schemas.openxmlformats.org/drawingml/2006/main" noGrp="1"/>
          </p:cNvSpPr>
          <p:nvPr/>
        </p:nvSpPr>
        <p:spPr>
          <a:xfrm xmlns:a="http://schemas.openxmlformats.org/drawingml/2006/main">
            <a:off x="590550" y="5181600"/>
            <a:ext cx="6010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economic payback</a:t>
            </a:r>
          </a:p>
        </p:txBody>
      </p:sp>
      <p:sp>
        <p:nvSpPr>
          <p:cNvPr id="20" name="">
            <a:extLst xmlns:a="http://schemas.openxmlformats.org/drawingml/2006/main">
              <a:ext uri="{FF2B5EF4-FFF2-40B4-BE49-F238E27FC236}">
                <a16:creationId xmlns:a16="http://schemas.microsoft.com/office/drawing/2014/main" id="{7A41501A-3D93-4FF3-8095-47C824793CF4}"/>
              </a:ext>
            </a:extLst>
          </p:cNvPr>
          <p:cNvSpPr>
            <a:spLocks xmlns:a="http://schemas.openxmlformats.org/drawingml/2006/main" noGrp="1"/>
          </p:cNvSpPr>
          <p:nvPr/>
        </p:nvSpPr>
        <p:spPr>
          <a:xfrm xmlns:a="http://schemas.openxmlformats.org/drawingml/2006/main">
            <a:off x="609600" y="562927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75" b="1">
                <a:solidFill>
                  <a:srgbClr val="165DAE"/>
                </a:solidFill>
                <a:latin typeface="Arial"/>
                <a:ea typeface="Arial"/>
                <a:cs typeface="Arial"/>
              </a:defRPr>
            </a:defPPr>
            <a:lvl1pPr algn="l">
              <a:defRPr sz="3075" b="1">
                <a:solidFill>
                  <a:srgbClr val="165DAE"/>
                </a:solidFill>
                <a:latin typeface="Arial"/>
                <a:ea typeface="Arial"/>
                <a:cs typeface="Arial"/>
              </a:defRPr>
            </a:lvl1pPr>
            <a:lvl2pPr algn="l">
              <a:defRPr sz="3075" b="1">
                <a:solidFill>
                  <a:srgbClr val="165DAE"/>
                </a:solidFill>
                <a:latin typeface="Arial"/>
                <a:ea typeface="Arial"/>
                <a:cs typeface="Arial"/>
              </a:defRPr>
            </a:lvl2pPr>
            <a:lvl3pPr algn="l">
              <a:defRPr sz="3075" b="1">
                <a:solidFill>
                  <a:srgbClr val="165DAE"/>
                </a:solidFill>
                <a:latin typeface="Arial"/>
                <a:ea typeface="Arial"/>
                <a:cs typeface="Arial"/>
              </a:defRPr>
            </a:lvl3pPr>
            <a:lvl4pPr algn="l">
              <a:defRPr sz="3075" b="1">
                <a:solidFill>
                  <a:srgbClr val="165DAE"/>
                </a:solidFill>
                <a:latin typeface="Arial"/>
                <a:ea typeface="Arial"/>
                <a:cs typeface="Arial"/>
              </a:defRPr>
            </a:lvl4pPr>
            <a:lvl5pPr algn="l">
              <a:defRPr sz="3075" b="1">
                <a:solidFill>
                  <a:srgbClr val="165DAE"/>
                </a:solidFill>
                <a:latin typeface="Arial"/>
                <a:ea typeface="Arial"/>
                <a:cs typeface="Arial"/>
              </a:defRPr>
            </a:lvl5pPr>
            <a:lvl6pPr algn="l">
              <a:defRPr sz="3075" b="1">
                <a:solidFill>
                  <a:srgbClr val="165DAE"/>
                </a:solidFill>
                <a:latin typeface="Arial"/>
                <a:ea typeface="Arial"/>
                <a:cs typeface="Arial"/>
              </a:defRPr>
            </a:lvl6pPr>
            <a:lvl7pPr algn="l">
              <a:defRPr sz="3075" b="1">
                <a:solidFill>
                  <a:srgbClr val="165DAE"/>
                </a:solidFill>
                <a:latin typeface="Arial"/>
                <a:ea typeface="Arial"/>
                <a:cs typeface="Arial"/>
              </a:defRPr>
            </a:lvl7pPr>
            <a:lvl8pPr algn="l">
              <a:defRPr sz="3075" b="1">
                <a:solidFill>
                  <a:srgbClr val="165DAE"/>
                </a:solidFill>
                <a:latin typeface="Arial"/>
                <a:ea typeface="Arial"/>
                <a:cs typeface="Arial"/>
              </a:defRPr>
            </a:lvl8pPr>
            <a:lvl9pPr algn="l">
              <a:defRPr sz="3075" b="1">
                <a:solidFill>
                  <a:srgbClr val="165DAE"/>
                </a:solidFill>
                <a:latin typeface="Arial"/>
                <a:ea typeface="Arial"/>
                <a:cs typeface="Arial"/>
              </a:defRPr>
            </a:lvl9pPr>
          </a:lstStyle>
          <a:p xmlns:a="http://schemas.openxmlformats.org/drawingml/2006/main">
            <a:pPr algn="l">
              <a:defRPr sz="3075" b="1">
                <a:solidFill>
                  <a:srgbClr val="165DAE"/>
                </a:solidFill>
              </a:defRPr>
            </a:pPr>
            <a:r>
              <a:rPr sz="3075" b="1">
                <a:solidFill>
                  <a:srgbClr val="165DAE"/>
                </a:solidFill>
                <a:latin typeface="Arial"/>
                <a:ea typeface="Arial"/>
                <a:cs typeface="Arial"/>
              </a:rPr>
              <a:t>6.1 months</a:t>
            </a:r>
          </a:p>
        </p:txBody>
      </p:sp>
      <p:sp>
        <p:nvSpPr>
          <p:cNvPr id="21" name="">
            <a:extLst xmlns:a="http://schemas.openxmlformats.org/drawingml/2006/main">
              <a:ext uri="{FF2B5EF4-FFF2-40B4-BE49-F238E27FC236}">
                <a16:creationId xmlns:a16="http://schemas.microsoft.com/office/drawing/2014/main" id="{BDACE7C3-9341-4306-82A2-74B1DDEE73FE}"/>
              </a:ext>
            </a:extLst>
          </p:cNvPr>
          <p:cNvSpPr>
            <a:spLocks xmlns:a="http://schemas.openxmlformats.org/drawingml/2006/main" noGrp="1"/>
          </p:cNvSpPr>
          <p:nvPr/>
        </p:nvSpPr>
        <p:spPr>
          <a:xfrm xmlns:a="http://schemas.openxmlformats.org/drawingml/2006/main">
            <a:off x="3248025" y="5610225"/>
            <a:ext cx="3295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Includes value of time freed</a:t>
            </a:r>
          </a:p>
        </p:txBody>
      </p:sp>
      <p:sp>
        <p:nvSpPr>
          <p:cNvPr id="22" name="">
            <a:extLst xmlns:a="http://schemas.openxmlformats.org/drawingml/2006/main">
              <a:ext uri="{FF2B5EF4-FFF2-40B4-BE49-F238E27FC236}">
                <a16:creationId xmlns:a16="http://schemas.microsoft.com/office/drawing/2014/main" id="{E30B5A4E-7382-488B-9F5F-5A7540FF4D52}"/>
              </a:ext>
            </a:extLst>
          </p:cNvPr>
          <p:cNvSpPr>
            <a:spLocks xmlns:a="http://schemas.openxmlformats.org/drawingml/2006/main" noGrp="1"/>
          </p:cNvSpPr>
          <p:nvPr/>
        </p:nvSpPr>
        <p:spPr>
          <a:xfrm xmlns:a="http://schemas.openxmlformats.org/drawingml/2006/main">
            <a:off x="6981825" y="5153025"/>
            <a:ext cx="6276975" cy="428625"/>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FE232D-BA37-4277-BC91-438D42234671}"/>
              </a:ext>
            </a:extLst>
          </p:cNvPr>
          <p:cNvSpPr>
            <a:spLocks xmlns:a="http://schemas.openxmlformats.org/drawingml/2006/main" noGrp="1"/>
          </p:cNvSpPr>
          <p:nvPr/>
        </p:nvSpPr>
        <p:spPr>
          <a:xfrm xmlns:a="http://schemas.openxmlformats.org/drawingml/2006/main">
            <a:off x="7115175" y="5181600"/>
            <a:ext cx="6010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FFFFFF"/>
                </a:solidFill>
                <a:latin typeface="Arial"/>
                <a:ea typeface="Arial"/>
                <a:cs typeface="Arial"/>
              </a:defRPr>
            </a:defPPr>
            <a:lvl1pPr algn="l">
              <a:defRPr sz="2025" b="1">
                <a:solidFill>
                  <a:srgbClr val="FFFFFF"/>
                </a:solidFill>
                <a:latin typeface="Arial"/>
                <a:ea typeface="Arial"/>
                <a:cs typeface="Arial"/>
              </a:defRPr>
            </a:lvl1pPr>
            <a:lvl2pPr algn="l">
              <a:defRPr sz="2025" b="1">
                <a:solidFill>
                  <a:srgbClr val="FFFFFF"/>
                </a:solidFill>
                <a:latin typeface="Arial"/>
                <a:ea typeface="Arial"/>
                <a:cs typeface="Arial"/>
              </a:defRPr>
            </a:lvl2pPr>
            <a:lvl3pPr algn="l">
              <a:defRPr sz="2025" b="1">
                <a:solidFill>
                  <a:srgbClr val="FFFFFF"/>
                </a:solidFill>
                <a:latin typeface="Arial"/>
                <a:ea typeface="Arial"/>
                <a:cs typeface="Arial"/>
              </a:defRPr>
            </a:lvl3pPr>
            <a:lvl4pPr algn="l">
              <a:defRPr sz="2025" b="1">
                <a:solidFill>
                  <a:srgbClr val="FFFFFF"/>
                </a:solidFill>
                <a:latin typeface="Arial"/>
                <a:ea typeface="Arial"/>
                <a:cs typeface="Arial"/>
              </a:defRPr>
            </a:lvl4pPr>
            <a:lvl5pPr algn="l">
              <a:defRPr sz="2025" b="1">
                <a:solidFill>
                  <a:srgbClr val="FFFFFF"/>
                </a:solidFill>
                <a:latin typeface="Arial"/>
                <a:ea typeface="Arial"/>
                <a:cs typeface="Arial"/>
              </a:defRPr>
            </a:lvl5pPr>
            <a:lvl6pPr algn="l">
              <a:defRPr sz="2025" b="1">
                <a:solidFill>
                  <a:srgbClr val="FFFFFF"/>
                </a:solidFill>
                <a:latin typeface="Arial"/>
                <a:ea typeface="Arial"/>
                <a:cs typeface="Arial"/>
              </a:defRPr>
            </a:lvl6pPr>
            <a:lvl7pPr algn="l">
              <a:defRPr sz="2025" b="1">
                <a:solidFill>
                  <a:srgbClr val="FFFFFF"/>
                </a:solidFill>
                <a:latin typeface="Arial"/>
                <a:ea typeface="Arial"/>
                <a:cs typeface="Arial"/>
              </a:defRPr>
            </a:lvl7pPr>
            <a:lvl8pPr algn="l">
              <a:defRPr sz="2025" b="1">
                <a:solidFill>
                  <a:srgbClr val="FFFFFF"/>
                </a:solidFill>
                <a:latin typeface="Arial"/>
                <a:ea typeface="Arial"/>
                <a:cs typeface="Arial"/>
              </a:defRPr>
            </a:lvl8pPr>
            <a:lvl9pPr algn="l">
              <a:defRPr sz="2025" b="1">
                <a:solidFill>
                  <a:srgbClr val="FFFFFF"/>
                </a:solidFill>
                <a:latin typeface="Arial"/>
                <a:ea typeface="Arial"/>
                <a:cs typeface="Arial"/>
              </a:defRPr>
            </a:lvl9pPr>
          </a:lstStyle>
          <a:p xmlns:a="http://schemas.openxmlformats.org/drawingml/2006/main">
            <a:pPr algn="l">
              <a:defRPr sz="2025" b="1">
                <a:solidFill>
                  <a:srgbClr val="FFFFFF"/>
                </a:solidFill>
              </a:defRPr>
            </a:pPr>
            <a:r>
              <a:rPr sz="2025" b="1">
                <a:solidFill>
                  <a:srgbClr val="FFFFFF"/>
                </a:solidFill>
                <a:latin typeface="Arial"/>
                <a:ea typeface="Arial"/>
                <a:cs typeface="Arial"/>
              </a:rPr>
              <a:t>cash-only payback</a:t>
            </a:r>
          </a:p>
        </p:txBody>
      </p:sp>
      <p:sp>
        <p:nvSpPr>
          <p:cNvPr id="24" name="">
            <a:extLst xmlns:a="http://schemas.openxmlformats.org/drawingml/2006/main">
              <a:ext uri="{FF2B5EF4-FFF2-40B4-BE49-F238E27FC236}">
                <a16:creationId xmlns:a16="http://schemas.microsoft.com/office/drawing/2014/main" id="{D8635F4A-E566-49C5-9DBC-D356D67477BF}"/>
              </a:ext>
            </a:extLst>
          </p:cNvPr>
          <p:cNvSpPr>
            <a:spLocks xmlns:a="http://schemas.openxmlformats.org/drawingml/2006/main" noGrp="1"/>
          </p:cNvSpPr>
          <p:nvPr/>
        </p:nvSpPr>
        <p:spPr>
          <a:xfrm xmlns:a="http://schemas.openxmlformats.org/drawingml/2006/main">
            <a:off x="7134225" y="562927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75" b="1">
                <a:solidFill>
                  <a:srgbClr val="A33F2F"/>
                </a:solidFill>
                <a:latin typeface="Arial"/>
                <a:ea typeface="Arial"/>
                <a:cs typeface="Arial"/>
              </a:defRPr>
            </a:defPPr>
            <a:lvl1pPr algn="l">
              <a:defRPr sz="3075" b="1">
                <a:solidFill>
                  <a:srgbClr val="A33F2F"/>
                </a:solidFill>
                <a:latin typeface="Arial"/>
                <a:ea typeface="Arial"/>
                <a:cs typeface="Arial"/>
              </a:defRPr>
            </a:lvl1pPr>
            <a:lvl2pPr algn="l">
              <a:defRPr sz="3075" b="1">
                <a:solidFill>
                  <a:srgbClr val="A33F2F"/>
                </a:solidFill>
                <a:latin typeface="Arial"/>
                <a:ea typeface="Arial"/>
                <a:cs typeface="Arial"/>
              </a:defRPr>
            </a:lvl2pPr>
            <a:lvl3pPr algn="l">
              <a:defRPr sz="3075" b="1">
                <a:solidFill>
                  <a:srgbClr val="A33F2F"/>
                </a:solidFill>
                <a:latin typeface="Arial"/>
                <a:ea typeface="Arial"/>
                <a:cs typeface="Arial"/>
              </a:defRPr>
            </a:lvl3pPr>
            <a:lvl4pPr algn="l">
              <a:defRPr sz="3075" b="1">
                <a:solidFill>
                  <a:srgbClr val="A33F2F"/>
                </a:solidFill>
                <a:latin typeface="Arial"/>
                <a:ea typeface="Arial"/>
                <a:cs typeface="Arial"/>
              </a:defRPr>
            </a:lvl4pPr>
            <a:lvl5pPr algn="l">
              <a:defRPr sz="3075" b="1">
                <a:solidFill>
                  <a:srgbClr val="A33F2F"/>
                </a:solidFill>
                <a:latin typeface="Arial"/>
                <a:ea typeface="Arial"/>
                <a:cs typeface="Arial"/>
              </a:defRPr>
            </a:lvl5pPr>
            <a:lvl6pPr algn="l">
              <a:defRPr sz="3075" b="1">
                <a:solidFill>
                  <a:srgbClr val="A33F2F"/>
                </a:solidFill>
                <a:latin typeface="Arial"/>
                <a:ea typeface="Arial"/>
                <a:cs typeface="Arial"/>
              </a:defRPr>
            </a:lvl6pPr>
            <a:lvl7pPr algn="l">
              <a:defRPr sz="3075" b="1">
                <a:solidFill>
                  <a:srgbClr val="A33F2F"/>
                </a:solidFill>
                <a:latin typeface="Arial"/>
                <a:ea typeface="Arial"/>
                <a:cs typeface="Arial"/>
              </a:defRPr>
            </a:lvl7pPr>
            <a:lvl8pPr algn="l">
              <a:defRPr sz="3075" b="1">
                <a:solidFill>
                  <a:srgbClr val="A33F2F"/>
                </a:solidFill>
                <a:latin typeface="Arial"/>
                <a:ea typeface="Arial"/>
                <a:cs typeface="Arial"/>
              </a:defRPr>
            </a:lvl8pPr>
            <a:lvl9pPr algn="l">
              <a:defRPr sz="3075" b="1">
                <a:solidFill>
                  <a:srgbClr val="A33F2F"/>
                </a:solidFill>
                <a:latin typeface="Arial"/>
                <a:ea typeface="Arial"/>
                <a:cs typeface="Arial"/>
              </a:defRPr>
            </a:lvl9pPr>
          </a:lstStyle>
          <a:p xmlns:a="http://schemas.openxmlformats.org/drawingml/2006/main">
            <a:pPr algn="l">
              <a:defRPr sz="3075" b="1">
                <a:solidFill>
                  <a:srgbClr val="165DAE"/>
                </a:solidFill>
              </a:defRPr>
            </a:pPr>
            <a:r>
              <a:rPr sz="3075" b="1">
                <a:solidFill>
                  <a:srgbClr val="A33F2F"/>
                </a:solidFill>
                <a:latin typeface="Arial"/>
                <a:ea typeface="Arial"/>
                <a:cs typeface="Arial"/>
              </a:rPr>
              <a:t>28.2 months</a:t>
            </a:r>
          </a:p>
        </p:txBody>
      </p:sp>
      <p:sp>
        <p:nvSpPr>
          <p:cNvPr id="25" name="">
            <a:extLst xmlns:a="http://schemas.openxmlformats.org/drawingml/2006/main">
              <a:ext uri="{FF2B5EF4-FFF2-40B4-BE49-F238E27FC236}">
                <a16:creationId xmlns:a16="http://schemas.microsoft.com/office/drawing/2014/main" id="{352420AB-B0AA-4922-8AB9-14CB2B415DCB}"/>
              </a:ext>
            </a:extLst>
          </p:cNvPr>
          <p:cNvSpPr>
            <a:spLocks xmlns:a="http://schemas.openxmlformats.org/drawingml/2006/main" noGrp="1"/>
          </p:cNvSpPr>
          <p:nvPr/>
        </p:nvSpPr>
        <p:spPr>
          <a:xfrm xmlns:a="http://schemas.openxmlformats.org/drawingml/2006/main">
            <a:off x="9772650" y="5610225"/>
            <a:ext cx="3295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152047"/>
                </a:solidFill>
                <a:latin typeface="Arial"/>
                <a:ea typeface="Arial"/>
                <a:cs typeface="Arial"/>
              </a:defRPr>
            </a:defPPr>
            <a:lvl1pPr algn="l">
              <a:defRPr sz="1875" b="0">
                <a:solidFill>
                  <a:srgbClr val="152047"/>
                </a:solidFill>
                <a:latin typeface="Arial"/>
                <a:ea typeface="Arial"/>
                <a:cs typeface="Arial"/>
              </a:defRPr>
            </a:lvl1pPr>
            <a:lvl2pPr algn="l">
              <a:defRPr sz="1875" b="0">
                <a:solidFill>
                  <a:srgbClr val="152047"/>
                </a:solidFill>
                <a:latin typeface="Arial"/>
                <a:ea typeface="Arial"/>
                <a:cs typeface="Arial"/>
              </a:defRPr>
            </a:lvl2pPr>
            <a:lvl3pPr algn="l">
              <a:defRPr sz="1875" b="0">
                <a:solidFill>
                  <a:srgbClr val="152047"/>
                </a:solidFill>
                <a:latin typeface="Arial"/>
                <a:ea typeface="Arial"/>
                <a:cs typeface="Arial"/>
              </a:defRPr>
            </a:lvl3pPr>
            <a:lvl4pPr algn="l">
              <a:defRPr sz="1875" b="0">
                <a:solidFill>
                  <a:srgbClr val="152047"/>
                </a:solidFill>
                <a:latin typeface="Arial"/>
                <a:ea typeface="Arial"/>
                <a:cs typeface="Arial"/>
              </a:defRPr>
            </a:lvl4pPr>
            <a:lvl5pPr algn="l">
              <a:defRPr sz="1875" b="0">
                <a:solidFill>
                  <a:srgbClr val="152047"/>
                </a:solidFill>
                <a:latin typeface="Arial"/>
                <a:ea typeface="Arial"/>
                <a:cs typeface="Arial"/>
              </a:defRPr>
            </a:lvl5pPr>
            <a:lvl6pPr algn="l">
              <a:defRPr sz="1875" b="0">
                <a:solidFill>
                  <a:srgbClr val="152047"/>
                </a:solidFill>
                <a:latin typeface="Arial"/>
                <a:ea typeface="Arial"/>
                <a:cs typeface="Arial"/>
              </a:defRPr>
            </a:lvl6pPr>
            <a:lvl7pPr algn="l">
              <a:defRPr sz="1875" b="0">
                <a:solidFill>
                  <a:srgbClr val="152047"/>
                </a:solidFill>
                <a:latin typeface="Arial"/>
                <a:ea typeface="Arial"/>
                <a:cs typeface="Arial"/>
              </a:defRPr>
            </a:lvl7pPr>
            <a:lvl8pPr algn="l">
              <a:defRPr sz="1875" b="0">
                <a:solidFill>
                  <a:srgbClr val="152047"/>
                </a:solidFill>
                <a:latin typeface="Arial"/>
                <a:ea typeface="Arial"/>
                <a:cs typeface="Arial"/>
              </a:defRPr>
            </a:lvl8pPr>
            <a:lvl9pPr algn="l">
              <a:defRPr sz="1875" b="0">
                <a:solidFill>
                  <a:srgbClr val="152047"/>
                </a:solidFill>
                <a:latin typeface="Arial"/>
                <a:ea typeface="Arial"/>
                <a:cs typeface="Arial"/>
              </a:defRPr>
            </a:lvl9pPr>
          </a:lstStyle>
          <a:p xmlns:a="http://schemas.openxmlformats.org/drawingml/2006/main">
            <a:pPr algn="l">
              <a:defRPr sz="1875" b="0">
                <a:solidFill>
                  <a:srgbClr val="152047"/>
                </a:solidFill>
              </a:defRPr>
            </a:pPr>
            <a:r>
              <a:rPr sz="1875" b="0">
                <a:solidFill>
                  <a:srgbClr val="152047"/>
                </a:solidFill>
                <a:latin typeface="Arial"/>
                <a:ea typeface="Arial"/>
                <a:cs typeface="Arial"/>
              </a:rPr>
              <a:t>Excludes time unless cash is saved</a:t>
            </a:r>
          </a:p>
        </p:txBody>
      </p:sp>
    </p:spTree>
    <p:extLst>
      <p:ext uri="{BB962C8B-B14F-4D97-AF65-F5344CB8AC3E}">
        <p14:creationId xmlns:p14="http://schemas.microsoft.com/office/powerpoint/2010/main" val="1764304131"/>
      </p:ext>
    </p:extLst>
  </p:cSld>
</p:sld>
</file>

<file path=ppt/slides/slide20.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DA8DD3-40B2-4CC1-9488-3D7B718E5E8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50634B-D26D-42CC-B6EB-ED203B518C6C}"/>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FINANCIALS · SAP PRODUCT SCENARIO</a:t>
            </a:r>
          </a:p>
        </p:txBody>
      </p:sp>
      <p:sp>
        <p:nvSpPr>
          <p:cNvPr id="4" name="">
            <a:extLst xmlns:a="http://schemas.openxmlformats.org/drawingml/2006/main">
              <a:ext uri="{FF2B5EF4-FFF2-40B4-BE49-F238E27FC236}">
                <a16:creationId xmlns:a16="http://schemas.microsoft.com/office/drawing/2014/main" id="{E8412ED2-C1CC-4C6C-A17B-036C70371CBC}"/>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SAP’s base scenario reaches CAD 38.1M in year 3</a:t>
            </a:r>
          </a:p>
        </p:txBody>
      </p:sp>
      <p:sp>
        <p:nvSpPr>
          <p:cNvPr id="5" name="">
            <a:extLst xmlns:a="http://schemas.openxmlformats.org/drawingml/2006/main">
              <a:ext uri="{FF2B5EF4-FFF2-40B4-BE49-F238E27FC236}">
                <a16:creationId xmlns:a16="http://schemas.microsoft.com/office/drawing/2014/main" id="{ECFE721F-6264-4B6C-B857-8D991F45F93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not SAP guidance. Midyear customer wins, no churn, CAD 350k/customer/year; hardware pass-through excluded.</a:t>
            </a:r>
          </a:p>
        </p:txBody>
      </p:sp>
      <p:sp>
        <p:nvSpPr>
          <p:cNvPr id="6" name="">
            <a:extLst xmlns:a="http://schemas.openxmlformats.org/drawingml/2006/main">
              <a:ext uri="{FF2B5EF4-FFF2-40B4-BE49-F238E27FC236}">
                <a16:creationId xmlns:a16="http://schemas.microsoft.com/office/drawing/2014/main" id="{900161A8-5259-4F07-980B-E258238C1D90}"/>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CB9B94D-6DB9-484E-9318-AC25CAFE9407}"/>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0656C059-FA0F-4D88-849F-358224CDB879}"/>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B602EF0-0606-48B7-8A79-698F5AD49775}"/>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24398E0A-E4E8-43F2-B0C2-AD56A2DBE802}"/>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8F54C8-3674-429B-9A81-A40AB0F21777}"/>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C7933B37-F11A-4977-8B6E-DFBFD441AF89}"/>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5815F2-174B-4CDD-A1B1-DFA069F23CDB}"/>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5A2BFCC0-3C6E-4AEE-B399-18BD6A5DAF84}"/>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9A35C2-6B1B-4114-925D-8AB46789ABC8}"/>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F2BA4F3C-A181-4AF5-8CEB-E4780A3A5172}"/>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20</a:t>
            </a:r>
          </a:p>
        </p:txBody>
      </p:sp>
      <p:graphicFrame>
        <p:nvGraphicFramePr>
          <p:cNvPr id="17" name="Chart">
            <a:extLst xmlns:a="http://schemas.openxmlformats.org/drawingml/2006/main">
              <a:ext uri="{FF2B5EF4-FFF2-40B4-BE49-F238E27FC236}">
                <a16:creationId xmlns:a16="http://schemas.microsoft.com/office/drawing/2014/main" id="{EF173A4D-AFE9-4F8F-8A67-539DB13F34F4}"/>
              </a:ext>
            </a:extLst>
          </p:cNvPr>
          <p:cNvGraphicFramePr/>
          <p:nvPr/>
        </p:nvGraphicFramePr>
        <p:xfrm>
          <a:off xmlns:a="http://schemas.openxmlformats.org/drawingml/2006/main" x="457200" y="1524000"/>
          <a:ext xmlns:a="http://schemas.openxmlformats.org/drawingml/2006/main" cx="5162550" cy="4762500"/>
        </p:xfrm>
        <a:graphic xmlns:a="http://schemas.openxmlformats.org/drawingml/2006/main">
          <a:graphicData uri="http://schemas.openxmlformats.org/drawingml/2006/chart">
            <c:chart xmlns:r="http://schemas.openxmlformats.org/officeDocument/2006/relationships" xmlns:c="http://schemas.openxmlformats.org/drawingml/2006/chart" r:id="R7339828f729e4846"/>
          </a:graphicData>
        </a:graphic>
      </p:graphicFrame>
      <p:graphicFrame>
        <p:nvGraphicFramePr>
          <p:cNvPr id="18" name="">
            <a:extLst xmlns:a="http://schemas.openxmlformats.org/drawingml/2006/main">
              <a:ext uri="{FF2B5EF4-FFF2-40B4-BE49-F238E27FC236}">
                <a16:creationId xmlns:a16="http://schemas.microsoft.com/office/drawing/2014/main" id="{2DC63D10-2839-463B-83F7-C6F64FCEEBF7}"/>
              </a:ext>
            </a:extLst>
          </p:cNvPr>
          <p:cNvGraphicFramePr/>
          <p:nvPr/>
        </p:nvGraphicFramePr>
        <p:xfrm>
          <a:off xmlns:a="http://schemas.openxmlformats.org/drawingml/2006/main" x="5905500" y="1476375"/>
          <a:ext xmlns:a="http://schemas.openxmlformats.org/drawingml/2006/main" cx="7353300" cy="5057775"/>
        </p:xfrm>
        <a:graphic xmlns:a="http://schemas.openxmlformats.org/drawingml/2006/main">
          <a:graphicData uri="http://schemas.openxmlformats.org/drawingml/2006/table">
            <a:tbl>
              <a:tblPr/>
              <a:tblGrid>
                <a:gridCol w="3308985"/>
                <a:gridCol w="1347860"/>
                <a:gridCol w="1347860"/>
                <a:gridCol w="1348595"/>
              </a:tblGrid>
              <a:tr h="561975">
                <a:tc>
                  <a:txBody>
                    <a:bodyPr/>
                    <a:lstStyle/>
                    <a:p>
                      <a:r>
                        <a:rPr sz="1500" b="1">
                          <a:solidFill>
                            <a:srgbClr val="FFFFFF"/>
                          </a:solidFill>
                          <a:latin typeface="Arial"/>
                          <a:ea typeface="Arial"/>
                          <a:cs typeface="Arial"/>
                        </a:rPr>
                        <a:t>CAD millions, unless noted</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1</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2</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500" b="1">
                          <a:solidFill>
                            <a:srgbClr val="FFFFFF"/>
                          </a:solidFill>
                          <a:latin typeface="Arial"/>
                          <a:ea typeface="Arial"/>
                          <a:cs typeface="Arial"/>
                        </a:rPr>
                        <a:t>Year 3</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561975">
                <a:tc>
                  <a:txBody>
                    <a:bodyPr/>
                    <a:lstStyle/>
                    <a:p>
                      <a:r>
                        <a:rPr sz="1500" b="1">
                          <a:solidFill>
                            <a:srgbClr val="FFFFFF"/>
                          </a:solidFill>
                          <a:latin typeface="Arial"/>
                          <a:ea typeface="Arial"/>
                          <a:cs typeface="Arial"/>
                        </a:rPr>
                        <a:t>Ending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Average active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105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Subscription revenue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3.50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14.00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36.75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Net onboarding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0.30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0.60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1.35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Total modeled SAP revenue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3.80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14.60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38.10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Hosting / support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(0.88)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(3.50)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(9.19)</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61975">
                <a:tc>
                  <a:txBody>
                    <a:bodyPr/>
                    <a:lstStyle/>
                    <a:p>
                      <a:r>
                        <a:rPr sz="1500" b="1">
                          <a:solidFill>
                            <a:srgbClr val="FFFFFF"/>
                          </a:solidFill>
                          <a:latin typeface="Arial"/>
                          <a:ea typeface="Arial"/>
                          <a:cs typeface="Arial"/>
                        </a:rPr>
                        <a:t>Product / sales / operations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(5.00)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(6.00)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500">
                          <a:solidFill>
                            <a:srgbClr val="152047"/>
                          </a:solidFill>
                          <a:latin typeface="Arial"/>
                          <a:ea typeface="Arial"/>
                          <a:cs typeface="Arial"/>
                        </a:rPr>
                        <a:t>(8.00)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61975">
                <a:tc>
                  <a:txBody>
                    <a:bodyPr/>
                    <a:lstStyle/>
                    <a:p>
                      <a:r>
                        <a:rPr sz="1500" b="1">
                          <a:solidFill>
                            <a:srgbClr val="FFFFFF"/>
                          </a:solidFill>
                          <a:latin typeface="Arial"/>
                          <a:ea typeface="Arial"/>
                          <a:cs typeface="Arial"/>
                        </a:rPr>
                        <a:t>Operating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500">
                          <a:solidFill>
                            <a:srgbClr val="152047"/>
                          </a:solidFill>
                          <a:latin typeface="Arial"/>
                          <a:ea typeface="Arial"/>
                          <a:cs typeface="Arial"/>
                        </a:rPr>
                        <a:t>(2.08)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5.10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500">
                          <a:solidFill>
                            <a:srgbClr val="152047"/>
                          </a:solidFill>
                          <a:latin typeface="Arial"/>
                          <a:ea typeface="Arial"/>
                          <a:cs typeface="Arial"/>
                        </a:rPr>
                        <a:t>20.91</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2138318552"/>
      </p:ext>
    </p:extLst>
  </p:cSld>
</p:sld>
</file>

<file path=ppt/slides/slide21.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7B96B9A-B381-4C6E-8154-D2159AF9FE07}"/>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4D32FE-DE1C-41D5-A1DE-FEECCDCDC8F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VALUE PROPOSITION</a:t>
            </a:r>
          </a:p>
        </p:txBody>
      </p:sp>
      <p:sp>
        <p:nvSpPr>
          <p:cNvPr id="4" name="">
            <a:extLst xmlns:a="http://schemas.openxmlformats.org/drawingml/2006/main">
              <a:ext uri="{FF2B5EF4-FFF2-40B4-BE49-F238E27FC236}">
                <a16:creationId xmlns:a16="http://schemas.microsoft.com/office/drawing/2014/main" id="{D7647E31-9D1E-4A0A-976F-5F686CE47FBF}"/>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Earlier evidence is useful only when teams can act</a:t>
            </a:r>
          </a:p>
        </p:txBody>
      </p:sp>
      <p:sp>
        <p:nvSpPr>
          <p:cNvPr id="5" name="">
            <a:extLst xmlns:a="http://schemas.openxmlformats.org/drawingml/2006/main">
              <a:ext uri="{FF2B5EF4-FFF2-40B4-BE49-F238E27FC236}">
                <a16:creationId xmlns:a16="http://schemas.microsoft.com/office/drawing/2014/main" id="{E7E785E6-5187-476E-91F8-16C5EAF980E5}"/>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One SAP Retail Signal subscription. Shared evidence, shared inventory context and a traceable response.</a:t>
            </a:r>
          </a:p>
        </p:txBody>
      </p:sp>
      <p:sp>
        <p:nvSpPr>
          <p:cNvPr id="6" name="">
            <a:extLst xmlns:a="http://schemas.openxmlformats.org/drawingml/2006/main">
              <a:ext uri="{FF2B5EF4-FFF2-40B4-BE49-F238E27FC236}">
                <a16:creationId xmlns:a16="http://schemas.microsoft.com/office/drawing/2014/main" id="{3EE2EE61-C281-43D5-8059-2254E36E8C5E}"/>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8950DB-B3FF-4D95-8316-DAB8CD72E785}"/>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A5DC3175-C2BB-4747-B370-CC96F7BA66CD}"/>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3FFB5D-030A-498C-9B34-AB3F5D8BE9B4}"/>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C9FDDFC0-F1E4-4C42-9D5D-D06C099E6795}"/>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A482A3-7F5C-4876-B9BC-9B5FF58A1BE4}"/>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C073E8DB-3E81-45DA-A9FE-05EFDB3831DB}"/>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A444EA-FB4A-4E6D-8F92-38DCEA333498}"/>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DD55D783-B987-4857-BC9C-9E7C0C6C8C41}"/>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76FAB25-8B95-4AB0-B985-FBA79A9C7B1A}"/>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C48469DD-4C22-462B-B68B-138280B2217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21</a:t>
            </a:r>
          </a:p>
        </p:txBody>
      </p:sp>
      <p:pic>
        <p:nvPicPr>
          <p:cNvPr id="17" name="">
            <a:extLst xmlns:a="http://schemas.openxmlformats.org/drawingml/2006/main">
              <a:ext uri="{FF2B5EF4-FFF2-40B4-BE49-F238E27FC236}">
                <a16:creationId xmlns:a16="http://schemas.microsoft.com/office/drawing/2014/main" id="{C5354B8D-F6FA-435A-AFFD-35DDF1625F45}"/>
              </a:ext>
            </a:extLst>
          </p:cNvPr>
          <p:cNvPicPr>
            <a:picLocks xmlns:a="http://schemas.openxmlformats.org/drawingml/2006/main" noChangeAspect="1"/>
          </p:cNvPicPr>
          <p:nvPr/>
        </p:nvPicPr>
        <p:blipFill>
          <a:blip xmlns:r="http://schemas.openxmlformats.org/officeDocument/2006/relationships" xmlns:a="http://schemas.openxmlformats.org/drawingml/2006/main" r:embed="R09179a65a4ac4efc"/>
          <a:srcRect xmlns:a="http://schemas.openxmlformats.org/drawingml/2006/main" l="44000" t="0" r="0" b="0"/>
          <a:stretch xmlns:a="http://schemas.openxmlformats.org/drawingml/2006/main">
            <a:fillRect l="0" t="0" r="0" b="0"/>
          </a:stretch>
        </p:blipFill>
        <p:spPr>
          <a:xfrm xmlns:a="http://schemas.openxmlformats.org/drawingml/2006/main">
            <a:off x="457200" y="1600200"/>
            <a:ext cx="4762500" cy="4800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BD0E883-9A09-4137-B7AE-63832F92CBA7}"/>
              </a:ext>
            </a:extLst>
          </p:cNvPr>
          <p:cNvSpPr>
            <a:spLocks xmlns:a="http://schemas.openxmlformats.org/drawingml/2006/main" noGrp="1"/>
          </p:cNvSpPr>
          <p:nvPr/>
        </p:nvSpPr>
        <p:spPr>
          <a:xfrm xmlns:a="http://schemas.openxmlformats.org/drawingml/2006/main">
            <a:off x="5667375" y="1571625"/>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8DC22A-A978-4CF7-BECC-E4870E2ECEFD}"/>
              </a:ext>
            </a:extLst>
          </p:cNvPr>
          <p:cNvSpPr>
            <a:spLocks xmlns:a="http://schemas.openxmlformats.org/drawingml/2006/main" noGrp="1"/>
          </p:cNvSpPr>
          <p:nvPr/>
        </p:nvSpPr>
        <p:spPr>
          <a:xfrm xmlns:a="http://schemas.openxmlformats.org/drawingml/2006/main">
            <a:off x="5848350" y="1495425"/>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Bob</a:t>
            </a:r>
          </a:p>
        </p:txBody>
      </p:sp>
      <p:sp>
        <p:nvSpPr>
          <p:cNvPr id="20" name="">
            <a:extLst xmlns:a="http://schemas.openxmlformats.org/drawingml/2006/main">
              <a:ext uri="{FF2B5EF4-FFF2-40B4-BE49-F238E27FC236}">
                <a16:creationId xmlns:a16="http://schemas.microsoft.com/office/drawing/2014/main" id="{5A1BE13D-FAD6-4723-BF23-6FB6223EFFAB}"/>
              </a:ext>
            </a:extLst>
          </p:cNvPr>
          <p:cNvSpPr>
            <a:spLocks xmlns:a="http://schemas.openxmlformats.org/drawingml/2006/main" noGrp="1"/>
          </p:cNvSpPr>
          <p:nvPr/>
        </p:nvSpPr>
        <p:spPr>
          <a:xfrm xmlns:a="http://schemas.openxmlformats.org/drawingml/2006/main">
            <a:off x="5848350" y="1990725"/>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prioritized decision with evidence, alternatives and a visible owner.</a:t>
            </a:r>
          </a:p>
        </p:txBody>
      </p:sp>
      <p:sp>
        <p:nvSpPr>
          <p:cNvPr id="21" name="">
            <a:extLst xmlns:a="http://schemas.openxmlformats.org/drawingml/2006/main">
              <a:ext uri="{FF2B5EF4-FFF2-40B4-BE49-F238E27FC236}">
                <a16:creationId xmlns:a16="http://schemas.microsoft.com/office/drawing/2014/main" id="{DE3DFE75-2A0F-4B24-BE06-C84E60C977ED}"/>
              </a:ext>
            </a:extLst>
          </p:cNvPr>
          <p:cNvSpPr>
            <a:spLocks xmlns:a="http://schemas.openxmlformats.org/drawingml/2006/main" noGrp="1"/>
          </p:cNvSpPr>
          <p:nvPr/>
        </p:nvSpPr>
        <p:spPr>
          <a:xfrm xmlns:a="http://schemas.openxmlformats.org/drawingml/2006/main">
            <a:off x="5667375" y="2831306"/>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197E02B-1E1B-46BF-9BB5-A036C6D21BED}"/>
              </a:ext>
            </a:extLst>
          </p:cNvPr>
          <p:cNvSpPr>
            <a:spLocks xmlns:a="http://schemas.openxmlformats.org/drawingml/2006/main" noGrp="1"/>
          </p:cNvSpPr>
          <p:nvPr/>
        </p:nvSpPr>
        <p:spPr>
          <a:xfrm xmlns:a="http://schemas.openxmlformats.org/drawingml/2006/main">
            <a:off x="5848350" y="2755106"/>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the retailer</a:t>
            </a:r>
          </a:p>
        </p:txBody>
      </p:sp>
      <p:sp>
        <p:nvSpPr>
          <p:cNvPr id="23" name="">
            <a:extLst xmlns:a="http://schemas.openxmlformats.org/drawingml/2006/main">
              <a:ext uri="{FF2B5EF4-FFF2-40B4-BE49-F238E27FC236}">
                <a16:creationId xmlns:a16="http://schemas.microsoft.com/office/drawing/2014/main" id="{6631885E-5AD5-4E66-A928-703200258054}"/>
              </a:ext>
            </a:extLst>
          </p:cNvPr>
          <p:cNvSpPr>
            <a:spLocks xmlns:a="http://schemas.openxmlformats.org/drawingml/2006/main" noGrp="1"/>
          </p:cNvSpPr>
          <p:nvPr/>
        </p:nvSpPr>
        <p:spPr>
          <a:xfrm xmlns:a="http://schemas.openxmlformats.org/drawingml/2006/main">
            <a:off x="5848350" y="3250406"/>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Better availability and margin discipline, measured against the cost of responding.</a:t>
            </a:r>
          </a:p>
        </p:txBody>
      </p:sp>
      <p:sp>
        <p:nvSpPr>
          <p:cNvPr id="24" name="">
            <a:extLst xmlns:a="http://schemas.openxmlformats.org/drawingml/2006/main">
              <a:ext uri="{FF2B5EF4-FFF2-40B4-BE49-F238E27FC236}">
                <a16:creationId xmlns:a16="http://schemas.microsoft.com/office/drawing/2014/main" id="{959D3ABF-6711-4480-8AAF-DCCA6244DDBF}"/>
              </a:ext>
            </a:extLst>
          </p:cNvPr>
          <p:cNvSpPr>
            <a:spLocks xmlns:a="http://schemas.openxmlformats.org/drawingml/2006/main" noGrp="1"/>
          </p:cNvSpPr>
          <p:nvPr/>
        </p:nvSpPr>
        <p:spPr>
          <a:xfrm xmlns:a="http://schemas.openxmlformats.org/drawingml/2006/main">
            <a:off x="5667375" y="4090988"/>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028C40-A011-46C2-BEB1-7BEE66A8D48D}"/>
              </a:ext>
            </a:extLst>
          </p:cNvPr>
          <p:cNvSpPr>
            <a:spLocks xmlns:a="http://schemas.openxmlformats.org/drawingml/2006/main" noGrp="1"/>
          </p:cNvSpPr>
          <p:nvPr/>
        </p:nvSpPr>
        <p:spPr>
          <a:xfrm xmlns:a="http://schemas.openxmlformats.org/drawingml/2006/main">
            <a:off x="5848350" y="4014788"/>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shoppers</a:t>
            </a:r>
          </a:p>
        </p:txBody>
      </p:sp>
      <p:sp>
        <p:nvSpPr>
          <p:cNvPr id="26" name="">
            <a:extLst xmlns:a="http://schemas.openxmlformats.org/drawingml/2006/main">
              <a:ext uri="{FF2B5EF4-FFF2-40B4-BE49-F238E27FC236}">
                <a16:creationId xmlns:a16="http://schemas.microsoft.com/office/drawing/2014/main" id="{91FDBD7D-2F10-451B-AE7B-3EBAC65FA2AC}"/>
              </a:ext>
            </a:extLst>
          </p:cNvPr>
          <p:cNvSpPr>
            <a:spLocks xmlns:a="http://schemas.openxmlformats.org/drawingml/2006/main" noGrp="1"/>
          </p:cNvSpPr>
          <p:nvPr/>
        </p:nvSpPr>
        <p:spPr>
          <a:xfrm xmlns:a="http://schemas.openxmlformats.org/drawingml/2006/main">
            <a:off x="5848350" y="4510088"/>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better chance of finding the right size, without personal fitting-room surveillance.</a:t>
            </a:r>
          </a:p>
        </p:txBody>
      </p:sp>
      <p:sp>
        <p:nvSpPr>
          <p:cNvPr id="27" name="">
            <a:extLst xmlns:a="http://schemas.openxmlformats.org/drawingml/2006/main">
              <a:ext uri="{FF2B5EF4-FFF2-40B4-BE49-F238E27FC236}">
                <a16:creationId xmlns:a16="http://schemas.microsoft.com/office/drawing/2014/main" id="{1A615B3F-6A6E-4EEA-8995-760AEF571BFE}"/>
              </a:ext>
            </a:extLst>
          </p:cNvPr>
          <p:cNvSpPr>
            <a:spLocks xmlns:a="http://schemas.openxmlformats.org/drawingml/2006/main" noGrp="1"/>
          </p:cNvSpPr>
          <p:nvPr/>
        </p:nvSpPr>
        <p:spPr>
          <a:xfrm xmlns:a="http://schemas.openxmlformats.org/drawingml/2006/main">
            <a:off x="5667375" y="5350669"/>
            <a:ext cx="38100" cy="3238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DCD7F6D-6C1D-431B-8799-B70103FAC48E}"/>
              </a:ext>
            </a:extLst>
          </p:cNvPr>
          <p:cNvSpPr>
            <a:spLocks xmlns:a="http://schemas.openxmlformats.org/drawingml/2006/main" noGrp="1"/>
          </p:cNvSpPr>
          <p:nvPr/>
        </p:nvSpPr>
        <p:spPr>
          <a:xfrm xmlns:a="http://schemas.openxmlformats.org/drawingml/2006/main">
            <a:off x="5848350" y="5274469"/>
            <a:ext cx="727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165DAE"/>
                </a:solidFill>
                <a:latin typeface="Arial"/>
                <a:ea typeface="Arial"/>
                <a:cs typeface="Arial"/>
              </a:defRPr>
            </a:defPPr>
            <a:lvl1pPr algn="l">
              <a:defRPr sz="2025" b="1">
                <a:solidFill>
                  <a:srgbClr val="165DAE"/>
                </a:solidFill>
                <a:latin typeface="Arial"/>
                <a:ea typeface="Arial"/>
                <a:cs typeface="Arial"/>
              </a:defRPr>
            </a:lvl1pPr>
            <a:lvl2pPr algn="l">
              <a:defRPr sz="2025" b="1">
                <a:solidFill>
                  <a:srgbClr val="165DAE"/>
                </a:solidFill>
                <a:latin typeface="Arial"/>
                <a:ea typeface="Arial"/>
                <a:cs typeface="Arial"/>
              </a:defRPr>
            </a:lvl2pPr>
            <a:lvl3pPr algn="l">
              <a:defRPr sz="2025" b="1">
                <a:solidFill>
                  <a:srgbClr val="165DAE"/>
                </a:solidFill>
                <a:latin typeface="Arial"/>
                <a:ea typeface="Arial"/>
                <a:cs typeface="Arial"/>
              </a:defRPr>
            </a:lvl3pPr>
            <a:lvl4pPr algn="l">
              <a:defRPr sz="2025" b="1">
                <a:solidFill>
                  <a:srgbClr val="165DAE"/>
                </a:solidFill>
                <a:latin typeface="Arial"/>
                <a:ea typeface="Arial"/>
                <a:cs typeface="Arial"/>
              </a:defRPr>
            </a:lvl4pPr>
            <a:lvl5pPr algn="l">
              <a:defRPr sz="2025" b="1">
                <a:solidFill>
                  <a:srgbClr val="165DAE"/>
                </a:solidFill>
                <a:latin typeface="Arial"/>
                <a:ea typeface="Arial"/>
                <a:cs typeface="Arial"/>
              </a:defRPr>
            </a:lvl5pPr>
            <a:lvl6pPr algn="l">
              <a:defRPr sz="2025" b="1">
                <a:solidFill>
                  <a:srgbClr val="165DAE"/>
                </a:solidFill>
                <a:latin typeface="Arial"/>
                <a:ea typeface="Arial"/>
                <a:cs typeface="Arial"/>
              </a:defRPr>
            </a:lvl6pPr>
            <a:lvl7pPr algn="l">
              <a:defRPr sz="2025" b="1">
                <a:solidFill>
                  <a:srgbClr val="165DAE"/>
                </a:solidFill>
                <a:latin typeface="Arial"/>
                <a:ea typeface="Arial"/>
                <a:cs typeface="Arial"/>
              </a:defRPr>
            </a:lvl7pPr>
            <a:lvl8pPr algn="l">
              <a:defRPr sz="2025" b="1">
                <a:solidFill>
                  <a:srgbClr val="165DAE"/>
                </a:solidFill>
                <a:latin typeface="Arial"/>
                <a:ea typeface="Arial"/>
                <a:cs typeface="Arial"/>
              </a:defRPr>
            </a:lvl8pPr>
            <a:lvl9pPr algn="l">
              <a:defRPr sz="2025" b="1">
                <a:solidFill>
                  <a:srgbClr val="165DAE"/>
                </a:solidFill>
                <a:latin typeface="Arial"/>
                <a:ea typeface="Arial"/>
                <a:cs typeface="Arial"/>
              </a:defRPr>
            </a:lvl9pPr>
          </a:lstStyle>
          <a:p xmlns:a="http://schemas.openxmlformats.org/drawingml/2006/main">
            <a:pPr algn="l">
              <a:defRPr sz="2025" b="1">
                <a:solidFill>
                  <a:srgbClr val="165DAE"/>
                </a:solidFill>
              </a:defRPr>
            </a:pPr>
            <a:r>
              <a:rPr sz="2025" b="1">
                <a:solidFill>
                  <a:srgbClr val="165DAE"/>
                </a:solidFill>
                <a:latin typeface="Arial"/>
                <a:ea typeface="Arial"/>
                <a:cs typeface="Arial"/>
              </a:rPr>
              <a:t>For SAP</a:t>
            </a:r>
          </a:p>
        </p:txBody>
      </p:sp>
      <p:sp>
        <p:nvSpPr>
          <p:cNvPr id="29" name="">
            <a:extLst xmlns:a="http://schemas.openxmlformats.org/drawingml/2006/main">
              <a:ext uri="{FF2B5EF4-FFF2-40B4-BE49-F238E27FC236}">
                <a16:creationId xmlns:a16="http://schemas.microsoft.com/office/drawing/2014/main" id="{99066824-6108-47B2-8F0B-259BAD251ED8}"/>
              </a:ext>
            </a:extLst>
          </p:cNvPr>
          <p:cNvSpPr>
            <a:spLocks xmlns:a="http://schemas.openxmlformats.org/drawingml/2006/main" noGrp="1"/>
          </p:cNvSpPr>
          <p:nvPr/>
        </p:nvSpPr>
        <p:spPr>
          <a:xfrm xmlns:a="http://schemas.openxmlformats.org/drawingml/2006/main">
            <a:off x="5848350" y="5769769"/>
            <a:ext cx="7239000" cy="659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A focused extension of existing retail workflows and recurring software revenue.</a:t>
            </a:r>
          </a:p>
        </p:txBody>
      </p:sp>
    </p:spTree>
    <p:extLst>
      <p:ext uri="{BB962C8B-B14F-4D97-AF65-F5344CB8AC3E}">
        <p14:creationId xmlns:p14="http://schemas.microsoft.com/office/powerpoint/2010/main" val="1970473925"/>
      </p:ext>
    </p:extLst>
  </p:cSld>
</p:sld>
</file>

<file path=ppt/slides/slide22.xml><?xml version="1.0" encoding="utf-8"?>
<p:sld xmlns:p="http://schemas.openxmlformats.org/presentationml/2006/main">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2B41F3D-3F5F-44D7-877E-2AAA49A8A3D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72E8FD-680E-4356-82F5-DB73F581A217}"/>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CALL TO ACTION</a:t>
            </a:r>
          </a:p>
        </p:txBody>
      </p:sp>
      <p:sp>
        <p:nvSpPr>
          <p:cNvPr id="4" name="">
            <a:extLst xmlns:a="http://schemas.openxmlformats.org/drawingml/2006/main">
              <a:ext uri="{FF2B5EF4-FFF2-40B4-BE49-F238E27FC236}">
                <a16:creationId xmlns:a16="http://schemas.microsoft.com/office/drawing/2014/main" id="{02EC7C65-310A-4A6D-91FD-9DA5CB97A7EA}"/>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A pilot decision, with a clear scale gate</a:t>
            </a:r>
          </a:p>
        </p:txBody>
      </p:sp>
      <p:sp>
        <p:nvSpPr>
          <p:cNvPr id="5" name="">
            <a:extLst xmlns:a="http://schemas.openxmlformats.org/drawingml/2006/main">
              <a:ext uri="{FF2B5EF4-FFF2-40B4-BE49-F238E27FC236}">
                <a16:creationId xmlns:a16="http://schemas.microsoft.com/office/drawing/2014/main" id="{A07F59FD-F98C-4D1F-86E8-BF874AAA019A}"/>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Pilot budget included in year-one operating spend. Funding, customer participation and partners remain proposed.</a:t>
            </a:r>
          </a:p>
        </p:txBody>
      </p:sp>
      <p:sp>
        <p:nvSpPr>
          <p:cNvPr id="6" name="">
            <a:extLst xmlns:a="http://schemas.openxmlformats.org/drawingml/2006/main">
              <a:ext uri="{FF2B5EF4-FFF2-40B4-BE49-F238E27FC236}">
                <a16:creationId xmlns:a16="http://schemas.microsoft.com/office/drawing/2014/main" id="{76EA58F6-C8CC-46F2-A093-D1FFA7AB939A}"/>
              </a:ext>
            </a:extLst>
          </p:cNvPr>
          <p:cNvSpPr>
            <a:spLocks xmlns:a="http://schemas.openxmlformats.org/drawingml/2006/main" noGrp="1"/>
          </p:cNvSpPr>
          <p:nvPr/>
        </p:nvSpPr>
        <p:spPr>
          <a:xfrm xmlns:a="http://schemas.openxmlformats.org/drawingml/2006/main">
            <a:off x="18573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456C8D2-C6E6-423C-B139-788371A705C0}"/>
              </a:ext>
            </a:extLst>
          </p:cNvPr>
          <p:cNvSpPr>
            <a:spLocks xmlns:a="http://schemas.openxmlformats.org/drawingml/2006/main" noGrp="1"/>
          </p:cNvSpPr>
          <p:nvPr/>
        </p:nvSpPr>
        <p:spPr>
          <a:xfrm xmlns:a="http://schemas.openxmlformats.org/drawingml/2006/main">
            <a:off x="1895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Introduction</a:t>
            </a:r>
          </a:p>
        </p:txBody>
      </p:sp>
      <p:sp>
        <p:nvSpPr>
          <p:cNvPr id="8" name="">
            <a:extLst xmlns:a="http://schemas.openxmlformats.org/drawingml/2006/main">
              <a:ext uri="{FF2B5EF4-FFF2-40B4-BE49-F238E27FC236}">
                <a16:creationId xmlns:a16="http://schemas.microsoft.com/office/drawing/2014/main" id="{35464075-6D7B-4DEB-9B6A-7D0457DFE5A2}"/>
              </a:ext>
            </a:extLst>
          </p:cNvPr>
          <p:cNvSpPr>
            <a:spLocks xmlns:a="http://schemas.openxmlformats.org/drawingml/2006/main" noGrp="1"/>
          </p:cNvSpPr>
          <p:nvPr/>
        </p:nvSpPr>
        <p:spPr>
          <a:xfrm xmlns:a="http://schemas.openxmlformats.org/drawingml/2006/main">
            <a:off x="38576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E60F6E-5776-4F23-9429-1302AE193E98}"/>
              </a:ext>
            </a:extLst>
          </p:cNvPr>
          <p:cNvSpPr>
            <a:spLocks xmlns:a="http://schemas.openxmlformats.org/drawingml/2006/main" noGrp="1"/>
          </p:cNvSpPr>
          <p:nvPr/>
        </p:nvSpPr>
        <p:spPr>
          <a:xfrm xmlns:a="http://schemas.openxmlformats.org/drawingml/2006/main">
            <a:off x="38957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Product</a:t>
            </a:r>
          </a:p>
        </p:txBody>
      </p:sp>
      <p:sp>
        <p:nvSpPr>
          <p:cNvPr id="10" name="">
            <a:extLst xmlns:a="http://schemas.openxmlformats.org/drawingml/2006/main">
              <a:ext uri="{FF2B5EF4-FFF2-40B4-BE49-F238E27FC236}">
                <a16:creationId xmlns:a16="http://schemas.microsoft.com/office/drawing/2014/main" id="{3DD81882-ABED-4514-AA01-67D112C37AE7}"/>
              </a:ext>
            </a:extLst>
          </p:cNvPr>
          <p:cNvSpPr>
            <a:spLocks xmlns:a="http://schemas.openxmlformats.org/drawingml/2006/main" noGrp="1"/>
          </p:cNvSpPr>
          <p:nvPr/>
        </p:nvSpPr>
        <p:spPr>
          <a:xfrm xmlns:a="http://schemas.openxmlformats.org/drawingml/2006/main">
            <a:off x="585787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3395A0-D878-4494-9E8C-FDC40AD2CB9D}"/>
              </a:ext>
            </a:extLst>
          </p:cNvPr>
          <p:cNvSpPr>
            <a:spLocks xmlns:a="http://schemas.openxmlformats.org/drawingml/2006/main" noGrp="1"/>
          </p:cNvSpPr>
          <p:nvPr/>
        </p:nvSpPr>
        <p:spPr>
          <a:xfrm xmlns:a="http://schemas.openxmlformats.org/drawingml/2006/main">
            <a:off x="58959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Analysis</a:t>
            </a:r>
          </a:p>
        </p:txBody>
      </p:sp>
      <p:sp>
        <p:nvSpPr>
          <p:cNvPr id="12" name="">
            <a:extLst xmlns:a="http://schemas.openxmlformats.org/drawingml/2006/main">
              <a:ext uri="{FF2B5EF4-FFF2-40B4-BE49-F238E27FC236}">
                <a16:creationId xmlns:a16="http://schemas.microsoft.com/office/drawing/2014/main" id="{7CF80D47-9BE8-4A10-8C08-95FAC0CCA9A5}"/>
              </a:ext>
            </a:extLst>
          </p:cNvPr>
          <p:cNvSpPr>
            <a:spLocks xmlns:a="http://schemas.openxmlformats.org/drawingml/2006/main" noGrp="1"/>
          </p:cNvSpPr>
          <p:nvPr/>
        </p:nvSpPr>
        <p:spPr>
          <a:xfrm xmlns:a="http://schemas.openxmlformats.org/drawingml/2006/main">
            <a:off x="7858125" y="7258050"/>
            <a:ext cx="1905000" cy="285750"/>
          </a:xfrm>
          <a:prstGeom xmlns:a="http://schemas.openxmlformats.org/drawingml/2006/main" prst="rect">
            <a:avLst/>
          </a:prstGeom>
          <a:solidFill xmlns:a="http://schemas.openxmlformats.org/drawingml/2006/main">
            <a:srgbClr val="EDF4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4DC4AD-BFF5-4875-9B35-5CA2C3CE063E}"/>
              </a:ext>
            </a:extLst>
          </p:cNvPr>
          <p:cNvSpPr>
            <a:spLocks xmlns:a="http://schemas.openxmlformats.org/drawingml/2006/main" noGrp="1"/>
          </p:cNvSpPr>
          <p:nvPr/>
        </p:nvSpPr>
        <p:spPr>
          <a:xfrm xmlns:a="http://schemas.openxmlformats.org/drawingml/2006/main">
            <a:off x="789622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52047"/>
                </a:solidFill>
                <a:latin typeface="Arial"/>
                <a:ea typeface="Arial"/>
                <a:cs typeface="Arial"/>
              </a:defRPr>
            </a:defPPr>
            <a:lvl1pPr algn="ctr">
              <a:defRPr sz="1350" b="1">
                <a:solidFill>
                  <a:srgbClr val="152047"/>
                </a:solidFill>
                <a:latin typeface="Arial"/>
                <a:ea typeface="Arial"/>
                <a:cs typeface="Arial"/>
              </a:defRPr>
            </a:lvl1pPr>
            <a:lvl2pPr algn="ctr">
              <a:defRPr sz="1350" b="1">
                <a:solidFill>
                  <a:srgbClr val="152047"/>
                </a:solidFill>
                <a:latin typeface="Arial"/>
                <a:ea typeface="Arial"/>
                <a:cs typeface="Arial"/>
              </a:defRPr>
            </a:lvl2pPr>
            <a:lvl3pPr algn="ctr">
              <a:defRPr sz="1350" b="1">
                <a:solidFill>
                  <a:srgbClr val="152047"/>
                </a:solidFill>
                <a:latin typeface="Arial"/>
                <a:ea typeface="Arial"/>
                <a:cs typeface="Arial"/>
              </a:defRPr>
            </a:lvl3pPr>
            <a:lvl4pPr algn="ctr">
              <a:defRPr sz="1350" b="1">
                <a:solidFill>
                  <a:srgbClr val="152047"/>
                </a:solidFill>
                <a:latin typeface="Arial"/>
                <a:ea typeface="Arial"/>
                <a:cs typeface="Arial"/>
              </a:defRPr>
            </a:lvl4pPr>
            <a:lvl5pPr algn="ctr">
              <a:defRPr sz="1350" b="1">
                <a:solidFill>
                  <a:srgbClr val="152047"/>
                </a:solidFill>
                <a:latin typeface="Arial"/>
                <a:ea typeface="Arial"/>
                <a:cs typeface="Arial"/>
              </a:defRPr>
            </a:lvl5pPr>
            <a:lvl6pPr algn="ctr">
              <a:defRPr sz="1350" b="1">
                <a:solidFill>
                  <a:srgbClr val="152047"/>
                </a:solidFill>
                <a:latin typeface="Arial"/>
                <a:ea typeface="Arial"/>
                <a:cs typeface="Arial"/>
              </a:defRPr>
            </a:lvl6pPr>
            <a:lvl7pPr algn="ctr">
              <a:defRPr sz="1350" b="1">
                <a:solidFill>
                  <a:srgbClr val="152047"/>
                </a:solidFill>
                <a:latin typeface="Arial"/>
                <a:ea typeface="Arial"/>
                <a:cs typeface="Arial"/>
              </a:defRPr>
            </a:lvl7pPr>
            <a:lvl8pPr algn="ctr">
              <a:defRPr sz="1350" b="1">
                <a:solidFill>
                  <a:srgbClr val="152047"/>
                </a:solidFill>
                <a:latin typeface="Arial"/>
                <a:ea typeface="Arial"/>
                <a:cs typeface="Arial"/>
              </a:defRPr>
            </a:lvl8pPr>
            <a:lvl9pPr algn="ctr">
              <a:defRPr sz="1350" b="1">
                <a:solidFill>
                  <a:srgbClr val="152047"/>
                </a:solidFill>
                <a:latin typeface="Arial"/>
                <a:ea typeface="Arial"/>
                <a:cs typeface="Arial"/>
              </a:defRPr>
            </a:lvl9pPr>
          </a:lstStyle>
          <a:p xmlns:a="http://schemas.openxmlformats.org/drawingml/2006/main">
            <a:pPr algn="ctr">
              <a:defRPr sz="1350" b="1">
                <a:solidFill>
                  <a:srgbClr val="152047"/>
                </a:solidFill>
              </a:defRPr>
            </a:pPr>
            <a:r>
              <a:rPr sz="1350" b="1">
                <a:solidFill>
                  <a:srgbClr val="152047"/>
                </a:solidFill>
                <a:latin typeface="Arial"/>
                <a:ea typeface="Arial"/>
                <a:cs typeface="Arial"/>
              </a:rPr>
              <a:t>Implementation</a:t>
            </a:r>
          </a:p>
        </p:txBody>
      </p:sp>
      <p:sp>
        <p:nvSpPr>
          <p:cNvPr id="14" name="">
            <a:extLst xmlns:a="http://schemas.openxmlformats.org/drawingml/2006/main">
              <a:ext uri="{FF2B5EF4-FFF2-40B4-BE49-F238E27FC236}">
                <a16:creationId xmlns:a16="http://schemas.microsoft.com/office/drawing/2014/main" id="{2831DAFC-7FC3-41D2-8B41-543F143D0BBD}"/>
              </a:ext>
            </a:extLst>
          </p:cNvPr>
          <p:cNvSpPr>
            <a:spLocks xmlns:a="http://schemas.openxmlformats.org/drawingml/2006/main" noGrp="1"/>
          </p:cNvSpPr>
          <p:nvPr/>
        </p:nvSpPr>
        <p:spPr>
          <a:xfrm xmlns:a="http://schemas.openxmlformats.org/drawingml/2006/main">
            <a:off x="9858375" y="7258050"/>
            <a:ext cx="1905000" cy="2857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75E936-B590-4AC2-85B5-39168BF29926}"/>
              </a:ext>
            </a:extLst>
          </p:cNvPr>
          <p:cNvSpPr>
            <a:spLocks xmlns:a="http://schemas.openxmlformats.org/drawingml/2006/main" noGrp="1"/>
          </p:cNvSpPr>
          <p:nvPr/>
        </p:nvSpPr>
        <p:spPr>
          <a:xfrm xmlns:a="http://schemas.openxmlformats.org/drawingml/2006/main">
            <a:off x="9896475" y="7286625"/>
            <a:ext cx="1828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FFFFFF"/>
                </a:solidFill>
                <a:latin typeface="Arial"/>
                <a:ea typeface="Arial"/>
                <a:cs typeface="Arial"/>
              </a:defRPr>
            </a:defPPr>
            <a:lvl1pPr algn="ctr">
              <a:defRPr sz="1350" b="1">
                <a:solidFill>
                  <a:srgbClr val="FFFFFF"/>
                </a:solidFill>
                <a:latin typeface="Arial"/>
                <a:ea typeface="Arial"/>
                <a:cs typeface="Arial"/>
              </a:defRPr>
            </a:lvl1pPr>
            <a:lvl2pPr algn="ctr">
              <a:defRPr sz="1350" b="1">
                <a:solidFill>
                  <a:srgbClr val="FFFFFF"/>
                </a:solidFill>
                <a:latin typeface="Arial"/>
                <a:ea typeface="Arial"/>
                <a:cs typeface="Arial"/>
              </a:defRPr>
            </a:lvl2pPr>
            <a:lvl3pPr algn="ctr">
              <a:defRPr sz="1350" b="1">
                <a:solidFill>
                  <a:srgbClr val="FFFFFF"/>
                </a:solidFill>
                <a:latin typeface="Arial"/>
                <a:ea typeface="Arial"/>
                <a:cs typeface="Arial"/>
              </a:defRPr>
            </a:lvl3pPr>
            <a:lvl4pPr algn="ctr">
              <a:defRPr sz="1350" b="1">
                <a:solidFill>
                  <a:srgbClr val="FFFFFF"/>
                </a:solidFill>
                <a:latin typeface="Arial"/>
                <a:ea typeface="Arial"/>
                <a:cs typeface="Arial"/>
              </a:defRPr>
            </a:lvl4pPr>
            <a:lvl5pPr algn="ctr">
              <a:defRPr sz="1350" b="1">
                <a:solidFill>
                  <a:srgbClr val="FFFFFF"/>
                </a:solidFill>
                <a:latin typeface="Arial"/>
                <a:ea typeface="Arial"/>
                <a:cs typeface="Arial"/>
              </a:defRPr>
            </a:lvl5pPr>
            <a:lvl6pPr algn="ctr">
              <a:defRPr sz="1350" b="1">
                <a:solidFill>
                  <a:srgbClr val="FFFFFF"/>
                </a:solidFill>
                <a:latin typeface="Arial"/>
                <a:ea typeface="Arial"/>
                <a:cs typeface="Arial"/>
              </a:defRPr>
            </a:lvl6pPr>
            <a:lvl7pPr algn="ctr">
              <a:defRPr sz="1350" b="1">
                <a:solidFill>
                  <a:srgbClr val="FFFFFF"/>
                </a:solidFill>
                <a:latin typeface="Arial"/>
                <a:ea typeface="Arial"/>
                <a:cs typeface="Arial"/>
              </a:defRPr>
            </a:lvl7pPr>
            <a:lvl8pPr algn="ctr">
              <a:defRPr sz="1350" b="1">
                <a:solidFill>
                  <a:srgbClr val="FFFFFF"/>
                </a:solidFill>
                <a:latin typeface="Arial"/>
                <a:ea typeface="Arial"/>
                <a:cs typeface="Arial"/>
              </a:defRPr>
            </a:lvl8pPr>
            <a:lvl9pPr algn="ctr">
              <a:defRPr sz="1350" b="1">
                <a:solidFill>
                  <a:srgbClr val="FFFFFF"/>
                </a:solidFill>
                <a:latin typeface="Arial"/>
                <a:ea typeface="Arial"/>
                <a:cs typeface="Arial"/>
              </a:defRPr>
            </a:lvl9pPr>
          </a:lstStyle>
          <a:p xmlns:a="http://schemas.openxmlformats.org/drawingml/2006/main">
            <a:pPr algn="ctr">
              <a:defRPr sz="1350" b="1">
                <a:solidFill>
                  <a:srgbClr val="FFFFFF"/>
                </a:solidFill>
              </a:defRPr>
            </a:pPr>
            <a:r>
              <a:rPr sz="1350" b="1">
                <a:solidFill>
                  <a:srgbClr val="FFFFFF"/>
                </a:solidFill>
                <a:latin typeface="Arial"/>
                <a:ea typeface="Arial"/>
                <a:cs typeface="Arial"/>
              </a:rPr>
              <a:t>Conclusion</a:t>
            </a:r>
          </a:p>
        </p:txBody>
      </p:sp>
      <p:sp>
        <p:nvSpPr>
          <p:cNvPr id="16" name="">
            <a:extLst xmlns:a="http://schemas.openxmlformats.org/drawingml/2006/main">
              <a:ext uri="{FF2B5EF4-FFF2-40B4-BE49-F238E27FC236}">
                <a16:creationId xmlns:a16="http://schemas.microsoft.com/office/drawing/2014/main" id="{38C32759-DF06-4392-8170-3345BCE976A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22</a:t>
            </a:r>
          </a:p>
        </p:txBody>
      </p:sp>
      <p:pic>
        <p:nvPicPr>
          <p:cNvPr id="17" name="">
            <a:extLst xmlns:a="http://schemas.openxmlformats.org/drawingml/2006/main">
              <a:ext uri="{FF2B5EF4-FFF2-40B4-BE49-F238E27FC236}">
                <a16:creationId xmlns:a16="http://schemas.microsoft.com/office/drawing/2014/main" id="{C3B08D0C-71C9-49EE-BB21-7173A20482B2}"/>
              </a:ext>
            </a:extLst>
          </p:cNvPr>
          <p:cNvPicPr>
            <a:picLocks xmlns:a="http://schemas.openxmlformats.org/drawingml/2006/main" noChangeAspect="1"/>
          </p:cNvPicPr>
          <p:nvPr/>
        </p:nvPicPr>
        <p:blipFill>
          <a:blip xmlns:r="http://schemas.openxmlformats.org/officeDocument/2006/relationships" xmlns:a="http://schemas.openxmlformats.org/drawingml/2006/main" r:embed="R4483309770de43ad"/>
          <a:srcRect xmlns:a="http://schemas.openxmlformats.org/drawingml/2006/main" l="14799" t="0" r="14799" b="0"/>
          <a:stretch xmlns:a="http://schemas.openxmlformats.org/drawingml/2006/main">
            <a:fillRect l="0" t="0" r="0" b="0"/>
          </a:stretch>
        </p:blipFill>
        <p:spPr>
          <a:xfrm xmlns:a="http://schemas.openxmlformats.org/drawingml/2006/main">
            <a:off x="6943725" y="1476375"/>
            <a:ext cx="6315075" cy="5048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B2F696CF-ADFF-41CE-B1A7-7DBBD1CAE61F}"/>
              </a:ext>
            </a:extLst>
          </p:cNvPr>
          <p:cNvSpPr>
            <a:spLocks xmlns:a="http://schemas.openxmlformats.org/drawingml/2006/main" noGrp="1"/>
          </p:cNvSpPr>
          <p:nvPr/>
        </p:nvSpPr>
        <p:spPr>
          <a:xfrm xmlns:a="http://schemas.openxmlformats.org/drawingml/2006/main">
            <a:off x="523875" y="1628775"/>
            <a:ext cx="61055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5625" b="1">
                <a:solidFill>
                  <a:srgbClr val="165DAE"/>
                </a:solidFill>
                <a:latin typeface="Arial"/>
                <a:ea typeface="Arial"/>
                <a:cs typeface="Arial"/>
              </a:defRPr>
            </a:defPPr>
            <a:lvl1pPr algn="l">
              <a:defRPr sz="5625" b="1">
                <a:solidFill>
                  <a:srgbClr val="165DAE"/>
                </a:solidFill>
                <a:latin typeface="Arial"/>
                <a:ea typeface="Arial"/>
                <a:cs typeface="Arial"/>
              </a:defRPr>
            </a:lvl1pPr>
            <a:lvl2pPr algn="l">
              <a:defRPr sz="5625" b="1">
                <a:solidFill>
                  <a:srgbClr val="165DAE"/>
                </a:solidFill>
                <a:latin typeface="Arial"/>
                <a:ea typeface="Arial"/>
                <a:cs typeface="Arial"/>
              </a:defRPr>
            </a:lvl2pPr>
            <a:lvl3pPr algn="l">
              <a:defRPr sz="5625" b="1">
                <a:solidFill>
                  <a:srgbClr val="165DAE"/>
                </a:solidFill>
                <a:latin typeface="Arial"/>
                <a:ea typeface="Arial"/>
                <a:cs typeface="Arial"/>
              </a:defRPr>
            </a:lvl3pPr>
            <a:lvl4pPr algn="l">
              <a:defRPr sz="5625" b="1">
                <a:solidFill>
                  <a:srgbClr val="165DAE"/>
                </a:solidFill>
                <a:latin typeface="Arial"/>
                <a:ea typeface="Arial"/>
                <a:cs typeface="Arial"/>
              </a:defRPr>
            </a:lvl4pPr>
            <a:lvl5pPr algn="l">
              <a:defRPr sz="5625" b="1">
                <a:solidFill>
                  <a:srgbClr val="165DAE"/>
                </a:solidFill>
                <a:latin typeface="Arial"/>
                <a:ea typeface="Arial"/>
                <a:cs typeface="Arial"/>
              </a:defRPr>
            </a:lvl5pPr>
            <a:lvl6pPr algn="l">
              <a:defRPr sz="5625" b="1">
                <a:solidFill>
                  <a:srgbClr val="165DAE"/>
                </a:solidFill>
                <a:latin typeface="Arial"/>
                <a:ea typeface="Arial"/>
                <a:cs typeface="Arial"/>
              </a:defRPr>
            </a:lvl6pPr>
            <a:lvl7pPr algn="l">
              <a:defRPr sz="5625" b="1">
                <a:solidFill>
                  <a:srgbClr val="165DAE"/>
                </a:solidFill>
                <a:latin typeface="Arial"/>
                <a:ea typeface="Arial"/>
                <a:cs typeface="Arial"/>
              </a:defRPr>
            </a:lvl7pPr>
            <a:lvl8pPr algn="l">
              <a:defRPr sz="5625" b="1">
                <a:solidFill>
                  <a:srgbClr val="165DAE"/>
                </a:solidFill>
                <a:latin typeface="Arial"/>
                <a:ea typeface="Arial"/>
                <a:cs typeface="Arial"/>
              </a:defRPr>
            </a:lvl8pPr>
            <a:lvl9pPr algn="l">
              <a:defRPr sz="5625" b="1">
                <a:solidFill>
                  <a:srgbClr val="165DAE"/>
                </a:solidFill>
                <a:latin typeface="Arial"/>
                <a:ea typeface="Arial"/>
                <a:cs typeface="Arial"/>
              </a:defRPr>
            </a:lvl9pPr>
          </a:lstStyle>
          <a:p xmlns:a="http://schemas.openxmlformats.org/drawingml/2006/main">
            <a:pPr algn="l">
              <a:defRPr sz="5625" b="1">
                <a:solidFill>
                  <a:srgbClr val="165DAE"/>
                </a:solidFill>
              </a:defRPr>
            </a:pPr>
            <a:r>
              <a:rPr sz="5625" b="1">
                <a:solidFill>
                  <a:srgbClr val="165DAE"/>
                </a:solidFill>
                <a:latin typeface="Arial"/>
                <a:ea typeface="Arial"/>
                <a:cs typeface="Arial"/>
              </a:rPr>
              <a:t>CAD 250k</a:t>
            </a:r>
          </a:p>
        </p:txBody>
      </p:sp>
      <p:sp>
        <p:nvSpPr>
          <p:cNvPr id="19" name="">
            <a:extLst xmlns:a="http://schemas.openxmlformats.org/drawingml/2006/main">
              <a:ext uri="{FF2B5EF4-FFF2-40B4-BE49-F238E27FC236}">
                <a16:creationId xmlns:a16="http://schemas.microsoft.com/office/drawing/2014/main" id="{DC8D5726-F82D-4E3C-B0DA-8D6015CAC04B}"/>
              </a:ext>
            </a:extLst>
          </p:cNvPr>
          <p:cNvSpPr>
            <a:spLocks xmlns:a="http://schemas.openxmlformats.org/drawingml/2006/main" noGrp="1"/>
          </p:cNvSpPr>
          <p:nvPr/>
        </p:nvSpPr>
        <p:spPr>
          <a:xfrm xmlns:a="http://schemas.openxmlformats.org/drawingml/2006/main">
            <a:off x="542925" y="2914650"/>
            <a:ext cx="59721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325" b="1">
                <a:solidFill>
                  <a:srgbClr val="152047"/>
                </a:solidFill>
                <a:latin typeface="Arial"/>
                <a:ea typeface="Arial"/>
                <a:cs typeface="Arial"/>
              </a:defRPr>
            </a:defPPr>
            <a:lvl1pPr algn="l">
              <a:defRPr sz="2325" b="1">
                <a:solidFill>
                  <a:srgbClr val="152047"/>
                </a:solidFill>
                <a:latin typeface="Arial"/>
                <a:ea typeface="Arial"/>
                <a:cs typeface="Arial"/>
              </a:defRPr>
            </a:lvl1pPr>
            <a:lvl2pPr algn="l">
              <a:defRPr sz="2325" b="1">
                <a:solidFill>
                  <a:srgbClr val="152047"/>
                </a:solidFill>
                <a:latin typeface="Arial"/>
                <a:ea typeface="Arial"/>
                <a:cs typeface="Arial"/>
              </a:defRPr>
            </a:lvl2pPr>
            <a:lvl3pPr algn="l">
              <a:defRPr sz="2325" b="1">
                <a:solidFill>
                  <a:srgbClr val="152047"/>
                </a:solidFill>
                <a:latin typeface="Arial"/>
                <a:ea typeface="Arial"/>
                <a:cs typeface="Arial"/>
              </a:defRPr>
            </a:lvl3pPr>
            <a:lvl4pPr algn="l">
              <a:defRPr sz="2325" b="1">
                <a:solidFill>
                  <a:srgbClr val="152047"/>
                </a:solidFill>
                <a:latin typeface="Arial"/>
                <a:ea typeface="Arial"/>
                <a:cs typeface="Arial"/>
              </a:defRPr>
            </a:lvl4pPr>
            <a:lvl5pPr algn="l">
              <a:defRPr sz="2325" b="1">
                <a:solidFill>
                  <a:srgbClr val="152047"/>
                </a:solidFill>
                <a:latin typeface="Arial"/>
                <a:ea typeface="Arial"/>
                <a:cs typeface="Arial"/>
              </a:defRPr>
            </a:lvl5pPr>
            <a:lvl6pPr algn="l">
              <a:defRPr sz="2325" b="1">
                <a:solidFill>
                  <a:srgbClr val="152047"/>
                </a:solidFill>
                <a:latin typeface="Arial"/>
                <a:ea typeface="Arial"/>
                <a:cs typeface="Arial"/>
              </a:defRPr>
            </a:lvl6pPr>
            <a:lvl7pPr algn="l">
              <a:defRPr sz="2325" b="1">
                <a:solidFill>
                  <a:srgbClr val="152047"/>
                </a:solidFill>
                <a:latin typeface="Arial"/>
                <a:ea typeface="Arial"/>
                <a:cs typeface="Arial"/>
              </a:defRPr>
            </a:lvl7pPr>
            <a:lvl8pPr algn="l">
              <a:defRPr sz="2325" b="1">
                <a:solidFill>
                  <a:srgbClr val="152047"/>
                </a:solidFill>
                <a:latin typeface="Arial"/>
                <a:ea typeface="Arial"/>
                <a:cs typeface="Arial"/>
              </a:defRPr>
            </a:lvl8pPr>
            <a:lvl9pPr algn="l">
              <a:defRPr sz="2325" b="1">
                <a:solidFill>
                  <a:srgbClr val="152047"/>
                </a:solidFill>
                <a:latin typeface="Arial"/>
                <a:ea typeface="Arial"/>
                <a:cs typeface="Arial"/>
              </a:defRPr>
            </a:lvl9pPr>
          </a:lstStyle>
          <a:p xmlns:a="http://schemas.openxmlformats.org/drawingml/2006/main">
            <a:pPr algn="l">
              <a:defRPr sz="2325" b="1">
                <a:solidFill>
                  <a:srgbClr val="152047"/>
                </a:solidFill>
              </a:defRPr>
            </a:pPr>
            <a:r>
              <a:rPr sz="2325" b="1">
                <a:solidFill>
                  <a:srgbClr val="152047"/>
                </a:solidFill>
                <a:latin typeface="Arial"/>
                <a:ea typeface="Arial"/>
                <a:cs typeface="Arial"/>
              </a:rPr>
              <a:t>SAP-funded pilot proposal</a:t>
            </a:r>
          </a:p>
          <a:p xmlns:a="http://schemas.openxmlformats.org/drawingml/2006/main">
            <a:pPr algn="l">
              <a:defRPr sz="2325" b="1">
                <a:solidFill>
                  <a:srgbClr val="152047"/>
                </a:solidFill>
              </a:defRPr>
            </a:pPr>
            <a:r>
              <a:rPr sz="2325" b="1">
                <a:solidFill>
                  <a:srgbClr val="152047"/>
                </a:solidFill>
                <a:latin typeface="Arial"/>
                <a:ea typeface="Arial"/>
                <a:cs typeface="Arial"/>
              </a:rPr>
              <a:t>12 weeks · 10 stores · one apparel design partner</a:t>
            </a:r>
          </a:p>
        </p:txBody>
      </p:sp>
      <p:sp>
        <p:nvSpPr>
          <p:cNvPr id="20" name="">
            <a:extLst xmlns:a="http://schemas.openxmlformats.org/drawingml/2006/main">
              <a:ext uri="{FF2B5EF4-FFF2-40B4-BE49-F238E27FC236}">
                <a16:creationId xmlns:a16="http://schemas.microsoft.com/office/drawing/2014/main" id="{26FB6DC4-52A2-4870-80CE-04E252349FED}"/>
              </a:ext>
            </a:extLst>
          </p:cNvPr>
          <p:cNvSpPr>
            <a:spLocks xmlns:a="http://schemas.openxmlformats.org/drawingml/2006/main" noGrp="1"/>
          </p:cNvSpPr>
          <p:nvPr/>
        </p:nvSpPr>
        <p:spPr>
          <a:xfrm xmlns:a="http://schemas.openxmlformats.org/drawingml/2006/main">
            <a:off x="552450" y="4410075"/>
            <a:ext cx="591502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0">
                <a:solidFill>
                  <a:srgbClr val="152047"/>
                </a:solidFill>
                <a:latin typeface="Arial"/>
                <a:ea typeface="Arial"/>
                <a:cs typeface="Arial"/>
              </a:defRPr>
            </a:defPPr>
            <a:lvl1pPr algn="l">
              <a:defRPr sz="2175" b="0">
                <a:solidFill>
                  <a:srgbClr val="152047"/>
                </a:solidFill>
                <a:latin typeface="Arial"/>
                <a:ea typeface="Arial"/>
                <a:cs typeface="Arial"/>
              </a:defRPr>
            </a:lvl1pPr>
            <a:lvl2pPr algn="l">
              <a:defRPr sz="2175" b="0">
                <a:solidFill>
                  <a:srgbClr val="152047"/>
                </a:solidFill>
                <a:latin typeface="Arial"/>
                <a:ea typeface="Arial"/>
                <a:cs typeface="Arial"/>
              </a:defRPr>
            </a:lvl2pPr>
            <a:lvl3pPr algn="l">
              <a:defRPr sz="2175" b="0">
                <a:solidFill>
                  <a:srgbClr val="152047"/>
                </a:solidFill>
                <a:latin typeface="Arial"/>
                <a:ea typeface="Arial"/>
                <a:cs typeface="Arial"/>
              </a:defRPr>
            </a:lvl3pPr>
            <a:lvl4pPr algn="l">
              <a:defRPr sz="2175" b="0">
                <a:solidFill>
                  <a:srgbClr val="152047"/>
                </a:solidFill>
                <a:latin typeface="Arial"/>
                <a:ea typeface="Arial"/>
                <a:cs typeface="Arial"/>
              </a:defRPr>
            </a:lvl4pPr>
            <a:lvl5pPr algn="l">
              <a:defRPr sz="2175" b="0">
                <a:solidFill>
                  <a:srgbClr val="152047"/>
                </a:solidFill>
                <a:latin typeface="Arial"/>
                <a:ea typeface="Arial"/>
                <a:cs typeface="Arial"/>
              </a:defRPr>
            </a:lvl5pPr>
            <a:lvl6pPr algn="l">
              <a:defRPr sz="2175" b="0">
                <a:solidFill>
                  <a:srgbClr val="152047"/>
                </a:solidFill>
                <a:latin typeface="Arial"/>
                <a:ea typeface="Arial"/>
                <a:cs typeface="Arial"/>
              </a:defRPr>
            </a:lvl6pPr>
            <a:lvl7pPr algn="l">
              <a:defRPr sz="2175" b="0">
                <a:solidFill>
                  <a:srgbClr val="152047"/>
                </a:solidFill>
                <a:latin typeface="Arial"/>
                <a:ea typeface="Arial"/>
                <a:cs typeface="Arial"/>
              </a:defRPr>
            </a:lvl7pPr>
            <a:lvl8pPr algn="l">
              <a:defRPr sz="2175" b="0">
                <a:solidFill>
                  <a:srgbClr val="152047"/>
                </a:solidFill>
                <a:latin typeface="Arial"/>
                <a:ea typeface="Arial"/>
                <a:cs typeface="Arial"/>
              </a:defRPr>
            </a:lvl8pPr>
            <a:lvl9pPr algn="l">
              <a:defRPr sz="2175" b="0">
                <a:solidFill>
                  <a:srgbClr val="152047"/>
                </a:solidFill>
                <a:latin typeface="Arial"/>
                <a:ea typeface="Arial"/>
                <a:cs typeface="Arial"/>
              </a:defRPr>
            </a:lvl9pPr>
          </a:lstStyle>
          <a:p xmlns:a="http://schemas.openxmlformats.org/drawingml/2006/main">
            <a:pPr algn="l">
              <a:defRPr sz="2175" b="0">
                <a:solidFill>
                  <a:srgbClr val="152047"/>
                </a:solidFill>
              </a:defRPr>
            </a:pPr>
            <a:r>
              <a:rPr sz="2175" b="0">
                <a:solidFill>
                  <a:srgbClr val="152047"/>
                </a:solidFill>
                <a:latin typeface="Arial"/>
                <a:ea typeface="Arial"/>
                <a:cs typeface="Arial"/>
              </a:rPr>
              <a:t>Approve a capped pilot, name the retail sponsor and agree access to a sandbox.</a:t>
            </a:r>
          </a:p>
          <a:p xmlns:a="http://schemas.openxmlformats.org/drawingml/2006/main">
            <a:r>
              <a:t/>
            </a:r>
          </a:p>
          <a:p xmlns:a="http://schemas.openxmlformats.org/drawingml/2006/main">
            <a:pPr algn="l">
              <a:defRPr sz="2175" b="0">
                <a:solidFill>
                  <a:srgbClr val="152047"/>
                </a:solidFill>
              </a:defRPr>
            </a:pPr>
            <a:r>
              <a:rPr sz="2175" b="0">
                <a:solidFill>
                  <a:srgbClr val="152047"/>
                </a:solidFill>
                <a:latin typeface="Arial"/>
                <a:ea typeface="Arial"/>
                <a:cs typeface="Arial"/>
              </a:rPr>
              <a:t>Scale when response time improves, stock reconciles and cash payback meets the 24-month gate.</a:t>
            </a:r>
          </a:p>
        </p:txBody>
      </p:sp>
    </p:spTree>
    <p:extLst>
      <p:ext uri="{BB962C8B-B14F-4D97-AF65-F5344CB8AC3E}">
        <p14:creationId xmlns:p14="http://schemas.microsoft.com/office/powerpoint/2010/main" val="58223122"/>
      </p:ext>
    </p:extLst>
  </p:cSld>
</p:sld>
</file>

<file path=ppt/slides/slide23.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C91C32-9622-4EA0-8032-EB5D87255725}"/>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9336CF-8CFF-40A4-848D-4678AECC4AD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01</a:t>
            </a:r>
          </a:p>
        </p:txBody>
      </p:sp>
      <p:sp>
        <p:nvSpPr>
          <p:cNvPr id="4" name="">
            <a:extLst xmlns:a="http://schemas.openxmlformats.org/drawingml/2006/main">
              <a:ext uri="{FF2B5EF4-FFF2-40B4-BE49-F238E27FC236}">
                <a16:creationId xmlns:a16="http://schemas.microsoft.com/office/drawing/2014/main" id="{764D2CA0-3554-4AEF-8245-04B30C90CC07}"/>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Financial assumptions and boundaries</a:t>
            </a:r>
          </a:p>
        </p:txBody>
      </p:sp>
      <p:sp>
        <p:nvSpPr>
          <p:cNvPr id="5" name="">
            <a:extLst xmlns:a="http://schemas.openxmlformats.org/drawingml/2006/main">
              <a:ext uri="{FF2B5EF4-FFF2-40B4-BE49-F238E27FC236}">
                <a16:creationId xmlns:a16="http://schemas.microsoft.com/office/drawing/2014/main" id="{64FC655E-30FF-4DC0-860F-01EC044E81E7}"/>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38A56905-0DAF-4B39-9638-2347CF27345F}"/>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1A660112-0D37-47AD-8BCD-BF80C09275F5}"/>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5D27350-9885-4750-AAC9-88A3BA19357E}"/>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23</a:t>
            </a:r>
          </a:p>
        </p:txBody>
      </p:sp>
      <p:graphicFrame>
        <p:nvGraphicFramePr>
          <p:cNvPr id="9" name="">
            <a:extLst xmlns:a="http://schemas.openxmlformats.org/drawingml/2006/main">
              <a:ext uri="{FF2B5EF4-FFF2-40B4-BE49-F238E27FC236}">
                <a16:creationId xmlns:a16="http://schemas.microsoft.com/office/drawing/2014/main" id="{BD9406E7-95D4-4A9C-905F-49258D5C43BF}"/>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Input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Base assumption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Validation required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Currency / reference customer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100 stores; CAD 100M annual sales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Retailer finance data</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Product price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50k platform + CAD 3k/store/year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Willingness-to-pay and procurement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RFID footprint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 of 100 stores; CAD 8k/store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Vendor quote; already tagged inventory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Onboarding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75k total; CAD 15k retained by 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Partner scope and signed contract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Retailer uplift /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 sales; 45% incremental contribution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Matched-store test; net of returns and variable costs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Freed time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 hours/store/week; CAD 35/hour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Time study and redeployment plan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427557598"/>
      </p:ext>
    </p:extLst>
  </p:cSld>
</p:sld>
</file>

<file path=ppt/slides/slide24.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9AE5A9A-41FF-49B0-BE82-7807466F585E}"/>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B397473-861A-431F-A629-39EDA8A188F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02</a:t>
            </a:r>
          </a:p>
        </p:txBody>
      </p:sp>
      <p:sp>
        <p:nvSpPr>
          <p:cNvPr id="4" name="">
            <a:extLst xmlns:a="http://schemas.openxmlformats.org/drawingml/2006/main">
              <a:ext uri="{FF2B5EF4-FFF2-40B4-BE49-F238E27FC236}">
                <a16:creationId xmlns:a16="http://schemas.microsoft.com/office/drawing/2014/main" id="{E680C5AA-4042-44EE-83A2-B2E675E818B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calculations: value and payback</a:t>
            </a:r>
          </a:p>
        </p:txBody>
      </p:sp>
      <p:sp>
        <p:nvSpPr>
          <p:cNvPr id="5" name="">
            <a:extLst xmlns:a="http://schemas.openxmlformats.org/drawingml/2006/main">
              <a:ext uri="{FF2B5EF4-FFF2-40B4-BE49-F238E27FC236}">
                <a16:creationId xmlns:a16="http://schemas.microsoft.com/office/drawing/2014/main" id="{7053DCE1-12BB-44E9-8AF7-183D332685C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Simple payback assumes steady-state benefits from day 1; ramp-up lengthens realized payback.</a:t>
            </a:r>
          </a:p>
        </p:txBody>
      </p:sp>
      <p:sp>
        <p:nvSpPr>
          <p:cNvPr id="6" name="">
            <a:extLst xmlns:a="http://schemas.openxmlformats.org/drawingml/2006/main">
              <a:ext uri="{FF2B5EF4-FFF2-40B4-BE49-F238E27FC236}">
                <a16:creationId xmlns:a16="http://schemas.microsoft.com/office/drawing/2014/main" id="{0A44D5B9-4F18-4EB0-8473-CA26DA6A7AB3}"/>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C4DD27F6-7541-4D58-94BB-9F725DE92A7A}"/>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4511FFC3-AD42-40F8-8775-38B1047BDC61}"/>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24</a:t>
            </a:r>
          </a:p>
        </p:txBody>
      </p:sp>
      <p:graphicFrame>
        <p:nvGraphicFramePr>
          <p:cNvPr id="9" name="">
            <a:extLst xmlns:a="http://schemas.openxmlformats.org/drawingml/2006/main">
              <a:ext uri="{FF2B5EF4-FFF2-40B4-BE49-F238E27FC236}">
                <a16:creationId xmlns:a16="http://schemas.microsoft.com/office/drawing/2014/main" id="{69D87AB9-ECB0-4C39-981B-462A8365C3BF}"/>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613172">
                <a:tc>
                  <a:txBody>
                    <a:bodyPr/>
                    <a:lstStyle/>
                    <a:p>
                      <a:r>
                        <a:rPr sz="1725" b="1">
                          <a:solidFill>
                            <a:srgbClr val="FFFFFF"/>
                          </a:solidFill>
                          <a:latin typeface="Arial"/>
                          <a:ea typeface="Arial"/>
                          <a:cs typeface="Arial"/>
                        </a:rPr>
                        <a:t>Calculation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Formula</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 / result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613172">
                <a:tc>
                  <a:txBody>
                    <a:bodyPr/>
                    <a:lstStyle/>
                    <a:p>
                      <a:r>
                        <a:rPr sz="1725" b="1">
                          <a:solidFill>
                            <a:srgbClr val="FFFFFF"/>
                          </a:solidFill>
                          <a:latin typeface="Arial"/>
                          <a:ea typeface="Arial"/>
                          <a:cs typeface="Arial"/>
                        </a:rPr>
                        <a:t>Recovered sales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100,000,000 × 1.0%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Incremental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1,000,000 × 45%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Capacity value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100 × 2 × 52 × 35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364,000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Annual economic value net of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 + 364,000 − 350,000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464,000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Annual cash-only value net of fee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450,000 − 350,000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100,000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613172">
                <a:tc>
                  <a:txBody>
                    <a:bodyPr/>
                    <a:lstStyle/>
                    <a:p>
                      <a:r>
                        <a:rPr sz="1725" b="1">
                          <a:solidFill>
                            <a:srgbClr val="FFFFFF"/>
                          </a:solidFill>
                          <a:latin typeface="Arial"/>
                          <a:ea typeface="Arial"/>
                          <a:cs typeface="Arial"/>
                        </a:rPr>
                        <a:t>Upfront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 × 8,000 + 75,000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235,000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613172">
                <a:tc>
                  <a:txBody>
                    <a:bodyPr/>
                    <a:lstStyle/>
                    <a:p>
                      <a:r>
                        <a:rPr sz="1725" b="1">
                          <a:solidFill>
                            <a:srgbClr val="FFFFFF"/>
                          </a:solidFill>
                          <a:latin typeface="Arial"/>
                          <a:ea typeface="Arial"/>
                          <a:cs typeface="Arial"/>
                        </a:rPr>
                        <a:t>Payback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235,000 ÷ annual net × 12</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6.1 months economic / 28.2 cash</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1379364239"/>
      </p:ext>
    </p:extLst>
  </p:cSld>
</p:sld>
</file>

<file path=ppt/slides/slide25.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588568A-DBDF-4C31-8F04-9C12E86CDCAF}"/>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5B4484-087B-4428-BA50-CCAB21F7E39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03</a:t>
            </a:r>
          </a:p>
        </p:txBody>
      </p:sp>
      <p:sp>
        <p:nvSpPr>
          <p:cNvPr id="4" name="">
            <a:extLst xmlns:a="http://schemas.openxmlformats.org/drawingml/2006/main">
              <a:ext uri="{FF2B5EF4-FFF2-40B4-BE49-F238E27FC236}">
                <a16:creationId xmlns:a16="http://schemas.microsoft.com/office/drawing/2014/main" id="{F69B53AA-9FE4-40EC-B517-0C18BA106ED0}"/>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Retailer sensitivity and break-even</a:t>
            </a:r>
          </a:p>
        </p:txBody>
      </p:sp>
      <p:sp>
        <p:nvSpPr>
          <p:cNvPr id="5" name="">
            <a:extLst xmlns:a="http://schemas.openxmlformats.org/drawingml/2006/main">
              <a:ext uri="{FF2B5EF4-FFF2-40B4-BE49-F238E27FC236}">
                <a16:creationId xmlns:a16="http://schemas.microsoft.com/office/drawing/2014/main" id="{C375EFD4-9A6E-4A66-86E7-1DE24C2AC14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F5D134F9-2973-4461-907B-47AE880A1C44}"/>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0D554D2-3CBB-4793-BEB4-03EA86F0530A}"/>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AB9E0496-868C-444A-ABE9-B83CDCB6C6C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25</a:t>
            </a:r>
          </a:p>
        </p:txBody>
      </p:sp>
      <p:graphicFrame>
        <p:nvGraphicFramePr>
          <p:cNvPr id="9" name="">
            <a:extLst xmlns:a="http://schemas.openxmlformats.org/drawingml/2006/main">
              <a:ext uri="{FF2B5EF4-FFF2-40B4-BE49-F238E27FC236}">
                <a16:creationId xmlns:a16="http://schemas.microsoft.com/office/drawing/2014/main" id="{9684BF99-DC3A-4B11-A51F-B7F12BDD90AB}"/>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Recovered sales uplift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Annual cash net after fee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Cash-only payback</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Economic payback</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0.5%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125k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No payback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11.8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1.0% · base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100k</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28.2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6.1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1.5%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325k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8.7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4.1 months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2.0%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550k</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5.1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3.1 months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20B6F219-82A7-4783-BA84-F93619E0793E}"/>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Renewal cash break-even: 0.778% sales uplift.</a:t>
            </a:r>
          </a:p>
          <a:p xmlns:a="http://schemas.openxmlformats.org/drawingml/2006/main">
            <a:pPr algn="l">
              <a:defRPr sz="1950" b="0">
                <a:solidFill>
                  <a:srgbClr val="152047"/>
                </a:solidFill>
              </a:defRPr>
            </a:pPr>
            <a:r>
              <a:rPr sz="1950" b="0">
                <a:solidFill>
                  <a:srgbClr val="152047"/>
                </a:solidFill>
                <a:latin typeface="Arial"/>
                <a:ea typeface="Arial"/>
                <a:cs typeface="Arial"/>
              </a:rPr>
              <a:t>24-month cash payback gate: 1.039% uplift.</a:t>
            </a:r>
          </a:p>
          <a:p xmlns:a="http://schemas.openxmlformats.org/drawingml/2006/main">
            <a:pPr algn="l">
              <a:defRPr sz="1950" b="0">
                <a:solidFill>
                  <a:srgbClr val="152047"/>
                </a:solidFill>
              </a:defRPr>
            </a:pPr>
            <a:r>
              <a:rPr sz="1950" b="0">
                <a:solidFill>
                  <a:srgbClr val="152047"/>
                </a:solidFill>
                <a:latin typeface="Arial"/>
                <a:ea typeface="Arial"/>
                <a:cs typeface="Arial"/>
              </a:rPr>
              <a:t>First-year cash break-even: 1.300% uplift.</a:t>
            </a:r>
          </a:p>
        </p:txBody>
      </p:sp>
    </p:spTree>
    <p:extLst>
      <p:ext uri="{BB962C8B-B14F-4D97-AF65-F5344CB8AC3E}">
        <p14:creationId xmlns:p14="http://schemas.microsoft.com/office/powerpoint/2010/main" val="869714120"/>
      </p:ext>
    </p:extLst>
  </p:cSld>
</p:sld>
</file>

<file path=ppt/slides/slide26.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08EB219-9C93-4316-8337-0064B9E13D8C}"/>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690DC5-B07B-4C58-B208-9CF84B9F4D10}"/>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04</a:t>
            </a:r>
          </a:p>
        </p:txBody>
      </p:sp>
      <p:sp>
        <p:nvSpPr>
          <p:cNvPr id="4" name="">
            <a:extLst xmlns:a="http://schemas.openxmlformats.org/drawingml/2006/main">
              <a:ext uri="{FF2B5EF4-FFF2-40B4-BE49-F238E27FC236}">
                <a16:creationId xmlns:a16="http://schemas.microsoft.com/office/drawing/2014/main" id="{5798E82B-97BD-4299-91C5-09295CCAA4E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Recommendation 1: proposed money flow</a:t>
            </a:r>
          </a:p>
        </p:txBody>
      </p:sp>
      <p:sp>
        <p:nvSpPr>
          <p:cNvPr id="5" name="">
            <a:extLst xmlns:a="http://schemas.openxmlformats.org/drawingml/2006/main">
              <a:ext uri="{FF2B5EF4-FFF2-40B4-BE49-F238E27FC236}">
                <a16:creationId xmlns:a16="http://schemas.microsoft.com/office/drawing/2014/main" id="{AEB022C0-0928-44BD-97AB-35404A8E84F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Illustrative allocations, not manufacturer prices or signed commercial terms. No hardware revenue booked by SAP.</a:t>
            </a:r>
          </a:p>
        </p:txBody>
      </p:sp>
      <p:sp>
        <p:nvSpPr>
          <p:cNvPr id="6" name="">
            <a:extLst xmlns:a="http://schemas.openxmlformats.org/drawingml/2006/main">
              <a:ext uri="{FF2B5EF4-FFF2-40B4-BE49-F238E27FC236}">
                <a16:creationId xmlns:a16="http://schemas.microsoft.com/office/drawing/2014/main" id="{82A2DC58-7F56-4F9A-92CE-B5DB484B8487}"/>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C83FE7A6-0D4A-44DD-AE17-093BC73BBDC8}"/>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A0576E3-DEB2-448C-B0AC-551F2749158D}"/>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26</a:t>
            </a:r>
          </a:p>
        </p:txBody>
      </p:sp>
      <p:graphicFrame>
        <p:nvGraphicFramePr>
          <p:cNvPr id="9" name="">
            <a:extLst xmlns:a="http://schemas.openxmlformats.org/drawingml/2006/main">
              <a:ext uri="{FF2B5EF4-FFF2-40B4-BE49-F238E27FC236}">
                <a16:creationId xmlns:a16="http://schemas.microsoft.com/office/drawing/2014/main" id="{F7A6C825-8AF4-45ED-99CC-C11A3A032FAE}"/>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4608576"/>
                <a:gridCol w="4480560"/>
                <a:gridCol w="1920240"/>
                <a:gridCol w="1792224"/>
              </a:tblGrid>
              <a:tr h="700768">
                <a:tc>
                  <a:txBody>
                    <a:bodyPr/>
                    <a:lstStyle/>
                    <a:p>
                      <a:r>
                        <a:rPr sz="1725" b="1">
                          <a:solidFill>
                            <a:srgbClr val="FFFFFF"/>
                          </a:solidFill>
                          <a:latin typeface="Arial"/>
                          <a:ea typeface="Arial"/>
                          <a:cs typeface="Arial"/>
                        </a:rPr>
                        <a:t>Customer charge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Recipient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Share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One store hardware + install: CAD 8k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OEM / tag-equipment supplier</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5,000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62.5%</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Same invoice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Regional distributor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12.5%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Same invoice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Installation / device-support partner</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Customer onboarding: CAD 75k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Delivery / integration partner</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60,000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80.0%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Same onboarding scope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SAP coordination fee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15,000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Reference subscription: CAD 350k/year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SAP</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350,000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387160061"/>
      </p:ext>
    </p:extLst>
  </p:cSld>
</p:sld>
</file>

<file path=ppt/slides/slide27.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4805CFB-58F8-4B45-B6A3-D33396F055C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DA6E5C-09AF-4A1A-A4F5-2D6B6664C89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05</a:t>
            </a:r>
          </a:p>
        </p:txBody>
      </p:sp>
      <p:sp>
        <p:nvSpPr>
          <p:cNvPr id="4" name="">
            <a:extLst xmlns:a="http://schemas.openxmlformats.org/drawingml/2006/main">
              <a:ext uri="{FF2B5EF4-FFF2-40B4-BE49-F238E27FC236}">
                <a16:creationId xmlns:a16="http://schemas.microsoft.com/office/drawing/2014/main" id="{BC62FDFD-60EC-4043-8D78-8E970D592E4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revenue and cost formulas</a:t>
            </a:r>
          </a:p>
        </p:txBody>
      </p:sp>
      <p:sp>
        <p:nvSpPr>
          <p:cNvPr id="5" name="">
            <a:extLst xmlns:a="http://schemas.openxmlformats.org/drawingml/2006/main">
              <a:ext uri="{FF2B5EF4-FFF2-40B4-BE49-F238E27FC236}">
                <a16:creationId xmlns:a16="http://schemas.microsoft.com/office/drawing/2014/main" id="{40303304-6A19-4A20-862C-4D653B43352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4F4AF24A-9817-4646-9BB6-924E7B06106B}"/>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9169645A-F909-4019-B909-01A601900B88}"/>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7222BBCD-B249-4ED6-A973-6789AC26774F}"/>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27</a:t>
            </a:r>
          </a:p>
        </p:txBody>
      </p:sp>
      <p:graphicFrame>
        <p:nvGraphicFramePr>
          <p:cNvPr id="9" name="">
            <a:extLst xmlns:a="http://schemas.openxmlformats.org/drawingml/2006/main">
              <a:ext uri="{FF2B5EF4-FFF2-40B4-BE49-F238E27FC236}">
                <a16:creationId xmlns:a16="http://schemas.microsoft.com/office/drawing/2014/main" id="{8756CFA7-45A0-418A-A443-AD27E0868CCC}"/>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5504688"/>
                <a:gridCol w="2432304"/>
                <a:gridCol w="2432304"/>
                <a:gridCol w="2432304"/>
              </a:tblGrid>
              <a:tr h="545042">
                <a:tc>
                  <a:txBody>
                    <a:bodyPr/>
                    <a:lstStyle/>
                    <a:p>
                      <a:r>
                        <a:rPr sz="1725" b="1">
                          <a:solidFill>
                            <a:srgbClr val="FFFFFF"/>
                          </a:solidFill>
                          <a:latin typeface="Arial"/>
                          <a:ea typeface="Arial"/>
                          <a:cs typeface="Arial"/>
                        </a:rPr>
                        <a:t>Metric</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1</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2</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Year 3</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545042">
                <a:tc>
                  <a:txBody>
                    <a:bodyPr/>
                    <a:lstStyle/>
                    <a:p>
                      <a:r>
                        <a:rPr sz="1725" b="1">
                          <a:solidFill>
                            <a:srgbClr val="FFFFFF"/>
                          </a:solidFill>
                          <a:latin typeface="Arial"/>
                          <a:ea typeface="Arial"/>
                          <a:cs typeface="Arial"/>
                        </a:rPr>
                        <a:t>Beginning / new / ending accounts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 / 20 / 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 / 40 / 60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60 / 90 / 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Average accounts: begin + ½ new</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105</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SaaS: average × CAD 350k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3.500M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14.000M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36.750M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Net service: new × CAD 15k</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0.300M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0.600M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1.350M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Variable cost: SaaS × 25%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0.875M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3.500M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9.1875M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Fixed product / sales / operations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5.000M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6.000M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8.000M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545042">
                <a:tc>
                  <a:txBody>
                    <a:bodyPr/>
                    <a:lstStyle/>
                    <a:p>
                      <a:r>
                        <a:rPr sz="1725" b="1">
                          <a:solidFill>
                            <a:srgbClr val="FFFFFF"/>
                          </a:solidFill>
                          <a:latin typeface="Arial"/>
                          <a:ea typeface="Arial"/>
                          <a:cs typeface="Arial"/>
                        </a:rPr>
                        <a:t>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−2.075M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5.100M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20.9125M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545042">
                <a:tc>
                  <a:txBody>
                    <a:bodyPr/>
                    <a:lstStyle/>
                    <a:p>
                      <a:r>
                        <a:rPr sz="1725" b="1">
                          <a:solidFill>
                            <a:srgbClr val="FFFFFF"/>
                          </a:solidFill>
                          <a:latin typeface="Arial"/>
                          <a:ea typeface="Arial"/>
                          <a:cs typeface="Arial"/>
                        </a:rPr>
                        <a:t>Cumulative contribution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3.025M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23.9375M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68555073"/>
      </p:ext>
    </p:extLst>
  </p:cSld>
</p:sld>
</file>

<file path=ppt/slides/slide28.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2B6817-F4C6-41A4-B55C-96CF948719F2}"/>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D04C14-7B1B-45A5-9BA7-BD18F43922A0}"/>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06</a:t>
            </a:r>
          </a:p>
        </p:txBody>
      </p:sp>
      <p:sp>
        <p:nvSpPr>
          <p:cNvPr id="4" name="">
            <a:extLst xmlns:a="http://schemas.openxmlformats.org/drawingml/2006/main">
              <a:ext uri="{FF2B5EF4-FFF2-40B4-BE49-F238E27FC236}">
                <a16:creationId xmlns:a16="http://schemas.microsoft.com/office/drawing/2014/main" id="{F8D134CB-7CB4-4B00-AA70-A8159C53593C}"/>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SAP downside and concentration risk</a:t>
            </a:r>
          </a:p>
        </p:txBody>
      </p:sp>
      <p:sp>
        <p:nvSpPr>
          <p:cNvPr id="5" name="">
            <a:extLst xmlns:a="http://schemas.openxmlformats.org/drawingml/2006/main">
              <a:ext uri="{FF2B5EF4-FFF2-40B4-BE49-F238E27FC236}">
                <a16:creationId xmlns:a16="http://schemas.microsoft.com/office/drawing/2014/main" id="{2DD21E5F-E4F2-4AF7-9A11-BC20FDFCE35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Scenario analysis, not forecasts. Zero churn is optimistic; renewal, sales cycles and cloud usage require validation.</a:t>
            </a:r>
          </a:p>
        </p:txBody>
      </p:sp>
      <p:sp>
        <p:nvSpPr>
          <p:cNvPr id="6" name="">
            <a:extLst xmlns:a="http://schemas.openxmlformats.org/drawingml/2006/main">
              <a:ext uri="{FF2B5EF4-FFF2-40B4-BE49-F238E27FC236}">
                <a16:creationId xmlns:a16="http://schemas.microsoft.com/office/drawing/2014/main" id="{968D27C7-389A-4772-8A74-B082F95EF31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525204FB-706D-4171-BC23-AA60225290B3}"/>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A33881C4-F8F2-4961-970B-15E5A94C3F6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28</a:t>
            </a:r>
          </a:p>
        </p:txBody>
      </p:sp>
      <p:graphicFrame>
        <p:nvGraphicFramePr>
          <p:cNvPr id="9" name="">
            <a:extLst xmlns:a="http://schemas.openxmlformats.org/drawingml/2006/main">
              <a:ext uri="{FF2B5EF4-FFF2-40B4-BE49-F238E27FC236}">
                <a16:creationId xmlns:a16="http://schemas.microsoft.com/office/drawing/2014/main" id="{A04CF712-7276-4B8A-A85E-92DE2757CE0D}"/>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Scenario</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Year-3 ending accounts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Year-3 contribution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3-year cumulative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Base: 20 / 60 / 150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20.91M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23.94M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Slower wins: 10 / 40 / 80</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80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8.35M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5.83M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Price CAD 300k; variable cost 35%</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150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13.83M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CAD 13.48M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Stalled after 20 customers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2.75M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−CAD 5.58M</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02A68101-5F89-4119-B296-DB48227FD0D8}"/>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Renewal-only break-even at CAD 6M fixed spend:</a:t>
            </a:r>
          </a:p>
          <a:p xmlns:a="http://schemas.openxmlformats.org/drawingml/2006/main">
            <a:pPr algn="l">
              <a:defRPr sz="1950" b="0">
                <a:solidFill>
                  <a:srgbClr val="152047"/>
                </a:solidFill>
              </a:defRPr>
            </a:pPr>
            <a:r>
              <a:rPr sz="1950" b="0">
                <a:solidFill>
                  <a:srgbClr val="152047"/>
                </a:solidFill>
                <a:latin typeface="Arial"/>
                <a:ea typeface="Arial"/>
                <a:cs typeface="Arial"/>
              </a:rPr>
              <a:t>CAD 6M ÷ (CAD 350k × 75%) = 22.9 full-year accounts.</a:t>
            </a:r>
          </a:p>
        </p:txBody>
      </p:sp>
    </p:spTree>
    <p:extLst>
      <p:ext uri="{BB962C8B-B14F-4D97-AF65-F5344CB8AC3E}">
        <p14:creationId xmlns:p14="http://schemas.microsoft.com/office/powerpoint/2010/main" val="639937897"/>
      </p:ext>
    </p:extLst>
  </p:cSld>
</p:sld>
</file>

<file path=ppt/slides/slide29.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34B57B5-759B-4D2E-918F-8594CC3B549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584C06-47D9-4CAC-B946-C4960921474D}"/>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07</a:t>
            </a:r>
          </a:p>
        </p:txBody>
      </p:sp>
      <p:sp>
        <p:nvSpPr>
          <p:cNvPr id="4" name="">
            <a:extLst xmlns:a="http://schemas.openxmlformats.org/drawingml/2006/main">
              <a:ext uri="{FF2B5EF4-FFF2-40B4-BE49-F238E27FC236}">
                <a16:creationId xmlns:a16="http://schemas.microsoft.com/office/drawing/2014/main" id="{D65BA877-2E09-4CF3-B8F3-F9663E9B110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Pilot funding and release gates</a:t>
            </a:r>
          </a:p>
        </p:txBody>
      </p:sp>
      <p:sp>
        <p:nvSpPr>
          <p:cNvPr id="5" name="">
            <a:extLst xmlns:a="http://schemas.openxmlformats.org/drawingml/2006/main">
              <a:ext uri="{FF2B5EF4-FFF2-40B4-BE49-F238E27FC236}">
                <a16:creationId xmlns:a16="http://schemas.microsoft.com/office/drawing/2014/main" id="{F9573A3E-29DC-4E35-894C-1AAE53DBE010}"/>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DF7CD0D9-4028-4066-B2EC-5B6A85898242}"/>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DE9F034-0770-4C3A-B13D-FB953177A61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E7A5655F-AA4E-42B1-AA11-81C3116194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29</a:t>
            </a:r>
          </a:p>
        </p:txBody>
      </p:sp>
      <p:graphicFrame>
        <p:nvGraphicFramePr>
          <p:cNvPr id="9" name="">
            <a:extLst xmlns:a="http://schemas.openxmlformats.org/drawingml/2006/main">
              <a:ext uri="{FF2B5EF4-FFF2-40B4-BE49-F238E27FC236}">
                <a16:creationId xmlns:a16="http://schemas.microsoft.com/office/drawing/2014/main" id="{1F23A47D-A1C8-46EA-8E60-514B0804EC3D}"/>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Use of funds</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CAD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Release condition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10-store hardware trial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80,000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Zone accuracy and partner quote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Integration engineering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80,000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Sandbox, fields and access approved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Product + measurement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50,000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Baseline and matched-store design agreed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Training + adoption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Named planners and store champions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Contingency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20,000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Sponsor approval for actual need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Total pilot proposal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250,000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Capped; included in Year-1 fixed spending</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763742239"/>
      </p:ext>
    </p:extLst>
  </p:cSld>
</p:sld>
</file>

<file path=ppt/slides/slide30.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CB3AA9-4F3E-4C63-9D30-D22CEB099D2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647D7E-3D11-4AA3-856B-E83A005CC29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08</a:t>
            </a:r>
          </a:p>
        </p:txBody>
      </p:sp>
      <p:sp>
        <p:nvSpPr>
          <p:cNvPr id="4" name="">
            <a:extLst xmlns:a="http://schemas.openxmlformats.org/drawingml/2006/main">
              <a:ext uri="{FF2B5EF4-FFF2-40B4-BE49-F238E27FC236}">
                <a16:creationId xmlns:a16="http://schemas.microsoft.com/office/drawing/2014/main" id="{B1F705EF-73E5-419A-BD59-42DB169D0B4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What is implemented today</a:t>
            </a:r>
          </a:p>
        </p:txBody>
      </p:sp>
      <p:sp>
        <p:nvSpPr>
          <p:cNvPr id="5" name="">
            <a:extLst xmlns:a="http://schemas.openxmlformats.org/drawingml/2006/main">
              <a:ext uri="{FF2B5EF4-FFF2-40B4-BE49-F238E27FC236}">
                <a16:creationId xmlns:a16="http://schemas.microsoft.com/office/drawing/2014/main" id="{39892B28-0F94-4030-8384-35D40F448F0B}"/>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React + TypeScript + UI5 interface. SAP-like styling does not itself establish SAP integration.</a:t>
            </a:r>
          </a:p>
        </p:txBody>
      </p:sp>
      <p:sp>
        <p:nvSpPr>
          <p:cNvPr id="6" name="">
            <a:extLst xmlns:a="http://schemas.openxmlformats.org/drawingml/2006/main">
              <a:ext uri="{FF2B5EF4-FFF2-40B4-BE49-F238E27FC236}">
                <a16:creationId xmlns:a16="http://schemas.microsoft.com/office/drawing/2014/main" id="{6786EE17-3653-4C7D-B1E1-A321B3FE134C}"/>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A6897089-5DEC-4189-ABC7-9E1E1CD1CE7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2CC4E2CB-BB0F-4FB7-80D7-B28BA58FAB6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30</a:t>
            </a:r>
          </a:p>
        </p:txBody>
      </p:sp>
      <p:graphicFrame>
        <p:nvGraphicFramePr>
          <p:cNvPr id="9" name="">
            <a:extLst xmlns:a="http://schemas.openxmlformats.org/drawingml/2006/main">
              <a:ext uri="{FF2B5EF4-FFF2-40B4-BE49-F238E27FC236}">
                <a16:creationId xmlns:a16="http://schemas.microsoft.com/office/drawing/2014/main" id="{F39E5072-0F94-45BA-ACED-1F8A047D2BD9}"/>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817563">
                <a:tc>
                  <a:txBody>
                    <a:bodyPr/>
                    <a:lstStyle/>
                    <a:p>
                      <a:r>
                        <a:rPr sz="1875" b="1">
                          <a:solidFill>
                            <a:srgbClr val="FFFFFF"/>
                          </a:solidFill>
                          <a:latin typeface="Arial"/>
                          <a:ea typeface="Arial"/>
                          <a:cs typeface="Arial"/>
                        </a:rPr>
                        <a:t>Capability</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Working prototype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Needed for production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17563">
                <a:tc>
                  <a:txBody>
                    <a:bodyPr/>
                    <a:lstStyle/>
                    <a:p>
                      <a:r>
                        <a:rPr sz="1875" b="1">
                          <a:solidFill>
                            <a:srgbClr val="FFFFFF"/>
                          </a:solidFill>
                          <a:latin typeface="Arial"/>
                          <a:ea typeface="Arial"/>
                          <a:cs typeface="Arial"/>
                        </a:rPr>
                        <a:t>Demand evidence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Seeded try-ons, purchases and qualified digital aggregates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Live RFID and commerce collection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Supply and cost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Selectable network, editable demo rates, public benchmarks, shortage simulation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Validated supplier / material / logistics feeds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Assistant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Deterministic explanations and calculations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Authorized SAP Joule orchestration and evaluation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17563">
                <a:tc>
                  <a:txBody>
                    <a:bodyPr/>
                    <a:lstStyle/>
                    <a:p>
                      <a:r>
                        <a:rPr sz="1875" b="1">
                          <a:solidFill>
                            <a:srgbClr val="FFFFFF"/>
                          </a:solidFill>
                          <a:latin typeface="Arial"/>
                          <a:ea typeface="Arial"/>
                          <a:cs typeface="Arial"/>
                        </a:rPr>
                        <a:t>Execution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Local proposal → approve → issue → receipt lifecycle</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Authenticated SAP tenant APIs, permissions and reconciliation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17563">
                <a:tc>
                  <a:txBody>
                    <a:bodyPr/>
                    <a:lstStyle/>
                    <a:p>
                      <a:r>
                        <a:rPr sz="1875" b="1">
                          <a:solidFill>
                            <a:srgbClr val="FFFFFF"/>
                          </a:solidFill>
                          <a:latin typeface="Arial"/>
                          <a:ea typeface="Arial"/>
                          <a:cs typeface="Arial"/>
                        </a:rPr>
                        <a:t>Storage / security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Browser-local demo state; no business database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Tenant database, identity, access controls and audit storage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1001215327"/>
      </p:ext>
    </p:extLst>
  </p:cSld>
</p:sld>
</file>

<file path=ppt/slides/slide31.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FDB23F-50A2-4167-AD9A-D632FBB0DD54}"/>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329131-9BAE-4E15-880A-D9D2978076FA}"/>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09</a:t>
            </a:r>
          </a:p>
        </p:txBody>
      </p:sp>
      <p:sp>
        <p:nvSpPr>
          <p:cNvPr id="4" name="">
            <a:extLst xmlns:a="http://schemas.openxmlformats.org/drawingml/2006/main">
              <a:ext uri="{FF2B5EF4-FFF2-40B4-BE49-F238E27FC236}">
                <a16:creationId xmlns:a16="http://schemas.microsoft.com/office/drawing/2014/main" id="{E08C8028-F2DB-48BE-A468-8ED414D150D5}"/>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Proposed SAP integration responsibilities</a:t>
            </a:r>
          </a:p>
        </p:txBody>
      </p:sp>
      <p:sp>
        <p:nvSpPr>
          <p:cNvPr id="5" name="">
            <a:extLst xmlns:a="http://schemas.openxmlformats.org/drawingml/2006/main">
              <a:ext uri="{FF2B5EF4-FFF2-40B4-BE49-F238E27FC236}">
                <a16:creationId xmlns:a16="http://schemas.microsoft.com/office/drawing/2014/main" id="{B4001A26-A40E-4C65-9F7B-8FBD92B4A17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Required products and licenses depend on the retailer’s landscape. Reuse existing planning instead of replacing it.</a:t>
            </a:r>
          </a:p>
        </p:txBody>
      </p:sp>
      <p:sp>
        <p:nvSpPr>
          <p:cNvPr id="6" name="">
            <a:extLst xmlns:a="http://schemas.openxmlformats.org/drawingml/2006/main">
              <a:ext uri="{FF2B5EF4-FFF2-40B4-BE49-F238E27FC236}">
                <a16:creationId xmlns:a16="http://schemas.microsoft.com/office/drawing/2014/main" id="{39D91ABB-D2DD-454F-B114-6713D35516FA}"/>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31DB3338-C66F-4488-8E4C-34E2DDD14439}"/>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637B51CE-1004-4D61-A2AD-FF0C5C8950C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31</a:t>
            </a:r>
          </a:p>
        </p:txBody>
      </p:sp>
      <p:graphicFrame>
        <p:nvGraphicFramePr>
          <p:cNvPr id="9" name="">
            <a:extLst xmlns:a="http://schemas.openxmlformats.org/drawingml/2006/main">
              <a:ext uri="{FF2B5EF4-FFF2-40B4-BE49-F238E27FC236}">
                <a16:creationId xmlns:a16="http://schemas.microsoft.com/office/drawing/2014/main" id="{14F8514D-3D91-4BAA-B0CF-8AF1798D6B62}"/>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456432"/>
                <a:gridCol w="4992624"/>
                <a:gridCol w="4352544"/>
              </a:tblGrid>
              <a:tr h="700768">
                <a:tc>
                  <a:txBody>
                    <a:bodyPr/>
                    <a:lstStyle/>
                    <a:p>
                      <a:r>
                        <a:rPr sz="1725" b="1">
                          <a:solidFill>
                            <a:srgbClr val="FFFFFF"/>
                          </a:solidFill>
                          <a:latin typeface="Arial"/>
                          <a:ea typeface="Arial"/>
                          <a:cs typeface="Arial"/>
                        </a:rPr>
                        <a:t>SAP application / service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Role in the proposed product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Current status</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SAP CAR</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Shared sales and retail inventory context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Seeded inputs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S/4HANA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Purchasing, stock transport, issue and receipt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Local workflow simulation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SAP Commerce Cloud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Online events and sellable availability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Seeded events / shared demo stock</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IBP</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Planning scenarios and approved planning handoff</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Export / mapping concept</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BTP / Integration Suite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Secure interfaces, event routing and monitoring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Production design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SAP Joule / Business AI</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Explain evidence and call approved business actions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Joule-inspired deterministic demo</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027773782"/>
      </p:ext>
    </p:extLst>
  </p:cSld>
</p:sld>
</file>

<file path=ppt/slides/slide32.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FC5EF2F-D1D2-4B0E-BDCA-34F5E0D7F168}"/>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6D52D7-2508-4D1A-ADDA-8EA7C7E8FF62}"/>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10</a:t>
            </a:r>
          </a:p>
        </p:txBody>
      </p:sp>
      <p:sp>
        <p:nvSpPr>
          <p:cNvPr id="4" name="">
            <a:extLst xmlns:a="http://schemas.openxmlformats.org/drawingml/2006/main">
              <a:ext uri="{FF2B5EF4-FFF2-40B4-BE49-F238E27FC236}">
                <a16:creationId xmlns:a16="http://schemas.microsoft.com/office/drawing/2014/main" id="{27CFC52D-B515-496E-BED6-270189F60B79}"/>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The transfer demo: conservation of inventory</a:t>
            </a:r>
          </a:p>
        </p:txBody>
      </p:sp>
      <p:sp>
        <p:nvSpPr>
          <p:cNvPr id="5" name="">
            <a:extLst xmlns:a="http://schemas.openxmlformats.org/drawingml/2006/main">
              <a:ext uri="{FF2B5EF4-FFF2-40B4-BE49-F238E27FC236}">
                <a16:creationId xmlns:a16="http://schemas.microsoft.com/office/drawing/2014/main" id="{EDE0434F-748F-4379-98B0-1DFFF598AFDE}"/>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CAD 60 transfer cost = 40 × CAD 1.50/unit. Two-day transit is an assumption; the 9-day alternative misses the 7-day window.</a:t>
            </a:r>
          </a:p>
        </p:txBody>
      </p:sp>
      <p:sp>
        <p:nvSpPr>
          <p:cNvPr id="6" name="">
            <a:extLst xmlns:a="http://schemas.openxmlformats.org/drawingml/2006/main">
              <a:ext uri="{FF2B5EF4-FFF2-40B4-BE49-F238E27FC236}">
                <a16:creationId xmlns:a16="http://schemas.microsoft.com/office/drawing/2014/main" id="{631F1FAC-AD25-4F34-987B-A52523679BE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A54FA16F-00C9-4860-B25D-8B585D19450E}"/>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3DC96E0-095E-4E9D-AAFF-38869934954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32</a:t>
            </a:r>
          </a:p>
        </p:txBody>
      </p:sp>
      <p:graphicFrame>
        <p:nvGraphicFramePr>
          <p:cNvPr id="9" name="">
            <a:extLst xmlns:a="http://schemas.openxmlformats.org/drawingml/2006/main">
              <a:ext uri="{FF2B5EF4-FFF2-40B4-BE49-F238E27FC236}">
                <a16:creationId xmlns:a16="http://schemas.microsoft.com/office/drawing/2014/main" id="{14697E11-2A15-4EBE-A195-D5F3F4A2BF8B}"/>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5504688"/>
                <a:gridCol w="2432304"/>
                <a:gridCol w="2432304"/>
                <a:gridCol w="2432304"/>
              </a:tblGrid>
              <a:tr h="769620">
                <a:tc>
                  <a:txBody>
                    <a:bodyPr/>
                    <a:lstStyle/>
                    <a:p>
                      <a:r>
                        <a:rPr sz="1875" b="1">
                          <a:solidFill>
                            <a:srgbClr val="FFFFFF"/>
                          </a:solidFill>
                          <a:latin typeface="Arial"/>
                          <a:ea typeface="Arial"/>
                          <a:cs typeface="Arial"/>
                        </a:rPr>
                        <a:t>Step</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Burnaby physical</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In transit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Vancouver sellable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Before proposal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76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40-unit proposal / approval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76</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Goods issue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36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40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8</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Goods receipt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36</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48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EF63EBF7-920C-4651-B0F7-133A0BC2581E}"/>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The proposal reserves 40 available units and preserves Burnaby’s 36-unit reserve.</a:t>
            </a:r>
          </a:p>
          <a:p xmlns:a="http://schemas.openxmlformats.org/drawingml/2006/main">
            <a:pPr algn="l">
              <a:defRPr sz="1950" b="0">
                <a:solidFill>
                  <a:srgbClr val="152047"/>
                </a:solidFill>
              </a:defRPr>
            </a:pPr>
            <a:r>
              <a:rPr sz="1950" b="0">
                <a:solidFill>
                  <a:srgbClr val="152047"/>
                </a:solidFill>
                <a:latin typeface="Arial"/>
                <a:ea typeface="Arial"/>
                <a:cs typeface="Arial"/>
              </a:rPr>
              <a:t>The scenario covers 48 / 80 = 60%; 32 units remain uncovered.</a:t>
            </a:r>
          </a:p>
        </p:txBody>
      </p:sp>
    </p:spTree>
    <p:extLst>
      <p:ext uri="{BB962C8B-B14F-4D97-AF65-F5344CB8AC3E}">
        <p14:creationId xmlns:p14="http://schemas.microsoft.com/office/powerpoint/2010/main" val="1172460677"/>
      </p:ext>
    </p:extLst>
  </p:cSld>
</p:sld>
</file>

<file path=ppt/slides/slide33.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CFF42B-38F0-483A-A372-8745FFABBDBA}"/>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6C03CF9-2929-4B82-96B2-0990532E3699}"/>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11</a:t>
            </a:r>
          </a:p>
        </p:txBody>
      </p:sp>
      <p:sp>
        <p:nvSpPr>
          <p:cNvPr id="4" name="">
            <a:extLst xmlns:a="http://schemas.openxmlformats.org/drawingml/2006/main">
              <a:ext uri="{FF2B5EF4-FFF2-40B4-BE49-F238E27FC236}">
                <a16:creationId xmlns:a16="http://schemas.microsoft.com/office/drawing/2014/main" id="{5E1F6BDD-4777-44AD-9135-045EED6FB0F2}"/>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Demand calculations and inference limits</a:t>
            </a:r>
          </a:p>
        </p:txBody>
      </p:sp>
      <p:sp>
        <p:nvSpPr>
          <p:cNvPr id="5" name="">
            <a:extLst xmlns:a="http://schemas.openxmlformats.org/drawingml/2006/main">
              <a:ext uri="{FF2B5EF4-FFF2-40B4-BE49-F238E27FC236}">
                <a16:creationId xmlns:a16="http://schemas.microsoft.com/office/drawing/2014/main" id="{3941FA88-C0D6-48A1-A780-6BB1A107902D}"/>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A5061B18-ED2F-4267-B420-44AE376E96BC}"/>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103BDA3-EAC8-456C-BEB7-FF5313D4EBFF}"/>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20FEF926-957F-40BD-ACCC-9AA918BD0C3A}"/>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33</a:t>
            </a:r>
          </a:p>
        </p:txBody>
      </p:sp>
      <p:graphicFrame>
        <p:nvGraphicFramePr>
          <p:cNvPr id="9" name="">
            <a:extLst xmlns:a="http://schemas.openxmlformats.org/drawingml/2006/main">
              <a:ext uri="{FF2B5EF4-FFF2-40B4-BE49-F238E27FC236}">
                <a16:creationId xmlns:a16="http://schemas.microsoft.com/office/drawing/2014/main" id="{DC78E74B-1043-45AD-AB7C-86C12E72EF84}"/>
              </a:ext>
            </a:extLst>
          </p:cNvPr>
          <p:cNvGraphicFramePr/>
          <p:nvPr/>
        </p:nvGraphicFramePr>
        <p:xfrm>
          <a:off xmlns:a="http://schemas.openxmlformats.org/drawingml/2006/main" x="457200" y="1476375"/>
          <a:ext xmlns:a="http://schemas.openxmlformats.org/drawingml/2006/main" cx="12801600" cy="3848100"/>
        </p:xfrm>
        <a:graphic xmlns:a="http://schemas.openxmlformats.org/drawingml/2006/main">
          <a:graphicData uri="http://schemas.openxmlformats.org/drawingml/2006/table">
            <a:tbl>
              <a:tblPr/>
              <a:tblGrid>
                <a:gridCol w="3456432"/>
                <a:gridCol w="4992624"/>
                <a:gridCol w="4352544"/>
              </a:tblGrid>
              <a:tr h="769620">
                <a:tc>
                  <a:txBody>
                    <a:bodyPr/>
                    <a:lstStyle/>
                    <a:p>
                      <a:r>
                        <a:rPr sz="1875" b="1">
                          <a:solidFill>
                            <a:srgbClr val="FFFFFF"/>
                          </a:solidFill>
                          <a:latin typeface="Arial"/>
                          <a:ea typeface="Arial"/>
                          <a:cs typeface="Arial"/>
                        </a:rPr>
                        <a:t>Signal</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Calculation</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875" b="1">
                          <a:solidFill>
                            <a:srgbClr val="FFFFFF"/>
                          </a:solidFill>
                          <a:latin typeface="Arial"/>
                          <a:ea typeface="Arial"/>
                          <a:cs typeface="Arial"/>
                        </a:rPr>
                        <a:t>What it can establish</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69620">
                <a:tc>
                  <a:txBody>
                    <a:bodyPr/>
                    <a:lstStyle/>
                    <a:p>
                      <a:r>
                        <a:rPr sz="1875" b="1">
                          <a:solidFill>
                            <a:srgbClr val="FFFFFF"/>
                          </a:solidFill>
                          <a:latin typeface="Arial"/>
                          <a:ea typeface="Arial"/>
                          <a:cs typeface="Arial"/>
                        </a:rPr>
                        <a:t>Try-on conversion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43 ÷ 240 = 17.9%; 32%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Conversion is lower; cause still needs investigation.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Online shortage scenario</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floor(162 sessions × 15%) = 24 units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A quantity to test, not 24 confirmed orders.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69620">
                <a:tc>
                  <a:txBody>
                    <a:bodyPr/>
                    <a:lstStyle/>
                    <a:p>
                      <a:r>
                        <a:rPr sz="1875" b="1">
                          <a:solidFill>
                            <a:srgbClr val="FFFFFF"/>
                          </a:solidFill>
                          <a:latin typeface="Arial"/>
                          <a:ea typeface="Arial"/>
                          <a:cs typeface="Arial"/>
                        </a:rPr>
                        <a:t>Gross online exposure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24 × CAD 39 = CAD 936</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875">
                          <a:solidFill>
                            <a:srgbClr val="152047"/>
                          </a:solidFill>
                          <a:latin typeface="Arial"/>
                          <a:ea typeface="Arial"/>
                          <a:cs typeface="Arial"/>
                        </a:rPr>
                        <a:t>Illustrative retail value before uncertainty.</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69620">
                <a:tc>
                  <a:txBody>
                    <a:bodyPr/>
                    <a:lstStyle/>
                    <a:p>
                      <a:r>
                        <a:rPr sz="1875" b="1">
                          <a:solidFill>
                            <a:srgbClr val="FFFFFF"/>
                          </a:solidFill>
                          <a:latin typeface="Arial"/>
                          <a:ea typeface="Arial"/>
                          <a:cs typeface="Arial"/>
                        </a:rPr>
                        <a:t>Estimated foregone online sales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875">
                          <a:solidFill>
                            <a:srgbClr val="152047"/>
                          </a:solidFill>
                          <a:latin typeface="Arial"/>
                          <a:ea typeface="Arial"/>
                          <a:cs typeface="Arial"/>
                        </a:rPr>
                        <a:t>CAD 936 × 70% = CAD 655.20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875">
                          <a:solidFill>
                            <a:srgbClr val="152047"/>
                          </a:solidFill>
                          <a:latin typeface="Arial"/>
                          <a:ea typeface="Arial"/>
                          <a:cs typeface="Arial"/>
                        </a:rPr>
                        <a:t>Depends on the explicit lost-sale assumption.</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
        <p:nvSpPr>
          <p:cNvPr id="10" name="">
            <a:extLst xmlns:a="http://schemas.openxmlformats.org/drawingml/2006/main">
              <a:ext uri="{FF2B5EF4-FFF2-40B4-BE49-F238E27FC236}">
                <a16:creationId xmlns:a16="http://schemas.microsoft.com/office/drawing/2014/main" id="{D4BA9AF0-9F0C-4783-B7CB-DF056AFED651}"/>
              </a:ext>
            </a:extLst>
          </p:cNvPr>
          <p:cNvSpPr>
            <a:spLocks xmlns:a="http://schemas.openxmlformats.org/drawingml/2006/main" noGrp="1"/>
          </p:cNvSpPr>
          <p:nvPr/>
        </p:nvSpPr>
        <p:spPr>
          <a:xfrm xmlns:a="http://schemas.openxmlformats.org/drawingml/2006/main">
            <a:off x="609600" y="5514975"/>
            <a:ext cx="1249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950" b="0">
                <a:solidFill>
                  <a:srgbClr val="152047"/>
                </a:solidFill>
                <a:latin typeface="Arial"/>
                <a:ea typeface="Arial"/>
                <a:cs typeface="Arial"/>
              </a:defRPr>
            </a:defPPr>
            <a:lvl1pPr algn="l">
              <a:defRPr sz="1950" b="0">
                <a:solidFill>
                  <a:srgbClr val="152047"/>
                </a:solidFill>
                <a:latin typeface="Arial"/>
                <a:ea typeface="Arial"/>
                <a:cs typeface="Arial"/>
              </a:defRPr>
            </a:lvl1pPr>
            <a:lvl2pPr algn="l">
              <a:defRPr sz="1950" b="0">
                <a:solidFill>
                  <a:srgbClr val="152047"/>
                </a:solidFill>
                <a:latin typeface="Arial"/>
                <a:ea typeface="Arial"/>
                <a:cs typeface="Arial"/>
              </a:defRPr>
            </a:lvl2pPr>
            <a:lvl3pPr algn="l">
              <a:defRPr sz="1950" b="0">
                <a:solidFill>
                  <a:srgbClr val="152047"/>
                </a:solidFill>
                <a:latin typeface="Arial"/>
                <a:ea typeface="Arial"/>
                <a:cs typeface="Arial"/>
              </a:defRPr>
            </a:lvl3pPr>
            <a:lvl4pPr algn="l">
              <a:defRPr sz="1950" b="0">
                <a:solidFill>
                  <a:srgbClr val="152047"/>
                </a:solidFill>
                <a:latin typeface="Arial"/>
                <a:ea typeface="Arial"/>
                <a:cs typeface="Arial"/>
              </a:defRPr>
            </a:lvl4pPr>
            <a:lvl5pPr algn="l">
              <a:defRPr sz="1950" b="0">
                <a:solidFill>
                  <a:srgbClr val="152047"/>
                </a:solidFill>
                <a:latin typeface="Arial"/>
                <a:ea typeface="Arial"/>
                <a:cs typeface="Arial"/>
              </a:defRPr>
            </a:lvl5pPr>
            <a:lvl6pPr algn="l">
              <a:defRPr sz="1950" b="0">
                <a:solidFill>
                  <a:srgbClr val="152047"/>
                </a:solidFill>
                <a:latin typeface="Arial"/>
                <a:ea typeface="Arial"/>
                <a:cs typeface="Arial"/>
              </a:defRPr>
            </a:lvl6pPr>
            <a:lvl7pPr algn="l">
              <a:defRPr sz="1950" b="0">
                <a:solidFill>
                  <a:srgbClr val="152047"/>
                </a:solidFill>
                <a:latin typeface="Arial"/>
                <a:ea typeface="Arial"/>
                <a:cs typeface="Arial"/>
              </a:defRPr>
            </a:lvl7pPr>
            <a:lvl8pPr algn="l">
              <a:defRPr sz="1950" b="0">
                <a:solidFill>
                  <a:srgbClr val="152047"/>
                </a:solidFill>
                <a:latin typeface="Arial"/>
                <a:ea typeface="Arial"/>
                <a:cs typeface="Arial"/>
              </a:defRPr>
            </a:lvl8pPr>
            <a:lvl9pPr algn="l">
              <a:defRPr sz="1950" b="0">
                <a:solidFill>
                  <a:srgbClr val="152047"/>
                </a:solidFill>
                <a:latin typeface="Arial"/>
                <a:ea typeface="Arial"/>
                <a:cs typeface="Arial"/>
              </a:defRPr>
            </a:lvl9pPr>
          </a:lstStyle>
          <a:p xmlns:a="http://schemas.openxmlformats.org/drawingml/2006/main">
            <a:pPr algn="l">
              <a:defRPr sz="1950" b="0">
                <a:solidFill>
                  <a:srgbClr val="152047"/>
                </a:solidFill>
              </a:defRPr>
            </a:pPr>
            <a:r>
              <a:rPr sz="1950" b="0">
                <a:solidFill>
                  <a:srgbClr val="152047"/>
                </a:solidFill>
                <a:latin typeface="Arial"/>
                <a:ea typeface="Arial"/>
                <a:cs typeface="Arial"/>
              </a:rPr>
              <a:t>Qualify session + SKU pairs; exclude bots and repeated events.</a:t>
            </a:r>
          </a:p>
          <a:p xmlns:a="http://schemas.openxmlformats.org/drawingml/2006/main">
            <a:pPr algn="l">
              <a:defRPr sz="1950" b="0">
                <a:solidFill>
                  <a:srgbClr val="152047"/>
                </a:solidFill>
              </a:defRPr>
            </a:pPr>
            <a:r>
              <a:rPr sz="1950" b="0">
                <a:solidFill>
                  <a:srgbClr val="152047"/>
                </a:solidFill>
                <a:latin typeface="Arial"/>
                <a:ea typeface="Arial"/>
                <a:cs typeface="Arial"/>
              </a:rPr>
              <a:t>Do not add store and online signals into a unique customer total.</a:t>
            </a:r>
          </a:p>
        </p:txBody>
      </p:sp>
    </p:spTree>
    <p:extLst>
      <p:ext uri="{BB962C8B-B14F-4D97-AF65-F5344CB8AC3E}">
        <p14:creationId xmlns:p14="http://schemas.microsoft.com/office/powerpoint/2010/main" val="1018767239"/>
      </p:ext>
    </p:extLst>
  </p:cSld>
</p:sld>
</file>

<file path=ppt/slides/slide34.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70EE02-82E0-4C28-81C3-5E5BC2F5A33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69BA65-C51A-4691-95CB-20A2F0BB1DDF}"/>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12</a:t>
            </a:r>
          </a:p>
        </p:txBody>
      </p:sp>
      <p:sp>
        <p:nvSpPr>
          <p:cNvPr id="4" name="">
            <a:extLst xmlns:a="http://schemas.openxmlformats.org/drawingml/2006/main">
              <a:ext uri="{FF2B5EF4-FFF2-40B4-BE49-F238E27FC236}">
                <a16:creationId xmlns:a16="http://schemas.microsoft.com/office/drawing/2014/main" id="{E15A2A60-7A65-4D20-A82B-7E78298B9654}"/>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Gas-shortage demo: unit cost and cohort impact</a:t>
            </a:r>
          </a:p>
        </p:txBody>
      </p:sp>
      <p:sp>
        <p:nvSpPr>
          <p:cNvPr id="5" name="">
            <a:extLst xmlns:a="http://schemas.openxmlformats.org/drawingml/2006/main">
              <a:ext uri="{FF2B5EF4-FFF2-40B4-BE49-F238E27FC236}">
                <a16:creationId xmlns:a16="http://schemas.microsoft.com/office/drawing/2014/main" id="{370FCF2A-6C99-49E5-A87B-2B260AE47118}"/>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MMBtu = million British thermal units, an energy measure. Production reduction and price increase are independent assumptions.</a:t>
            </a:r>
          </a:p>
        </p:txBody>
      </p:sp>
      <p:sp>
        <p:nvSpPr>
          <p:cNvPr id="6" name="">
            <a:extLst xmlns:a="http://schemas.openxmlformats.org/drawingml/2006/main">
              <a:ext uri="{FF2B5EF4-FFF2-40B4-BE49-F238E27FC236}">
                <a16:creationId xmlns:a16="http://schemas.microsoft.com/office/drawing/2014/main" id="{0FDC4A8F-3A61-4576-BFB4-3800BD9463E3}"/>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2315F50D-78A3-4C34-AC72-5F719565B5C0}"/>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9EF1676-3FB2-4B8A-B65D-640E45100D3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34</a:t>
            </a:r>
          </a:p>
        </p:txBody>
      </p:sp>
      <p:graphicFrame>
        <p:nvGraphicFramePr>
          <p:cNvPr id="9" name="">
            <a:extLst xmlns:a="http://schemas.openxmlformats.org/drawingml/2006/main">
              <a:ext uri="{FF2B5EF4-FFF2-40B4-BE49-F238E27FC236}">
                <a16:creationId xmlns:a16="http://schemas.microsoft.com/office/drawing/2014/main" id="{6E213F30-8F1B-415F-864D-958F9C3B8A93}"/>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968496"/>
                <a:gridCol w="8833104"/>
              </a:tblGrid>
              <a:tr h="700768">
                <a:tc>
                  <a:txBody>
                    <a:bodyPr/>
                    <a:lstStyle/>
                    <a:p>
                      <a:r>
                        <a:rPr sz="1725" b="1">
                          <a:solidFill>
                            <a:srgbClr val="FFFFFF"/>
                          </a:solidFill>
                          <a:latin typeface="Arial"/>
                          <a:ea typeface="Arial"/>
                          <a:cs typeface="Arial"/>
                        </a:rPr>
                        <a:t>Input / result</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Illustrative scenario</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Shock assumptions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25% less input supply; +30% input price; +7 days; 30-day horizon</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Cream top energy uplift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0.12 MMBtu × CAD 5.80/MMBtu × 30% × 100% pass-through = CAD 0.2088</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Cream top landed cost / margin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13.50 → 13.71; 65.38% → 64.85% at CAD 39 retail</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Completed new-production cohort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Added cost CAD 208.22; weighted margin 68.20% → 67.89%</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Deferred production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329 of 1,309 planned new units; not assumed permanently lost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Planning-cohort profit reduction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CAD 15,339.50 on deferred units + CAD 208.22 added cost = CAD 15,547.72</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728116644"/>
      </p:ext>
    </p:extLst>
  </p:cSld>
</p:sld>
</file>

<file path=ppt/slides/slide35.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3E8A37-82D1-488D-98B3-62BAFA84201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DC572E-EEC6-4C17-8017-14DFF86EB5AE}"/>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13</a:t>
            </a:r>
          </a:p>
        </p:txBody>
      </p:sp>
      <p:sp>
        <p:nvSpPr>
          <p:cNvPr id="4" name="">
            <a:extLst xmlns:a="http://schemas.openxmlformats.org/drawingml/2006/main">
              <a:ext uri="{FF2B5EF4-FFF2-40B4-BE49-F238E27FC236}">
                <a16:creationId xmlns:a16="http://schemas.microsoft.com/office/drawing/2014/main" id="{B5BE5EC4-90D4-40EA-835F-9783A5BAD118}"/>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case, market and SAP context</a:t>
            </a:r>
          </a:p>
        </p:txBody>
      </p:sp>
      <p:sp>
        <p:nvSpPr>
          <p:cNvPr id="5" name="">
            <a:extLst xmlns:a="http://schemas.openxmlformats.org/drawingml/2006/main">
              <a:ext uri="{FF2B5EF4-FFF2-40B4-BE49-F238E27FC236}">
                <a16:creationId xmlns:a16="http://schemas.microsoft.com/office/drawing/2014/main" id="{0DF6D6F7-6D72-407A-9085-1F0B2676CD09}"/>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Accessed 25 Oct 2026. The Launchpad’s valuation and H1 revenue figures are omitted because they are unnecessary to the investment case.</a:t>
            </a:r>
          </a:p>
        </p:txBody>
      </p:sp>
      <p:sp>
        <p:nvSpPr>
          <p:cNvPr id="6" name="">
            <a:extLst xmlns:a="http://schemas.openxmlformats.org/drawingml/2006/main">
              <a:ext uri="{FF2B5EF4-FFF2-40B4-BE49-F238E27FC236}">
                <a16:creationId xmlns:a16="http://schemas.microsoft.com/office/drawing/2014/main" id="{7A596046-96CE-43AF-904A-DA347143104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1E7D3B96-B91F-4736-924C-A50545CDAFC5}"/>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075F91F9-7AA0-44BD-BD8B-35767F065DFB}"/>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35</a:t>
            </a:r>
          </a:p>
        </p:txBody>
      </p:sp>
      <p:graphicFrame>
        <p:nvGraphicFramePr>
          <p:cNvPr id="9" name="">
            <a:extLst xmlns:a="http://schemas.openxmlformats.org/drawingml/2006/main">
              <a:ext uri="{FF2B5EF4-FFF2-40B4-BE49-F238E27FC236}">
                <a16:creationId xmlns:a16="http://schemas.microsoft.com/office/drawing/2014/main" id="{4669592A-4BCB-4111-804A-9D21B6EB5F08}"/>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84455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844550">
                <a:tc>
                  <a:txBody>
                    <a:bodyPr/>
                    <a:lstStyle/>
                    <a:p>
                      <a:r>
                        <a:rPr sz="1425" b="1">
                          <a:solidFill>
                            <a:srgbClr val="FFFFFF"/>
                          </a:solidFill>
                          <a:latin typeface="Arial"/>
                          <a:ea typeface="Arial"/>
                          <a:cs typeface="Arial"/>
                        </a:rPr>
                        <a:t>S1 · Product+ case package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Supplied PDF, pp. 3–5. Challenge, user roles, SAP customer/country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425" b="1">
                          <a:solidFill>
                            <a:srgbClr val="FFFFFF"/>
                          </a:solidFill>
                          <a:latin typeface="Arial"/>
                          <a:ea typeface="Arial"/>
                          <a:cs typeface="Arial"/>
                        </a:rPr>
                        <a:t>S2 · Plus One Braincell Launchpad</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Supplied PDF, recommendations 1–3 and source bibliography. Team 463980.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425" b="1">
                          <a:solidFill>
                            <a:srgbClr val="FFFFFF"/>
                          </a:solidFill>
                          <a:latin typeface="Arial"/>
                          <a:ea typeface="Arial"/>
                          <a:cs typeface="Arial"/>
                        </a:rPr>
                        <a:t>S3 · SAP Future of Retail</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https://www.sap.com/engage/future-of-retail.html</a:t>
                      </a:r>
                    </a:p>
                    <a:p>
                      <a:r>
                        <a:rPr sz="1425">
                          <a:solidFill>
                            <a:srgbClr val="152047"/>
                          </a:solidFill>
                          <a:latin typeface="Arial"/>
                          <a:ea typeface="Arial"/>
                          <a:cs typeface="Arial"/>
                        </a:rPr>
                        <a:t>14,000+ retail customers; broader footprint, not eligible apparel accounts.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844550">
                <a:tc>
                  <a:txBody>
                    <a:bodyPr/>
                    <a:lstStyle/>
                    <a:p>
                      <a:r>
                        <a:rPr sz="1425" b="1">
                          <a:solidFill>
                            <a:srgbClr val="FFFFFF"/>
                          </a:solidFill>
                          <a:latin typeface="Arial"/>
                          <a:ea typeface="Arial"/>
                          <a:cs typeface="Arial"/>
                        </a:rPr>
                        <a:t>S4 · Shopify fashion industry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https://www.shopify.com/uk/enterprise/blog/ecommerce-fashion-industry</a:t>
                      </a:r>
                    </a:p>
                    <a:p>
                      <a:r>
                        <a:rPr sz="1425">
                          <a:solidFill>
                            <a:srgbClr val="152047"/>
                          </a:solidFill>
                          <a:latin typeface="Arial"/>
                          <a:ea typeface="Arial"/>
                          <a:cs typeface="Arial"/>
                        </a:rPr>
                        <a:t>2026 fashion e-commerce projection, citing Statista; different scope from apparel sales.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844550">
                <a:tc>
                  <a:txBody>
                    <a:bodyPr/>
                    <a:lstStyle/>
                    <a:p>
                      <a:r>
                        <a:rPr sz="1425" b="1">
                          <a:solidFill>
                            <a:srgbClr val="FFFFFF"/>
                          </a:solidFill>
                          <a:latin typeface="Arial"/>
                          <a:ea typeface="Arial"/>
                          <a:cs typeface="Arial"/>
                        </a:rPr>
                        <a:t>S5 · McKinsey agentic commerce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https://www.mckinsey.com/capabilities/quantumblack/our-insights/the-agentic-commerce-opportunity-how-ai-agents-are-ushering-in-a-new-era-for-consumers-and-merchants</a:t>
                      </a:r>
                    </a:p>
                    <a:p>
                      <a:r>
                        <a:rPr sz="1425">
                          <a:solidFill>
                            <a:srgbClr val="152047"/>
                          </a:solidFill>
                          <a:latin typeface="Arial"/>
                          <a:ea typeface="Arial"/>
                          <a:cs typeface="Arial"/>
                        </a:rPr>
                        <a:t>US$3–5T goods commerce by 2030 is context, not software TAM.</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bl>
          </a:graphicData>
        </a:graphic>
      </p:graphicFrame>
    </p:spTree>
    <p:extLst>
      <p:ext uri="{BB962C8B-B14F-4D97-AF65-F5344CB8AC3E}">
        <p14:creationId xmlns:p14="http://schemas.microsoft.com/office/powerpoint/2010/main" val="58969640"/>
      </p:ext>
    </p:extLst>
  </p:cSld>
</p:sld>
</file>

<file path=ppt/slides/slide36.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113231-7562-4581-ACBB-0C28367CB851}"/>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214D39-4EE4-48FD-ADBF-2B599767A416}"/>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14</a:t>
            </a:r>
          </a:p>
        </p:txBody>
      </p:sp>
      <p:sp>
        <p:nvSpPr>
          <p:cNvPr id="4" name="">
            <a:extLst xmlns:a="http://schemas.openxmlformats.org/drawingml/2006/main">
              <a:ext uri="{FF2B5EF4-FFF2-40B4-BE49-F238E27FC236}">
                <a16:creationId xmlns:a16="http://schemas.microsoft.com/office/drawing/2014/main" id="{5C2DD44F-4775-4418-93A6-959E4CD65953}"/>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SAP applications and AI governance</a:t>
            </a:r>
          </a:p>
        </p:txBody>
      </p:sp>
      <p:sp>
        <p:nvSpPr>
          <p:cNvPr id="5" name="">
            <a:extLst xmlns:a="http://schemas.openxmlformats.org/drawingml/2006/main">
              <a:ext uri="{FF2B5EF4-FFF2-40B4-BE49-F238E27FC236}">
                <a16:creationId xmlns:a16="http://schemas.microsoft.com/office/drawing/2014/main" id="{7B158293-BC60-4EBC-88FB-936B0D2F67D2}"/>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Accessed 25 Oct 2026. Product capabilities are vendor descriptions; proposed integrations are not completed integrations.</a:t>
            </a:r>
          </a:p>
        </p:txBody>
      </p:sp>
      <p:sp>
        <p:nvSpPr>
          <p:cNvPr id="6" name="">
            <a:extLst xmlns:a="http://schemas.openxmlformats.org/drawingml/2006/main">
              <a:ext uri="{FF2B5EF4-FFF2-40B4-BE49-F238E27FC236}">
                <a16:creationId xmlns:a16="http://schemas.microsoft.com/office/drawing/2014/main" id="{43234BB9-9ACB-47A3-810D-413D0B7D6046}"/>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DA5CB5B-C3EB-4DE8-A7B5-D2C6EAA25667}"/>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3576CBE3-015A-4D26-97CE-F6ED1F4FEC35}"/>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36</a:t>
            </a:r>
          </a:p>
        </p:txBody>
      </p:sp>
      <p:graphicFrame>
        <p:nvGraphicFramePr>
          <p:cNvPr id="9" name="">
            <a:extLst xmlns:a="http://schemas.openxmlformats.org/drawingml/2006/main">
              <a:ext uri="{FF2B5EF4-FFF2-40B4-BE49-F238E27FC236}">
                <a16:creationId xmlns:a16="http://schemas.microsoft.com/office/drawing/2014/main" id="{01B62C7B-2549-45F0-BDDC-683ABFDA1659}"/>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101346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013460">
                <a:tc>
                  <a:txBody>
                    <a:bodyPr/>
                    <a:lstStyle/>
                    <a:p>
                      <a:r>
                        <a:rPr sz="1425" b="1">
                          <a:solidFill>
                            <a:srgbClr val="FFFFFF"/>
                          </a:solidFill>
                          <a:latin typeface="Arial"/>
                          <a:ea typeface="Arial"/>
                          <a:cs typeface="Arial"/>
                        </a:rPr>
                        <a:t>S6 · Customer Activity Repository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https://www.sap.com/products/crm/customer-activity-repository.html</a:t>
                      </a:r>
                    </a:p>
                    <a:p>
                      <a:r>
                        <a:rPr sz="1425">
                          <a:solidFill>
                            <a:srgbClr val="152047"/>
                          </a:solidFill>
                          <a:latin typeface="Arial"/>
                          <a:ea typeface="Arial"/>
                          <a:cs typeface="Arial"/>
                        </a:rPr>
                        <a:t>Transaction, demand and inventory context.</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S7 · Commerce / planning / execution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https://www.sap.com/products/crm/commerce-cloud.html</a:t>
                      </a:r>
                    </a:p>
                    <a:p>
                      <a:r>
                        <a:rPr sz="1425">
                          <a:solidFill>
                            <a:srgbClr val="152047"/>
                          </a:solidFill>
                          <a:latin typeface="Arial"/>
                          <a:ea typeface="Arial"/>
                          <a:cs typeface="Arial"/>
                        </a:rPr>
                        <a:t>https://www.sap.com/products/scm/integrated-business-planning.html</a:t>
                      </a:r>
                    </a:p>
                    <a:p>
                      <a:r>
                        <a:rPr sz="1425">
                          <a:solidFill>
                            <a:srgbClr val="152047"/>
                          </a:solidFill>
                          <a:latin typeface="Arial"/>
                          <a:ea typeface="Arial"/>
                          <a:cs typeface="Arial"/>
                        </a:rPr>
                        <a:t>https://learning.sap.com/products/s4hana-cloud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013460">
                <a:tc>
                  <a:txBody>
                    <a:bodyPr/>
                    <a:lstStyle/>
                    <a:p>
                      <a:r>
                        <a:rPr sz="1425" b="1">
                          <a:solidFill>
                            <a:srgbClr val="FFFFFF"/>
                          </a:solidFill>
                          <a:latin typeface="Arial"/>
                          <a:ea typeface="Arial"/>
                          <a:cs typeface="Arial"/>
                        </a:rPr>
                        <a:t>S8 · Integration Suite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https://www.sap.com/products/technology-platform/integration-suite.html</a:t>
                      </a:r>
                    </a:p>
                    <a:p>
                      <a:r>
                        <a:rPr sz="1425">
                          <a:solidFill>
                            <a:srgbClr val="152047"/>
                          </a:solidFill>
                          <a:latin typeface="Arial"/>
                          <a:ea typeface="Arial"/>
                          <a:cs typeface="Arial"/>
                        </a:rPr>
                        <a:t>Controlled SAP and third-party integration; actual tenant mapping still required.</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S9 · AI data handling</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https://www.sap.com/products/artificial-intelligence/ai-ethics.html</a:t>
                      </a:r>
                    </a:p>
                    <a:p>
                      <a:r>
                        <a:rPr sz="1425">
                          <a:solidFill>
                            <a:srgbClr val="152047"/>
                          </a:solidFill>
                          <a:latin typeface="Arial"/>
                          <a:ea typeface="Arial"/>
                          <a:cs typeface="Arial"/>
                        </a:rPr>
                        <a:t>https://learning.sap.com/courses/building-confidence-in-ai-with-sap/does-ai-train-on-my-data</a:t>
                      </a:r>
                    </a:p>
                    <a:p>
                      <a:r>
                        <a:rPr sz="1425">
                          <a:solidFill>
                            <a:srgbClr val="152047"/>
                          </a:solidFill>
                          <a:latin typeface="Arial"/>
                          <a:ea typeface="Arial"/>
                          <a:cs typeface="Arial"/>
                        </a:rPr>
                        <a:t>Use depends on agreements and service settings; external model training is restricted.</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447847524"/>
      </p:ext>
    </p:extLst>
  </p:cSld>
</p:sld>
</file>

<file path=ppt/slides/slide37.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0F8D75C-5DBE-443B-9580-F706B460750B}"/>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ECA8200-6151-45E4-A714-B4F91C868D6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15</a:t>
            </a:r>
          </a:p>
        </p:txBody>
      </p:sp>
      <p:sp>
        <p:nvSpPr>
          <p:cNvPr id="4" name="">
            <a:extLst xmlns:a="http://schemas.openxmlformats.org/drawingml/2006/main">
              <a:ext uri="{FF2B5EF4-FFF2-40B4-BE49-F238E27FC236}">
                <a16:creationId xmlns:a16="http://schemas.microsoft.com/office/drawing/2014/main" id="{A634D9E1-B9D1-4F7A-B6A4-5DE919E3DCED}"/>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Sources: hardware, distribution and competition</a:t>
            </a:r>
          </a:p>
        </p:txBody>
      </p:sp>
      <p:sp>
        <p:nvSpPr>
          <p:cNvPr id="5" name="">
            <a:extLst xmlns:a="http://schemas.openxmlformats.org/drawingml/2006/main">
              <a:ext uri="{FF2B5EF4-FFF2-40B4-BE49-F238E27FC236}">
                <a16:creationId xmlns:a16="http://schemas.microsoft.com/office/drawing/2014/main" id="{96886A60-1C8A-4C0C-B8F3-730DD18F2725}"/>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Sources establish capabilities and geographic presence, not a signed Retail Signal partnership or a completed feature audit.</a:t>
            </a:r>
          </a:p>
        </p:txBody>
      </p:sp>
      <p:sp>
        <p:nvSpPr>
          <p:cNvPr id="6" name="">
            <a:extLst xmlns:a="http://schemas.openxmlformats.org/drawingml/2006/main">
              <a:ext uri="{FF2B5EF4-FFF2-40B4-BE49-F238E27FC236}">
                <a16:creationId xmlns:a16="http://schemas.microsoft.com/office/drawing/2014/main" id="{623E0334-AAF6-41C6-934F-910F1BC9F0B1}"/>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FB5984FB-B01A-4DFA-8355-DFADF47E1F04}"/>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7815E7F5-F76D-42D9-B089-B428834B1E58}"/>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37</a:t>
            </a:r>
          </a:p>
        </p:txBody>
      </p:sp>
      <p:graphicFrame>
        <p:nvGraphicFramePr>
          <p:cNvPr id="9" name="">
            <a:extLst xmlns:a="http://schemas.openxmlformats.org/drawingml/2006/main">
              <a:ext uri="{FF2B5EF4-FFF2-40B4-BE49-F238E27FC236}">
                <a16:creationId xmlns:a16="http://schemas.microsoft.com/office/drawing/2014/main" id="{8E40991F-DDD0-49C0-9FB1-F57A5D8B1D66}"/>
              </a:ext>
            </a:extLst>
          </p:cNvPr>
          <p:cNvGraphicFramePr/>
          <p:nvPr/>
        </p:nvGraphicFramePr>
        <p:xfrm>
          <a:off xmlns:a="http://schemas.openxmlformats.org/drawingml/2006/main" x="457200" y="1457325"/>
          <a:ext xmlns:a="http://schemas.openxmlformats.org/drawingml/2006/main" cx="12801600" cy="5067300"/>
        </p:xfrm>
        <a:graphic xmlns:a="http://schemas.openxmlformats.org/drawingml/2006/main">
          <a:graphicData uri="http://schemas.openxmlformats.org/drawingml/2006/table">
            <a:tbl>
              <a:tblPr/>
              <a:tblGrid>
                <a:gridCol w="2944368"/>
                <a:gridCol w="9857232"/>
              </a:tblGrid>
              <a:tr h="1013460">
                <a:tc>
                  <a:txBody>
                    <a:bodyPr/>
                    <a:lstStyle/>
                    <a:p>
                      <a:r>
                        <a:rPr sz="1425" b="1">
                          <a:solidFill>
                            <a:srgbClr val="FFFFFF"/>
                          </a:solidFill>
                          <a:latin typeface="Arial"/>
                          <a:ea typeface="Arial"/>
                          <a:cs typeface="Arial"/>
                        </a:rPr>
                        <a:t>Reference</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425" b="1">
                          <a:solidFill>
                            <a:srgbClr val="FFFFFF"/>
                          </a:solidFill>
                          <a:latin typeface="Arial"/>
                          <a:ea typeface="Arial"/>
                          <a:cs typeface="Arial"/>
                        </a:rPr>
                        <a:t>Source and scope</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1013460">
                <a:tc>
                  <a:txBody>
                    <a:bodyPr/>
                    <a:lstStyle/>
                    <a:p>
                      <a:r>
                        <a:rPr sz="1425" b="1">
                          <a:solidFill>
                            <a:srgbClr val="FFFFFF"/>
                          </a:solidFill>
                          <a:latin typeface="Arial"/>
                          <a:ea typeface="Arial"/>
                          <a:cs typeface="Arial"/>
                        </a:rPr>
                        <a:t>S10 · Hardware capability</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https://www.zebra.com/us/en/products/rfid/rfid-readers.html</a:t>
                      </a:r>
                    </a:p>
                    <a:p>
                      <a:r>
                        <a:rPr sz="1425">
                          <a:solidFill>
                            <a:srgbClr val="152047"/>
                          </a:solidFill>
                          <a:latin typeface="Arial"/>
                          <a:ea typeface="Arial"/>
                          <a:cs typeface="Arial"/>
                        </a:rPr>
                        <a:t>https://rfid.averydennison.com/en/home/industry-segments/retail/apparel-and-fashion.html</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S11 · Regional presence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Ingram Micro: global locations</a:t>
                      </a:r>
                    </a:p>
                    <a:p>
                      <a:r>
                        <a:rPr sz="1425">
                          <a:solidFill>
                            <a:srgbClr val="152047"/>
                          </a:solidFill>
                          <a:latin typeface="Arial"/>
                          <a:ea typeface="Arial"/>
                          <a:cs typeface="Arial"/>
                        </a:rPr>
                        <a:t>TD SYNNEX: regional coverage</a:t>
                      </a:r>
                    </a:p>
                    <a:p>
                      <a:r>
                        <a:rPr sz="1425">
                          <a:solidFill>
                            <a:srgbClr val="152047"/>
                          </a:solidFill>
                          <a:latin typeface="Arial"/>
                          <a:ea typeface="Arial"/>
                          <a:cs typeface="Arial"/>
                        </a:rPr>
                        <a:t>Redington: global presence</a:t>
                      </a:r>
                    </a:p>
                    <a:p>
                      <a:r>
                        <a:rPr sz="1425">
                          <a:solidFill>
                            <a:srgbClr val="152047"/>
                          </a:solidFill>
                          <a:latin typeface="Arial"/>
                          <a:ea typeface="Arial"/>
                          <a:cs typeface="Arial"/>
                        </a:rPr>
                        <a:t>Full links in speaker notes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1013460">
                <a:tc>
                  <a:txBody>
                    <a:bodyPr/>
                    <a:lstStyle/>
                    <a:p>
                      <a:r>
                        <a:rPr sz="1425" b="1">
                          <a:solidFill>
                            <a:srgbClr val="FFFFFF"/>
                          </a:solidFill>
                          <a:latin typeface="Arial"/>
                          <a:ea typeface="Arial"/>
                          <a:cs typeface="Arial"/>
                        </a:rPr>
                        <a:t>S12 · Competitors</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https://www.sensormatic.com/de_de/TrueVUE-Inventory-Intel/TrueVUE-Fitting-Room</a:t>
                      </a:r>
                    </a:p>
                    <a:p>
                      <a:r>
                        <a:rPr sz="1425">
                          <a:solidFill>
                            <a:srgbClr val="152047"/>
                          </a:solidFill>
                          <a:latin typeface="Arial"/>
                          <a:ea typeface="Arial"/>
                          <a:cs typeface="Arial"/>
                        </a:rPr>
                        <a:t>https://www.oracle.com/retail/</a:t>
                      </a:r>
                    </a:p>
                    <a:p>
                      <a:r>
                        <a:rPr sz="1425">
                          <a:solidFill>
                            <a:srgbClr val="152047"/>
                          </a:solidFill>
                          <a:latin typeface="Arial"/>
                          <a:ea typeface="Arial"/>
                          <a:cs typeface="Arial"/>
                        </a:rPr>
                        <a:t>https://blueyonder.com/solutions/retail-planning</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1013460">
                <a:tc>
                  <a:txBody>
                    <a:bodyPr/>
                    <a:lstStyle/>
                    <a:p>
                      <a:r>
                        <a:rPr sz="1425" b="1">
                          <a:solidFill>
                            <a:srgbClr val="FFFFFF"/>
                          </a:solidFill>
                          <a:latin typeface="Arial"/>
                          <a:ea typeface="Arial"/>
                          <a:cs typeface="Arial"/>
                        </a:rPr>
                        <a:t>S13 · Prototype and public reference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425">
                          <a:solidFill>
                            <a:srgbClr val="152047"/>
                          </a:solidFill>
                          <a:latin typeface="Arial"/>
                          <a:ea typeface="Arial"/>
                          <a:cs typeface="Arial"/>
                        </a:rPr>
                        <a:t>Current local Retail Signal website, captured 25 Oct 2026.</a:t>
                      </a:r>
                    </a:p>
                    <a:p>
                      <a:r>
                        <a:rPr sz="1425">
                          <a:solidFill>
                            <a:srgbClr val="152047"/>
                          </a:solidFill>
                          <a:latin typeface="Arial"/>
                          <a:ea typeface="Arial"/>
                          <a:cs typeface="Arial"/>
                        </a:rPr>
                        <a:t>https://fred.stlouisfed.org/series/PNGASUSUSDM</a:t>
                      </a:r>
                    </a:p>
                    <a:p>
                      <a:r>
                        <a:rPr sz="1425">
                          <a:solidFill>
                            <a:srgbClr val="152047"/>
                          </a:solidFill>
                          <a:latin typeface="Arial"/>
                          <a:ea typeface="Arial"/>
                          <a:cs typeface="Arial"/>
                        </a:rPr>
                        <a:t>Public commodity observations are not supplier quotes.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2031467967"/>
      </p:ext>
    </p:extLst>
  </p:cSld>
</p:sld>
</file>

<file path=ppt/slides/slide38.xml><?xml version="1.0" encoding="utf-8"?>
<p:sld xmlns:p="http://schemas.openxmlformats.org/presentationml/2006/main" show="0">
  <p:cSld>
    <p:bg>
      <p:bgPr>
        <a:solidFill xmlns:a="http://schemas.openxmlformats.org/drawingml/2006/main">
          <a:srgbClr val="EDF4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438709C-D2AC-48B5-96EB-65602955BD19}"/>
              </a:ext>
            </a:extLst>
          </p:cNvPr>
          <p:cNvSpPr>
            <a:spLocks xmlns:a="http://schemas.openxmlformats.org/drawingml/2006/main" noGrp="1"/>
          </p:cNvSpPr>
          <p:nvPr/>
        </p:nvSpPr>
        <p:spPr>
          <a:xfrm xmlns:a="http://schemas.openxmlformats.org/drawingml/2006/main">
            <a:off x="419100" y="285750"/>
            <a:ext cx="66675" cy="819150"/>
          </a:xfrm>
          <a:prstGeom xmlns:a="http://schemas.openxmlformats.org/drawingml/2006/main" prst="rect">
            <a:avLst/>
          </a:prstGeom>
          <a:solidFill xmlns:a="http://schemas.openxmlformats.org/drawingml/2006/main">
            <a:srgbClr val="165DA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C6EC84-28A2-4D5A-B617-C54BDF6BEA45}"/>
              </a:ext>
            </a:extLst>
          </p:cNvPr>
          <p:cNvSpPr>
            <a:spLocks xmlns:a="http://schemas.openxmlformats.org/drawingml/2006/main" noGrp="1"/>
          </p:cNvSpPr>
          <p:nvPr/>
        </p:nvSpPr>
        <p:spPr>
          <a:xfrm xmlns:a="http://schemas.openxmlformats.org/drawingml/2006/main">
            <a:off x="685800" y="219075"/>
            <a:ext cx="1219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65DAE"/>
                </a:solidFill>
                <a:latin typeface="Arial"/>
                <a:ea typeface="Arial"/>
                <a:cs typeface="Arial"/>
              </a:defRPr>
            </a:defPPr>
            <a:lvl1pPr algn="l">
              <a:defRPr sz="1275" b="1">
                <a:solidFill>
                  <a:srgbClr val="165DAE"/>
                </a:solidFill>
                <a:latin typeface="Arial"/>
                <a:ea typeface="Arial"/>
                <a:cs typeface="Arial"/>
              </a:defRPr>
            </a:lvl1pPr>
            <a:lvl2pPr algn="l">
              <a:defRPr sz="1275" b="1">
                <a:solidFill>
                  <a:srgbClr val="165DAE"/>
                </a:solidFill>
                <a:latin typeface="Arial"/>
                <a:ea typeface="Arial"/>
                <a:cs typeface="Arial"/>
              </a:defRPr>
            </a:lvl2pPr>
            <a:lvl3pPr algn="l">
              <a:defRPr sz="1275" b="1">
                <a:solidFill>
                  <a:srgbClr val="165DAE"/>
                </a:solidFill>
                <a:latin typeface="Arial"/>
                <a:ea typeface="Arial"/>
                <a:cs typeface="Arial"/>
              </a:defRPr>
            </a:lvl3pPr>
            <a:lvl4pPr algn="l">
              <a:defRPr sz="1275" b="1">
                <a:solidFill>
                  <a:srgbClr val="165DAE"/>
                </a:solidFill>
                <a:latin typeface="Arial"/>
                <a:ea typeface="Arial"/>
                <a:cs typeface="Arial"/>
              </a:defRPr>
            </a:lvl4pPr>
            <a:lvl5pPr algn="l">
              <a:defRPr sz="1275" b="1">
                <a:solidFill>
                  <a:srgbClr val="165DAE"/>
                </a:solidFill>
                <a:latin typeface="Arial"/>
                <a:ea typeface="Arial"/>
                <a:cs typeface="Arial"/>
              </a:defRPr>
            </a:lvl5pPr>
            <a:lvl6pPr algn="l">
              <a:defRPr sz="1275" b="1">
                <a:solidFill>
                  <a:srgbClr val="165DAE"/>
                </a:solidFill>
                <a:latin typeface="Arial"/>
                <a:ea typeface="Arial"/>
                <a:cs typeface="Arial"/>
              </a:defRPr>
            </a:lvl6pPr>
            <a:lvl7pPr algn="l">
              <a:defRPr sz="1275" b="1">
                <a:solidFill>
                  <a:srgbClr val="165DAE"/>
                </a:solidFill>
                <a:latin typeface="Arial"/>
                <a:ea typeface="Arial"/>
                <a:cs typeface="Arial"/>
              </a:defRPr>
            </a:lvl7pPr>
            <a:lvl8pPr algn="l">
              <a:defRPr sz="1275" b="1">
                <a:solidFill>
                  <a:srgbClr val="165DAE"/>
                </a:solidFill>
                <a:latin typeface="Arial"/>
                <a:ea typeface="Arial"/>
                <a:cs typeface="Arial"/>
              </a:defRPr>
            </a:lvl8pPr>
            <a:lvl9pPr algn="l">
              <a:defRPr sz="1275" b="1">
                <a:solidFill>
                  <a:srgbClr val="165DAE"/>
                </a:solidFill>
                <a:latin typeface="Arial"/>
                <a:ea typeface="Arial"/>
                <a:cs typeface="Arial"/>
              </a:defRPr>
            </a:lvl9pPr>
          </a:lstStyle>
          <a:p xmlns:a="http://schemas.openxmlformats.org/drawingml/2006/main">
            <a:pPr algn="l">
              <a:defRPr sz="1275" b="1">
                <a:solidFill>
                  <a:srgbClr val="165DAE"/>
                </a:solidFill>
              </a:defRPr>
            </a:pPr>
            <a:r>
              <a:rPr sz="1275" b="1">
                <a:solidFill>
                  <a:srgbClr val="165DAE"/>
                </a:solidFill>
                <a:latin typeface="Arial"/>
                <a:ea typeface="Arial"/>
                <a:cs typeface="Arial"/>
              </a:rPr>
              <a:t>APPENDIX · 16</a:t>
            </a:r>
          </a:p>
        </p:txBody>
      </p:sp>
      <p:sp>
        <p:nvSpPr>
          <p:cNvPr id="4" name="">
            <a:extLst xmlns:a="http://schemas.openxmlformats.org/drawingml/2006/main">
              <a:ext uri="{FF2B5EF4-FFF2-40B4-BE49-F238E27FC236}">
                <a16:creationId xmlns:a16="http://schemas.microsoft.com/office/drawing/2014/main" id="{A0BBA942-CBDF-4B0C-947E-4565EDC88496}"/>
              </a:ext>
            </a:extLst>
          </p:cNvPr>
          <p:cNvSpPr>
            <a:spLocks xmlns:a="http://schemas.openxmlformats.org/drawingml/2006/main" noGrp="1"/>
          </p:cNvSpPr>
          <p:nvPr/>
        </p:nvSpPr>
        <p:spPr>
          <a:xfrm xmlns:a="http://schemas.openxmlformats.org/drawingml/2006/main">
            <a:off x="685800" y="504825"/>
            <a:ext cx="1219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000" b="1">
                <a:solidFill>
                  <a:srgbClr val="152047"/>
                </a:solidFill>
                <a:latin typeface="Arial"/>
                <a:ea typeface="Arial"/>
                <a:cs typeface="Arial"/>
              </a:defRPr>
            </a:defPPr>
            <a:lvl1pPr algn="l">
              <a:defRPr sz="3000" b="1">
                <a:solidFill>
                  <a:srgbClr val="152047"/>
                </a:solidFill>
                <a:latin typeface="Arial"/>
                <a:ea typeface="Arial"/>
                <a:cs typeface="Arial"/>
              </a:defRPr>
            </a:lvl1pPr>
            <a:lvl2pPr algn="l">
              <a:defRPr sz="3000" b="1">
                <a:solidFill>
                  <a:srgbClr val="152047"/>
                </a:solidFill>
                <a:latin typeface="Arial"/>
                <a:ea typeface="Arial"/>
                <a:cs typeface="Arial"/>
              </a:defRPr>
            </a:lvl2pPr>
            <a:lvl3pPr algn="l">
              <a:defRPr sz="3000" b="1">
                <a:solidFill>
                  <a:srgbClr val="152047"/>
                </a:solidFill>
                <a:latin typeface="Arial"/>
                <a:ea typeface="Arial"/>
                <a:cs typeface="Arial"/>
              </a:defRPr>
            </a:lvl3pPr>
            <a:lvl4pPr algn="l">
              <a:defRPr sz="3000" b="1">
                <a:solidFill>
                  <a:srgbClr val="152047"/>
                </a:solidFill>
                <a:latin typeface="Arial"/>
                <a:ea typeface="Arial"/>
                <a:cs typeface="Arial"/>
              </a:defRPr>
            </a:lvl4pPr>
            <a:lvl5pPr algn="l">
              <a:defRPr sz="3000" b="1">
                <a:solidFill>
                  <a:srgbClr val="152047"/>
                </a:solidFill>
                <a:latin typeface="Arial"/>
                <a:ea typeface="Arial"/>
                <a:cs typeface="Arial"/>
              </a:defRPr>
            </a:lvl5pPr>
            <a:lvl6pPr algn="l">
              <a:defRPr sz="3000" b="1">
                <a:solidFill>
                  <a:srgbClr val="152047"/>
                </a:solidFill>
                <a:latin typeface="Arial"/>
                <a:ea typeface="Arial"/>
                <a:cs typeface="Arial"/>
              </a:defRPr>
            </a:lvl6pPr>
            <a:lvl7pPr algn="l">
              <a:defRPr sz="3000" b="1">
                <a:solidFill>
                  <a:srgbClr val="152047"/>
                </a:solidFill>
                <a:latin typeface="Arial"/>
                <a:ea typeface="Arial"/>
                <a:cs typeface="Arial"/>
              </a:defRPr>
            </a:lvl7pPr>
            <a:lvl8pPr algn="l">
              <a:defRPr sz="3000" b="1">
                <a:solidFill>
                  <a:srgbClr val="152047"/>
                </a:solidFill>
                <a:latin typeface="Arial"/>
                <a:ea typeface="Arial"/>
                <a:cs typeface="Arial"/>
              </a:defRPr>
            </a:lvl8pPr>
            <a:lvl9pPr algn="l">
              <a:defRPr sz="3000" b="1">
                <a:solidFill>
                  <a:srgbClr val="152047"/>
                </a:solidFill>
                <a:latin typeface="Arial"/>
                <a:ea typeface="Arial"/>
                <a:cs typeface="Arial"/>
              </a:defRPr>
            </a:lvl9pPr>
          </a:lstStyle>
          <a:p xmlns:a="http://schemas.openxmlformats.org/drawingml/2006/main">
            <a:pPr algn="l">
              <a:defRPr sz="3000" b="1">
                <a:solidFill>
                  <a:srgbClr val="152047"/>
                </a:solidFill>
              </a:defRPr>
            </a:pPr>
            <a:r>
              <a:rPr sz="3000" b="1">
                <a:solidFill>
                  <a:srgbClr val="152047"/>
                </a:solidFill>
                <a:latin typeface="Arial"/>
                <a:ea typeface="Arial"/>
                <a:cs typeface="Arial"/>
              </a:rPr>
              <a:t>Evaluation coverage and Q&amp;A</a:t>
            </a:r>
          </a:p>
        </p:txBody>
      </p:sp>
      <p:sp>
        <p:nvSpPr>
          <p:cNvPr id="5" name="">
            <a:extLst xmlns:a="http://schemas.openxmlformats.org/drawingml/2006/main">
              <a:ext uri="{FF2B5EF4-FFF2-40B4-BE49-F238E27FC236}">
                <a16:creationId xmlns:a16="http://schemas.microsoft.com/office/drawing/2014/main" id="{EDC6CC7C-3EA8-4662-BCE0-C9681DB4084C}"/>
              </a:ext>
            </a:extLst>
          </p:cNvPr>
          <p:cNvSpPr>
            <a:spLocks xmlns:a="http://schemas.openxmlformats.org/drawingml/2006/main" noGrp="1"/>
          </p:cNvSpPr>
          <p:nvPr/>
        </p:nvSpPr>
        <p:spPr>
          <a:xfrm xmlns:a="http://schemas.openxmlformats.org/drawingml/2006/main">
            <a:off x="457200" y="6705600"/>
            <a:ext cx="1238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0">
                <a:solidFill>
                  <a:srgbClr val="152047"/>
                </a:solidFill>
                <a:latin typeface="Arial"/>
                <a:ea typeface="Arial"/>
                <a:cs typeface="Arial"/>
              </a:defRPr>
            </a:defPPr>
            <a:lvl1pPr algn="l">
              <a:defRPr sz="1200" b="0">
                <a:solidFill>
                  <a:srgbClr val="152047"/>
                </a:solidFill>
                <a:latin typeface="Arial"/>
                <a:ea typeface="Arial"/>
                <a:cs typeface="Arial"/>
              </a:defRPr>
            </a:lvl1pPr>
            <a:lvl2pPr algn="l">
              <a:defRPr sz="1200" b="0">
                <a:solidFill>
                  <a:srgbClr val="152047"/>
                </a:solidFill>
                <a:latin typeface="Arial"/>
                <a:ea typeface="Arial"/>
                <a:cs typeface="Arial"/>
              </a:defRPr>
            </a:lvl2pPr>
            <a:lvl3pPr algn="l">
              <a:defRPr sz="1200" b="0">
                <a:solidFill>
                  <a:srgbClr val="152047"/>
                </a:solidFill>
                <a:latin typeface="Arial"/>
                <a:ea typeface="Arial"/>
                <a:cs typeface="Arial"/>
              </a:defRPr>
            </a:lvl3pPr>
            <a:lvl4pPr algn="l">
              <a:defRPr sz="1200" b="0">
                <a:solidFill>
                  <a:srgbClr val="152047"/>
                </a:solidFill>
                <a:latin typeface="Arial"/>
                <a:ea typeface="Arial"/>
                <a:cs typeface="Arial"/>
              </a:defRPr>
            </a:lvl4pPr>
            <a:lvl5pPr algn="l">
              <a:defRPr sz="1200" b="0">
                <a:solidFill>
                  <a:srgbClr val="152047"/>
                </a:solidFill>
                <a:latin typeface="Arial"/>
                <a:ea typeface="Arial"/>
                <a:cs typeface="Arial"/>
              </a:defRPr>
            </a:lvl5pPr>
            <a:lvl6pPr algn="l">
              <a:defRPr sz="1200" b="0">
                <a:solidFill>
                  <a:srgbClr val="152047"/>
                </a:solidFill>
                <a:latin typeface="Arial"/>
                <a:ea typeface="Arial"/>
                <a:cs typeface="Arial"/>
              </a:defRPr>
            </a:lvl6pPr>
            <a:lvl7pPr algn="l">
              <a:defRPr sz="1200" b="0">
                <a:solidFill>
                  <a:srgbClr val="152047"/>
                </a:solidFill>
                <a:latin typeface="Arial"/>
                <a:ea typeface="Arial"/>
                <a:cs typeface="Arial"/>
              </a:defRPr>
            </a:lvl7pPr>
            <a:lvl8pPr algn="l">
              <a:defRPr sz="1200" b="0">
                <a:solidFill>
                  <a:srgbClr val="152047"/>
                </a:solidFill>
                <a:latin typeface="Arial"/>
                <a:ea typeface="Arial"/>
                <a:cs typeface="Arial"/>
              </a:defRPr>
            </a:lvl8pPr>
            <a:lvl9pPr algn="l">
              <a:defRPr sz="1200" b="0">
                <a:solidFill>
                  <a:srgbClr val="152047"/>
                </a:solidFill>
                <a:latin typeface="Arial"/>
                <a:ea typeface="Arial"/>
                <a:cs typeface="Arial"/>
              </a:defRPr>
            </a:lvl9pPr>
          </a:lstStyle>
          <a:p xmlns:a="http://schemas.openxmlformats.org/drawingml/2006/main">
            <a:pPr algn="l">
              <a:defRPr sz="1200" b="0">
                <a:solidFill>
                  <a:srgbClr val="152047"/>
                </a:solidFill>
              </a:defRPr>
            </a:pPr>
            <a:r>
              <a:rPr sz="1200" b="0">
                <a:solidFill>
                  <a:srgbClr val="152047"/>
                </a:solidFill>
                <a:latin typeface="Arial"/>
                <a:ea typeface="Arial"/>
                <a:cs typeface="Arial"/>
              </a:rPr>
              <a:t>SAP Retail Signal · Supporting detail for Q&amp;A · All financial forecasts are illustrative.</a:t>
            </a:r>
          </a:p>
        </p:txBody>
      </p:sp>
      <p:sp>
        <p:nvSpPr>
          <p:cNvPr id="6" name="">
            <a:extLst xmlns:a="http://schemas.openxmlformats.org/drawingml/2006/main">
              <a:ext uri="{FF2B5EF4-FFF2-40B4-BE49-F238E27FC236}">
                <a16:creationId xmlns:a16="http://schemas.microsoft.com/office/drawing/2014/main" id="{54AB42AE-D5D0-4D89-9B2E-75F34238A949}"/>
              </a:ext>
            </a:extLst>
          </p:cNvPr>
          <p:cNvSpPr>
            <a:spLocks xmlns:a="http://schemas.openxmlformats.org/drawingml/2006/main" noGrp="1"/>
          </p:cNvSpPr>
          <p:nvPr/>
        </p:nvSpPr>
        <p:spPr>
          <a:xfrm xmlns:a="http://schemas.openxmlformats.org/drawingml/2006/main">
            <a:off x="495300" y="72866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165DAE"/>
                </a:solidFill>
                <a:latin typeface="Arial"/>
                <a:ea typeface="Arial"/>
                <a:cs typeface="Arial"/>
              </a:defRPr>
            </a:defPPr>
            <a:lvl1pPr algn="l">
              <a:defRPr sz="1350" b="1">
                <a:solidFill>
                  <a:srgbClr val="165DAE"/>
                </a:solidFill>
                <a:latin typeface="Arial"/>
                <a:ea typeface="Arial"/>
                <a:cs typeface="Arial"/>
              </a:defRPr>
            </a:lvl1pPr>
            <a:lvl2pPr algn="l">
              <a:defRPr sz="1350" b="1">
                <a:solidFill>
                  <a:srgbClr val="165DAE"/>
                </a:solidFill>
                <a:latin typeface="Arial"/>
                <a:ea typeface="Arial"/>
                <a:cs typeface="Arial"/>
              </a:defRPr>
            </a:lvl2pPr>
            <a:lvl3pPr algn="l">
              <a:defRPr sz="1350" b="1">
                <a:solidFill>
                  <a:srgbClr val="165DAE"/>
                </a:solidFill>
                <a:latin typeface="Arial"/>
                <a:ea typeface="Arial"/>
                <a:cs typeface="Arial"/>
              </a:defRPr>
            </a:lvl3pPr>
            <a:lvl4pPr algn="l">
              <a:defRPr sz="1350" b="1">
                <a:solidFill>
                  <a:srgbClr val="165DAE"/>
                </a:solidFill>
                <a:latin typeface="Arial"/>
                <a:ea typeface="Arial"/>
                <a:cs typeface="Arial"/>
              </a:defRPr>
            </a:lvl4pPr>
            <a:lvl5pPr algn="l">
              <a:defRPr sz="1350" b="1">
                <a:solidFill>
                  <a:srgbClr val="165DAE"/>
                </a:solidFill>
                <a:latin typeface="Arial"/>
                <a:ea typeface="Arial"/>
                <a:cs typeface="Arial"/>
              </a:defRPr>
            </a:lvl5pPr>
            <a:lvl6pPr algn="l">
              <a:defRPr sz="1350" b="1">
                <a:solidFill>
                  <a:srgbClr val="165DAE"/>
                </a:solidFill>
                <a:latin typeface="Arial"/>
                <a:ea typeface="Arial"/>
                <a:cs typeface="Arial"/>
              </a:defRPr>
            </a:lvl6pPr>
            <a:lvl7pPr algn="l">
              <a:defRPr sz="1350" b="1">
                <a:solidFill>
                  <a:srgbClr val="165DAE"/>
                </a:solidFill>
                <a:latin typeface="Arial"/>
                <a:ea typeface="Arial"/>
                <a:cs typeface="Arial"/>
              </a:defRPr>
            </a:lvl7pPr>
            <a:lvl8pPr algn="l">
              <a:defRPr sz="1350" b="1">
                <a:solidFill>
                  <a:srgbClr val="165DAE"/>
                </a:solidFill>
                <a:latin typeface="Arial"/>
                <a:ea typeface="Arial"/>
                <a:cs typeface="Arial"/>
              </a:defRPr>
            </a:lvl8pPr>
            <a:lvl9pPr algn="l">
              <a:defRPr sz="1350" b="1">
                <a:solidFill>
                  <a:srgbClr val="165DAE"/>
                </a:solidFill>
                <a:latin typeface="Arial"/>
                <a:ea typeface="Arial"/>
                <a:cs typeface="Arial"/>
              </a:defRPr>
            </a:lvl9pPr>
          </a:lstStyle>
          <a:p xmlns:a="http://schemas.openxmlformats.org/drawingml/2006/main">
            <a:pPr algn="l">
              <a:defRPr sz="1350" b="1">
                <a:solidFill>
                  <a:srgbClr val="165DAE"/>
                </a:solidFill>
              </a:defRPr>
            </a:pPr>
            <a:r>
              <a:rPr sz="1350" b="1">
                <a:solidFill>
                  <a:srgbClr val="165DAE"/>
                </a:solidFill>
                <a:latin typeface="Arial"/>
                <a:ea typeface="Arial"/>
                <a:cs typeface="Arial"/>
              </a:rPr>
              <a:t>APPENDIX</a:t>
            </a:r>
          </a:p>
        </p:txBody>
      </p:sp>
      <p:sp>
        <p:nvSpPr>
          <p:cNvPr id="7" name="">
            <a:extLst xmlns:a="http://schemas.openxmlformats.org/drawingml/2006/main">
              <a:ext uri="{FF2B5EF4-FFF2-40B4-BE49-F238E27FC236}">
                <a16:creationId xmlns:a16="http://schemas.microsoft.com/office/drawing/2014/main" id="{9C3FCB5A-FA1C-4BD0-91FC-70053EF8C364}"/>
              </a:ext>
            </a:extLst>
          </p:cNvPr>
          <p:cNvSpPr>
            <a:spLocks xmlns:a="http://schemas.openxmlformats.org/drawingml/2006/main" noGrp="1"/>
          </p:cNvSpPr>
          <p:nvPr/>
        </p:nvSpPr>
        <p:spPr>
          <a:xfrm xmlns:a="http://schemas.openxmlformats.org/drawingml/2006/main">
            <a:off x="2428875" y="7286625"/>
            <a:ext cx="714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152047"/>
                </a:solidFill>
                <a:latin typeface="Arial"/>
                <a:ea typeface="Arial"/>
                <a:cs typeface="Arial"/>
              </a:defRPr>
            </a:defPPr>
            <a:lvl1pPr algn="l">
              <a:defRPr sz="1350" b="0">
                <a:solidFill>
                  <a:srgbClr val="152047"/>
                </a:solidFill>
                <a:latin typeface="Arial"/>
                <a:ea typeface="Arial"/>
                <a:cs typeface="Arial"/>
              </a:defRPr>
            </a:lvl1pPr>
            <a:lvl2pPr algn="l">
              <a:defRPr sz="1350" b="0">
                <a:solidFill>
                  <a:srgbClr val="152047"/>
                </a:solidFill>
                <a:latin typeface="Arial"/>
                <a:ea typeface="Arial"/>
                <a:cs typeface="Arial"/>
              </a:defRPr>
            </a:lvl2pPr>
            <a:lvl3pPr algn="l">
              <a:defRPr sz="1350" b="0">
                <a:solidFill>
                  <a:srgbClr val="152047"/>
                </a:solidFill>
                <a:latin typeface="Arial"/>
                <a:ea typeface="Arial"/>
                <a:cs typeface="Arial"/>
              </a:defRPr>
            </a:lvl3pPr>
            <a:lvl4pPr algn="l">
              <a:defRPr sz="1350" b="0">
                <a:solidFill>
                  <a:srgbClr val="152047"/>
                </a:solidFill>
                <a:latin typeface="Arial"/>
                <a:ea typeface="Arial"/>
                <a:cs typeface="Arial"/>
              </a:defRPr>
            </a:lvl4pPr>
            <a:lvl5pPr algn="l">
              <a:defRPr sz="1350" b="0">
                <a:solidFill>
                  <a:srgbClr val="152047"/>
                </a:solidFill>
                <a:latin typeface="Arial"/>
                <a:ea typeface="Arial"/>
                <a:cs typeface="Arial"/>
              </a:defRPr>
            </a:lvl5pPr>
            <a:lvl6pPr algn="l">
              <a:defRPr sz="1350" b="0">
                <a:solidFill>
                  <a:srgbClr val="152047"/>
                </a:solidFill>
                <a:latin typeface="Arial"/>
                <a:ea typeface="Arial"/>
                <a:cs typeface="Arial"/>
              </a:defRPr>
            </a:lvl6pPr>
            <a:lvl7pPr algn="l">
              <a:defRPr sz="1350" b="0">
                <a:solidFill>
                  <a:srgbClr val="152047"/>
                </a:solidFill>
                <a:latin typeface="Arial"/>
                <a:ea typeface="Arial"/>
                <a:cs typeface="Arial"/>
              </a:defRPr>
            </a:lvl7pPr>
            <a:lvl8pPr algn="l">
              <a:defRPr sz="1350" b="0">
                <a:solidFill>
                  <a:srgbClr val="152047"/>
                </a:solidFill>
                <a:latin typeface="Arial"/>
                <a:ea typeface="Arial"/>
                <a:cs typeface="Arial"/>
              </a:defRPr>
            </a:lvl8pPr>
            <a:lvl9pPr algn="l">
              <a:defRPr sz="1350" b="0">
                <a:solidFill>
                  <a:srgbClr val="152047"/>
                </a:solidFill>
                <a:latin typeface="Arial"/>
                <a:ea typeface="Arial"/>
                <a:cs typeface="Arial"/>
              </a:defRPr>
            </a:lvl9pPr>
          </a:lstStyle>
          <a:p xmlns:a="http://schemas.openxmlformats.org/drawingml/2006/main">
            <a:pPr algn="l">
              <a:defRPr sz="1350" b="0">
                <a:solidFill>
                  <a:srgbClr val="152047"/>
                </a:solidFill>
              </a:defRPr>
            </a:pPr>
            <a:r>
              <a:rPr sz="1350" b="0">
                <a:solidFill>
                  <a:srgbClr val="152047"/>
                </a:solidFill>
                <a:latin typeface="Arial"/>
                <a:ea typeface="Arial"/>
                <a:cs typeface="Arial"/>
              </a:rPr>
              <a:t>Supporting calculations and sources</a:t>
            </a:r>
          </a:p>
        </p:txBody>
      </p:sp>
      <p:sp>
        <p:nvSpPr>
          <p:cNvPr id="8" name="">
            <a:extLst xmlns:a="http://schemas.openxmlformats.org/drawingml/2006/main">
              <a:ext uri="{FF2B5EF4-FFF2-40B4-BE49-F238E27FC236}">
                <a16:creationId xmlns:a16="http://schemas.microsoft.com/office/drawing/2014/main" id="{9F7C4467-AF8B-4311-BC56-A83C0A1FA5E7}"/>
              </a:ext>
            </a:extLst>
          </p:cNvPr>
          <p:cNvSpPr>
            <a:spLocks xmlns:a="http://schemas.openxmlformats.org/drawingml/2006/main" noGrp="1"/>
          </p:cNvSpPr>
          <p:nvPr/>
        </p:nvSpPr>
        <p:spPr>
          <a:xfrm xmlns:a="http://schemas.openxmlformats.org/drawingml/2006/main">
            <a:off x="12858750" y="7277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1275" b="1">
                <a:solidFill>
                  <a:srgbClr val="165DAE"/>
                </a:solidFill>
                <a:latin typeface="Arial"/>
                <a:ea typeface="Arial"/>
                <a:cs typeface="Arial"/>
              </a:defRPr>
            </a:defPPr>
            <a:lvl1pPr algn="r">
              <a:defRPr sz="1275" b="1">
                <a:solidFill>
                  <a:srgbClr val="165DAE"/>
                </a:solidFill>
                <a:latin typeface="Arial"/>
                <a:ea typeface="Arial"/>
                <a:cs typeface="Arial"/>
              </a:defRPr>
            </a:lvl1pPr>
            <a:lvl2pPr algn="r">
              <a:defRPr sz="1275" b="1">
                <a:solidFill>
                  <a:srgbClr val="165DAE"/>
                </a:solidFill>
                <a:latin typeface="Arial"/>
                <a:ea typeface="Arial"/>
                <a:cs typeface="Arial"/>
              </a:defRPr>
            </a:lvl2pPr>
            <a:lvl3pPr algn="r">
              <a:defRPr sz="1275" b="1">
                <a:solidFill>
                  <a:srgbClr val="165DAE"/>
                </a:solidFill>
                <a:latin typeface="Arial"/>
                <a:ea typeface="Arial"/>
                <a:cs typeface="Arial"/>
              </a:defRPr>
            </a:lvl3pPr>
            <a:lvl4pPr algn="r">
              <a:defRPr sz="1275" b="1">
                <a:solidFill>
                  <a:srgbClr val="165DAE"/>
                </a:solidFill>
                <a:latin typeface="Arial"/>
                <a:ea typeface="Arial"/>
                <a:cs typeface="Arial"/>
              </a:defRPr>
            </a:lvl4pPr>
            <a:lvl5pPr algn="r">
              <a:defRPr sz="1275" b="1">
                <a:solidFill>
                  <a:srgbClr val="165DAE"/>
                </a:solidFill>
                <a:latin typeface="Arial"/>
                <a:ea typeface="Arial"/>
                <a:cs typeface="Arial"/>
              </a:defRPr>
            </a:lvl5pPr>
            <a:lvl6pPr algn="r">
              <a:defRPr sz="1275" b="1">
                <a:solidFill>
                  <a:srgbClr val="165DAE"/>
                </a:solidFill>
                <a:latin typeface="Arial"/>
                <a:ea typeface="Arial"/>
                <a:cs typeface="Arial"/>
              </a:defRPr>
            </a:lvl6pPr>
            <a:lvl7pPr algn="r">
              <a:defRPr sz="1275" b="1">
                <a:solidFill>
                  <a:srgbClr val="165DAE"/>
                </a:solidFill>
                <a:latin typeface="Arial"/>
                <a:ea typeface="Arial"/>
                <a:cs typeface="Arial"/>
              </a:defRPr>
            </a:lvl7pPr>
            <a:lvl8pPr algn="r">
              <a:defRPr sz="1275" b="1">
                <a:solidFill>
                  <a:srgbClr val="165DAE"/>
                </a:solidFill>
                <a:latin typeface="Arial"/>
                <a:ea typeface="Arial"/>
                <a:cs typeface="Arial"/>
              </a:defRPr>
            </a:lvl8pPr>
            <a:lvl9pPr algn="r">
              <a:defRPr sz="1275" b="1">
                <a:solidFill>
                  <a:srgbClr val="165DAE"/>
                </a:solidFill>
                <a:latin typeface="Arial"/>
                <a:ea typeface="Arial"/>
                <a:cs typeface="Arial"/>
              </a:defRPr>
            </a:lvl9pPr>
          </a:lstStyle>
          <a:p xmlns:a="http://schemas.openxmlformats.org/drawingml/2006/main">
            <a:pPr algn="r">
              <a:defRPr sz="1275" b="1">
                <a:solidFill>
                  <a:srgbClr val="165DAE"/>
                </a:solidFill>
              </a:defRPr>
            </a:pPr>
            <a:r>
              <a:rPr sz="1275" b="1">
                <a:solidFill>
                  <a:srgbClr val="165DAE"/>
                </a:solidFill>
                <a:latin typeface="Arial"/>
                <a:ea typeface="Arial"/>
                <a:cs typeface="Arial"/>
              </a:rPr>
              <a:t>38</a:t>
            </a:r>
          </a:p>
        </p:txBody>
      </p:sp>
      <p:graphicFrame>
        <p:nvGraphicFramePr>
          <p:cNvPr id="9" name="">
            <a:extLst xmlns:a="http://schemas.openxmlformats.org/drawingml/2006/main">
              <a:ext uri="{FF2B5EF4-FFF2-40B4-BE49-F238E27FC236}">
                <a16:creationId xmlns:a16="http://schemas.microsoft.com/office/drawing/2014/main" id="{EA45B088-A50E-42D0-A8F3-F527DE8F9E47}"/>
              </a:ext>
            </a:extLst>
          </p:cNvPr>
          <p:cNvGraphicFramePr/>
          <p:nvPr/>
        </p:nvGraphicFramePr>
        <p:xfrm>
          <a:off xmlns:a="http://schemas.openxmlformats.org/drawingml/2006/main" x="457200" y="1476375"/>
          <a:ext xmlns:a="http://schemas.openxmlformats.org/drawingml/2006/main" cx="12801600" cy="4905375"/>
        </p:xfrm>
        <a:graphic xmlns:a="http://schemas.openxmlformats.org/drawingml/2006/main">
          <a:graphicData uri="http://schemas.openxmlformats.org/drawingml/2006/table">
            <a:tbl>
              <a:tblPr/>
              <a:tblGrid>
                <a:gridCol w="3584448"/>
                <a:gridCol w="1536192"/>
                <a:gridCol w="7680960"/>
              </a:tblGrid>
              <a:tr h="700768">
                <a:tc>
                  <a:txBody>
                    <a:bodyPr/>
                    <a:lstStyle/>
                    <a:p>
                      <a:r>
                        <a:rPr sz="1725" b="1">
                          <a:solidFill>
                            <a:srgbClr val="FFFFFF"/>
                          </a:solidFill>
                          <a:latin typeface="Arial"/>
                          <a:ea typeface="Arial"/>
                          <a:cs typeface="Arial"/>
                        </a:rPr>
                        <a:t>Evaluation criterion</a:t>
                      </a:r>
                    </a:p>
                  </a:txBody>
                  <a:tcPr marL="133350" marR="133350" marT="76200" marB="76200" anchor="ctr">
                    <a:lnL w="9525">
                      <a:solidFill>
                        <a:srgbClr val="C6D7EE"/>
                      </a:solidFill>
                      <a:prstDash val="solid"/>
                    </a:lnL>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Weight</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c>
                  <a:txBody>
                    <a:bodyPr/>
                    <a:lstStyle/>
                    <a:p>
                      <a:r>
                        <a:rPr sz="1725" b="1">
                          <a:solidFill>
                            <a:srgbClr val="FFFFFF"/>
                          </a:solidFill>
                          <a:latin typeface="Arial"/>
                          <a:ea typeface="Arial"/>
                          <a:cs typeface="Arial"/>
                        </a:rPr>
                        <a:t>Where addressed</a:t>
                      </a:r>
                    </a:p>
                  </a:txBody>
                  <a:tcPr marL="133350" marR="133350" marT="76200" marB="76200" anchor="ctr">
                    <a:lnR w="9525">
                      <a:solidFill>
                        <a:srgbClr val="C6D7EE"/>
                      </a:solidFill>
                      <a:prstDash val="solid"/>
                    </a:lnR>
                    <a:lnT w="9525">
                      <a:solidFill>
                        <a:srgbClr val="C6D7EE"/>
                      </a:solidFill>
                      <a:prstDash val="solid"/>
                    </a:lnT>
                    <a:lnB w="9525">
                      <a:solidFill>
                        <a:srgbClr val="C6D7EE"/>
                      </a:solidFill>
                      <a:prstDash val="solid"/>
                    </a:lnB>
                    <a:solidFill>
                      <a:srgbClr val="252A57"/>
                    </a:solidFill>
                  </a:tcPr>
                </a:tc>
              </a:tr>
              <a:tr h="700768">
                <a:tc>
                  <a:txBody>
                    <a:bodyPr/>
                    <a:lstStyle/>
                    <a:p>
                      <a:r>
                        <a:rPr sz="1725" b="1">
                          <a:solidFill>
                            <a:srgbClr val="FFFFFF"/>
                          </a:solidFill>
                          <a:latin typeface="Arial"/>
                          <a:ea typeface="Arial"/>
                          <a:cs typeface="Arial"/>
                        </a:rPr>
                        <a:t>Problem definition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Specific planner, current workflow, Bob before; pilot baseline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Product solution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Three parts, feature priorities, competitors and retailer economics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Prototype</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Working website walkthrough; evidence → simulate → approve → receive</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Implementation</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12-week plan, resources, dependencies, risks and KPI gates</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r h="700768">
                <a:tc>
                  <a:txBody>
                    <a:bodyPr/>
                    <a:lstStyle/>
                    <a:p>
                      <a:r>
                        <a:rPr sz="1725" b="1">
                          <a:solidFill>
                            <a:srgbClr val="FFFFFF"/>
                          </a:solidFill>
                          <a:latin typeface="Arial"/>
                          <a:ea typeface="Arial"/>
                          <a:cs typeface="Arial"/>
                        </a:rPr>
                        <a:t>Stakeholder alignment</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20%</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c>
                  <a:txBody>
                    <a:bodyPr/>
                    <a:lstStyle/>
                    <a:p>
                      <a:r>
                        <a:rPr sz="1725">
                          <a:solidFill>
                            <a:srgbClr val="152047"/>
                          </a:solidFill>
                          <a:latin typeface="Arial"/>
                          <a:ea typeface="Arial"/>
                          <a:cs typeface="Arial"/>
                        </a:rPr>
                        <a:t>Decision rights, privacy, CFO cash gate, partner incentives and limits</a:t>
                      </a:r>
                    </a:p>
                  </a:txBody>
                  <a:tcPr marL="133350" marR="133350" marT="76200" marB="76200" anchor="ctr">
                    <a:lnR w="9525">
                      <a:solidFill>
                        <a:srgbClr val="C6D7EE"/>
                      </a:solidFill>
                      <a:prstDash val="solid"/>
                    </a:lnR>
                    <a:lnB w="9525">
                      <a:solidFill>
                        <a:srgbClr val="C6D7EE"/>
                      </a:solidFill>
                      <a:prstDash val="solid"/>
                    </a:lnB>
                    <a:solidFill>
                      <a:srgbClr val="FFFFFF"/>
                    </a:solidFill>
                  </a:tcPr>
                </a:tc>
              </a:tr>
              <a:tr h="700768">
                <a:tc>
                  <a:txBody>
                    <a:bodyPr/>
                    <a:lstStyle/>
                    <a:p>
                      <a:r>
                        <a:rPr sz="1725" b="1">
                          <a:solidFill>
                            <a:srgbClr val="FFFFFF"/>
                          </a:solidFill>
                          <a:latin typeface="Arial"/>
                          <a:ea typeface="Arial"/>
                          <a:cs typeface="Arial"/>
                        </a:rPr>
                        <a:t>Presentation / Q&amp;A</a:t>
                      </a:r>
                    </a:p>
                  </a:txBody>
                  <a:tcPr marL="133350" marR="133350" marT="76200" marB="76200" anchor="ctr">
                    <a:lnL w="9525">
                      <a:solidFill>
                        <a:srgbClr val="C6D7EE"/>
                      </a:solidFill>
                      <a:prstDash val="solid"/>
                    </a:lnL>
                    <a:lnR w="9525">
                      <a:solidFill>
                        <a:srgbClr val="C6D7EE"/>
                      </a:solidFill>
                      <a:prstDash val="solid"/>
                    </a:lnR>
                    <a:lnB w="9525">
                      <a:solidFill>
                        <a:srgbClr val="C6D7EE"/>
                      </a:solidFill>
                      <a:prstDash val="solid"/>
                    </a:lnB>
                    <a:solidFill>
                      <a:srgbClr val="165DAE"/>
                    </a:solidFill>
                  </a:tcPr>
                </a:tc>
                <a:tc>
                  <a:txBody>
                    <a:bodyPr/>
                    <a:lstStyle/>
                    <a:p>
                      <a:r>
                        <a:rPr sz="1725">
                          <a:solidFill>
                            <a:srgbClr val="152047"/>
                          </a:solidFill>
                          <a:latin typeface="Arial"/>
                          <a:ea typeface="Arial"/>
                          <a:cs typeface="Arial"/>
                        </a:rPr>
                        <a:t>10%</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c>
                  <a:txBody>
                    <a:bodyPr/>
                    <a:lstStyle/>
                    <a:p>
                      <a:r>
                        <a:rPr sz="1725">
                          <a:solidFill>
                            <a:srgbClr val="152047"/>
                          </a:solidFill>
                          <a:latin typeface="Arial"/>
                          <a:ea typeface="Arial"/>
                          <a:cs typeface="Arial"/>
                        </a:rPr>
                        <a:t>480-second main flow; financial formulas and sources in appendix</a:t>
                      </a:r>
                    </a:p>
                  </a:txBody>
                  <a:tcPr marL="133350" marR="133350" marT="76200" marB="76200" anchor="ctr">
                    <a:lnR w="9525">
                      <a:solidFill>
                        <a:srgbClr val="C6D7EE"/>
                      </a:solidFill>
                      <a:prstDash val="solid"/>
                    </a:lnR>
                    <a:lnB w="9525">
                      <a:solidFill>
                        <a:srgbClr val="C6D7EE"/>
                      </a:solidFill>
                      <a:prstDash val="solid"/>
                    </a:lnB>
                    <a:solidFill>
                      <a:srgbClr val="EFF5FF"/>
                    </a:solidFill>
                  </a:tcPr>
                </a:tc>
              </a:tr>
            </a:tbl>
          </a:graphicData>
        </a:graphic>
      </p:graphicFrame>
    </p:spTree>
    <p:extLst>
      <p:ext uri="{BB962C8B-B14F-4D97-AF65-F5344CB8AC3E}">
        <p14:creationId xmlns:p14="http://schemas.microsoft.com/office/powerpoint/2010/main" val="1516901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2026-10-25T08:13:34.3220000Z</dcterms:created>
  <dcterms:modified xsi:type="dcterms:W3CDTF">2026-10-25T08:13:34.3220000Z</dcterms:modified>
</coreProperties>
</file>