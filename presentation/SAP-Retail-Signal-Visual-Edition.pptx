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684a555c70c4b51" /><Relationship Type="http://schemas.openxmlformats.org/officeDocument/2006/relationships/extended-properties" Target="/docProps/app.xml" Id="Rf39c8f50c91b4d35" /><Relationship Type="http://schemas.openxmlformats.org/officeDocument/2006/relationships/officeDocument" Target="/ppt/presentation.xml" Id="R2ad98fb759ba431c" /></Relationships>
</file>

<file path=ppt/presentation.xml><?xml version="1.0" encoding="utf-8"?>
<p:presentation xmlns:p="http://schemas.openxmlformats.org/presentationml/2006/main">
  <p:sldMasterIdLst>
    <p:sldMasterId xmlns:r="http://schemas.openxmlformats.org/officeDocument/2006/relationships" id="2147483648" r:id="Rc71fbad6b57b48b3"/>
  </p:sldMasterIdLst>
  <p:notesMasterIdLst>
    <p:notesMasterId xmlns:r="http://schemas.openxmlformats.org/officeDocument/2006/relationships" r:id="R2f390b31c2b54eb0"/>
  </p:notesMasterIdLst>
  <p:sldIdLst>
    <p:sldId xmlns:r="http://schemas.openxmlformats.org/officeDocument/2006/relationships" id="256" r:id="R90111b54481946dd"/>
    <p:sldId xmlns:r="http://schemas.openxmlformats.org/officeDocument/2006/relationships" id="257" r:id="Rcf2b46e921144dc8"/>
    <p:sldId xmlns:r="http://schemas.openxmlformats.org/officeDocument/2006/relationships" id="258" r:id="R50df3f584b98485b"/>
    <p:sldId xmlns:r="http://schemas.openxmlformats.org/officeDocument/2006/relationships" id="259" r:id="R62ca16a0c3b348a2"/>
    <p:sldId xmlns:r="http://schemas.openxmlformats.org/officeDocument/2006/relationships" id="260" r:id="Rdc5bdbe936074d8b"/>
    <p:sldId xmlns:r="http://schemas.openxmlformats.org/officeDocument/2006/relationships" id="261" r:id="R9570e95059564945"/>
    <p:sldId xmlns:r="http://schemas.openxmlformats.org/officeDocument/2006/relationships" id="262" r:id="R9661d202eb3b4d63"/>
    <p:sldId xmlns:r="http://schemas.openxmlformats.org/officeDocument/2006/relationships" id="263" r:id="R13edeb5ce8434818"/>
    <p:sldId xmlns:r="http://schemas.openxmlformats.org/officeDocument/2006/relationships" id="264" r:id="Racbc95768df54c9f"/>
    <p:sldId xmlns:r="http://schemas.openxmlformats.org/officeDocument/2006/relationships" id="265" r:id="Ra4f82f89641c46e2"/>
    <p:sldId xmlns:r="http://schemas.openxmlformats.org/officeDocument/2006/relationships" id="266" r:id="R4e06ea5c367140ba"/>
    <p:sldId xmlns:r="http://schemas.openxmlformats.org/officeDocument/2006/relationships" id="267" r:id="R01591138e5ea42cb"/>
    <p:sldId xmlns:r="http://schemas.openxmlformats.org/officeDocument/2006/relationships" id="268" r:id="R9accdc7088924ed9"/>
    <p:sldId xmlns:r="http://schemas.openxmlformats.org/officeDocument/2006/relationships" id="269" r:id="R1b6f87b9543b4088"/>
    <p:sldId xmlns:r="http://schemas.openxmlformats.org/officeDocument/2006/relationships" id="270" r:id="Rb91dd4c858684437"/>
    <p:sldId xmlns:r="http://schemas.openxmlformats.org/officeDocument/2006/relationships" id="271" r:id="R5ffc66b8437d4a95"/>
    <p:sldId xmlns:r="http://schemas.openxmlformats.org/officeDocument/2006/relationships" id="272" r:id="R99b82774b81a4dbd"/>
    <p:sldId xmlns:r="http://schemas.openxmlformats.org/officeDocument/2006/relationships" id="273" r:id="Rc26f15388c2f480c"/>
    <p:sldId xmlns:r="http://schemas.openxmlformats.org/officeDocument/2006/relationships" id="274" r:id="R38c8b836147046ba"/>
    <p:sldId xmlns:r="http://schemas.openxmlformats.org/officeDocument/2006/relationships" id="275" r:id="Ra16b0e07dbbd48cf"/>
    <p:sldId xmlns:r="http://schemas.openxmlformats.org/officeDocument/2006/relationships" id="276" r:id="R41d4637841984dfc"/>
    <p:sldId xmlns:r="http://schemas.openxmlformats.org/officeDocument/2006/relationships" id="277" r:id="R0e0499660a5648ed"/>
    <p:sldId xmlns:r="http://schemas.openxmlformats.org/officeDocument/2006/relationships" id="278" r:id="Rb97196ccf9824a6a"/>
    <p:sldId xmlns:r="http://schemas.openxmlformats.org/officeDocument/2006/relationships" id="279" r:id="R1562977e20f44274"/>
    <p:sldId xmlns:r="http://schemas.openxmlformats.org/officeDocument/2006/relationships" id="280" r:id="Rd06a2e6031ba4bc7"/>
    <p:sldId xmlns:r="http://schemas.openxmlformats.org/officeDocument/2006/relationships" id="281" r:id="R3fff328218254506"/>
    <p:sldId xmlns:r="http://schemas.openxmlformats.org/officeDocument/2006/relationships" id="282" r:id="R9609670814664876"/>
    <p:sldId xmlns:r="http://schemas.openxmlformats.org/officeDocument/2006/relationships" id="283" r:id="R7597e8f10fce489c"/>
    <p:sldId xmlns:r="http://schemas.openxmlformats.org/officeDocument/2006/relationships" id="284" r:id="R528aa16cfd984441"/>
    <p:sldId xmlns:r="http://schemas.openxmlformats.org/officeDocument/2006/relationships" id="285" r:id="R3dd95a79d0f7424d"/>
    <p:sldId xmlns:r="http://schemas.openxmlformats.org/officeDocument/2006/relationships" id="286" r:id="R24f0d2bf061949ac"/>
    <p:sldId xmlns:r="http://schemas.openxmlformats.org/officeDocument/2006/relationships" id="287" r:id="Rc17d0ae9a52148a7"/>
    <p:sldId xmlns:r="http://schemas.openxmlformats.org/officeDocument/2006/relationships" id="288" r:id="R925821f90d73426e"/>
    <p:sldId xmlns:r="http://schemas.openxmlformats.org/officeDocument/2006/relationships" id="289" r:id="Rff76e00d03e94227"/>
    <p:sldId xmlns:r="http://schemas.openxmlformats.org/officeDocument/2006/relationships" id="290" r:id="R23e9c96c62b243a0"/>
    <p:sldId xmlns:r="http://schemas.openxmlformats.org/officeDocument/2006/relationships" id="291" r:id="Re3ac5d13398d423f"/>
    <p:sldId xmlns:r="http://schemas.openxmlformats.org/officeDocument/2006/relationships" id="292" r:id="Rb7363b302f1243f4"/>
    <p:sldId xmlns:r="http://schemas.openxmlformats.org/officeDocument/2006/relationships" id="293" r:id="Ra9e6c83085cd4994"/>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037a8f3b8d45d5" /><Relationship Type="http://schemas.openxmlformats.org/officeDocument/2006/relationships/slideMaster" Target="/ppt/slideMasters/slideMaster1.xml" Id="Rc71fbad6b57b48b3" /><Relationship Type="http://schemas.openxmlformats.org/officeDocument/2006/relationships/notesMaster" Target="/ppt/notesMasters/notesMaster1.xml" Id="R2f390b31c2b54eb0" /><Relationship Type="http://schemas.openxmlformats.org/officeDocument/2006/relationships/presProps" Target="/ppt/presProps.xml" Id="Rfcb5bbc28d964c46" /><Relationship Type="http://schemas.openxmlformats.org/officeDocument/2006/relationships/tableStyles" Target="/ppt/tableStyles.xml" Id="R46007f6cf0c64c98" /><Relationship Type="http://schemas.openxmlformats.org/officeDocument/2006/relationships/slide" Target="/ppt/slides/slide1.xml" Id="R90111b54481946dd" /><Relationship Type="http://schemas.openxmlformats.org/officeDocument/2006/relationships/slide" Target="/ppt/slides/slide2.xml" Id="Rcf2b46e921144dc8" /><Relationship Type="http://schemas.openxmlformats.org/officeDocument/2006/relationships/slide" Target="/ppt/slides/slide3.xml" Id="R50df3f584b98485b" /><Relationship Type="http://schemas.openxmlformats.org/officeDocument/2006/relationships/slide" Target="/ppt/slides/slide4.xml" Id="R62ca16a0c3b348a2" /><Relationship Type="http://schemas.openxmlformats.org/officeDocument/2006/relationships/slide" Target="/ppt/slides/slide5.xml" Id="Rdc5bdbe936074d8b" /><Relationship Type="http://schemas.openxmlformats.org/officeDocument/2006/relationships/slide" Target="/ppt/slides/slide6.xml" Id="R9570e95059564945" /><Relationship Type="http://schemas.openxmlformats.org/officeDocument/2006/relationships/slide" Target="/ppt/slides/slide7.xml" Id="R9661d202eb3b4d63" /><Relationship Type="http://schemas.openxmlformats.org/officeDocument/2006/relationships/slide" Target="/ppt/slides/slide8.xml" Id="R13edeb5ce8434818" /><Relationship Type="http://schemas.openxmlformats.org/officeDocument/2006/relationships/slide" Target="/ppt/slides/slide9.xml" Id="Racbc95768df54c9f" /><Relationship Type="http://schemas.openxmlformats.org/officeDocument/2006/relationships/slide" Target="/ppt/slides/slide10.xml" Id="Ra4f82f89641c46e2" /><Relationship Type="http://schemas.openxmlformats.org/officeDocument/2006/relationships/slide" Target="/ppt/slides/slide11.xml" Id="R4e06ea5c367140ba" /><Relationship Type="http://schemas.openxmlformats.org/officeDocument/2006/relationships/slide" Target="/ppt/slides/slide12.xml" Id="R01591138e5ea42cb" /><Relationship Type="http://schemas.openxmlformats.org/officeDocument/2006/relationships/slide" Target="/ppt/slides/slide13.xml" Id="R9accdc7088924ed9" /><Relationship Type="http://schemas.openxmlformats.org/officeDocument/2006/relationships/slide" Target="/ppt/slides/slide14.xml" Id="R1b6f87b9543b4088" /><Relationship Type="http://schemas.openxmlformats.org/officeDocument/2006/relationships/slide" Target="/ppt/slides/slide15.xml" Id="Rb91dd4c858684437" /><Relationship Type="http://schemas.openxmlformats.org/officeDocument/2006/relationships/slide" Target="/ppt/slides/slide16.xml" Id="R5ffc66b8437d4a95" /><Relationship Type="http://schemas.openxmlformats.org/officeDocument/2006/relationships/slide" Target="/ppt/slides/slide17.xml" Id="R99b82774b81a4dbd" /><Relationship Type="http://schemas.openxmlformats.org/officeDocument/2006/relationships/slide" Target="/ppt/slides/slide18.xml" Id="Rc26f15388c2f480c" /><Relationship Type="http://schemas.openxmlformats.org/officeDocument/2006/relationships/slide" Target="/ppt/slides/slide19.xml" Id="R38c8b836147046ba" /><Relationship Type="http://schemas.openxmlformats.org/officeDocument/2006/relationships/slide" Target="/ppt/slides/slide20.xml" Id="Ra16b0e07dbbd48cf" /><Relationship Type="http://schemas.openxmlformats.org/officeDocument/2006/relationships/slide" Target="/ppt/slides/slide21.xml" Id="R41d4637841984dfc" /><Relationship Type="http://schemas.openxmlformats.org/officeDocument/2006/relationships/slide" Target="/ppt/slides/slide22.xml" Id="R0e0499660a5648ed" /><Relationship Type="http://schemas.openxmlformats.org/officeDocument/2006/relationships/slide" Target="/ppt/slides/slide23.xml" Id="Rb97196ccf9824a6a" /><Relationship Type="http://schemas.openxmlformats.org/officeDocument/2006/relationships/slide" Target="/ppt/slides/slide24.xml" Id="R1562977e20f44274" /><Relationship Type="http://schemas.openxmlformats.org/officeDocument/2006/relationships/slide" Target="/ppt/slides/slide25.xml" Id="Rd06a2e6031ba4bc7" /><Relationship Type="http://schemas.openxmlformats.org/officeDocument/2006/relationships/slide" Target="/ppt/slides/slide26.xml" Id="R3fff328218254506" /><Relationship Type="http://schemas.openxmlformats.org/officeDocument/2006/relationships/slide" Target="/ppt/slides/slide27.xml" Id="R9609670814664876" /><Relationship Type="http://schemas.openxmlformats.org/officeDocument/2006/relationships/slide" Target="/ppt/slides/slide28.xml" Id="R7597e8f10fce489c" /><Relationship Type="http://schemas.openxmlformats.org/officeDocument/2006/relationships/slide" Target="/ppt/slides/slide29.xml" Id="R528aa16cfd984441" /><Relationship Type="http://schemas.openxmlformats.org/officeDocument/2006/relationships/slide" Target="/ppt/slides/slide30.xml" Id="R3dd95a79d0f7424d" /><Relationship Type="http://schemas.openxmlformats.org/officeDocument/2006/relationships/slide" Target="/ppt/slides/slide31.xml" Id="R24f0d2bf061949ac" /><Relationship Type="http://schemas.openxmlformats.org/officeDocument/2006/relationships/slide" Target="/ppt/slides/slide32.xml" Id="Rc17d0ae9a52148a7" /><Relationship Type="http://schemas.openxmlformats.org/officeDocument/2006/relationships/slide" Target="/ppt/slides/slide33.xml" Id="R925821f90d73426e" /><Relationship Type="http://schemas.openxmlformats.org/officeDocument/2006/relationships/slide" Target="/ppt/slides/slide34.xml" Id="Rff76e00d03e94227" /><Relationship Type="http://schemas.openxmlformats.org/officeDocument/2006/relationships/slide" Target="/ppt/slides/slide35.xml" Id="R23e9c96c62b243a0" /><Relationship Type="http://schemas.openxmlformats.org/officeDocument/2006/relationships/slide" Target="/ppt/slides/slide36.xml" Id="Re3ac5d13398d423f" /><Relationship Type="http://schemas.openxmlformats.org/officeDocument/2006/relationships/slide" Target="/ppt/slides/slide37.xml" Id="Rb7363b302f1243f4" /><Relationship Type="http://schemas.openxmlformats.org/officeDocument/2006/relationships/slide" Target="/ppt/slides/slide38.xml" Id="Ra9e6c83085cd49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3c6c7a161f46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b4570d76744889" /><Relationship Type="http://schemas.openxmlformats.org/officeDocument/2006/relationships/notesMaster" Target="/ppt/notesMasters/notesMaster1.xml" Id="R96773e2dee6747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bb49c142af4310" /><Relationship Type="http://schemas.openxmlformats.org/officeDocument/2006/relationships/notesMaster" Target="/ppt/notesMasters/notesMaster1.xml" Id="Rb48aaccafee848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aca6de403841cf" /><Relationship Type="http://schemas.openxmlformats.org/officeDocument/2006/relationships/notesMaster" Target="/ppt/notesMasters/notesMaster1.xml" Id="Rc870951f79504f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2059322f3645c8" /><Relationship Type="http://schemas.openxmlformats.org/officeDocument/2006/relationships/notesMaster" Target="/ppt/notesMasters/notesMaster1.xml" Id="R13f12bc6ea8549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6af2773ad04c01" /><Relationship Type="http://schemas.openxmlformats.org/officeDocument/2006/relationships/notesMaster" Target="/ppt/notesMasters/notesMaster1.xml" Id="R3c22e3ad66164a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aac9747ae54365" /><Relationship Type="http://schemas.openxmlformats.org/officeDocument/2006/relationships/notesMaster" Target="/ppt/notesMasters/notesMaster1.xml" Id="Rd13facc171cc4f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71b96ef8d84da6" /><Relationship Type="http://schemas.openxmlformats.org/officeDocument/2006/relationships/notesMaster" Target="/ppt/notesMasters/notesMaster1.xml" Id="R43b13873bfdf48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848d38bc394e2b" /><Relationship Type="http://schemas.openxmlformats.org/officeDocument/2006/relationships/notesMaster" Target="/ppt/notesMasters/notesMaster1.xml" Id="Rcb2dbcabb98e4e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b13e4f8b3241a7" /><Relationship Type="http://schemas.openxmlformats.org/officeDocument/2006/relationships/notesMaster" Target="/ppt/notesMasters/notesMaster1.xml" Id="Rc9cb59c24eaf47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37b0044c6e48d9" /><Relationship Type="http://schemas.openxmlformats.org/officeDocument/2006/relationships/notesMaster" Target="/ppt/notesMasters/notesMaster1.xml" Id="R0e93485c719c47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b1e661ae694015" /><Relationship Type="http://schemas.openxmlformats.org/officeDocument/2006/relationships/notesMaster" Target="/ppt/notesMasters/notesMaster1.xml" Id="R36774d69949f45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1f692185104795" /><Relationship Type="http://schemas.openxmlformats.org/officeDocument/2006/relationships/notesMaster" Target="/ppt/notesMasters/notesMaster1.xml" Id="R9317192561f241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940c89420b4aba" /><Relationship Type="http://schemas.openxmlformats.org/officeDocument/2006/relationships/notesMaster" Target="/ppt/notesMasters/notesMaster1.xml" Id="Rc192b0eec0644d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089280f053476a" /><Relationship Type="http://schemas.openxmlformats.org/officeDocument/2006/relationships/notesMaster" Target="/ppt/notesMasters/notesMaster1.xml" Id="Rd0e5ed80da2b4f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87c758624f42cf" /><Relationship Type="http://schemas.openxmlformats.org/officeDocument/2006/relationships/notesMaster" Target="/ppt/notesMasters/notesMaster1.xml" Id="R5b415faf939149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8ecc872a7d46dd" /><Relationship Type="http://schemas.openxmlformats.org/officeDocument/2006/relationships/notesMaster" Target="/ppt/notesMasters/notesMaster1.xml" Id="R85672c2712a640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da20bb6e63426b" /><Relationship Type="http://schemas.openxmlformats.org/officeDocument/2006/relationships/notesMaster" Target="/ppt/notesMasters/notesMaster1.xml" Id="R4e121ea6cffd4d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3eec9d70eb40cd" /><Relationship Type="http://schemas.openxmlformats.org/officeDocument/2006/relationships/notesMaster" Target="/ppt/notesMasters/notesMaster1.xml" Id="R1258e5eeda7141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c84d2c5560446a" /><Relationship Type="http://schemas.openxmlformats.org/officeDocument/2006/relationships/notesMaster" Target="/ppt/notesMasters/notesMaster1.xml" Id="R3a6d33e8536246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2a8f63acc04f95" /><Relationship Type="http://schemas.openxmlformats.org/officeDocument/2006/relationships/notesMaster" Target="/ppt/notesMasters/notesMaster1.xml" Id="Rff05b0d11d6c44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c916848bde4e04" /><Relationship Type="http://schemas.openxmlformats.org/officeDocument/2006/relationships/notesMaster" Target="/ppt/notesMasters/notesMaster1.xml" Id="R58d21647b3294c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3d0e8e5c2c543ee" /><Relationship Type="http://schemas.openxmlformats.org/officeDocument/2006/relationships/notesMaster" Target="/ppt/notesMasters/notesMaster1.xml" Id="Re4fd78002d2f47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ed68ead91e4188" /><Relationship Type="http://schemas.openxmlformats.org/officeDocument/2006/relationships/notesMaster" Target="/ppt/notesMasters/notesMaster1.xml" Id="R7e26ae8a0ab7432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c9e876bfb414705" /><Relationship Type="http://schemas.openxmlformats.org/officeDocument/2006/relationships/notesMaster" Target="/ppt/notesMasters/notesMaster1.xml" Id="R2a4ef2daf7cd477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3e97c28ae148cd" /><Relationship Type="http://schemas.openxmlformats.org/officeDocument/2006/relationships/notesMaster" Target="/ppt/notesMasters/notesMaster1.xml" Id="Ra53967ddae0149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2153de62d6406a" /><Relationship Type="http://schemas.openxmlformats.org/officeDocument/2006/relationships/notesMaster" Target="/ppt/notesMasters/notesMaster1.xml" Id="Re4528ce5bdee496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606426a56c949a6" /><Relationship Type="http://schemas.openxmlformats.org/officeDocument/2006/relationships/notesMaster" Target="/ppt/notesMasters/notesMaster1.xml" Id="R387b54c8289346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39d7bbcaa2458b" /><Relationship Type="http://schemas.openxmlformats.org/officeDocument/2006/relationships/notesMaster" Target="/ppt/notesMasters/notesMaster1.xml" Id="Radfed422eb8a41d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bde4c8e51de4961" /><Relationship Type="http://schemas.openxmlformats.org/officeDocument/2006/relationships/notesMaster" Target="/ppt/notesMasters/notesMaster1.xml" Id="R9b76931c58dd4b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083d64a57d14134" /><Relationship Type="http://schemas.openxmlformats.org/officeDocument/2006/relationships/notesMaster" Target="/ppt/notesMasters/notesMaster1.xml" Id="Rf8c7d24c648a418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ed1a00fe9e4a05" /><Relationship Type="http://schemas.openxmlformats.org/officeDocument/2006/relationships/notesMaster" Target="/ppt/notesMasters/notesMaster1.xml" Id="R6ba651eb3ea042c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6c18043b84e4370" /><Relationship Type="http://schemas.openxmlformats.org/officeDocument/2006/relationships/notesMaster" Target="/ppt/notesMasters/notesMaster1.xml" Id="R3850cf5c26f048b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cff873742fe4e4a" /><Relationship Type="http://schemas.openxmlformats.org/officeDocument/2006/relationships/notesMaster" Target="/ppt/notesMasters/notesMaster1.xml" Id="R78ec76f45cd341a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a0f90f08493406e" /><Relationship Type="http://schemas.openxmlformats.org/officeDocument/2006/relationships/notesMaster" Target="/ppt/notesMasters/notesMaster1.xml" Id="R5368cd97964a4e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cc433ba311d47e6" /><Relationship Type="http://schemas.openxmlformats.org/officeDocument/2006/relationships/notesMaster" Target="/ppt/notesMasters/notesMaster1.xml" Id="R495970f7790f4c0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085a36f5b6c43fc" /><Relationship Type="http://schemas.openxmlformats.org/officeDocument/2006/relationships/notesMaster" Target="/ppt/notesMasters/notesMaster1.xml" Id="Rc5ddcf72a3d0467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799e3b7ea7847d3" /><Relationship Type="http://schemas.openxmlformats.org/officeDocument/2006/relationships/notesMaster" Target="/ppt/notesMasters/notesMaster1.xml" Id="R2469f10a43254f2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fec843fe90140cc" /><Relationship Type="http://schemas.openxmlformats.org/officeDocument/2006/relationships/notesMaster" Target="/ppt/notesMasters/notesMaster1.xml" Id="R521ef8f077e74f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Open with the case: how can SAP close the gap between a demand shift and a business response?</a:t>
            </a:r>
          </a:p>
          <a:p xmlns:a="http://schemas.openxmlformats.org/drawingml/2006/main">
            <a:r>
              <a:t>- Focus on apparel merchandise planners. Sales record completed purchases; missed interest can disappear before the next planning cycle.</a:t>
            </a:r>
          </a:p>
          <a:p xmlns:a="http://schemas.openxmlformats.org/drawingml/2006/main">
            <a:r>
              <a:t>- Our answer is one product, SAP Retail Signal, with three connected parts.</a:t>
            </a:r>
          </a:p>
          <a:p xmlns:a="http://schemas.openxmlformats.org/drawingml/2006/main">
            <a:r>
              <a:t>- Sources: Product+ 2026 Case Package, pp. 3–5; Launchpad report, pp. 2–4.</a:t>
            </a:r>
          </a:p>
          <a:p xmlns:a="http://schemas.openxmlformats.org/drawingml/2006/main">
            <a:r>
              <a:t>Complete source content: {"n":1,"title":"Demand shifts before retailers can respond","eyebrow":"PROBLEM STATEMENT","type":"hero","seconds":20,"lead":"SAP Retail Signal","body":"One product connects early customer intent with a decision the business can carry out.","big":"The response gap","sub":"Apparel merchandisers see transactions. They need to see missed demand and act while it still matters.","foot":"Plus One Braincell · Team 463980 · Product+ 2026 · Competition concept","notes":"- 20 seconds. Open with the case: how can SAP close the gap between a demand shift and a business response?\n- Focus on apparel merchandise planners. Sales record completed purchases; missed interest can disappear before the next planning cycle.\n- Our answer is one product, SAP Retail Signal, with three connected parts.\n- Sources: Product+ 2026 Case Package, pp. 3–5; Launchpad report, pp. 2–4."}</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Cover image: AI-generated apparel store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seconds. SAP spans finance, procurement, supply chain and customer experience. Existing customers offer an initial route to market.</a:t>
            </a:r>
          </a:p>
          <a:p xmlns:a="http://schemas.openxmlformats.org/drawingml/2006/main">
            <a:r>
              <a:t>- These counts are different scopes; they cannot be added together.</a:t>
            </a:r>
          </a:p>
          <a:p xmlns:a="http://schemas.openxmlformats.org/drawingml/2006/main">
            <a:r>
              <a:t>- Sources: supplied case, p. 3; https://www.sap.com/engage/future-of-retail.html (accessed 25 Oct 2026).</a:t>
            </a:r>
          </a:p>
          <a:p xmlns:a="http://schemas.openxmlformats.org/drawingml/2006/main">
            <a:r>
              <a:t>Complete source content: {"n":2,"title":"SAP already supports the retailer’s core business","eyebrow":"COMPANY OVERVIEW","type":"stats","seconds":10,"stats":[["440,000+","enterprise customers","Case-package baseline"],["180","countries","Case-package baseline"],["14,000+","retail customers","SAP Future of Retail"]],"body":"Retail Signal would extend existing transaction, commerce and planning systems with early demand evidence and a shared response workflow.","foot":"Customer counts describe SAP’s broader footprint, not the addressable apparel market.","notes":"- 12 seconds. SAP spans finance, procurement, supply chain and customer experience. Existing customers offer an initial route to market.\n- These counts are different scopes; they cannot be added together.\n- Sources: supplied case, p. 3; https://www.sap.com/engage/future-of-retail.html (accessed 25 Oct 2026)."}</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Today’s workflow can involve sales reports, separate website analytics and supplier emails before a planner reconciles stock.</a:t>
            </a:r>
          </a:p>
          <a:p xmlns:a="http://schemas.openxmlformats.org/drawingml/2006/main">
            <a:r>
              <a:t>- The case establishes fragmented data and time pressure; it does not quantify the delay. We will measure that baseline.</a:t>
            </a:r>
          </a:p>
          <a:p xmlns:a="http://schemas.openxmlformats.org/drawingml/2006/main">
            <a:r>
              <a:t>- Sources: case, p. 4; Launchpad, recommendations 1–3.</a:t>
            </a:r>
          </a:p>
          <a:p xmlns:a="http://schemas.openxmlformats.org/drawingml/2006/main">
            <a:r>
              <a:t>Complete source content: {"n":3,"title":"Three gaps delay the same decision","eyebrow":"KEY ISSUES","type":"rows","seconds":20,"rows":[["01","Interest is invisible","Store teams see what sold, but not which sizes were tried and left behind."],["02","Unmet online demand disappears","Searching an unavailable size can end without a sale or a restock request."],["03","Supply risk arrives without context","A price or delivery change needs to be traced to affected products, stores and margins."]],"foot":"Case-based problem hypothesis. Validate the frequency and cost through planner interviews and a pilot.","notes":"- 20 seconds. Today’s workflow can involve sales reports, separate website analytics and supplier emails before a planner reconciles stock.\n- The case establishes fragmented data and time pressure; it does not quantify the delay. We will measure that baseline.\n- Sources: case, p. 4; Launchpad, recommendations 1–3."}</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- 25 seconds. Bob is accountable for availability, but he must reconstruct the situation across teams.</a:t>
            </a:r>
          </a:p>
          <a:p xmlns:a="http://schemas.openxmlformats.org/drawingml/2006/main">
            <a:r>
              <a:t>- This is a persona scenario, not a customer interview or measured time study.</a:t>
            </a:r>
          </a:p>
          <a:p xmlns:a="http://schemas.openxmlformats.org/drawingml/2006/main">
            <a:r>
              <a:t>- The 80-unit seven-day demand scenario leaves a 72-unit gap after 8 on hand. Low conversion does not establish a fit problem.</a:t>
            </a:r>
          </a:p>
          <a:p xmlns:a="http://schemas.openxmlformats.org/drawingml/2006/main">
            <a:r>
              <a:t>- Sources: current Retail Signal prototype; Launchpad report, pp. 3–4.</a:t>
            </a:r>
          </a:p>
          <a:p xmlns:a="http://schemas.openxmlformats.org/drawingml/2006/main">
            <a:r>
              <a:t>Complete source content: {"n":4,"title":"Meet Bob, before Retail Signal","eyebrow":"PART 1 · CUSTOMER STORY","type":"bob","seconds":25,"lead":"Bob","sub":"Regional merchandise planner\nFictional 100-store apparel retailer","rows":[["9:00","Sales look ordinary","The cream medium top has only 8 units left in Vancouver."],["10:30","The signals live elsewhere","240 try-ons, 43 purchases and 162 out-of-stock sessions are not in his sales report."],["Later","The replenishment misses the window","The primary supplier needs 21 days; Bob still has to locate transferable stock."]],"foot":"Bob is a fictional persona. Product, supplier and location figures are seeded demo records.","notes":"- 25 seconds. Bob is accountable for availability, but he must reconstruct the situation across teams.\n- This is a persona scenario, not a customer interview or measured time study.\n- The 80-unit seven-day demand scenario leaves a 72-unit gap after 8 on hand. Low conversion does not establish a fit problem.\n- Sources: current Retail Signal prototype; Launchpad report, pp. 3–4."}</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Bob portrait: AI-generated illustration of a fictional customer persona.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- 90 seconds. Play the recommendation walkthrough on this slide, or open the supplied MP4.</a:t>
            </a:r>
          </a:p>
          <a:p xmlns:a="http://schemas.openxmlformats.org/drawingml/2006/main">
            <a:r>
              <a:t>- The video demonstrates all three parts of one product. It uses real captures of our working website.</a:t>
            </a:r>
          </a:p>
          <a:p xmlns:a="http://schemas.openxmlformats.org/drawingml/2006/main">
            <a:r>
              <a:t>- Part 1: compare 240 try-ons with 43 purchases, then investigate availability, fit or price instead of guessing the cause.</a:t>
            </a:r>
          </a:p>
          <a:p xmlns:a="http://schemas.openxmlformats.org/drawingml/2006/main">
            <a:r>
              <a:t>- Part 2: 162 qualified out-of-stock sessions × assumed 15% conversion, rounded down, gives 24 scenario units for Online West. These are not confirmed orders.</a:t>
            </a:r>
          </a:p>
          <a:p xmlns:a="http://schemas.openxmlformats.org/drawingml/2006/main">
            <a:r>
              <a:t>- Part 3: inspect material rates, apply a gas shortage and ask the assistant to explain added costs and margin effects. Then compare immediate stock transfer with later supplier replenishment.</a:t>
            </a:r>
          </a:p>
          <a:p xmlns:a="http://schemas.openxmlformats.org/drawingml/2006/main">
            <a:r>
              <a:t>- No live RFID, retailer analytics, SAP tenant or SAP Joule service is connected.</a:t>
            </a:r>
          </a:p>
          <a:p xmlns:a="http://schemas.openxmlformats.org/drawingml/2006/main">
            <a:r>
              <a:t>Complete source content: {"n":5,"title":"One product, three connected parts","eyebrow":"RECOMMENDATION DEMO · 90 SECONDS","type":"video","seconds":90,"lead":"SAP Retail Signal","rows":[["1","Smart Fitting-Room Demand Signals","Reveal interest before purchase."],["2","Out-of-Stock Demand Tracker","Qualify demand for unavailable sizes."],["3","Supply-Chain Risk and Response View","Explain exposure and compare a response."]],"foot":"Working website with seeded records. Joule-inspired explanations and SAP execution are simulated.","notes":"- 90 seconds. Play the recommendation walkthrough on this slide, or open the supplied MP4.\n- The video demonstrates all three parts of one product. It uses real captures of our working website.\n- Part 1: compare 240 try-ons with 43 purchases, then investigate availability, fit or price instead of guessing the cause.\n- Part 2: 162 qualified out-of-stock sessions × assumed 15% conversion, rounded down, gives 24 scenario units for Online West. These are not confirmed orders.\n- Part 3: inspect material rates, apply a gas shortage and ask the assistant to explain added costs and margin effects. Then compare immediate stock transfer with later supplier replenishment.\n- No live RFID, retailer analytics, SAP tenant or SAP Joule service is connected."}</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Recommendation 1 needs specialist hardware rather than SAP manufacturing its own readers. Use Zebra readers, Avery Dennison tags and regional distribution.</a:t>
            </a:r>
          </a:p>
          <a:p xmlns:a="http://schemas.openxmlformats.org/drawingml/2006/main">
            <a:r>
              <a:t>- Radio-frequency identification, or RFID, identifies tagged garments using radio waves. Room-zone calibration is essential to avoid counting adjacent racks.</a:t>
            </a:r>
          </a:p>
          <a:p xmlns:a="http://schemas.openxmlformats.org/drawingml/2006/main">
            <a:r>
              <a:t>- Start with already tagged assortments; tag economics for new assortments are excluded from the base quote and must be priced.</a:t>
            </a:r>
          </a:p>
          <a:p xmlns:a="http://schemas.openxmlformats.org/drawingml/2006/main">
            <a:r>
              <a:t>- Capability sources: https://www.zebra.com/us/en/products/rfid/rfid-readers.html ; https://rfid.averydennison.com/en/home/industry-segments/retail/apparel-and-fashion.html ; https://careers.ingrammicro.com/en/locations/ ; https://www.tdsynnex.com/us/en/where-we-are.html ; https://redingtongroup.com/about-us/global-presence/ . All accessed 25 Oct 2026.</a:t>
            </a:r>
          </a:p>
          <a:p xmlns:a="http://schemas.openxmlformats.org/drawingml/2006/main">
            <a:r>
              <a:t>Complete source content: {"n":6,"title":"Hardware partners and regional delivery","eyebrow":"PART 1 · PROPOSED PARTNER MODEL","type":"partner","seconds":20,"lead":"Build with specialist hardware providers","body":"Zebra: fixed RFID readers and antennas\nAvery Dennison: garment RFID tags and inlays","table":[["Region","Proposed distribution lead","Deployment"],["North America","Ingram Micro","Local RFID integrators"],["Latin America","Ingram Micro","Country-qualified integrators"],["Europe","TD SYNNEX","Local RFID integrators"],["Asia Pacific / Japan","TD SYNNEX","Local RFID integrators"],["India / Middle East / Africa","Redington","Local RFID integrators"]],"foot":"Proposed partners, not signed agreements. Availability, product authorization and RF certification require country-level checks.","notes":"- 20 seconds. Recommendation 1 needs specialist hardware rather than SAP manufacturing its own readers. Use Zebra readers, Avery Dennison tags and regional distribution.\n- Radio-frequency identification, or RFID, identifies tagged garments using radio waves. Room-zone calibration is essential to avoid counting adjacent racks.\n- Start with already tagged assortments; tag economics for new assortments are excluded from the base quote and must be priced.\n- Capability sources: https://www.zebra.com/us/en/products/rfid/rfid-readers.html ; https://rfid.averydennison.com/en/home/industry-segments/retail/apparel-and-fashion.html ; https://careers.ingrammicro.com/en/locations/ ; https://www.tdsynnex.com/us/en/where-we-are.html ; https://redingtongroup.com/about-us/global-presence/ . All accessed 25 Oct 2026."}</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Illustrative AI-generated garment RFID photo. It does not depict a specific Zebra or Avery Dennison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Bob can evaluate a 40-unit transfer at a modeled cost of 60 dollars.</a:t>
            </a:r>
          </a:p>
          <a:p xmlns:a="http://schemas.openxmlformats.org/drawingml/2006/main">
            <a:r>
              <a:t>- Coverage rises from 8 of 80 to 48 of 80. Thirty-two units remain uncovered: the tool makes the residual problem visible.</a:t>
            </a:r>
          </a:p>
          <a:p xmlns:a="http://schemas.openxmlformats.org/drawingml/2006/main">
            <a:r>
              <a:t>- Approval does not create inventory. Goods issue moves stock into transit; goods receipt adds destination sellable stock.</a:t>
            </a:r>
          </a:p>
          <a:p xmlns:a="http://schemas.openxmlformats.org/drawingml/2006/main">
            <a:r>
              <a:t>- Source: prototype seeded transfer scenario, ERT-CRM-M.</a:t>
            </a:r>
          </a:p>
          <a:p xmlns:a="http://schemas.openxmlformats.org/drawingml/2006/main">
            <a:r>
              <a:t>Complete source content: {"n":7,"title":"Meet Bob, with a response he can explain","eyebrow":"PART 2 · CUSTOMER STORY","type":"after","seconds":20,"big":"10% → 60%","sub":"Seven-day coverage in the transfer scenario","rows":[["See","One evidence trail","Try-ons, online interest, available inventory and supplier lead time share product and location context."],["Decide","Compare 40 units at CAD 60 transfer cost","Protect Burnaby’s 36-unit reserve; the nine-day alternative is too late for this seven-day window."],["Act","Approve, dispatch and confirm receipt","Only goods receipt makes the 40 transferred units sellable in Vancouver."]],"foot":"Simulation: 8 current units + 40 transfer units = 48 of 80 scenario units covered. Sales recovery is unproven.","notes":"- 20 seconds. Bob can evaluate a 40-unit transfer at a modeled cost of 60 dollars.\n- Coverage rises from 8 of 80 to 48 of 80. Thirty-two units remain uncovered: the tool makes the residual problem visible.\n- Approval does not create inventory. Goods issue moves stock into transit; goods receipt adds destination sellable stock.\n- Source: prototype seeded transfer scenario, ERT-CRM-M."}</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Total addressable market, TAM, is modeled annual software spend. SAM narrows that to chains we could initially serve. SOM is the share we aim to win; 150 accounts is an ambitious scenario, not a forecast.</a:t>
            </a:r>
          </a:p>
          <a:p xmlns:a="http://schemas.openxmlformats.org/drawingml/2006/main">
            <a:r>
              <a:t>- We use a 100-store reference contract. A real account list and willingness-to-pay interviews are needed before funding scale.</a:t>
            </a:r>
          </a:p>
          <a:p xmlns:a="http://schemas.openxmlformats.org/drawingml/2006/main">
            <a:r>
              <a:t>- Context: the Launchpad cites US$957B fashion e-commerce in 2026; Shopify corroborates a US$957.31B Statista projection. Consumer sales are not software TAM.</a:t>
            </a:r>
          </a:p>
          <a:p xmlns:a="http://schemas.openxmlformats.org/drawingml/2006/main">
            <a:r>
              <a:t>- Source: https://www.shopify.com/uk/enterprise/blog/ecommerce-fashion-industry ; SAP retail footprint source on slide 2.</a:t>
            </a:r>
          </a:p>
          <a:p xmlns:a="http://schemas.openxmlformats.org/drawingml/2006/main">
            <a:r>
              <a:t>Complete source content: {"n":8,"title":"The first buyers are SAP-connected apparel chains","eyebrow":"MARKET RESEARCH","type":"market","seconds":20,"body":"Primary users: merchandise and inventory planners\nEconomic buyer: COO / merchandising leader, with CFO approval\nFirst segment: 50–250 stores, online sales and reliable SKU-level stock","stats":[["CAD 1.40B","Illustrative TAM","4,000 eligible chains × CAD 350k/year"],["CAD 175M","Illustrative SAM","500 initial serviceable chains × CAD 350k/year"],["CAD 52.5M","Year-3 ending ARR target","150 customers × CAD 350k/year"]],"foot":"Account counts and contract values are planning assumptions, not verified market counts. 150 customers is 30% of the modeled SAM.","notes":"- 20 seconds. Total addressable market, TAM, is modeled annual software spend. SAM narrows that to chains we could initially serve. SOM is the share we aim to win; 150 accounts is an ambitious scenario, not a forecast.\n- We use a 100-store reference contract. A real account list and willingness-to-pay interviews are needed before funding scale.\n- Context: the Launchpad cites US$957B fashion e-commerce in 2026; Shopify corroborates a US$957.31B Statista projection. Consumer sales are not software TAM.\n- Source: https://www.shopify.com/uk/enterprise/blog/ecommerce-fashion-industry ; SAP retail footprint source on slide 2."}</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Shopper image: AI-generated illustrative retail scene.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RFID fitting-room insight and AI inventory planning already exist. We are not claiming to invent these categories or to have features competitors lack.</a:t>
            </a:r>
          </a:p>
          <a:p xmlns:a="http://schemas.openxmlformats.org/drawingml/2006/main">
            <a:r>
              <a:t>- The case for Retail Signal is a focused experience joining early intent with SAP operational decisions. If an existing SAP deployment already solves the workflow, extend it instead of selling duplicate software.</a:t>
            </a:r>
          </a:p>
          <a:p xmlns:a="http://schemas.openxmlformats.org/drawingml/2006/main">
            <a:r>
              <a:t>- Sources: https://www.sensormatic.com/de_de/TrueVUE-Inventory-Intel/TrueVUE-Fitting-Room ; https://www.oracle.com/retail/ ; https://blueyonder.com/solutions/retail-planning ; https://www.sap.com/products/scm/integrated-business-planning.html ; https://www.sap.com/products/crm/customer-activity-repository.html .</a:t>
            </a:r>
          </a:p>
          <a:p xmlns:a="http://schemas.openxmlformats.org/drawingml/2006/main">
            <a:r>
              <a:t>Complete source content: {"n":9,"title":"Competitors validate the need; integration decides the fit","eyebrow":"COMPETITOR ANALYSIS","type":"table","seconds":20,"table":[["Alternative","Established strength","Retail Signal’s proposed fit"],["Sensormatic TrueVUE","RFID inventory and fitting-room insight","Use equivalent event inputs in a wider decision workflow."],["Oracle Retail","Connected merchandising, inventory and AI planning","Focus on retailers whose execution already runs on SAP."],["Blue Yonder","Retail planning, scenarios and network intelligence","Bring early intent to a concise SAP approval workflow."],["Existing SAP IBP / CAR","Demand planning and retail transaction context","Extend these products; reuse their planning and data services."]],"foot":"Qualitative positioning from public vendor descriptions. Competitors are commercial offerings; Retail Signal is a prototype.","notes":"- 20 seconds. RFID fitting-room insight and AI inventory planning already exist. We are not claiming to invent these categories or to have features competitors lack.\n- The case for Retail Signal is a focused experience joining early intent with SAP operational decisions. If an existing SAP deployment already solves the workflow, extend it instead of selling duplicate software.\n- Sources: https://www.sensormatic.com/de_de/TrueVUE-Inventory-Intel/TrueVUE-Fitting-Room ; https://www.oracle.com/retail/ ; https://blueyonder.com/solutions/retail-planning ; https://www.sap.com/products/scm/integrated-business-planning.html ; https://www.sap.com/products/crm/customer-activity-repository.html ."}</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Like an ecosystem of compatible devices, SAP’s appeal is that another tool can work with systems the retailer already uses. This still requires integration work and licensing.</a:t>
            </a:r>
          </a:p>
          <a:p xmlns:a="http://schemas.openxmlformats.org/drawingml/2006/main">
            <a:r>
              <a:t>- Our data advantage is business context, not unrestricted access to every customer’s records. Customer data use for AI improvement is governed by service agreements; new development can require additional consent. External model providers do not receive training rights by default.</a:t>
            </a:r>
          </a:p>
          <a:p xmlns:a="http://schemas.openxmlformats.org/drawingml/2006/main">
            <a:r>
              <a:t>- Sources: SAP Integration Suite https://www.sap.com/products/technology-platform/integration-suite.html ; SAP responsible AI https://www.sap.com/products/artificial-intelligence/ai-ethics.html ; https://learning.sap.com/courses/building-confidence-in-ai-with-sap/does-ai-train-on-my-data .</a:t>
            </a:r>
          </a:p>
          <a:p xmlns:a="http://schemas.openxmlformats.org/drawingml/2006/main">
            <a:r>
              <a:t>Complete source content: {"n":10,"title":"SAP’s ecosystem can shorten the path to action","eyebrow":"COMPETITIVE ADVANTAGE","type":"ecosystem","seconds":20,"rows":[["Connected execution","S/4HANA holds stock movements and purchasing. Commerce Cloud contributes online context. IBP supports planning."],["Consistent business context","Authorized product, location, cost and supplier data can make recommendations more relevant to the retailer."],["Learning with permission","SAP’s large client base creates a potential learning advantage, subject to contracts, consent and evaluation. More data alone does not prove better accuracy."]],"foot":"Proposed architecture. No live SAP integration or cross-customer training is present in this demo.","notes":"- 20 seconds. Like an ecosystem of compatible devices, SAP’s appeal is that another tool can work with systems the retailer already uses. This still requires integration work and licensing.\n- Our data advantage is business context, not unrestricted access to every customer’s records. Customer data use for AI improvement is governed by service agreements; new development can require additional consent. External model providers do not receive training rights by default.\n- Sources: SAP Integration Suite https://www.sap.com/products/technology-platform/integration-suite.html ; SAP responsible AI https://www.sap.com/products/artificial-intelligence/ai-ethics.html ; https://learning.sap.com/courses/building-confidence-in-ai-with-sap/does-ai-train-on-my-data ."}</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seconds. Our strongest asset is the fit with SAP execution; our weakest point is that commercial value and integrations remain unproven.</a:t>
            </a:r>
          </a:p>
          <a:p xmlns:a="http://schemas.openxmlformats.org/drawingml/2006/main">
            <a:r>
              <a:t>- Competition, integration effort and adoption should shape the pilot, not be hidden behind an AI claim.</a:t>
            </a:r>
          </a:p>
          <a:p xmlns:a="http://schemas.openxmlformats.org/drawingml/2006/main">
            <a:r>
              <a:t>Complete source content: {"n":11,"title":"SWOT: a credible extension with execution risk","eyebrow":"SWOT ANALYSIS","type":"swot","seconds":10,"quadrants":[["STRENGTHS","Existing SAP workflows\nOne evidence-to-action experience"],["WEAKNESSES","Prototype, not production\nHardware and data-quality dependence"],["OPPORTUNITIES","Sell into SAP retail relationships\nProve value on unavailable sizes"],["THREATS","Strong planning and RFID vendors\nBudget pressure and long sales cycles"]],"foot":"Strategic assessment by Plus One Braincell; pilot evidence is needed to validate the opportunity.","notes":"- 12 seconds. Our strongest asset is the fit with SAP execution; our weakest point is that commercial value and integrations remain unproven.\n- Competition, integration effort and adoption should shape the pilot, not be hidden behind an AI claim."}</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- 15 seconds. The most important dependency is a common product and location identifier. Without it, the tool may recommend stock the business cannot actually move.</a:t>
            </a:r>
          </a:p>
          <a:p xmlns:a="http://schemas.openxmlformats.org/drawingml/2006/main">
            <a:r>
              <a:t>- BTP means Business Technology Platform; Integration Suite connects systems through controlled interfaces, or APIs. A production service needs authentication, monitoring, retry safety and tenant-specific field mapping.</a:t>
            </a:r>
          </a:p>
          <a:p xmlns:a="http://schemas.openxmlformats.org/drawingml/2006/main">
            <a:r>
              <a:t>- Sources: SAP Integration Suite, CAR and IBP official product documentation, cited in appendix.</a:t>
            </a:r>
          </a:p>
          <a:p xmlns:a="http://schemas.openxmlformats.org/drawingml/2006/main">
            <a:r>
              <a:t>Complete source content: {"n":12,"title":"Dependencies come before automation","eyebrow":"DEPENDENCIES","type":"table","seconds":15,"table":[["Dependency","Required before pilot actions","Owner"],["Reliable shared records","Match SKU / size / location; reconcile stock and timestamps","Retail IT + data lead"],["Safe SAP integration","Tenant sandbox, supported interfaces, roles and audit trail","SAP / retailer integration team"],["Qualified demand events","RFID zone tests; session deduplication; bot filtering","Hardware + commerce teams"],["Commercial and privacy terms","Partner quotes, data agreement and retention policy","Procurement + privacy lead"]],"foot":"Proposed SAP roles: CAR = transaction context; S/4HANA = execution; Commerce = online channel; IBP = planning.","notes":"- 15 seconds. The most important dependency is a common product and location identifier. Without it, the tool may recommend stock the business cannot actually move.\n- BTP means Business Technology Platform; Integration Suite connects systems through controlled interfaces, or APIs. A production service needs authentication, monitoring, retry safety and tenant-specific field mapping.\n- Sources: SAP Integration Suite, CAR and IBP official product documentation, cited in appendix."}</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These are the three biggest risks: bad decisions from weak data, loss of shopper trust, and a product that does not repay its cost.</a:t>
            </a:r>
          </a:p>
          <a:p xmlns:a="http://schemas.openxmlformats.org/drawingml/2006/main">
            <a:r>
              <a:t>- Human approval and transaction reconciliation prevent an explanation from becoming an unverified stock movement.</a:t>
            </a:r>
          </a:p>
          <a:p xmlns:a="http://schemas.openxmlformats.org/drawingml/2006/main">
            <a:r>
              <a:t>- Privacy controls require a local legal review; proposed retention is seven days for raw garment events and 90 days for aggregates, subject to that review.</a:t>
            </a:r>
          </a:p>
          <a:p xmlns:a="http://schemas.openxmlformats.org/drawingml/2006/main">
            <a:r>
              <a:t>Complete source content: {"n":13,"title":"Three risks could stop the pilot","eyebrow":"RISKS AND MITIGATIONS","type":"risk","seconds":20,"table":[["Risk","Mitigation","Stop / review trigger"],["Wrong demand or stale stock","Confidence thresholds; fresh-stock check; planner approval; reconcile receipts","Stock mismatch &gt;2% or repeated bad transfers"],["Fitting-room privacy and trust","Garment events only; no cameras or identities; aggregate; short retention","Unresolved privacy concern or missing approval"],["Low adoption or weak economics","Planner co-design; top exceptions only; matched comparison; capped pilot","No response-time improvement or no path to positive value"]],"foot":"Risk owners: retail operations, privacy lead and CFO respectively. Thresholds are proposed pilot gates.","notes":"- 20 seconds. These are the three biggest risks: bad decisions from weak data, loss of shopper trust, and a product that does not repay its cost.\n- Human approval and transaction reconciliation prevent an explanation from becoming an unverified stock movement.\n- Privacy controls require a local legal review; proposed retention is seven days for raw garment events and 90 days for aggregates, subject to that review."}</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Adoption requires an explicit bargain. Bob gets speed, while the source store keeps a reserve and the CFO keeps spending authority.</a:t>
            </a:r>
          </a:p>
          <a:p xmlns:a="http://schemas.openxmlformats.org/drawingml/2006/main">
            <a:r>
              <a:t>- Marketing can promote availability improvements only after results are measured. Procurement validates supplier alternatives; Joule cannot approve a new vendor.</a:t>
            </a:r>
          </a:p>
          <a:p xmlns:a="http://schemas.openxmlformats.org/drawingml/2006/main">
            <a:r>
              <a:t>- SAP owns the software roadmap; partners own installation and first-line device support.</a:t>
            </a:r>
          </a:p>
          <a:p xmlns:a="http://schemas.openxmlformats.org/drawingml/2006/main">
            <a:r>
              <a:t>Complete source content: {"n":14,"title":"Decision rights resolve competing stakeholder needs","eyebrow":"STAKEHOLDER ALIGNMENT","type":"stake","seconds":20,"table":[["Stakeholder","What they need","Decision / concession"],["Bob + store managers","Fast action without draining another store","Planner proposes; source manager protects reserve."],["CFO / COO","Value, margin and spending control","CFO owns pilot gate and spending limits."],["Retail IT + SAP product team","Secure integration and a clear product boundary","Reuse IBP / CAR; IT can block stale or invalid data."],["Privacy + shoppers","No personal surveillance","Privacy lead approves collection and retention."],["Hardware / service partners","Commercial incentive and support clarity","Partners earn hardware and deployment revenue."]],"foot":"Escalation: margin or reserve conflict → retail operations leader; data/privacy failure → pause affected actions.","notes":"- 20 seconds. Adoption requires an explicit bargain. Bob gets speed, while the source store keeps a reserve and the CFO keeps spending authority.\n- Marketing can promote availability improvements only after results are measured. Procurement validates supplier alternatives; Joule cannot approve a new vendor.\n- SAP owns the software roadmap; partners own installation and first-line device support."}</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- 15 seconds. We prioritize online demand and shared stock first because they avoid hardware lead time. Then validate RFID in selected stores and introduce supply-cost scenarios.</a:t>
            </a:r>
          </a:p>
          <a:p xmlns:a="http://schemas.openxmlformats.org/drawingml/2006/main">
            <a:r>
              <a:t>- Baseline demo rates and material-consumption assumptions are illustrative. Public commodity benchmarks are not the retailer’s contract prices.</a:t>
            </a:r>
          </a:p>
          <a:p xmlns:a="http://schemas.openxmlformats.org/drawingml/2006/main">
            <a:r>
              <a:t>- Existing stock does not vanish when new production is constrained.</a:t>
            </a:r>
          </a:p>
          <a:p xmlns:a="http://schemas.openxmlformats.org/drawingml/2006/main">
            <a:r>
              <a:t>Complete source content: {"n":15,"title":"Trade-offs are deliberate","eyebrow":"TRADE-OFFS AND LIMITATIONS","type":"trade","seconds":15,"pairs":[["Human approval","Slower than full automation; safer while evidence is uncertain."],["Apparel and existing SAP users first","Narrower reach; lower initial workflow and data complexity."],["RFID in selected stores","Less coverage; avoids outfitting every store before value is proven."],["Evidence before prediction","The demo explains scenarios; live news prediction and autonomous procurement remain future work."]],"foot":"Try-ons and searches indicate interest, not guaranteed purchases or the cause of non-purchase.","notes":"- 15 seconds. We prioritize online demand and shared stock first because they avoid hardware lead time. Then validate RFID in selected stores and introduce supply-cost scenarios.\n- Baseline demo rates and material-consumption assumptions are illustrative. Public commodity benchmarks are not the retailer’s contract prices.\n- Existing stock does not vanish when new production is constrained."}</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Start with interviews and a two-week baseline, then shadow mode: calculate recommendations without executing them.</a:t>
            </a:r>
          </a:p>
          <a:p xmlns:a="http://schemas.openxmlformats.org/drawingml/2006/main">
            <a:r>
              <a:t>- Hardware qualification can proceed alongside digital integration. If devices are delayed, digital and supply workflows continue; RFID claims wait.</a:t>
            </a:r>
          </a:p>
          <a:p xmlns:a="http://schemas.openxmlformats.org/drawingml/2006/main">
            <a:r>
              <a:t>- Scale to a 100-store customer only after week 12. Wider commercial rollout takes additional quarters, separate from pilot completion.</a:t>
            </a:r>
          </a:p>
          <a:p xmlns:a="http://schemas.openxmlformats.org/drawingml/2006/main">
            <a:r>
              <a:t>Complete source content: {"n":16,"title":"A 12-week pilot earns the right to scale","eyebrow":"IMPLEMENTATION TIMELINE","type":"timeline","seconds":20,"phases":[["WEEKS 1–2","Establish trust","5 planner interviews; baseline workflow; privacy and stock mapping."],["WEEKS 3–5","Connect demand","Online signals and stock read-only; shadow recommendations; hardware zone tests."],["WEEKS 6–8","Approve limited actions","10 stores; controlled transfers; RFID evidence; reconcile all receipts."],["WEEKS 9–12","Measure and decide","Matched-store evaluation; cost scenarios; CFO / COO scale or stop gate."]],"foot":"Resources: SAP product lead, 2 integration engineers, full-stack engineer, analyst, UX/change lead; retail and partner counterparts.","notes":"- 20 seconds. Start with interviews and a two-week baseline, then shadow mode: calculate recommendations without executing them.\n- Hardware qualification can proceed alongside digital integration. If devices are delayed, digital and supply workflows continue; RFID claims wait.\n- Scale to a 100-store customer only after week 12. Wider commercial rollout takes additional quarters, separate from pilot completion."}</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- 18 seconds. Measure both median and 90th-percentile response time so an average cannot hide slow exceptions.</a:t>
            </a:r>
          </a:p>
          <a:p xmlns:a="http://schemas.openxmlformats.org/drawingml/2006/main">
            <a:r>
              <a:t>- Track signal freshness, recommendation acceptance with reasons, stockout sessions, realized contribution and shopper complaints.</a:t>
            </a:r>
          </a:p>
          <a:p xmlns:a="http://schemas.openxmlformats.org/drawingml/2006/main">
            <a:r>
              <a:t>- CFO owns financial verification; analyst owns matched-store measurement; operations owns stock accuracy. If the pilot is underpowered, extend measurement rather than claim causal uplift.</a:t>
            </a:r>
          </a:p>
          <a:p xmlns:a="http://schemas.openxmlformats.org/drawingml/2006/main">
            <a:r>
              <a:t>Complete source content: {"n":17,"title":"Success means a faster, verified response","eyebrow":"PILOT KPIs","type":"kpi","seconds":18,"stats":[["−50%","median response time","Qualified signal → approved action"],["≥98%","inventory reconciliation","Physical / recorded stock agreement"],["≥70%","weekly planner use","Eligible pilot planners"]],"body":"Business gate: positive incremental contribution after transfer costs and returns, with a credible cash payback within 24 months at the negotiated price.","foot":"Targets, not achieved results. Compare pilot with matched stores and pre-pilot baseline; report uncertainty.","notes":"- 18 seconds. Measure both median and 90th-percentile response time so an average cannot hide slow exceptions.\n- Track signal freshness, recommendation acceptance with reasons, stockout sessions, realized contribution and shopper complaints.\n- CFO owns financial verification; analyst owns matched-store measurement; operations owns stock accuracy. If the pilot is underpowered, extend measurement rather than claim causal uplift."}</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The reference price covers the one product with all three parts. RFID is activated only at equipped stores.</a:t>
            </a:r>
          </a:p>
          <a:p xmlns:a="http://schemas.openxmlformats.org/drawingml/2006/main">
            <a:r>
              <a:t>- Of each 8,000-dollar hardware and installation invoice, 5,000 goes to equipment/tag suppliers, 1,000 to distribution and 2,000 to deployment. SAP earns no hardware margin in this model.</a:t>
            </a:r>
          </a:p>
          <a:p xmlns:a="http://schemas.openxmlformats.org/drawingml/2006/main">
            <a:r>
              <a:t>- Of 75,000 onboarding, SAP retains 15,000 and the delivery partner receives 60,000. All are assumptions, not negotiated terms.</a:t>
            </a:r>
          </a:p>
          <a:p xmlns:a="http://schemas.openxmlformats.org/drawingml/2006/main">
            <a:r>
              <a:t>Complete source content: {"n":18,"title":"One subscription; partners earn the hardware work","eyebrow":"FINANCIALS · PRICING AND REVENUE SPLIT","type":"pricing","seconds":20,"big":"CAD 350k / year","sub":"Reference customer: 100 stores\nCAD 50k platform + CAD 3k per store","table":[["Illustrative charge","Recipient / split"],["CAD 8k per equipped store","OEM / tag supplier 62.5% · distributor 12.5% · installer 25%"],["CAD 75k customer onboarding","Delivery partner 80% · SAP coordination fee 20%"],["Annual product subscription","SAP 100%; partner hardware invoiced separately"]],"foot":"Proposed commercial model; quotes and accounting treatment unconfirmed. Existing tagged merchandise assumed; taxes and new tag programs excluded.","notes":"- 20 seconds. The reference price covers the one product with all three parts. RFID is activated only at equipped stores.\n- Of each 8,000-dollar hardware and installation invoice, 5,000 goes to equipment/tag suppliers, 1,000 to distribution and 2,000 to deployment. SAP earns no hardware margin in this model.\n- Of 75,000 onboarding, SAP retains 15,000 and the delivery partner receives 60,000. All are assumptions, not negotiated terms."}</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- 25 seconds. Separate productive capacity from cash savings. One percent incremental sales at a 45 percent contribution margin yields 450,000 dollars; time freed is worth 364,000 only if productively redeployed.</a:t>
            </a:r>
          </a:p>
          <a:p xmlns:a="http://schemas.openxmlformats.org/drawingml/2006/main">
            <a:r>
              <a:t>- Economic net annual value is 464,000, but cash-only net is 100,000. Upfront 235,000 means 6.1-month economic payback versus 28.2 months cash-only.</a:t>
            </a:r>
          </a:p>
          <a:p xmlns:a="http://schemas.openxmlformats.org/drawingml/2006/main">
            <a:r>
              <a:t>- The base model fails our 24-month cash gate. We must prove at least 1.04% uplift, lower price/cost, or documented cash savings before scale. This is why the pilot is needed.</a:t>
            </a:r>
          </a:p>
          <a:p xmlns:a="http://schemas.openxmlformats.org/drawingml/2006/main">
            <a:r>
              <a:t>Complete source content: {"n":19,"title":"Retailer value must clear the cash-only test","eyebrow":"FINANCIALS · REFERENCE CUSTOMER","type":"roi","seconds":25,"table":[["Annual value / cost","CAD","Basis"],["Recovered-sales contribution","450,000","1% of CAD 100M sales × 45% contribution margin"],["Planner / store capacity freed","364,000","2 h/store/week × 100 × 52 × CAD 35"],["Subscription","(350,000)","100-store reference price"],["Upfront deployment","235,000","20 RFID stores × CAD 8k + CAD 75k onboarding"]],"stats":[["6.1 months","economic payback","Includes value of time freed"],["28.2 months","cash-only payback","Excludes time unless cash is saved"]],"foot":"Illustrative steady-state annual benefits; not measured. Base cash-only payback misses the 24-month scale gate.","notes":"- 25 seconds. Separate productive capacity from cash savings. One percent incremental sales at a 45 percent contribution margin yields 450,000 dollars; time freed is worth 364,000 only if productively redeployed.\n- Economic net annual value is 464,000, but cash-only net is 100,000. Upfront 235,000 means 6.1-month economic payback versus 28.2 months cash-only.\n- The base model fails our 24-month cash gate. We must prove at least 1.04% uplift, lower price/cost, or documented cash savings before scale. This is why the pilot is needed."}</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- 25 seconds. Annual recurring revenue at the end of year 3 is 52.5 million; recognized year-3 revenue is 38.1 million because new customers arrive throughout the year.</a:t>
            </a:r>
          </a:p>
          <a:p xmlns:a="http://schemas.openxmlformats.org/drawingml/2006/main">
            <a:r>
              <a:t>- This is a product contribution model before tax, financing, corporate allocations and working capital. Costs include customer acquisition and the proposed pilot in year-one spending.</a:t>
            </a:r>
          </a:p>
          <a:p xmlns:a="http://schemas.openxmlformats.org/drawingml/2006/main">
            <a:r>
              <a:t>- Zero churn and 150 wins are optimistic assumptions. Renewal-only break-even is approximately 23 full-year customers at the year-two fixed cost. Sensitivities are in the appendix.</a:t>
            </a:r>
          </a:p>
          <a:p xmlns:a="http://schemas.openxmlformats.org/drawingml/2006/main">
            <a:r>
              <a:t>Complete source content: {"n":20,"title":"SAP’s base scenario reaches CAD 38.1M in year 3","eyebrow":"FINANCIALS · SAP PRODUCT SCENARIO","type":"financial","seconds":25,"table":[["CAD millions, unless noted","Year 1","Year 2","Year 3"],["Ending customers","20","60","150"],["Average active customers","10","40","105"],["Subscription revenue","3.50","14.00","36.75"],["Net onboarding fee","0.30","0.60","1.35"],["Total modeled SAP revenue","3.80","14.60","38.10"],["Hosting / support","(0.88)","(3.50)","(9.19)"],["Product / sales / operations","(5.00)","(6.00)","(8.00)"],["Operating contribution","(2.08)","5.10","20.91"]],"foot":"Illustrative, not SAP guidance. Midyear customer wins, no churn, CAD 350k/customer/year; hardware pass-through excluded.","notes":"- 25 seconds. Annual recurring revenue at the end of year 3 is 52.5 million; recognized year-3 revenue is 38.1 million because new customers arrive throughout the year.\n- This is a product contribution model before tax, financing, corporate allocations and working capital. Costs include customer acquisition and the proposed pilot in year-one spending.\n- Zero churn and 150 wins are optimistic assumptions. Renewal-only break-even is approximately 23 full-year customers at the year-two fixed cost. Sensitivities are in the appendix."}</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seconds. The value is the shorter gap between a qualified signal and a verified business response.</a:t>
            </a:r>
          </a:p>
          <a:p xmlns:a="http://schemas.openxmlformats.org/drawingml/2006/main">
            <a:r>
              <a:t>- Better business context can make Joule more useful, while people retain accountability for consequential actions.</a:t>
            </a:r>
          </a:p>
          <a:p xmlns:a="http://schemas.openxmlformats.org/drawingml/2006/main">
            <a:r>
              <a:t>Complete source content: {"n":21,"title":"Earlier evidence is useful only when teams can act","eyebrow":"VALUE PROPOSITION","type":"value","seconds":9,"rows":[["For Bob","A prioritized decision with evidence, alternatives and a visible owner."],["For the retailer","Better availability and margin discipline, measured against the cost of responding."],["For shoppers","A better chance of finding the right size, without personal fitting-room surveillance."],["For SAP","A focused extension of existing retail workflows and recurring software revenue."]],"foot":"One SAP Retail Signal subscription. Shared evidence, shared inventory context and a traceable response.","notes":"- 12 seconds. The value is the shorter gap between a qualified signal and a verified business response.\n- Better business context can make Joule more useful, while people retain accountability for consequential actions."}</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Warehouse image: AI-generated illustrative apparel fulfillment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- 18 seconds. Our ask is a capped 250,000-dollar pilot, a named retailer sponsor and sandbox access.</a:t>
            </a:r>
          </a:p>
          <a:p xmlns:a="http://schemas.openxmlformats.org/drawingml/2006/main">
            <a:r>
              <a:t>- The budget covers 80,000 hardware, 80,000 integration, 50,000 product analytics, 20,000 training and 20,000 contingency.</a:t>
            </a:r>
          </a:p>
          <a:p xmlns:a="http://schemas.openxmlformats.org/drawingml/2006/main">
            <a:r>
              <a:t>- End with the decision: prove the response workflow and retailer economics before scaling. SAP Retail Signal makes an early signal useful by connecting it to action.</a:t>
            </a:r>
          </a:p>
          <a:p xmlns:a="http://schemas.openxmlformats.org/drawingml/2006/main">
            <a:r>
              <a:t>- Total planned main-deck time: 480 seconds including the 90-second video.</a:t>
            </a:r>
          </a:p>
          <a:p xmlns:a="http://schemas.openxmlformats.org/drawingml/2006/main">
            <a:r>
              <a:t>Complete source content: {"n":22,"title":"A pilot decision, with a clear scale gate","eyebrow":"CALL TO ACTION","type":"cta","seconds":18,"big":"CAD 250k","sub":"SAP-funded pilot proposal\n12 weeks · 10 stores · one apparel design partner","body":"Approve a capped pilot, name the retail sponsor and agree access to a sandbox.\n\nScale when response time improves, stock reconciles and cash payback meets the 24-month gate.","foot":"Pilot budget included in year-one operating spend. Funding, customer participation and partners remain proposed.","notes":"- 18 seconds. Our ask is a capped 250,000-dollar pilot, a named retailer sponsor and sandbox access.\n- The budget covers 80,000 hardware, 80,000 integration, 50,000 product analytics, 20,000 training and 20,000 contingency.\n- End with the decision: prove the response workflow and retailer economics before scaling. SAP Retail Signal makes an early signal useful by connecting it to action.\n- Total planned main-deck time: 480 seconds including the 90-second video."}</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Background retail image: AI-generated illustrative apparel 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All values on this slide are modeling assumptions created for the pitch, not data supplied as actual customer results.</a:t>
            </a:r>
          </a:p>
          <a:p xmlns:a="http://schemas.openxmlformats.org/drawingml/2006/main">
            <a:r>
              <a:t>- Prices exclude sales taxes, new item-tag programs and financing. Existing retailer SAP licenses are assumed. Incremental SAP infrastructure and usage costs must be confirmed; if not included in the negotiated subscription they worsen ROI.</a:t>
            </a:r>
          </a:p>
          <a:p xmlns:a="http://schemas.openxmlformats.org/drawingml/2006/main">
            <a:r>
              <a:t>Complete source content: {"title":"Financial assumptions and boundaries","type":"table","table":[["Input","Base assumption","Validation required"],["Currency / reference customer","CAD; 100 stores; CAD 100M annual sales","Retailer finance data"],["Product price","CAD 50k platform + CAD 3k/store/year","Willingness-to-pay and procurement"],["RFID footprint","20 of 100 stores; CAD 8k/store","Vendor quote; already tagged inventory"],["Onboarding","CAD 75k total; CAD 15k retained by SAP","Partner scope and signed contract"],["Retailer uplift / contribution","1.0% sales; 45% incremental contribution","Matched-store test; net of returns and variable costs"],["Freed time","2 hours/store/week; CAD 35/hour","Time study and redeployment plan"]],"notes":"- All values on this slide are modeling assumptions created for the pitch, not data supplied as actual customer results.\n- Prices exclude sales taxes, new item-tag programs and financing. Existing retailer SAP licenses are assumed. Incremental SAP infrastructure and usage costs must be confirmed; if not included in the negotiated subscription they worsen ROI.","n":23,"eyebrow":"APPENDIX · 01","seconds":0,"foot":"SAP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First-year economic benefit 814,000; cost 585,000; economic surplus 229,000; first-year ROI = 229,000 / 585,000 = 39.1%.</a:t>
            </a:r>
          </a:p>
          <a:p xmlns:a="http://schemas.openxmlformats.org/drawingml/2006/main">
            <a:r>
              <a:t>- Cash-only first-year surplus = 450,000 − 585,000 = −135,000. At the base assumptions, scale should not be approved on economic value alone.</a:t>
            </a:r>
          </a:p>
          <a:p xmlns:a="http://schemas.openxmlformats.org/drawingml/2006/main">
            <a:r>
              <a:t>- No discounting, depreciation, tax, inflation or working-capital benefit included.</a:t>
            </a:r>
          </a:p>
          <a:p xmlns:a="http://schemas.openxmlformats.org/drawingml/2006/main">
            <a:r>
              <a:t>Complete source content: {"title":"Retailer calculations: value and payback","type":"table","table":[["Calculation","Formula","CAD / result"],["Recovered sales","100,000,000 × 1.0%","1,000,000"],["Incremental contribution","1,000,000 × 45%","450,000"],["Capacity value","100 × 2 × 52 × 35","364,000"],["Annual economic value net of fee","450,000 + 364,000 − 350,000","464,000"],["Annual cash-only value net of fee","450,000 − 350,000","100,000"],["Upfront","20 × 8,000 + 75,000","235,000"],["Payback","235,000 ÷ annual net × 12","6.1 months economic / 28.2 cash"]],"foot":"Simple payback assumes steady-state benefits from day 1; ramp-up lengthens realized payback.","notes":"- First-year economic benefit 814,000; cost 585,000; economic surplus 229,000; first-year ROI = 229,000 / 585,000 = 39.1%.\n- Cash-only first-year surplus = 450,000 − 585,000 = −135,000. At the base assumptions, scale should not be approved on economic value alone.\n- No discounting, depreciation, tax, inflation or working-capital benefit included.","n":24,"eyebrow":"APPENDIX · 02","seconds":0}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Formulas: cash net = sales × uplift × 45% − 350,000. Economic net adds 364,000 capacity value. Upfront is 235,000.</a:t>
            </a:r>
          </a:p>
          <a:p xmlns:a="http://schemas.openxmlformats.org/drawingml/2006/main">
            <a:r>
              <a:t>- Cash renewal break-even = 350,000 / (100,000,000 × .45).</a:t>
            </a:r>
          </a:p>
          <a:p xmlns:a="http://schemas.openxmlformats.org/drawingml/2006/main">
            <a:r>
              <a:t>- 24-month gate = (350,000 + 235,000/2) / 45,000,000 = 1.0389%.</a:t>
            </a:r>
          </a:p>
          <a:p xmlns:a="http://schemas.openxmlformats.org/drawingml/2006/main">
            <a:r>
              <a:t>- Year-one break-even = (350,000 + 235,000) / 45,000,000 = 1.3%.</a:t>
            </a:r>
          </a:p>
          <a:p xmlns:a="http://schemas.openxmlformats.org/drawingml/2006/main">
            <a:r>
              <a:t>- At 0.5% uplift, economic payback = 235,000 / 239,000 × 12 = 11.8 months, illustrating why cash and capacity must be separated.</a:t>
            </a:r>
          </a:p>
          <a:p xmlns:a="http://schemas.openxmlformats.org/drawingml/2006/main">
            <a:r>
              <a:t>Complete source content: {"title":"Retailer sensitivity and break-even","type":"table","table":[["Recovered sales uplift","Annual cash net after fee","Cash-only payback","Economic payback"],["0.5%","−CAD 125k","No payback","11.8 months"],["1.0% · base","CAD 100k","28.2 months","6.1 months"],["1.5%","CAD 325k","8.7 months","4.1 months"],["2.0%","CAD 550k","5.1 months","3.1 months"]],"body":"Renewal cash break-even: 0.778% sales uplift.\n24-month cash payback gate: 1.039% uplift.\nFirst-year cash break-even: 1.300% uplift.","notes":"- Formulas: cash net = sales × uplift × 45% − 350,000. Economic net adds 364,000 capacity value. Upfront is 235,000.\n- Cash renewal break-even = 350,000 / (100,000,000 × .45).\n- 24-month gate = (350,000 + 235,000/2) / 45,000,000 = 1.0389%.\n- Year-one break-even = (350,000 + 235,000) / 45,000,000 = 1.3%.\n- At 0.5% uplift, economic payback = 235,000 / 239,000 × 12 = 11.8 months, illustrating why cash and capacity must be separated.","n":25,"eyebrow":"APPENDIX · 03","seconds":0,"foot":"SAP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Hardware and installation are customer-funded and separately invoiced by partners in a full rollout.</a:t>
            </a:r>
          </a:p>
          <a:p xmlns:a="http://schemas.openxmlformats.org/drawingml/2006/main">
            <a:r>
              <a:t>- The illustrative 12-week pilot is SAP-funded, so the hardware part of that pilot is a SAP program cost instead.</a:t>
            </a:r>
          </a:p>
          <a:p xmlns:a="http://schemas.openxmlformats.org/drawingml/2006/main">
            <a:r>
              <a:t>- A new garment tagging program, replacements, local duties, service levels and any channel referral fees require separate pricing. Do not present this allocation as a quote from Zebra or Avery Dennison.</a:t>
            </a:r>
          </a:p>
          <a:p xmlns:a="http://schemas.openxmlformats.org/drawingml/2006/main">
            <a:r>
              <a:t>Complete source content: {"title":"Recommendation 1: proposed money flow","type":"table","table":[["Customer charge","Recipient","CAD","Share"],["One store hardware + install: CAD 8k","OEM / tag-equipment supplier","5,000","62.5%"],["Same invoice","Regional distributor","1,000","12.5%"],["Same invoice","Installation / device-support partner","2,000","25.0%"],["Customer onboarding: CAD 75k","Delivery / integration partner","60,000","80.0%"],["Same onboarding scope","SAP coordination fee","15,000","20.0%"],["Reference subscription: CAD 350k/year","SAP","350,000","100%"]],"foot":"Illustrative allocations, not manufacturer prices or signed commercial terms. No hardware revenue booked by SAP.","notes":"- Hardware and installation are customer-funded and separately invoiced by partners in a full rollout.\n- The illustrative 12-week pilot is SAP-funded, so the hardware part of that pilot is a SAP program cost instead.\n- A new garment tagging program, replacements, local duties, service levels and any channel referral fees require separate pricing. Do not present this allocation as a quote from Zebra or Avery Dennison.","n":26,"eyebrow":"APPENDIX · 04","seconds":0}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Revenue assumes recurring software delivered throughout the year, all wins at a midyear average, and no churn or expansion. Services use net coordination fees, not gross pass-through.</a:t>
            </a:r>
          </a:p>
          <a:p xmlns:a="http://schemas.openxmlformats.org/drawingml/2006/main">
            <a:r>
              <a:t>- Commercial principal-versus-agent treatment must be reviewed by finance. This is a simplified product model, not an IFRS revenue-recognition conclusion.</a:t>
            </a:r>
          </a:p>
          <a:p xmlns:a="http://schemas.openxmlformats.org/drawingml/2006/main">
            <a:r>
              <a:t>- Fixed costs include staffing, sales, acquisition, operations and the CAD 250k pilot. Hardware margins, tax, corporate allocations and financing are excluded.</a:t>
            </a:r>
          </a:p>
          <a:p xmlns:a="http://schemas.openxmlformats.org/drawingml/2006/main">
            <a:r>
              <a:t>Complete source content: {"title":"SAP revenue and cost formulas","type":"table","table":[["Metric","Year 1","Year 2","Year 3"],["Beginning / new / ending accounts","0 / 20 / 20","20 / 40 / 60","60 / 90 / 150"],["Average accounts: begin + ½ new","10","40","105"],["SaaS: average × CAD 350k","3.500M","14.000M","36.750M"],["Net service: new × CAD 15k","0.300M","0.600M","1.350M"],["Variable cost: SaaS × 25%","0.875M","3.500M","9.1875M"],["Fixed product / sales / operations","5.000M","6.000M","8.000M"],["Contribution","−2.075M","5.100M","20.9125M"],["Cumulative contribution","−2.075M","3.025M","23.9375M"]],"notes":"- Revenue assumes recurring software delivered throughout the year, all wins at a midyear average, and no churn or expansion. Services use net coordination fees, not gross pass-through.\n- Commercial principal-versus-agent treatment must be reviewed by finance. This is a simplified product model, not an IFRS revenue-recognition conclusion.\n- Fixed costs include staffing, sales, acquisition, operations and the CAD 250k pilot. Hardware margins, tax, corporate allocations and financing are excluded.","n":27,"eyebrow":"APPENDIX · 05","seconds":0,"foot":"SAP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Slower wins uses average customers 5, 25, 60 and new accounts 10, 30, 40 with the same 5M / 6M / 8M fixed costs.</a:t>
            </a:r>
          </a:p>
          <a:p xmlns:a="http://schemas.openxmlformats.org/drawingml/2006/main">
            <a:r>
              <a:t>- Price-pressure case keeps base adoption but price falls to 300k and COGS rises to 35%.</a:t>
            </a:r>
          </a:p>
          <a:p xmlns:a="http://schemas.openxmlformats.org/drawingml/2006/main">
            <a:r>
              <a:t>- Stalled case: ending accounts 20,20,20, average 10,20,20; new20,0,0; contributions −2.075M,−0.75M,−2.75M. Cumulative −5.575M.</a:t>
            </a:r>
          </a:p>
          <a:p xmlns:a="http://schemas.openxmlformats.org/drawingml/2006/main">
            <a:r>
              <a:t>- Losses are plausible if sales stall; scale spending should follow evidence.</a:t>
            </a:r>
          </a:p>
          <a:p xmlns:a="http://schemas.openxmlformats.org/drawingml/2006/main">
            <a:r>
              <a:t>Complete source content: {"title":"SAP downside and concentration risk","type":"table","table":[["Scenario","Year-3 ending accounts","Year-3 contribution","3-year cumulative"],["Base: 20 / 60 / 150","150","CAD 20.91M","CAD 23.94M"],["Slower wins: 10 / 40 / 80","80","CAD 8.35M","CAD 5.83M"],["Price CAD 300k; variable cost 35%","150","CAD 13.83M","CAD 13.48M"],["Stalled after 20 customers","20","−CAD 2.75M","−CAD 5.58M"]],"body":"Renewal-only break-even at CAD 6M fixed spend:\nCAD 6M ÷ (CAD 350k × 75%) = 22.9 full-year accounts.","foot":"Scenario analysis, not forecasts. Zero churn is optimistic; renewal, sales cycles and cloud usage require validation.","notes":"- Slower wins uses average customers 5, 25, 60 and new accounts 10, 30, 40 with the same 5M / 6M / 8M fixed costs.\n- Price-pressure case keeps base adoption but price falls to 300k and COGS rises to 35%.\n- Stalled case: ending accounts 20,20,20, average 10,20,20; new20,0,0; contributions −2.075M,−0.75M,−2.75M. Cumulative −5.575M.\n- Losses are plausible if sales stall; scale spending should follow evidence.","n":28,"eyebrow":"APPENDIX · 06","seconds":0}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hardware line is a trial budget, not a committed ten-store purchase. Timing depends on device availability and local approvals.</a:t>
            </a:r>
          </a:p>
          <a:p xmlns:a="http://schemas.openxmlformats.org/drawingml/2006/main">
            <a:r>
              <a:t>- Customer staff time and existing SAP licenses are contributions assumed outside this SAP program budget. Confirm their costs with the design partner.</a:t>
            </a:r>
          </a:p>
          <a:p xmlns:a="http://schemas.openxmlformats.org/drawingml/2006/main">
            <a:r>
              <a:t>- Week-two gate: data and privacy feasibility. Week-five gate: reliable shadow recommendations. Week-eight gate: safe actions. Week-twelve gate: adoption, response time and economics.</a:t>
            </a:r>
          </a:p>
          <a:p xmlns:a="http://schemas.openxmlformats.org/drawingml/2006/main">
            <a:r>
              <a:t>Complete source content: {"title":"Pilot funding and release gates","type":"table","table":[["Use of funds","CAD","Release condition"],["10-store hardware trial","80,000","Zone accuracy and partner quote"],["Integration engineering","80,000","Sandbox, fields and access approved"],["Product + measurement","50,000","Baseline and matched-store design agreed"],["Training + adoption","20,000","Named planners and store champions"],["Contingency","20,000","Sponsor approval for actual need"],["Total pilot proposal","250,000","Capped; included in Year-1 fixed spending"]],"notes":"- The hardware line is a trial budget, not a committed ten-store purchase. Timing depends on device availability and local approvals.\n- Customer staff time and existing SAP licenses are contributions assumed outside this SAP program budget. Confirm their costs with the design partner.\n- Week-two gate: data and privacy feasibility. Week-five gate: reliable shadow recommendations. Week-eight gate: safe actions. Week-twelve gate: adoption, response time and economics.","n":29,"eyebrow":"APPENDIX · 07","seconds":0,"foot":"SAP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prototype uses React for the interface, TypeScript for typed code, Vite for development/building, and UI5 web components for SAP-style controls.</a:t>
            </a:r>
          </a:p>
          <a:p xmlns:a="http://schemas.openxmlformats.org/drawingml/2006/main">
            <a:r>
              <a:t>- localStorage is browser storage; it is useful for a demo but not a secure multi-user system of record.</a:t>
            </a:r>
          </a:p>
          <a:p xmlns:a="http://schemas.openxmlformats.org/drawingml/2006/main">
            <a:r>
              <a:t>- The public market endpoint retrieves a fixed set of benchmark series and caches observations. Dates and currencies remain visible. It is not a live supplier quote feed or a news prediction engine.</a:t>
            </a:r>
          </a:p>
          <a:p xmlns:a="http://schemas.openxmlformats.org/drawingml/2006/main">
            <a:r>
              <a:t>Complete source content: {"title":"What is implemented today","type":"table","table":[["Capability","Working prototype","Needed for production"],["Demand evidence","Seeded try-ons, purchases and qualified digital aggregates","Live RFID and commerce collection"],["Supply and cost","Selectable network, editable demo rates, public benchmarks, shortage simulation","Validated supplier / material / logistics feeds"],["Assistant","Deterministic explanations and calculations","Authorized SAP Joule orchestration and evaluation"],["Execution","Local proposal → approve → issue → receipt lifecycle","Authenticated SAP tenant APIs, permissions and reconciliation"],["Storage / security","Browser-local demo state; no business database","Tenant database, identity, access controls and audit storage"]],"foot":"React + TypeScript + UI5 interface. SAP-like styling does not itself establish SAP integration.","notes":"- The prototype uses React for the interface, TypeScript for typed code, Vite for development/building, and UI5 web components for SAP-style controls.\n- localStorage is browser storage; it is useful for a demo but not a secure multi-user system of record.\n- The public market endpoint retrieves a fixed set of benchmark series and caches observations. Dates and currencies remain visible. It is not a live supplier quote feed or a news prediction engine.","n":30,"eyebrow":"APPENDIX · 08","seconds":0}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CAR is Customer Activity Repository, a place to harmonize retail transaction data. S/4HANA is enterprise resource planning software, or ERP, holding business records and operations.</a:t>
            </a:r>
          </a:p>
          <a:p xmlns:a="http://schemas.openxmlformats.org/drawingml/2006/main">
            <a:r>
              <a:t>- IBP means Integrated Business Planning. Commerce Cloud runs digital commerce. BTP is the platform for extensions; Integration Suite connects systems.</a:t>
            </a:r>
          </a:p>
          <a:p xmlns:a="http://schemas.openxmlformats.org/drawingml/2006/main">
            <a:r>
              <a:t>- Sources: https://www.sap.com/products/crm/customer-activity-repository.html ; https://learning.sap.com/products/s4hana-cloud ; https://www.sap.com/products/crm/commerce-cloud.html ; https://www.sap.com/products/scm/integrated-business-planning.html ; https://www.sap.com/products/technology-platform/integration-suite.html .</a:t>
            </a:r>
          </a:p>
          <a:p xmlns:a="http://schemas.openxmlformats.org/drawingml/2006/main">
            <a:r>
              <a:t>Complete source content: {"title":"Proposed SAP integration responsibilities","type":"table","table":[["SAP application / service","Role in the proposed product","Current status"],["SAP CAR","Shared sales and retail inventory context","Seeded inputs"],["SAP S/4HANA","Purchasing, stock transport, issue and receipt","Local workflow simulation"],["SAP Commerce Cloud","Online events and sellable availability","Seeded events / shared demo stock"],["SAP IBP","Planning scenarios and approved planning handoff","Export / mapping concept"],["BTP / Integration Suite","Secure interfaces, event routing and monitoring","Production design"],["SAP Joule / Business AI","Explain evidence and call approved business actions","Joule-inspired deterministic demo"]],"foot":"Required products and licenses depend on the retailer’s landscape. Reuse existing planning instead of replacing it.","notes":"- CAR is Customer Activity Repository, a place to harmonize retail transaction data. S/4HANA is enterprise resource planning software, or ERP, holding business records and operations.\n- IBP means Integrated Business Planning. Commerce Cloud runs digital commerce. BTP is the platform for extensions; Integration Suite connects systems.\n- Sources: https://www.sap.com/products/crm/customer-activity-repository.html ; https://learning.sap.com/products/s4hana-cloud ; https://www.sap.com/products/crm/commerce-cloud.html ; https://www.sap.com/products/scm/integrated-business-planning.html ; https://www.sap.com/products/technology-platform/integration-suite.html .","n":31,"eyebrow":"APPENDIX · 09","seconds":0}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Proposal and approval reserve available stock but do not physically move it. Goods issue records dispatch; goods receipt records arrival.</a:t>
            </a:r>
          </a:p>
          <a:p xmlns:a="http://schemas.openxmlformats.org/drawingml/2006/main">
            <a:r>
              <a:t>- Baseline exposure: (80 − 8) × 39 = CAD 2,808 retail value. After feasible receipt: (80 − 48) × 39 = CAD 1,248. This is not realized revenue.</a:t>
            </a:r>
          </a:p>
          <a:p xmlns:a="http://schemas.openxmlformats.org/drawingml/2006/main">
            <a:r>
              <a:t>- A 70% lost-sale assumption gives CAD 1,965.60 versus 873.60 estimated foregone sales. Do not present the CAD 1,092 difference as profit or observed sales.</a:t>
            </a:r>
          </a:p>
          <a:p xmlns:a="http://schemas.openxmlformats.org/drawingml/2006/main">
            <a:r>
              <a:t>Complete source content: {"title":"The transfer demo: conservation of inventory","type":"table","table":[["Step","Burnaby physical","In transit","Vancouver sellable"],["Before proposal","76","0","8"],["40-unit proposal / approval","76","0","8"],["Goods issue","36","40","8"],["Goods receipt","36","0","48"]],"body":"The proposal reserves 40 available units and preserves Burnaby’s 36-unit reserve.\nThe scenario covers 48 / 80 = 60%; 32 units remain uncovered.","foot":"CAD 60 transfer cost = 40 × CAD 1.50/unit. Two-day transit is an assumption; the 9-day alternative misses the 7-day window.","notes":"- Proposal and approval reserve available stock but do not physically move it. Goods issue records dispatch; goods receipt records arrival.\n- Baseline exposure: (80 − 8) × 39 = CAD 2,808 retail value. After feasible receipt: (80 − 48) × 39 = CAD 1,248. This is not realized revenue.\n- A 70% lost-sale assumption gives CAD 1,965.60 versus 873.60 estimated foregone sales. Do not present the CAD 1,092 difference as profit or observed sales.","n":32,"eyebrow":"APPENDIX · 10","seconds":0}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Fitting-room counts are aggregated item interactions, not identified customers. POS means point of sale, the checkout system.</a:t>
            </a:r>
          </a:p>
          <a:p xmlns:a="http://schemas.openxmlformats.org/drawingml/2006/main">
            <a:r>
              <a:t>- Conversion is purchases divided by interactions. A low ratio may reflect availability, fit, price, merchandising or measurement errors.</a:t>
            </a:r>
          </a:p>
          <a:p xmlns:a="http://schemas.openxmlformats.org/drawingml/2006/main">
            <a:r>
              <a:t>- Digital inference should use historical conversion where possible, a range rather than false precision, and bot/agent classification rather than silently treating all machine traffic as worthless.</a:t>
            </a:r>
          </a:p>
          <a:p xmlns:a="http://schemas.openxmlformats.org/drawingml/2006/main">
            <a:r>
              <a:t>Complete source content: {"title":"Demand calculations and inference limits","type":"table","table":[["Signal","Calculation","What it can establish"],["Try-on conversion","43 ÷ 240 = 17.9%; 32% baseline","Conversion is lower; cause still needs investigation."],["Online shortage scenario","floor(162 sessions × 15%) = 24 units","A quantity to test, not 24 confirmed orders."],["Gross online exposure","24 × CAD 39 = CAD 936","Illustrative retail value before uncertainty."],["Estimated foregone online sales","CAD 936 × 70% = CAD 655.20","Depends on the explicit lost-sale assumption."]],"body":"Qualify session + SKU pairs; exclude bots and repeated events.\nDo not add store and online signals into a unique customer total.","notes":"- Fitting-room counts are aggregated item interactions, not identified customers. POS means point of sale, the checkout system.\n- Conversion is purchases divided by interactions. A low ratio may reflect availability, fit, price, merchandising or measurement errors.\n- Digital inference should use historical conversion where possible, a range rather than false precision, and bot/agent classification rather than silently treating all machine traffic as worthless.","n":33,"eyebrow":"APPENDIX · 11","seconds":0,"foot":"SAP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Base cost already includes existing energy; only the uplift is added. Supplier pass-through is how much added supplier cost reaches the retailer, not a retail price increase.</a:t>
            </a:r>
          </a:p>
          <a:p xmlns:a="http://schemas.openxmlformats.org/drawingml/2006/main">
            <a:r>
              <a:t>- Weighted margin is calculated from revenue and costs across completed units; do not average SKU percentages unweighted.</a:t>
            </a:r>
          </a:p>
          <a:p xmlns:a="http://schemas.openxmlformats.org/drawingml/2006/main">
            <a:r>
              <a:t>- The separate timeline estimates foregone sales using current stock and hypothetical receipts. Do not add that sales estimate to the cohort gross-profit reduction.</a:t>
            </a:r>
          </a:p>
          <a:p xmlns:a="http://schemas.openxmlformats.org/drawingml/2006/main">
            <a:r>
              <a:t>- Public benchmark: https://fred.stlouisfed.org/series/PNGASUSUSDM ; benchmark currency/market differs from the illustrative Canadian purchase rate.</a:t>
            </a:r>
          </a:p>
          <a:p xmlns:a="http://schemas.openxmlformats.org/drawingml/2006/main">
            <a:r>
              <a:t>Complete source content: {"title":"Gas-shortage demo: unit cost and cohort impact","type":"table","table":[["Input / result","Illustrative scenario"],["Shock assumptions","25% less input supply; +30% input price; +7 days; 30-day horizon"],["Cream top energy uplift","0.12 MMBtu × CAD 5.80/MMBtu × 30% × 100% pass-through = CAD 0.2088"],["Cream top landed cost / margin","CAD 13.50 → 13.71; 65.38% → 64.85% at CAD 39 retail"],["Completed new-production cohort","Added cost CAD 208.22; weighted margin 68.20% → 67.89%"],["Deferred production","329 of 1,309 planned new units; not assumed permanently lost"],["Planning-cohort profit reduction","CAD 15,339.50 on deferred units + CAD 208.22 added cost = CAD 15,547.72"]],"foot":"MMBtu = million British thermal units, an energy measure. Production reduction and price increase are independent assumptions.","notes":"- Base cost already includes existing energy; only the uplift is added. Supplier pass-through is how much added supplier cost reaches the retailer, not a retail price increase.\n- Weighted margin is calculated from revenue and costs across completed units; do not average SKU percentages unweighted.\n- The separate timeline estimates foregone sales using current stock and hypothetical receipts. Do not add that sales estimate to the cohort gross-profit reduction.\n- Public benchmark: https://fred.stlouisfed.org/series/PNGASUSUSDM ; benchmark currency/market differs from the illustrative Canadian purchase rate.","n":34,"eyebrow":"APPENDIX · 12","seconds":0}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Statista’s apparel page was not retrievable in this review. The Launchpad’s US$1.92T apparel estimate is therefore not used as a verified slide claim.</a:t>
            </a:r>
          </a:p>
          <a:p xmlns:a="http://schemas.openxmlformats.org/drawingml/2006/main">
            <a:r>
              <a:t>- US$957B online fashion and US$1.92T all-channel apparel have different category definitions; dividing them would be misleading.</a:t>
            </a:r>
          </a:p>
          <a:p xmlns:a="http://schemas.openxmlformats.org/drawingml/2006/main">
            <a:r>
              <a:t>- Market account counts, pricing, benefits, adoption and all forecast costs are team assumptions.</a:t>
            </a:r>
          </a:p>
          <a:p xmlns:a="http://schemas.openxmlformats.org/drawingml/2006/main">
            <a:r>
              <a:t>Complete source content: {"title":"Sources: case, market and SAP context","type":"sources","entries":[["S1 · Product+ case package","Supplied PDF, pp. 3–5. Challenge, user roles, SAP customer/country baseline."],["S2 · Plus One Braincell Launchpad","Supplied PDF, recommendations 1–3 and source bibliography. Team 463980."],["S3 · SAP Future of Retail","https://www.sap.com/engage/future-of-retail.html\n14,000+ retail customers; broader footprint, not eligible apparel accounts."],["S4 · Shopify fashion industry","https://www.shopify.com/uk/enterprise/blog/ecommerce-fashion-industry\n2026 fashion e-commerce projection, citing Statista; different scope from apparel sales."],["S5 · McKinsey agentic commerce","https://www.mckinsey.com/capabilities/quantumblack/our-insights/the-agentic-commerce-opportunity-how-ai-agents-are-ushering-in-a-new-era-for-consumers-and-merchants\nUS$3–5T goods commerce by 2030 is context, not software TAM."]],"foot":"Accessed 25 Oct 2026. The Launchpad’s valuation and H1 revenue figures are omitted because they are unnecessary to the investment case.","notes":"- Statista’s apparel page was not retrievable in this review. The Launchpad’s US$1.92T apparel estimate is therefore not used as a verified slide claim.\n- US$957B online fashion and US$1.92T all-channel apparel have different category definitions; dividing them would be misleading.\n- Market account counts, pricing, benefits, adoption and all forecast costs are team assumptions.","n":35,"eyebrow":"APPENDIX · 13","seconds":0}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This presentation makes no claim of unrestricted cross-customer data pooling or demonstrated model superiority.</a:t>
            </a:r>
          </a:p>
          <a:p xmlns:a="http://schemas.openxmlformats.org/drawingml/2006/main">
            <a:r>
              <a:t>- Grounding means supplying authorized relevant business evidence to an AI response. Training means changing the AI model based on examples. The two are different.</a:t>
            </a:r>
          </a:p>
          <a:p xmlns:a="http://schemas.openxmlformats.org/drawingml/2006/main">
            <a:r>
              <a:t>Complete source content: {"title":"Sources: SAP applications and AI governance","type":"sources","entries":[["S6 · Customer Activity Repository","https://www.sap.com/products/crm/customer-activity-repository.html\nTransaction, demand and inventory context."],["S7 · Commerce / planning / execution","https://www.sap.com/products/crm/commerce-cloud.html\nhttps://www.sap.com/products/scm/integrated-business-planning.html\nhttps://learning.sap.com/products/s4hana-cloud"],["S8 · Integration Suite","https://www.sap.com/products/technology-platform/integration-suite.html\nControlled SAP and third-party integration; actual tenant mapping still required."],["S9 · AI data handling","https://www.sap.com/products/artificial-intelligence/ai-ethics.html\nhttps://learning.sap.com/courses/building-confidence-in-ai-with-sap/does-ai-train-on-my-data\nUse depends on agreements and service settings; external model training is restricted."]],"foot":"Accessed 25 Oct 2026. Product capabilities are vendor descriptions; proposed integrations are not completed integrations.","notes":"- This presentation makes no claim of unrestricted cross-customer data pooling or demonstrated model superiority.\n- Grounding means supplying authorized relevant business evidence to an AI response. Training means changing the AI model based on examples. The two are different.","n":36,"eyebrow":"APPENDIX · 14","seconds":0}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 distributor’s presence in a country does not establish authorization for a specific Zebra SKU, stock availability, local installation capacity or commercial terms.</a:t>
            </a:r>
          </a:p>
          <a:p xmlns:a="http://schemas.openxmlformats.org/drawingml/2006/main">
            <a:r>
              <a:t>- Procurement must validate those separately before any rollout commitments.</a:t>
            </a:r>
          </a:p>
          <a:p xmlns:a="http://schemas.openxmlformats.org/drawingml/2006/main">
            <a:r>
              <a:t>Complete source content: {"title":"Sources: hardware, distribution and competition","type":"sources","entries":[["S10 · Hardware capability","https://www.zebra.com/us/en/products/rfid/rfid-readers.html\nhttps://rfid.averydennison.com/en/home/industry-segments/retail/apparel-and-fashion.html"],["S11 · Regional presence","https://careers.ingrammicro.com/en/locations/\nhttps://www.tdsynnex.com/us/en/where-we-are.html\nhttps://redingtongroup.com/about-us/global-presence/"],["S12 · Competitors","https://www.sensormatic.com/de_de/TrueVUE-Inventory-Intel/TrueVUE-Fitting-Room\nhttps://www.oracle.com/retail/\nhttps://blueyonder.com/solutions/retail-planning"],["S13 · Prototype and public reference","Current local Retail Signal website, captured 25 Oct 2026.\nhttps://fred.stlouisfed.org/series/PNGASUSUSDM\nPublic commodity observations are not supplier quotes."]],"foot":"Sources establish capabilities and geographic presence, not a signed Retail Signal partnership or a completed feature audit.","notes":"- A distributor’s presence in a country does not establish authorization for a specific Zebra SKU, stock availability, local installation capacity or commercial terms.\n- Procurement must validate those separately before any rollout commitments.","n":37,"eyebrow":"APPENDIX · 15","seconds":0}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https://careers.ingrammicro.com/en/locations/</a:t>
            </a:r>
          </a:p>
          <a:p xmlns:a="http://schemas.openxmlformats.org/drawingml/2006/main">
            <a:r>
              <a:t>https://www.tdsynnex.com/us/en/where-we-are.html</a:t>
            </a:r>
          </a:p>
          <a:p xmlns:a="http://schemas.openxmlformats.org/drawingml/2006/main">
            <a:r>
              <a:t>https://redingtongroup.com/about-us/global-presence/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Why not just use IBP? Reuse IBP; test whether early intent plus a simpler operational workflow adds incremental value.</a:t>
            </a:r>
          </a:p>
          <a:p xmlns:a="http://schemas.openxmlformats.org/drawingml/2006/main">
            <a:r>
              <a:t>- Is the demo AI? The assistant is deterministic; production SAP Joule access and model evaluation remain future work.</a:t>
            </a:r>
          </a:p>
          <a:p xmlns:a="http://schemas.openxmlformats.org/drawingml/2006/main">
            <a:r>
              <a:t>- Are these customer results? No. Demo figures are seeded; benefits are modeling assumptions.</a:t>
            </a:r>
          </a:p>
          <a:p xmlns:a="http://schemas.openxmlformats.org/drawingml/2006/main">
            <a:r>
              <a:t>- Is the cash ROI good enough? Not yet in the base case. The pilot must prove 1.039% sales uplift or equivalent cost/price improvement to meet 24-month cash payback.</a:t>
            </a:r>
          </a:p>
          <a:p xmlns:a="http://schemas.openxmlformats.org/drawingml/2006/main">
            <a:r>
              <a:t>- What about customer data? Authorized within-tenant grounding first; training only within agreed terms and controls.</a:t>
            </a:r>
          </a:p>
          <a:p xmlns:a="http://schemas.openxmlformats.org/drawingml/2006/main">
            <a:r>
              <a:t>Complete source content: {"title":"Evaluation coverage and Q&amp;A","type":"table","table":[["Evaluation criterion","Weight","Where addressed"],["Problem definition","20%","Specific planner, current workflow, Bob before; pilot baseline"],["Product solution","20%","Three parts, feature priorities, competitors and retailer economics"],["Prototype","20%","Working website walkthrough; evidence → simulate → approve → receive"],["Implementation","10%","12-week plan, resources, dependencies, risks and KPI gates"],["Stakeholder alignment","20%","Decision rights, privacy, CFO cash gate, partner incentives and limits"],["Presentation / Q&amp;A","10%","480-second main flow; financial formulas and sources in appendix"]],"notes":"- Why not just use IBP? Reuse IBP; test whether early intent plus a simpler operational workflow adds incremental value.\n- Is the demo AI? The assistant is deterministic; production SAP Joule access and model evaluation remain future work.\n- Are these customer results? No. Demo figures are seeded; benefits are modeling assumptions.\n- Is the cash ROI good enough? Not yet in the base case. The pilot must prove 1.039% sales uplift or equivalent cost/price improvement to meet 24-month cash payback.\n- What about customer data? Authorized within-tenant grounding first; training only within agreed terms and controls.","n":38,"eyebrow":"APPENDIX · 16","seconds":0,"foot":"SAP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fd7fa8081848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a4d7dd1bab4e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7c78b7e99c42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53843a196345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f30e6f8ba345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b5685cd1e747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8D16B6-A773-4748-A348-0F5729B3CA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5EE436-7EF3-4596-9898-22BE73E076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FB4FFB-7517-4B3B-B20F-89BD397671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CEF3A2-55B6-465B-8E85-AFBA31858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D413D5-35A5-4C56-9BF1-67C6D2DDB8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417CAD-45DF-4D01-90B1-2CC0617475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1FFE94-6271-4AF8-9938-68ACCAFE90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56FF83-3C15-4E33-B5DA-90C5776238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3F1182-857E-41CB-8E08-599E0D7B58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064608-4EF0-46DA-A6B8-536682A48F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7bf04a18a44486" /><Relationship Type="http://schemas.openxmlformats.org/officeDocument/2006/relationships/slideLayout" Target="/ppt/slideLayouts/slideLayout1.xml" Id="R2e69fd2c8e734670" /><Relationship Type="http://schemas.openxmlformats.org/officeDocument/2006/relationships/slideLayout" Target="/ppt/slideLayouts/slideLayout2.xml" Id="R294eb2a4d1e0425d" /><Relationship Type="http://schemas.openxmlformats.org/officeDocument/2006/relationships/slideLayout" Target="/ppt/slideLayouts/slideLayout3.xml" Id="R3152e8a8c1f4461a" /><Relationship Type="http://schemas.openxmlformats.org/officeDocument/2006/relationships/slideLayout" Target="/ppt/slideLayouts/slideLayout4.xml" Id="Reb2d9c53f2ab4b82" /><Relationship Type="http://schemas.openxmlformats.org/officeDocument/2006/relationships/slideLayout" Target="/ppt/slideLayouts/slideLayout5.xml" Id="R580493566f5c40cf" /><Relationship Type="http://schemas.openxmlformats.org/officeDocument/2006/relationships/slideLayout" Target="/ppt/slideLayouts/slideLayout6.xml" Id="Rd455eb68ed014d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69fd2c8e734670"/>
    <p:sldLayoutId xmlns:r="http://schemas.openxmlformats.org/officeDocument/2006/relationships" id="2147483650" r:id="R294eb2a4d1e0425d"/>
    <p:sldLayoutId xmlns:r="http://schemas.openxmlformats.org/officeDocument/2006/relationships" id="2147483651" r:id="R3152e8a8c1f4461a"/>
    <p:sldLayoutId xmlns:r="http://schemas.openxmlformats.org/officeDocument/2006/relationships" id="2147483652" r:id="Reb2d9c53f2ab4b82"/>
    <p:sldLayoutId xmlns:r="http://schemas.openxmlformats.org/officeDocument/2006/relationships" id="2147483653" r:id="R580493566f5c40cf"/>
    <p:sldLayoutId xmlns:r="http://schemas.openxmlformats.org/officeDocument/2006/relationships" id="2147483654" r:id="Rd455eb68ed014d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24e9e6788347cd" /><Relationship Type="http://schemas.openxmlformats.org/officeDocument/2006/relationships/image" Target="/ppt/media/image.png" Id="R9a6415f888c8497d" /><Relationship Type="http://schemas.openxmlformats.org/officeDocument/2006/relationships/notesSlide" Target="/ppt/notesSlides/notesSlide1.xml" Id="R3f14bb6424cf49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f609e0ce1c4be5" /><Relationship Type="http://schemas.openxmlformats.org/officeDocument/2006/relationships/image" Target="/ppt/media/image.jpeg" Id="Rab2b9d3499384df7" /><Relationship Type="http://schemas.openxmlformats.org/officeDocument/2006/relationships/notesSlide" Target="/ppt/notesSlides/notesSlide2.xml" Id="Rbd7f257c4ad94e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5079a55fae42ae" /><Relationship Type="http://schemas.openxmlformats.org/officeDocument/2006/relationships/image" Target="/ppt/media/image2.jpeg" Id="R4d9253f9c4a94996" /><Relationship Type="http://schemas.openxmlformats.org/officeDocument/2006/relationships/image" Target="/ppt/media/image3.jpeg" Id="R595452a4d9e14485" /><Relationship Type="http://schemas.openxmlformats.org/officeDocument/2006/relationships/image" Target="/ppt/media/image4.jpeg" Id="R248f05baca66486f" /><Relationship Type="http://schemas.openxmlformats.org/officeDocument/2006/relationships/notesSlide" Target="/ppt/notesSlides/notesSlide3.xml" Id="R9c1eef39dcfa46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842577a10e4283" /><Relationship Type="http://schemas.openxmlformats.org/officeDocument/2006/relationships/image" Target="/ppt/media/image2.png" Id="Rc824efbb81f14487" /><Relationship Type="http://schemas.openxmlformats.org/officeDocument/2006/relationships/notesSlide" Target="/ppt/notesSlides/notesSlide4.xml" Id="R56c7d0f72f3742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c8e1060e9e4f96" /><Relationship Type="http://schemas.openxmlformats.org/officeDocument/2006/relationships/image" Target="/ppt/media/image5.jpeg" Id="R948c5fb65f5e478f" /><Relationship Type="http://schemas.openxmlformats.org/officeDocument/2006/relationships/notesSlide" Target="/ppt/notesSlides/notesSlide5.xml" Id="R26cec8e4047645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e1fd6f0197647d7" /><Relationship Type="http://schemas.openxmlformats.org/officeDocument/2006/relationships/image" Target="/ppt/media/image3.png" Id="Rf5737b879bea4ae3" /><Relationship Type="http://schemas.openxmlformats.org/officeDocument/2006/relationships/notesSlide" Target="/ppt/notesSlides/notesSlide6.xml" Id="Re54da25fffd44b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9411c58e2643b9" /><Relationship Type="http://schemas.openxmlformats.org/officeDocument/2006/relationships/image" Target="/ppt/media/image6.jpeg" Id="Rc4eb4d4beb7e4b18" /><Relationship Type="http://schemas.openxmlformats.org/officeDocument/2006/relationships/notesSlide" Target="/ppt/notesSlides/notesSlide7.xml" Id="R0be122026c324d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5eea3b75d64e2f" /><Relationship Type="http://schemas.openxmlformats.org/officeDocument/2006/relationships/image" Target="/ppt/media/image4.png" Id="Re4275100481c411b" /><Relationship Type="http://schemas.openxmlformats.org/officeDocument/2006/relationships/notesSlide" Target="/ppt/notesSlides/notesSlide8.xml" Id="Rdc2a158ca0cd43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bf8e3625104014" /><Relationship Type="http://schemas.openxmlformats.org/officeDocument/2006/relationships/notesSlide" Target="/ppt/notesSlides/notesSlide9.xml" Id="R7d813c40890447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45b5487ac74ee8" /><Relationship Type="http://schemas.openxmlformats.org/officeDocument/2006/relationships/image" Target="/ppt/media/image7.jpeg" Id="Rec24137f5baa4cb7" /><Relationship Type="http://schemas.openxmlformats.org/officeDocument/2006/relationships/notesSlide" Target="/ppt/notesSlides/notesSlide10.xml" Id="Rbecbe925df2741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5319202b5e438b" /><Relationship Type="http://schemas.openxmlformats.org/officeDocument/2006/relationships/notesSlide" Target="/ppt/notesSlides/notesSlide11.xml" Id="R3f9ae04114414e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038ad9e3830457e" /><Relationship Type="http://schemas.openxmlformats.org/officeDocument/2006/relationships/notesSlide" Target="/ppt/notesSlides/notesSlide12.xml" Id="Rc3d3e510c2b245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a243a9f7c54372" /><Relationship Type="http://schemas.openxmlformats.org/officeDocument/2006/relationships/notesSlide" Target="/ppt/notesSlides/notesSlide13.xml" Id="R0bfd6994d2b248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0d4f2d526946d1" /><Relationship Type="http://schemas.openxmlformats.org/officeDocument/2006/relationships/notesSlide" Target="/ppt/notesSlides/notesSlide14.xml" Id="Rb8071a293f9547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f8f6818995a4bc0" /><Relationship Type="http://schemas.openxmlformats.org/officeDocument/2006/relationships/image" Target="/ppt/media/image8.jpeg" Id="R63104dc05a4445dc" /><Relationship Type="http://schemas.openxmlformats.org/officeDocument/2006/relationships/notesSlide" Target="/ppt/notesSlides/notesSlide15.xml" Id="R05504cd80f8940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2203c692424784" /><Relationship Type="http://schemas.openxmlformats.org/officeDocument/2006/relationships/notesSlide" Target="/ppt/notesSlides/notesSlide16.xml" Id="Rc0ae8d7b2e9c4b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80761e18b63443e" /><Relationship Type="http://schemas.openxmlformats.org/officeDocument/2006/relationships/notesSlide" Target="/ppt/notesSlides/notesSlide17.xml" Id="R4ea78bd34e7747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a77f2834fdf4fe7" /><Relationship Type="http://schemas.openxmlformats.org/officeDocument/2006/relationships/notesSlide" Target="/ppt/notesSlides/notesSlide18.xml" Id="Rd9d98b7184914ad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239b602cca149aa" /><Relationship Type="http://schemas.openxmlformats.org/officeDocument/2006/relationships/notesSlide" Target="/ppt/notesSlides/notesSlide19.xml" Id="Rd0c6ea2dc2314d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baa9a4492cb4839" /><Relationship Type="http://schemas.openxmlformats.org/officeDocument/2006/relationships/chart" Target="/ppt/slides/charts/chart1.xml" Id="Rbf1dbb5398374731" /><Relationship Type="http://schemas.openxmlformats.org/officeDocument/2006/relationships/notesSlide" Target="/ppt/notesSlides/notesSlide20.xml" Id="Rac2783571e2f4d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030d0a034794daa" /><Relationship Type="http://schemas.openxmlformats.org/officeDocument/2006/relationships/image" Target="/ppt/media/image5.png" Id="Reabaa5537b1a4637" /><Relationship Type="http://schemas.openxmlformats.org/officeDocument/2006/relationships/notesSlide" Target="/ppt/notesSlides/notesSlide21.xml" Id="Rab6a2ee39f444b6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b265af440ef4152" /><Relationship Type="http://schemas.openxmlformats.org/officeDocument/2006/relationships/image" Target="/ppt/media/image6.png" Id="R23f424a3667948bc" /><Relationship Type="http://schemas.openxmlformats.org/officeDocument/2006/relationships/notesSlide" Target="/ppt/notesSlides/notesSlide22.xml" Id="R1ddcb3093e2f45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24ed1eb28e24fc1" /><Relationship Type="http://schemas.openxmlformats.org/officeDocument/2006/relationships/notesSlide" Target="/ppt/notesSlides/notesSlide23.xml" Id="Rbef3fe785d0e4a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b29231d782e4664" /><Relationship Type="http://schemas.openxmlformats.org/officeDocument/2006/relationships/notesSlide" Target="/ppt/notesSlides/notesSlide24.xml" Id="R63b5920300f442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dae2a3d448b427e" /><Relationship Type="http://schemas.openxmlformats.org/officeDocument/2006/relationships/notesSlide" Target="/ppt/notesSlides/notesSlide25.xml" Id="R654b8b94deb1470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9cadc8a55084387" /><Relationship Type="http://schemas.openxmlformats.org/officeDocument/2006/relationships/notesSlide" Target="/ppt/notesSlides/notesSlide26.xml" Id="R33a99a1be59d4c1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e128f53ae854989" /><Relationship Type="http://schemas.openxmlformats.org/officeDocument/2006/relationships/notesSlide" Target="/ppt/notesSlides/notesSlide27.xml" Id="Ra1e6e1651e6d46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39a0b8daaf04c5e" /><Relationship Type="http://schemas.openxmlformats.org/officeDocument/2006/relationships/notesSlide" Target="/ppt/notesSlides/notesSlide28.xml" Id="R2a3f2d9fdd9c469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693cf9c6e714d04" /><Relationship Type="http://schemas.openxmlformats.org/officeDocument/2006/relationships/notesSlide" Target="/ppt/notesSlides/notesSlide29.xml" Id="Rd7bd624881fb4c9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fb503e49d584a75" /><Relationship Type="http://schemas.openxmlformats.org/officeDocument/2006/relationships/notesSlide" Target="/ppt/notesSlides/notesSlide30.xml" Id="R3ea18c751f2145c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8a451b4b6884704" /><Relationship Type="http://schemas.openxmlformats.org/officeDocument/2006/relationships/notesSlide" Target="/ppt/notesSlides/notesSlide31.xml" Id="R1fb6609ec1964b8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08038516a8c4098" /><Relationship Type="http://schemas.openxmlformats.org/officeDocument/2006/relationships/notesSlide" Target="/ppt/notesSlides/notesSlide32.xml" Id="R7a42cb20367e4fc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03c9572d8e347b4" /><Relationship Type="http://schemas.openxmlformats.org/officeDocument/2006/relationships/notesSlide" Target="/ppt/notesSlides/notesSlide33.xml" Id="Rdbfbe1a5a7b74a0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a85f51bfab3486e" /><Relationship Type="http://schemas.openxmlformats.org/officeDocument/2006/relationships/notesSlide" Target="/ppt/notesSlides/notesSlide34.xml" Id="Rd320eee31ee4466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fcbd54fe8b94225" /><Relationship Type="http://schemas.openxmlformats.org/officeDocument/2006/relationships/notesSlide" Target="/ppt/notesSlides/notesSlide35.xml" Id="Rd3e6e8b286e34a2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66b44c7ed2f439e" /><Relationship Type="http://schemas.openxmlformats.org/officeDocument/2006/relationships/notesSlide" Target="/ppt/notesSlides/notesSlide36.xml" Id="Re82bc7017cef412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4c9ca3525984828" /><Relationship Type="http://schemas.openxmlformats.org/officeDocument/2006/relationships/notesSlide" Target="/ppt/notesSlides/notesSlide37.xml" Id="Rc65a2dd1dc4a4c1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f50aa31b99e43ce" /><Relationship Type="http://schemas.openxmlformats.org/officeDocument/2006/relationships/notesSlide" Target="/ppt/notesSlides/notesSlide38.xml" Id="R7e1ef1b1cc7a4e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52047"/>
                </a:solidFill>
                <a:latin typeface="Arial"/>
                <a:ea typeface="Arial"/>
                <a:cs typeface="Arial"/>
              </a:rPr>
              <a:t>SAP revenue (CAD millions)</a:t>
            </a:r>
          </a:p>
        </c:rich>
      </c:tx>
      <c:overlay val="0"/>
      <c:txPr>
        <a:bodyPr xmlns:a="http://schemas.openxmlformats.org/drawingml/2006/main" anchorCtr="1"/>
        <a:lstStyle xmlns:a="http://schemas.openxmlformats.org/drawingml/2006/main"/>
        <a:p xmlns:a="http://schemas.openxmlformats.org/drawingml/2006/main">
          <a:pPr>
            <a:defRPr sz="1875" b="1">
              <a:solidFill>
                <a:srgbClr val="152047"/>
              </a:solidFill>
              <a:latin typeface="Arial"/>
              <a:ea typeface="Arial"/>
              <a:cs typeface="Arial"/>
            </a:defRPr>
          </a:pPr>
        </a:p>
      </c:txPr>
    </c:title>
    <c:plotArea>
      <c:barChart>
        <c:barDir val="col"/>
        <c:grouping val="clustered"/>
        <c:varyColors val="0"/>
        <c:ser>
          <c:idx val="0"/>
          <c:order val="0"/>
          <c:tx>
            <c:v>Modeled SAP revenue</c:v>
          </c:tx>
          <c:spPr>
            <a:solidFill xmlns:a="http://schemas.openxmlformats.org/drawingml/2006/main">
              <a:srgbClr val="165DAE"/>
            </a:solidFill>
          </c:spPr>
          <c:invertIfNegative val="0"/>
          <c:cat>
            <c:strRef>
              <c:f>'Chart Data'!$A$2:$A$4</c:f>
              <c:strCache>
                <c:ptCount val="3"/>
                <c:pt idx="0">
                  <c:v>Year 1</c:v>
                </c:pt>
                <c:pt idx="1">
                  <c:v>Year 2</c:v>
                </c:pt>
                <c:pt idx="2">
                  <c:v>Year 3</c:v>
                </c:pt>
              </c:strCache>
            </c:strRef>
          </c:cat>
          <c:val>
            <c:numRef>
              <c:f>'Chart Data'!$B$2:$B$4</c:f>
              <c:numCache>
                <c:formatCode>0.0</c:formatCode>
                <c:ptCount val="3"/>
                <c:pt idx="0">
                  <c:v>3.8</c:v>
                </c:pt>
                <c:pt idx="1">
                  <c:v>14.6</c:v>
                </c:pt>
                <c:pt idx="2">
                  <c:v>38.1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65DA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6D7EE"/>
            </a:solidFill>
          </a:ln>
        </c:spPr>
        <c:txPr>
          <a:bodyPr xmlns:a="http://schemas.openxmlformats.org/drawingml/2006/main" anchorCtr="1"/>
          <a:lstStyle xmlns:a="http://schemas.openxmlformats.org/drawingml/2006/main"/>
          <a:p xmlns:a="http://schemas.openxmlformats.org/drawingml/2006/main">
            <a:pPr>
              <a:defRPr sz="1575">
                <a:solidFill>
                  <a:srgbClr val="152047"/>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6D7E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52047"/>
                </a:solidFill>
                <a:latin typeface="Arial"/>
                <a:ea typeface="Arial"/>
                <a:cs typeface="Arial"/>
              </a:defRPr>
            </a:pPr>
          </a:p>
        </c:txPr>
        <c:crossAx val="48650112"/>
        <c:crossBetween val="between"/>
      </c:valAx>
      <c:spPr>
        <a:solidFill xmlns:a="http://schemas.openxmlformats.org/drawingml/2006/main">
          <a:srgbClr val="EDF4FF"/>
        </a:solidFill>
      </c:spPr>
    </c:plotArea>
    <c:plotVisOnly val="1"/>
  </c:chart>
  <c:spPr>
    <a:solidFill xmlns:a="http://schemas.openxmlformats.org/drawingml/2006/main">
      <a:srgbClr val="EDF4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8503AC-4E09-4150-A48C-19F400F783AF}"/>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752A6E-8E24-4398-9A21-65050DC0F246}"/>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PROBLEM STATEMENT</a:t>
            </a:r>
          </a:p>
        </p:txBody>
      </p:sp>
      <p:sp>
        <p:nvSpPr>
          <p:cNvPr id="4" name="">
            <a:extLst xmlns:a="http://schemas.openxmlformats.org/drawingml/2006/main">
              <a:ext uri="{FF2B5EF4-FFF2-40B4-BE49-F238E27FC236}">
                <a16:creationId xmlns:a16="http://schemas.microsoft.com/office/drawing/2014/main" id="{30318EC5-B350-4AAB-AD23-09FC304C23D7}"/>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Demand shifts before retailers can respond</a:t>
            </a:r>
          </a:p>
        </p:txBody>
      </p:sp>
      <p:sp>
        <p:nvSpPr>
          <p:cNvPr id="5" name="">
            <a:extLst xmlns:a="http://schemas.openxmlformats.org/drawingml/2006/main">
              <a:ext uri="{FF2B5EF4-FFF2-40B4-BE49-F238E27FC236}">
                <a16:creationId xmlns:a16="http://schemas.microsoft.com/office/drawing/2014/main" id="{7D15DFBC-B2C9-406B-9DF0-7E10E9AEC864}"/>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Plus One Braincell · Team 463980 · Product+ 2026 · Competition concept</a:t>
            </a:r>
          </a:p>
        </p:txBody>
      </p:sp>
      <p:sp>
        <p:nvSpPr>
          <p:cNvPr id="6" name="">
            <a:extLst xmlns:a="http://schemas.openxmlformats.org/drawingml/2006/main">
              <a:ext uri="{FF2B5EF4-FFF2-40B4-BE49-F238E27FC236}">
                <a16:creationId xmlns:a16="http://schemas.microsoft.com/office/drawing/2014/main" id="{46EA435E-EA88-435E-8B13-2DB3ECDD66BE}"/>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4C9F9D-EEC5-4422-802F-19CCAF656F1F}"/>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D57FBA81-6560-45BB-9FE3-007589334626}"/>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50A8650-646E-4360-BE76-057B4EE8DB1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B32E81C5-A44D-4C08-84B1-737128458FB4}"/>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4B0EC2-8D06-44FF-9055-35CD910AC1A7}"/>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70427646-D16A-4065-9000-B09D7990AA2C}"/>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41644F-5F13-446A-9FA3-C32A7EE4BC4B}"/>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3AEF3BFA-7C6C-424B-85C4-0AC5D76152BB}"/>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8F707B-3CBD-4087-A7CB-45D8B7A54240}"/>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9CEE7EB-CF88-4136-B19A-2A844330FBB6}"/>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01</a:t>
            </a:r>
          </a:p>
        </p:txBody>
      </p:sp>
      <p:pic>
        <p:nvPicPr>
          <p:cNvPr id="17" name="">
            <a:extLst xmlns:a="http://schemas.openxmlformats.org/drawingml/2006/main">
              <a:ext uri="{FF2B5EF4-FFF2-40B4-BE49-F238E27FC236}">
                <a16:creationId xmlns:a16="http://schemas.microsoft.com/office/drawing/2014/main" id="{D47E8D7B-5C1F-409E-9CD5-6A2A5902C364}"/>
              </a:ext>
            </a:extLst>
          </p:cNvPr>
          <p:cNvPicPr>
            <a:picLocks xmlns:a="http://schemas.openxmlformats.org/drawingml/2006/main" noChangeAspect="1"/>
          </p:cNvPicPr>
          <p:nvPr/>
        </p:nvPicPr>
        <p:blipFill>
          <a:blip xmlns:r="http://schemas.openxmlformats.org/officeDocument/2006/relationships" xmlns:a="http://schemas.openxmlformats.org/drawingml/2006/main" r:embed="R9a6415f888c8497d"/>
          <a:srcRect xmlns:a="http://schemas.openxmlformats.org/drawingml/2006/main" l="14321" t="0" r="14321" b="0"/>
          <a:stretch xmlns:a="http://schemas.openxmlformats.org/drawingml/2006/main">
            <a:fillRect l="0" t="0" r="0" b="0"/>
          </a:stretch>
        </p:blipFill>
        <p:spPr>
          <a:xfrm xmlns:a="http://schemas.openxmlformats.org/drawingml/2006/main">
            <a:off x="6858000" y="1428750"/>
            <a:ext cx="6400800" cy="5048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55445B7-5BBE-40A6-9C78-15442ED13AA6}"/>
              </a:ext>
            </a:extLst>
          </p:cNvPr>
          <p:cNvSpPr>
            <a:spLocks xmlns:a="http://schemas.openxmlformats.org/drawingml/2006/main" noGrp="1"/>
          </p:cNvSpPr>
          <p:nvPr/>
        </p:nvSpPr>
        <p:spPr>
          <a:xfrm xmlns:a="http://schemas.openxmlformats.org/drawingml/2006/main">
            <a:off x="523875" y="1466850"/>
            <a:ext cx="5905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100" b="1">
                <a:solidFill>
                  <a:srgbClr val="165DAE"/>
                </a:solidFill>
                <a:latin typeface="Arial"/>
                <a:ea typeface="Arial"/>
                <a:cs typeface="Arial"/>
              </a:defRPr>
            </a:defPPr>
            <a:lvl1pPr algn="l">
              <a:defRPr sz="5100" b="1">
                <a:solidFill>
                  <a:srgbClr val="165DAE"/>
                </a:solidFill>
                <a:latin typeface="Arial"/>
                <a:ea typeface="Arial"/>
                <a:cs typeface="Arial"/>
              </a:defRPr>
            </a:lvl1pPr>
            <a:lvl2pPr algn="l">
              <a:defRPr sz="5100" b="1">
                <a:solidFill>
                  <a:srgbClr val="165DAE"/>
                </a:solidFill>
                <a:latin typeface="Arial"/>
                <a:ea typeface="Arial"/>
                <a:cs typeface="Arial"/>
              </a:defRPr>
            </a:lvl2pPr>
            <a:lvl3pPr algn="l">
              <a:defRPr sz="5100" b="1">
                <a:solidFill>
                  <a:srgbClr val="165DAE"/>
                </a:solidFill>
                <a:latin typeface="Arial"/>
                <a:ea typeface="Arial"/>
                <a:cs typeface="Arial"/>
              </a:defRPr>
            </a:lvl3pPr>
            <a:lvl4pPr algn="l">
              <a:defRPr sz="5100" b="1">
                <a:solidFill>
                  <a:srgbClr val="165DAE"/>
                </a:solidFill>
                <a:latin typeface="Arial"/>
                <a:ea typeface="Arial"/>
                <a:cs typeface="Arial"/>
              </a:defRPr>
            </a:lvl4pPr>
            <a:lvl5pPr algn="l">
              <a:defRPr sz="5100" b="1">
                <a:solidFill>
                  <a:srgbClr val="165DAE"/>
                </a:solidFill>
                <a:latin typeface="Arial"/>
                <a:ea typeface="Arial"/>
                <a:cs typeface="Arial"/>
              </a:defRPr>
            </a:lvl5pPr>
            <a:lvl6pPr algn="l">
              <a:defRPr sz="5100" b="1">
                <a:solidFill>
                  <a:srgbClr val="165DAE"/>
                </a:solidFill>
                <a:latin typeface="Arial"/>
                <a:ea typeface="Arial"/>
                <a:cs typeface="Arial"/>
              </a:defRPr>
            </a:lvl6pPr>
            <a:lvl7pPr algn="l">
              <a:defRPr sz="5100" b="1">
                <a:solidFill>
                  <a:srgbClr val="165DAE"/>
                </a:solidFill>
                <a:latin typeface="Arial"/>
                <a:ea typeface="Arial"/>
                <a:cs typeface="Arial"/>
              </a:defRPr>
            </a:lvl7pPr>
            <a:lvl8pPr algn="l">
              <a:defRPr sz="5100" b="1">
                <a:solidFill>
                  <a:srgbClr val="165DAE"/>
                </a:solidFill>
                <a:latin typeface="Arial"/>
                <a:ea typeface="Arial"/>
                <a:cs typeface="Arial"/>
              </a:defRPr>
            </a:lvl8pPr>
            <a:lvl9pPr algn="l">
              <a:defRPr sz="5100" b="1">
                <a:solidFill>
                  <a:srgbClr val="165DAE"/>
                </a:solidFill>
                <a:latin typeface="Arial"/>
                <a:ea typeface="Arial"/>
                <a:cs typeface="Arial"/>
              </a:defRPr>
            </a:lvl9pPr>
          </a:lstStyle>
          <a:p xmlns:a="http://schemas.openxmlformats.org/drawingml/2006/main">
            <a:pPr algn="l">
              <a:defRPr sz="5100" b="1">
                <a:solidFill>
                  <a:srgbClr val="165DAE"/>
                </a:solidFill>
              </a:defRPr>
            </a:pPr>
            <a:r>
              <a:rPr sz="5100" b="1">
                <a:solidFill>
                  <a:srgbClr val="165DAE"/>
                </a:solidFill>
                <a:latin typeface="Arial"/>
                <a:ea typeface="Arial"/>
                <a:cs typeface="Arial"/>
              </a:rPr>
              <a:t>SAP Retail Signal</a:t>
            </a:r>
          </a:p>
        </p:txBody>
      </p:sp>
      <p:sp>
        <p:nvSpPr>
          <p:cNvPr id="19" name="">
            <a:extLst xmlns:a="http://schemas.openxmlformats.org/drawingml/2006/main">
              <a:ext uri="{FF2B5EF4-FFF2-40B4-BE49-F238E27FC236}">
                <a16:creationId xmlns:a16="http://schemas.microsoft.com/office/drawing/2014/main" id="{C149216F-13DA-413B-A222-9FE34775C4C4}"/>
              </a:ext>
            </a:extLst>
          </p:cNvPr>
          <p:cNvSpPr>
            <a:spLocks xmlns:a="http://schemas.openxmlformats.org/drawingml/2006/main" noGrp="1"/>
          </p:cNvSpPr>
          <p:nvPr/>
        </p:nvSpPr>
        <p:spPr>
          <a:xfrm xmlns:a="http://schemas.openxmlformats.org/drawingml/2006/main">
            <a:off x="552450" y="3257550"/>
            <a:ext cx="5810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52047"/>
                </a:solidFill>
                <a:latin typeface="Arial"/>
                <a:ea typeface="Arial"/>
                <a:cs typeface="Arial"/>
              </a:defRPr>
            </a:defPPr>
            <a:lvl1pPr algn="l">
              <a:defRPr sz="2550" b="1">
                <a:solidFill>
                  <a:srgbClr val="152047"/>
                </a:solidFill>
                <a:latin typeface="Arial"/>
                <a:ea typeface="Arial"/>
                <a:cs typeface="Arial"/>
              </a:defRPr>
            </a:lvl1pPr>
            <a:lvl2pPr algn="l">
              <a:defRPr sz="2550" b="1">
                <a:solidFill>
                  <a:srgbClr val="152047"/>
                </a:solidFill>
                <a:latin typeface="Arial"/>
                <a:ea typeface="Arial"/>
                <a:cs typeface="Arial"/>
              </a:defRPr>
            </a:lvl2pPr>
            <a:lvl3pPr algn="l">
              <a:defRPr sz="2550" b="1">
                <a:solidFill>
                  <a:srgbClr val="152047"/>
                </a:solidFill>
                <a:latin typeface="Arial"/>
                <a:ea typeface="Arial"/>
                <a:cs typeface="Arial"/>
              </a:defRPr>
            </a:lvl3pPr>
            <a:lvl4pPr algn="l">
              <a:defRPr sz="2550" b="1">
                <a:solidFill>
                  <a:srgbClr val="152047"/>
                </a:solidFill>
                <a:latin typeface="Arial"/>
                <a:ea typeface="Arial"/>
                <a:cs typeface="Arial"/>
              </a:defRPr>
            </a:lvl4pPr>
            <a:lvl5pPr algn="l">
              <a:defRPr sz="2550" b="1">
                <a:solidFill>
                  <a:srgbClr val="152047"/>
                </a:solidFill>
                <a:latin typeface="Arial"/>
                <a:ea typeface="Arial"/>
                <a:cs typeface="Arial"/>
              </a:defRPr>
            </a:lvl5pPr>
            <a:lvl6pPr algn="l">
              <a:defRPr sz="2550" b="1">
                <a:solidFill>
                  <a:srgbClr val="152047"/>
                </a:solidFill>
                <a:latin typeface="Arial"/>
                <a:ea typeface="Arial"/>
                <a:cs typeface="Arial"/>
              </a:defRPr>
            </a:lvl6pPr>
            <a:lvl7pPr algn="l">
              <a:defRPr sz="2550" b="1">
                <a:solidFill>
                  <a:srgbClr val="152047"/>
                </a:solidFill>
                <a:latin typeface="Arial"/>
                <a:ea typeface="Arial"/>
                <a:cs typeface="Arial"/>
              </a:defRPr>
            </a:lvl7pPr>
            <a:lvl8pPr algn="l">
              <a:defRPr sz="2550" b="1">
                <a:solidFill>
                  <a:srgbClr val="152047"/>
                </a:solidFill>
                <a:latin typeface="Arial"/>
                <a:ea typeface="Arial"/>
                <a:cs typeface="Arial"/>
              </a:defRPr>
            </a:lvl8pPr>
            <a:lvl9pPr algn="l">
              <a:defRPr sz="2550" b="1">
                <a:solidFill>
                  <a:srgbClr val="152047"/>
                </a:solidFill>
                <a:latin typeface="Arial"/>
                <a:ea typeface="Arial"/>
                <a:cs typeface="Arial"/>
              </a:defRPr>
            </a:lvl9pPr>
          </a:lstStyle>
          <a:p xmlns:a="http://schemas.openxmlformats.org/drawingml/2006/main">
            <a:pPr algn="l">
              <a:defRPr sz="2550" b="1">
                <a:solidFill>
                  <a:srgbClr val="152047"/>
                </a:solidFill>
              </a:defRPr>
            </a:pPr>
            <a:r>
              <a:rPr sz="2550" b="1">
                <a:solidFill>
                  <a:srgbClr val="152047"/>
                </a:solidFill>
                <a:latin typeface="Arial"/>
                <a:ea typeface="Arial"/>
                <a:cs typeface="Arial"/>
              </a:rPr>
              <a:t>One product connects early customer intent with a decision the business can carry out.</a:t>
            </a:r>
          </a:p>
        </p:txBody>
      </p:sp>
      <p:sp>
        <p:nvSpPr>
          <p:cNvPr id="20" name="">
            <a:extLst xmlns:a="http://schemas.openxmlformats.org/drawingml/2006/main">
              <a:ext uri="{FF2B5EF4-FFF2-40B4-BE49-F238E27FC236}">
                <a16:creationId xmlns:a16="http://schemas.microsoft.com/office/drawing/2014/main" id="{79E337A9-0CAF-4372-81B3-98A761FC13F4}"/>
              </a:ext>
            </a:extLst>
          </p:cNvPr>
          <p:cNvSpPr>
            <a:spLocks xmlns:a="http://schemas.openxmlformats.org/drawingml/2006/main" noGrp="1"/>
          </p:cNvSpPr>
          <p:nvPr/>
        </p:nvSpPr>
        <p:spPr>
          <a:xfrm xmlns:a="http://schemas.openxmlformats.org/drawingml/2006/main">
            <a:off x="552450" y="4953000"/>
            <a:ext cx="5810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Apparel merchandisers see transactions. They need to see missed demand and act while it still matters.</a:t>
            </a:r>
          </a:p>
        </p:txBody>
      </p:sp>
    </p:spTree>
    <p:extLst>
      <p:ext uri="{BB962C8B-B14F-4D97-AF65-F5344CB8AC3E}">
        <p14:creationId xmlns:p14="http://schemas.microsoft.com/office/powerpoint/2010/main" val="1674547476"/>
      </p:ext>
    </p:extLst>
  </p:cSld>
</p:sld>
</file>

<file path=ppt/slides/slide2.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6FEDCD-D6AF-4181-B162-F8C4BCEC3A0B}"/>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3BF75C-2F6C-4B4F-BF49-C7A3529B824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COMPANY OVERVIEW</a:t>
            </a:r>
          </a:p>
        </p:txBody>
      </p:sp>
      <p:sp>
        <p:nvSpPr>
          <p:cNvPr id="4" name="">
            <a:extLst xmlns:a="http://schemas.openxmlformats.org/drawingml/2006/main">
              <a:ext uri="{FF2B5EF4-FFF2-40B4-BE49-F238E27FC236}">
                <a16:creationId xmlns:a16="http://schemas.microsoft.com/office/drawing/2014/main" id="{F8C211C5-1C05-4EC1-A62C-ED45467F1EBA}"/>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 already supports the retailer’s core business</a:t>
            </a:r>
          </a:p>
        </p:txBody>
      </p:sp>
      <p:sp>
        <p:nvSpPr>
          <p:cNvPr id="5" name="">
            <a:extLst xmlns:a="http://schemas.openxmlformats.org/drawingml/2006/main">
              <a:ext uri="{FF2B5EF4-FFF2-40B4-BE49-F238E27FC236}">
                <a16:creationId xmlns:a16="http://schemas.microsoft.com/office/drawing/2014/main" id="{CED9033A-0305-4B93-B6E4-45C5DC5987E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Customer counts describe SAP’s broader footprint, not the addressable apparel market.</a:t>
            </a:r>
          </a:p>
        </p:txBody>
      </p:sp>
      <p:sp>
        <p:nvSpPr>
          <p:cNvPr id="6" name="">
            <a:extLst xmlns:a="http://schemas.openxmlformats.org/drawingml/2006/main">
              <a:ext uri="{FF2B5EF4-FFF2-40B4-BE49-F238E27FC236}">
                <a16:creationId xmlns:a16="http://schemas.microsoft.com/office/drawing/2014/main" id="{8EEC039A-C254-42EF-935A-11FC87FB3E6F}"/>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ADD05E-CD30-4628-9784-261780356128}"/>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E8D39B2E-37AF-4F8B-BECB-4E6E7D238CB0}"/>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DD9DB1-37B5-4601-BB7C-EFDA18F6FD3E}"/>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2C3D50C4-E7BC-4888-89C0-7D9A414CC4F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92F5B0-907C-4054-97C1-22CFF79A7E20}"/>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8CE45DC3-5808-4743-96C1-99A28B0A4493}"/>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5FE411-7FF5-4729-8866-03496B94819C}"/>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BCDABD3A-3C55-43C7-B25B-BDD77514AB9A}"/>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C4A3252-EDCE-4DB6-80CA-58F9D9EBBFA3}"/>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7C1B2A95-15DF-44E3-9574-72D31EF3873C}"/>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13283722-FA3B-4BB2-9940-F800AE5E79C4}"/>
              </a:ext>
            </a:extLst>
          </p:cNvPr>
          <p:cNvSpPr>
            <a:spLocks xmlns:a="http://schemas.openxmlformats.org/drawingml/2006/main" noGrp="1"/>
          </p:cNvSpPr>
          <p:nvPr/>
        </p:nvSpPr>
        <p:spPr>
          <a:xfrm xmlns:a="http://schemas.openxmlformats.org/drawingml/2006/main">
            <a:off x="457200" y="1457325"/>
            <a:ext cx="8096250" cy="34004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CDD579BA-EACA-45B8-8B29-393761F0E0A7}"/>
              </a:ext>
            </a:extLst>
          </p:cNvPr>
          <p:cNvPicPr>
            <a:picLocks xmlns:a="http://schemas.openxmlformats.org/drawingml/2006/main" noChangeAspect="1"/>
          </p:cNvPicPr>
          <p:nvPr/>
        </p:nvPicPr>
        <p:blipFill>
          <a:blip xmlns:r="http://schemas.openxmlformats.org/officeDocument/2006/relationships" xmlns:a="http://schemas.openxmlformats.org/drawingml/2006/main" r:embed="Rab2b9d3499384df7"/>
          <a:srcRect xmlns:a="http://schemas.openxmlformats.org/drawingml/2006/main" l="15000" t="5000" r="0" b="38000"/>
          <a:stretch xmlns:a="http://schemas.openxmlformats.org/drawingml/2006/main"/>
        </p:blipFill>
        <p:spPr>
          <a:xfrm xmlns:a="http://schemas.openxmlformats.org/drawingml/2006/main">
            <a:off x="1070697" y="1457325"/>
            <a:ext cx="6869256" cy="3400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0C490B2-B464-4920-9B05-1A096BAC387D}"/>
              </a:ext>
            </a:extLst>
          </p:cNvPr>
          <p:cNvSpPr>
            <a:spLocks xmlns:a="http://schemas.openxmlformats.org/drawingml/2006/main" noGrp="1"/>
          </p:cNvSpPr>
          <p:nvPr/>
        </p:nvSpPr>
        <p:spPr>
          <a:xfrm xmlns:a="http://schemas.openxmlformats.org/drawingml/2006/main">
            <a:off x="9010650" y="1562100"/>
            <a:ext cx="40290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250" b="0">
                <a:solidFill>
                  <a:srgbClr val="152047"/>
                </a:solidFill>
                <a:latin typeface="Arial"/>
                <a:ea typeface="Arial"/>
                <a:cs typeface="Arial"/>
              </a:defRPr>
            </a:defPPr>
            <a:lvl1pPr algn="l">
              <a:defRPr sz="2250" b="0">
                <a:solidFill>
                  <a:srgbClr val="152047"/>
                </a:solidFill>
                <a:latin typeface="Arial"/>
                <a:ea typeface="Arial"/>
                <a:cs typeface="Arial"/>
              </a:defRPr>
            </a:lvl1pPr>
            <a:lvl2pPr algn="l">
              <a:defRPr sz="2250" b="0">
                <a:solidFill>
                  <a:srgbClr val="152047"/>
                </a:solidFill>
                <a:latin typeface="Arial"/>
                <a:ea typeface="Arial"/>
                <a:cs typeface="Arial"/>
              </a:defRPr>
            </a:lvl2pPr>
            <a:lvl3pPr algn="l">
              <a:defRPr sz="2250" b="0">
                <a:solidFill>
                  <a:srgbClr val="152047"/>
                </a:solidFill>
                <a:latin typeface="Arial"/>
                <a:ea typeface="Arial"/>
                <a:cs typeface="Arial"/>
              </a:defRPr>
            </a:lvl3pPr>
            <a:lvl4pPr algn="l">
              <a:defRPr sz="2250" b="0">
                <a:solidFill>
                  <a:srgbClr val="152047"/>
                </a:solidFill>
                <a:latin typeface="Arial"/>
                <a:ea typeface="Arial"/>
                <a:cs typeface="Arial"/>
              </a:defRPr>
            </a:lvl4pPr>
            <a:lvl5pPr algn="l">
              <a:defRPr sz="2250" b="0">
                <a:solidFill>
                  <a:srgbClr val="152047"/>
                </a:solidFill>
                <a:latin typeface="Arial"/>
                <a:ea typeface="Arial"/>
                <a:cs typeface="Arial"/>
              </a:defRPr>
            </a:lvl5pPr>
            <a:lvl6pPr algn="l">
              <a:defRPr sz="2250" b="0">
                <a:solidFill>
                  <a:srgbClr val="152047"/>
                </a:solidFill>
                <a:latin typeface="Arial"/>
                <a:ea typeface="Arial"/>
                <a:cs typeface="Arial"/>
              </a:defRPr>
            </a:lvl6pPr>
            <a:lvl7pPr algn="l">
              <a:defRPr sz="2250" b="0">
                <a:solidFill>
                  <a:srgbClr val="152047"/>
                </a:solidFill>
                <a:latin typeface="Arial"/>
                <a:ea typeface="Arial"/>
                <a:cs typeface="Arial"/>
              </a:defRPr>
            </a:lvl7pPr>
            <a:lvl8pPr algn="l">
              <a:defRPr sz="2250" b="0">
                <a:solidFill>
                  <a:srgbClr val="152047"/>
                </a:solidFill>
                <a:latin typeface="Arial"/>
                <a:ea typeface="Arial"/>
                <a:cs typeface="Arial"/>
              </a:defRPr>
            </a:lvl8pPr>
            <a:lvl9pPr algn="l">
              <a:defRPr sz="2250" b="0">
                <a:solidFill>
                  <a:srgbClr val="152047"/>
                </a:solidFill>
                <a:latin typeface="Arial"/>
                <a:ea typeface="Arial"/>
                <a:cs typeface="Arial"/>
              </a:defRPr>
            </a:lvl9pPr>
          </a:lstStyle>
          <a:p xmlns:a="http://schemas.openxmlformats.org/drawingml/2006/main">
            <a:pPr algn="l">
              <a:defRPr sz="2250" b="0">
                <a:solidFill>
                  <a:srgbClr val="152047"/>
                </a:solidFill>
              </a:defRPr>
            </a:pPr>
            <a:r>
              <a:rPr sz="2250" b="0">
                <a:solidFill>
                  <a:srgbClr val="152047"/>
                </a:solidFill>
                <a:latin typeface="Arial"/>
                <a:ea typeface="Arial"/>
                <a:cs typeface="Arial"/>
              </a:rPr>
              <a:t>Retail Signal would extend existing transaction, commerce and planning systems with early demand evidence and a shared response workflow.</a:t>
            </a:r>
          </a:p>
        </p:txBody>
      </p:sp>
      <p:sp>
        <p:nvSpPr>
          <p:cNvPr id="20" name="">
            <a:extLst xmlns:a="http://schemas.openxmlformats.org/drawingml/2006/main">
              <a:ext uri="{FF2B5EF4-FFF2-40B4-BE49-F238E27FC236}">
                <a16:creationId xmlns:a16="http://schemas.microsoft.com/office/drawing/2014/main" id="{D8CC18AC-FBD9-4DE8-984F-90020B8E97EE}"/>
              </a:ext>
            </a:extLst>
          </p:cNvPr>
          <p:cNvSpPr>
            <a:spLocks xmlns:a="http://schemas.openxmlformats.org/drawingml/2006/main" noGrp="1"/>
          </p:cNvSpPr>
          <p:nvPr/>
        </p:nvSpPr>
        <p:spPr>
          <a:xfrm xmlns:a="http://schemas.openxmlformats.org/drawingml/2006/main">
            <a:off x="552450" y="5200650"/>
            <a:ext cx="3962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350" b="1">
                <a:solidFill>
                  <a:srgbClr val="165DAE"/>
                </a:solidFill>
                <a:latin typeface="Arial"/>
                <a:ea typeface="Arial"/>
                <a:cs typeface="Arial"/>
              </a:defRPr>
            </a:defPPr>
            <a:lvl1pPr algn="l">
              <a:defRPr sz="4350" b="1">
                <a:solidFill>
                  <a:srgbClr val="165DAE"/>
                </a:solidFill>
                <a:latin typeface="Arial"/>
                <a:ea typeface="Arial"/>
                <a:cs typeface="Arial"/>
              </a:defRPr>
            </a:lvl1pPr>
            <a:lvl2pPr algn="l">
              <a:defRPr sz="4350" b="1">
                <a:solidFill>
                  <a:srgbClr val="165DAE"/>
                </a:solidFill>
                <a:latin typeface="Arial"/>
                <a:ea typeface="Arial"/>
                <a:cs typeface="Arial"/>
              </a:defRPr>
            </a:lvl2pPr>
            <a:lvl3pPr algn="l">
              <a:defRPr sz="4350" b="1">
                <a:solidFill>
                  <a:srgbClr val="165DAE"/>
                </a:solidFill>
                <a:latin typeface="Arial"/>
                <a:ea typeface="Arial"/>
                <a:cs typeface="Arial"/>
              </a:defRPr>
            </a:lvl3pPr>
            <a:lvl4pPr algn="l">
              <a:defRPr sz="4350" b="1">
                <a:solidFill>
                  <a:srgbClr val="165DAE"/>
                </a:solidFill>
                <a:latin typeface="Arial"/>
                <a:ea typeface="Arial"/>
                <a:cs typeface="Arial"/>
              </a:defRPr>
            </a:lvl4pPr>
            <a:lvl5pPr algn="l">
              <a:defRPr sz="4350" b="1">
                <a:solidFill>
                  <a:srgbClr val="165DAE"/>
                </a:solidFill>
                <a:latin typeface="Arial"/>
                <a:ea typeface="Arial"/>
                <a:cs typeface="Arial"/>
              </a:defRPr>
            </a:lvl5pPr>
            <a:lvl6pPr algn="l">
              <a:defRPr sz="4350" b="1">
                <a:solidFill>
                  <a:srgbClr val="165DAE"/>
                </a:solidFill>
                <a:latin typeface="Arial"/>
                <a:ea typeface="Arial"/>
                <a:cs typeface="Arial"/>
              </a:defRPr>
            </a:lvl6pPr>
            <a:lvl7pPr algn="l">
              <a:defRPr sz="4350" b="1">
                <a:solidFill>
                  <a:srgbClr val="165DAE"/>
                </a:solidFill>
                <a:latin typeface="Arial"/>
                <a:ea typeface="Arial"/>
                <a:cs typeface="Arial"/>
              </a:defRPr>
            </a:lvl7pPr>
            <a:lvl8pPr algn="l">
              <a:defRPr sz="4350" b="1">
                <a:solidFill>
                  <a:srgbClr val="165DAE"/>
                </a:solidFill>
                <a:latin typeface="Arial"/>
                <a:ea typeface="Arial"/>
                <a:cs typeface="Arial"/>
              </a:defRPr>
            </a:lvl8pPr>
            <a:lvl9pPr algn="l">
              <a:defRPr sz="4350" b="1">
                <a:solidFill>
                  <a:srgbClr val="165DAE"/>
                </a:solidFill>
                <a:latin typeface="Arial"/>
                <a:ea typeface="Arial"/>
                <a:cs typeface="Arial"/>
              </a:defRPr>
            </a:lvl9pPr>
          </a:lstStyle>
          <a:p xmlns:a="http://schemas.openxmlformats.org/drawingml/2006/main">
            <a:pPr algn="l">
              <a:defRPr sz="4350" b="1">
                <a:solidFill>
                  <a:srgbClr val="165DAE"/>
                </a:solidFill>
              </a:defRPr>
            </a:pPr>
            <a:r>
              <a:rPr sz="4350" b="1">
                <a:solidFill>
                  <a:srgbClr val="165DAE"/>
                </a:solidFill>
                <a:latin typeface="Arial"/>
                <a:ea typeface="Arial"/>
                <a:cs typeface="Arial"/>
              </a:rPr>
              <a:t>440,000+</a:t>
            </a:r>
          </a:p>
        </p:txBody>
      </p:sp>
      <p:sp>
        <p:nvSpPr>
          <p:cNvPr id="21" name="">
            <a:extLst xmlns:a="http://schemas.openxmlformats.org/drawingml/2006/main">
              <a:ext uri="{FF2B5EF4-FFF2-40B4-BE49-F238E27FC236}">
                <a16:creationId xmlns:a16="http://schemas.microsoft.com/office/drawing/2014/main" id="{91902C57-4F9D-4477-A3A7-52204092CE60}"/>
              </a:ext>
            </a:extLst>
          </p:cNvPr>
          <p:cNvSpPr>
            <a:spLocks xmlns:a="http://schemas.openxmlformats.org/drawingml/2006/main" noGrp="1"/>
          </p:cNvSpPr>
          <p:nvPr/>
        </p:nvSpPr>
        <p:spPr>
          <a:xfrm xmlns:a="http://schemas.openxmlformats.org/drawingml/2006/main">
            <a:off x="552450" y="5886450"/>
            <a:ext cx="3962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152047"/>
                </a:solidFill>
                <a:latin typeface="Arial"/>
                <a:ea typeface="Arial"/>
                <a:cs typeface="Arial"/>
              </a:defRPr>
            </a:defPPr>
            <a:lvl1pPr algn="l">
              <a:defRPr sz="1950" b="1">
                <a:solidFill>
                  <a:srgbClr val="152047"/>
                </a:solidFill>
                <a:latin typeface="Arial"/>
                <a:ea typeface="Arial"/>
                <a:cs typeface="Arial"/>
              </a:defRPr>
            </a:lvl1pPr>
            <a:lvl2pPr algn="l">
              <a:defRPr sz="1950" b="1">
                <a:solidFill>
                  <a:srgbClr val="152047"/>
                </a:solidFill>
                <a:latin typeface="Arial"/>
                <a:ea typeface="Arial"/>
                <a:cs typeface="Arial"/>
              </a:defRPr>
            </a:lvl2pPr>
            <a:lvl3pPr algn="l">
              <a:defRPr sz="1950" b="1">
                <a:solidFill>
                  <a:srgbClr val="152047"/>
                </a:solidFill>
                <a:latin typeface="Arial"/>
                <a:ea typeface="Arial"/>
                <a:cs typeface="Arial"/>
              </a:defRPr>
            </a:lvl3pPr>
            <a:lvl4pPr algn="l">
              <a:defRPr sz="1950" b="1">
                <a:solidFill>
                  <a:srgbClr val="152047"/>
                </a:solidFill>
                <a:latin typeface="Arial"/>
                <a:ea typeface="Arial"/>
                <a:cs typeface="Arial"/>
              </a:defRPr>
            </a:lvl4pPr>
            <a:lvl5pPr algn="l">
              <a:defRPr sz="1950" b="1">
                <a:solidFill>
                  <a:srgbClr val="152047"/>
                </a:solidFill>
                <a:latin typeface="Arial"/>
                <a:ea typeface="Arial"/>
                <a:cs typeface="Arial"/>
              </a:defRPr>
            </a:lvl5pPr>
            <a:lvl6pPr algn="l">
              <a:defRPr sz="1950" b="1">
                <a:solidFill>
                  <a:srgbClr val="152047"/>
                </a:solidFill>
                <a:latin typeface="Arial"/>
                <a:ea typeface="Arial"/>
                <a:cs typeface="Arial"/>
              </a:defRPr>
            </a:lvl6pPr>
            <a:lvl7pPr algn="l">
              <a:defRPr sz="1950" b="1">
                <a:solidFill>
                  <a:srgbClr val="152047"/>
                </a:solidFill>
                <a:latin typeface="Arial"/>
                <a:ea typeface="Arial"/>
                <a:cs typeface="Arial"/>
              </a:defRPr>
            </a:lvl7pPr>
            <a:lvl8pPr algn="l">
              <a:defRPr sz="1950" b="1">
                <a:solidFill>
                  <a:srgbClr val="152047"/>
                </a:solidFill>
                <a:latin typeface="Arial"/>
                <a:ea typeface="Arial"/>
                <a:cs typeface="Arial"/>
              </a:defRPr>
            </a:lvl8pPr>
            <a:lvl9pPr algn="l">
              <a:defRPr sz="1950" b="1">
                <a:solidFill>
                  <a:srgbClr val="152047"/>
                </a:solidFill>
                <a:latin typeface="Arial"/>
                <a:ea typeface="Arial"/>
                <a:cs typeface="Arial"/>
              </a:defRPr>
            </a:lvl9pPr>
          </a:lstStyle>
          <a:p xmlns:a="http://schemas.openxmlformats.org/drawingml/2006/main">
            <a:pPr algn="l">
              <a:defRPr sz="1950" b="1">
                <a:solidFill>
                  <a:srgbClr val="152047"/>
                </a:solidFill>
              </a:defRPr>
            </a:pPr>
            <a:r>
              <a:rPr sz="1950" b="1">
                <a:solidFill>
                  <a:srgbClr val="152047"/>
                </a:solidFill>
                <a:latin typeface="Arial"/>
                <a:ea typeface="Arial"/>
                <a:cs typeface="Arial"/>
              </a:rPr>
              <a:t>enterprise customers</a:t>
            </a:r>
          </a:p>
        </p:txBody>
      </p:sp>
      <p:sp>
        <p:nvSpPr>
          <p:cNvPr id="22" name="">
            <a:extLst xmlns:a="http://schemas.openxmlformats.org/drawingml/2006/main">
              <a:ext uri="{FF2B5EF4-FFF2-40B4-BE49-F238E27FC236}">
                <a16:creationId xmlns:a16="http://schemas.microsoft.com/office/drawing/2014/main" id="{535868F9-E779-4DB0-A4F9-29B6B8E8CD85}"/>
              </a:ext>
            </a:extLst>
          </p:cNvPr>
          <p:cNvSpPr>
            <a:spLocks xmlns:a="http://schemas.openxmlformats.org/drawingml/2006/main" noGrp="1"/>
          </p:cNvSpPr>
          <p:nvPr/>
        </p:nvSpPr>
        <p:spPr>
          <a:xfrm xmlns:a="http://schemas.openxmlformats.org/drawingml/2006/main">
            <a:off x="552450" y="6257925"/>
            <a:ext cx="3962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Case-package baseline</a:t>
            </a:r>
          </a:p>
        </p:txBody>
      </p:sp>
      <p:sp>
        <p:nvSpPr>
          <p:cNvPr id="23" name="">
            <a:extLst xmlns:a="http://schemas.openxmlformats.org/drawingml/2006/main">
              <a:ext uri="{FF2B5EF4-FFF2-40B4-BE49-F238E27FC236}">
                <a16:creationId xmlns:a16="http://schemas.microsoft.com/office/drawing/2014/main" id="{8E61F6E8-ABEB-41DA-996E-0CFC155A783D}"/>
              </a:ext>
            </a:extLst>
          </p:cNvPr>
          <p:cNvSpPr>
            <a:spLocks xmlns:a="http://schemas.openxmlformats.org/drawingml/2006/main" noGrp="1"/>
          </p:cNvSpPr>
          <p:nvPr/>
        </p:nvSpPr>
        <p:spPr>
          <a:xfrm xmlns:a="http://schemas.openxmlformats.org/drawingml/2006/main">
            <a:off x="4848225" y="5200650"/>
            <a:ext cx="3962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350" b="1">
                <a:solidFill>
                  <a:srgbClr val="165DAE"/>
                </a:solidFill>
                <a:latin typeface="Arial"/>
                <a:ea typeface="Arial"/>
                <a:cs typeface="Arial"/>
              </a:defRPr>
            </a:defPPr>
            <a:lvl1pPr algn="l">
              <a:defRPr sz="4350" b="1">
                <a:solidFill>
                  <a:srgbClr val="165DAE"/>
                </a:solidFill>
                <a:latin typeface="Arial"/>
                <a:ea typeface="Arial"/>
                <a:cs typeface="Arial"/>
              </a:defRPr>
            </a:lvl1pPr>
            <a:lvl2pPr algn="l">
              <a:defRPr sz="4350" b="1">
                <a:solidFill>
                  <a:srgbClr val="165DAE"/>
                </a:solidFill>
                <a:latin typeface="Arial"/>
                <a:ea typeface="Arial"/>
                <a:cs typeface="Arial"/>
              </a:defRPr>
            </a:lvl2pPr>
            <a:lvl3pPr algn="l">
              <a:defRPr sz="4350" b="1">
                <a:solidFill>
                  <a:srgbClr val="165DAE"/>
                </a:solidFill>
                <a:latin typeface="Arial"/>
                <a:ea typeface="Arial"/>
                <a:cs typeface="Arial"/>
              </a:defRPr>
            </a:lvl3pPr>
            <a:lvl4pPr algn="l">
              <a:defRPr sz="4350" b="1">
                <a:solidFill>
                  <a:srgbClr val="165DAE"/>
                </a:solidFill>
                <a:latin typeface="Arial"/>
                <a:ea typeface="Arial"/>
                <a:cs typeface="Arial"/>
              </a:defRPr>
            </a:lvl4pPr>
            <a:lvl5pPr algn="l">
              <a:defRPr sz="4350" b="1">
                <a:solidFill>
                  <a:srgbClr val="165DAE"/>
                </a:solidFill>
                <a:latin typeface="Arial"/>
                <a:ea typeface="Arial"/>
                <a:cs typeface="Arial"/>
              </a:defRPr>
            </a:lvl5pPr>
            <a:lvl6pPr algn="l">
              <a:defRPr sz="4350" b="1">
                <a:solidFill>
                  <a:srgbClr val="165DAE"/>
                </a:solidFill>
                <a:latin typeface="Arial"/>
                <a:ea typeface="Arial"/>
                <a:cs typeface="Arial"/>
              </a:defRPr>
            </a:lvl6pPr>
            <a:lvl7pPr algn="l">
              <a:defRPr sz="4350" b="1">
                <a:solidFill>
                  <a:srgbClr val="165DAE"/>
                </a:solidFill>
                <a:latin typeface="Arial"/>
                <a:ea typeface="Arial"/>
                <a:cs typeface="Arial"/>
              </a:defRPr>
            </a:lvl7pPr>
            <a:lvl8pPr algn="l">
              <a:defRPr sz="4350" b="1">
                <a:solidFill>
                  <a:srgbClr val="165DAE"/>
                </a:solidFill>
                <a:latin typeface="Arial"/>
                <a:ea typeface="Arial"/>
                <a:cs typeface="Arial"/>
              </a:defRPr>
            </a:lvl8pPr>
            <a:lvl9pPr algn="l">
              <a:defRPr sz="4350" b="1">
                <a:solidFill>
                  <a:srgbClr val="165DAE"/>
                </a:solidFill>
                <a:latin typeface="Arial"/>
                <a:ea typeface="Arial"/>
                <a:cs typeface="Arial"/>
              </a:defRPr>
            </a:lvl9pPr>
          </a:lstStyle>
          <a:p xmlns:a="http://schemas.openxmlformats.org/drawingml/2006/main">
            <a:pPr algn="l">
              <a:defRPr sz="4350" b="1">
                <a:solidFill>
                  <a:srgbClr val="165DAE"/>
                </a:solidFill>
              </a:defRPr>
            </a:pPr>
            <a:r>
              <a:rPr sz="4350" b="1">
                <a:solidFill>
                  <a:srgbClr val="165DAE"/>
                </a:solidFill>
                <a:latin typeface="Arial"/>
                <a:ea typeface="Arial"/>
                <a:cs typeface="Arial"/>
              </a:rPr>
              <a:t>180</a:t>
            </a:r>
          </a:p>
        </p:txBody>
      </p:sp>
      <p:sp>
        <p:nvSpPr>
          <p:cNvPr id="24" name="">
            <a:extLst xmlns:a="http://schemas.openxmlformats.org/drawingml/2006/main">
              <a:ext uri="{FF2B5EF4-FFF2-40B4-BE49-F238E27FC236}">
                <a16:creationId xmlns:a16="http://schemas.microsoft.com/office/drawing/2014/main" id="{C3B2928A-608E-4BB1-9865-76587DDA0F43}"/>
              </a:ext>
            </a:extLst>
          </p:cNvPr>
          <p:cNvSpPr>
            <a:spLocks xmlns:a="http://schemas.openxmlformats.org/drawingml/2006/main" noGrp="1"/>
          </p:cNvSpPr>
          <p:nvPr/>
        </p:nvSpPr>
        <p:spPr>
          <a:xfrm xmlns:a="http://schemas.openxmlformats.org/drawingml/2006/main">
            <a:off x="4848225" y="5886450"/>
            <a:ext cx="3962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152047"/>
                </a:solidFill>
                <a:latin typeface="Arial"/>
                <a:ea typeface="Arial"/>
                <a:cs typeface="Arial"/>
              </a:defRPr>
            </a:defPPr>
            <a:lvl1pPr algn="l">
              <a:defRPr sz="1950" b="1">
                <a:solidFill>
                  <a:srgbClr val="152047"/>
                </a:solidFill>
                <a:latin typeface="Arial"/>
                <a:ea typeface="Arial"/>
                <a:cs typeface="Arial"/>
              </a:defRPr>
            </a:lvl1pPr>
            <a:lvl2pPr algn="l">
              <a:defRPr sz="1950" b="1">
                <a:solidFill>
                  <a:srgbClr val="152047"/>
                </a:solidFill>
                <a:latin typeface="Arial"/>
                <a:ea typeface="Arial"/>
                <a:cs typeface="Arial"/>
              </a:defRPr>
            </a:lvl2pPr>
            <a:lvl3pPr algn="l">
              <a:defRPr sz="1950" b="1">
                <a:solidFill>
                  <a:srgbClr val="152047"/>
                </a:solidFill>
                <a:latin typeface="Arial"/>
                <a:ea typeface="Arial"/>
                <a:cs typeface="Arial"/>
              </a:defRPr>
            </a:lvl3pPr>
            <a:lvl4pPr algn="l">
              <a:defRPr sz="1950" b="1">
                <a:solidFill>
                  <a:srgbClr val="152047"/>
                </a:solidFill>
                <a:latin typeface="Arial"/>
                <a:ea typeface="Arial"/>
                <a:cs typeface="Arial"/>
              </a:defRPr>
            </a:lvl4pPr>
            <a:lvl5pPr algn="l">
              <a:defRPr sz="1950" b="1">
                <a:solidFill>
                  <a:srgbClr val="152047"/>
                </a:solidFill>
                <a:latin typeface="Arial"/>
                <a:ea typeface="Arial"/>
                <a:cs typeface="Arial"/>
              </a:defRPr>
            </a:lvl5pPr>
            <a:lvl6pPr algn="l">
              <a:defRPr sz="1950" b="1">
                <a:solidFill>
                  <a:srgbClr val="152047"/>
                </a:solidFill>
                <a:latin typeface="Arial"/>
                <a:ea typeface="Arial"/>
                <a:cs typeface="Arial"/>
              </a:defRPr>
            </a:lvl6pPr>
            <a:lvl7pPr algn="l">
              <a:defRPr sz="1950" b="1">
                <a:solidFill>
                  <a:srgbClr val="152047"/>
                </a:solidFill>
                <a:latin typeface="Arial"/>
                <a:ea typeface="Arial"/>
                <a:cs typeface="Arial"/>
              </a:defRPr>
            </a:lvl7pPr>
            <a:lvl8pPr algn="l">
              <a:defRPr sz="1950" b="1">
                <a:solidFill>
                  <a:srgbClr val="152047"/>
                </a:solidFill>
                <a:latin typeface="Arial"/>
                <a:ea typeface="Arial"/>
                <a:cs typeface="Arial"/>
              </a:defRPr>
            </a:lvl8pPr>
            <a:lvl9pPr algn="l">
              <a:defRPr sz="1950" b="1">
                <a:solidFill>
                  <a:srgbClr val="152047"/>
                </a:solidFill>
                <a:latin typeface="Arial"/>
                <a:ea typeface="Arial"/>
                <a:cs typeface="Arial"/>
              </a:defRPr>
            </a:lvl9pPr>
          </a:lstStyle>
          <a:p xmlns:a="http://schemas.openxmlformats.org/drawingml/2006/main">
            <a:pPr algn="l">
              <a:defRPr sz="1950" b="1">
                <a:solidFill>
                  <a:srgbClr val="152047"/>
                </a:solidFill>
              </a:defRPr>
            </a:pPr>
            <a:r>
              <a:rPr sz="1950" b="1">
                <a:solidFill>
                  <a:srgbClr val="152047"/>
                </a:solidFill>
                <a:latin typeface="Arial"/>
                <a:ea typeface="Arial"/>
                <a:cs typeface="Arial"/>
              </a:rPr>
              <a:t>countries</a:t>
            </a:r>
          </a:p>
        </p:txBody>
      </p:sp>
      <p:sp>
        <p:nvSpPr>
          <p:cNvPr id="25" name="">
            <a:extLst xmlns:a="http://schemas.openxmlformats.org/drawingml/2006/main">
              <a:ext uri="{FF2B5EF4-FFF2-40B4-BE49-F238E27FC236}">
                <a16:creationId xmlns:a16="http://schemas.microsoft.com/office/drawing/2014/main" id="{1141B2F4-1271-4EAC-8C2F-8DD76DA617F4}"/>
              </a:ext>
            </a:extLst>
          </p:cNvPr>
          <p:cNvSpPr>
            <a:spLocks xmlns:a="http://schemas.openxmlformats.org/drawingml/2006/main" noGrp="1"/>
          </p:cNvSpPr>
          <p:nvPr/>
        </p:nvSpPr>
        <p:spPr>
          <a:xfrm xmlns:a="http://schemas.openxmlformats.org/drawingml/2006/main">
            <a:off x="4848225" y="6257925"/>
            <a:ext cx="3962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Case-package baseline</a:t>
            </a:r>
          </a:p>
        </p:txBody>
      </p:sp>
      <p:sp>
        <p:nvSpPr>
          <p:cNvPr id="26" name="">
            <a:extLst xmlns:a="http://schemas.openxmlformats.org/drawingml/2006/main">
              <a:ext uri="{FF2B5EF4-FFF2-40B4-BE49-F238E27FC236}">
                <a16:creationId xmlns:a16="http://schemas.microsoft.com/office/drawing/2014/main" id="{05D541F9-49F1-4EDC-9BAF-301B4F878630}"/>
              </a:ext>
            </a:extLst>
          </p:cNvPr>
          <p:cNvSpPr>
            <a:spLocks xmlns:a="http://schemas.openxmlformats.org/drawingml/2006/main" noGrp="1"/>
          </p:cNvSpPr>
          <p:nvPr/>
        </p:nvSpPr>
        <p:spPr>
          <a:xfrm xmlns:a="http://schemas.openxmlformats.org/drawingml/2006/main">
            <a:off x="9144000" y="5200650"/>
            <a:ext cx="3962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350" b="1">
                <a:solidFill>
                  <a:srgbClr val="165DAE"/>
                </a:solidFill>
                <a:latin typeface="Arial"/>
                <a:ea typeface="Arial"/>
                <a:cs typeface="Arial"/>
              </a:defRPr>
            </a:defPPr>
            <a:lvl1pPr algn="l">
              <a:defRPr sz="4350" b="1">
                <a:solidFill>
                  <a:srgbClr val="165DAE"/>
                </a:solidFill>
                <a:latin typeface="Arial"/>
                <a:ea typeface="Arial"/>
                <a:cs typeface="Arial"/>
              </a:defRPr>
            </a:lvl1pPr>
            <a:lvl2pPr algn="l">
              <a:defRPr sz="4350" b="1">
                <a:solidFill>
                  <a:srgbClr val="165DAE"/>
                </a:solidFill>
                <a:latin typeface="Arial"/>
                <a:ea typeface="Arial"/>
                <a:cs typeface="Arial"/>
              </a:defRPr>
            </a:lvl2pPr>
            <a:lvl3pPr algn="l">
              <a:defRPr sz="4350" b="1">
                <a:solidFill>
                  <a:srgbClr val="165DAE"/>
                </a:solidFill>
                <a:latin typeface="Arial"/>
                <a:ea typeface="Arial"/>
                <a:cs typeface="Arial"/>
              </a:defRPr>
            </a:lvl3pPr>
            <a:lvl4pPr algn="l">
              <a:defRPr sz="4350" b="1">
                <a:solidFill>
                  <a:srgbClr val="165DAE"/>
                </a:solidFill>
                <a:latin typeface="Arial"/>
                <a:ea typeface="Arial"/>
                <a:cs typeface="Arial"/>
              </a:defRPr>
            </a:lvl4pPr>
            <a:lvl5pPr algn="l">
              <a:defRPr sz="4350" b="1">
                <a:solidFill>
                  <a:srgbClr val="165DAE"/>
                </a:solidFill>
                <a:latin typeface="Arial"/>
                <a:ea typeface="Arial"/>
                <a:cs typeface="Arial"/>
              </a:defRPr>
            </a:lvl5pPr>
            <a:lvl6pPr algn="l">
              <a:defRPr sz="4350" b="1">
                <a:solidFill>
                  <a:srgbClr val="165DAE"/>
                </a:solidFill>
                <a:latin typeface="Arial"/>
                <a:ea typeface="Arial"/>
                <a:cs typeface="Arial"/>
              </a:defRPr>
            </a:lvl6pPr>
            <a:lvl7pPr algn="l">
              <a:defRPr sz="4350" b="1">
                <a:solidFill>
                  <a:srgbClr val="165DAE"/>
                </a:solidFill>
                <a:latin typeface="Arial"/>
                <a:ea typeface="Arial"/>
                <a:cs typeface="Arial"/>
              </a:defRPr>
            </a:lvl7pPr>
            <a:lvl8pPr algn="l">
              <a:defRPr sz="4350" b="1">
                <a:solidFill>
                  <a:srgbClr val="165DAE"/>
                </a:solidFill>
                <a:latin typeface="Arial"/>
                <a:ea typeface="Arial"/>
                <a:cs typeface="Arial"/>
              </a:defRPr>
            </a:lvl8pPr>
            <a:lvl9pPr algn="l">
              <a:defRPr sz="4350" b="1">
                <a:solidFill>
                  <a:srgbClr val="165DAE"/>
                </a:solidFill>
                <a:latin typeface="Arial"/>
                <a:ea typeface="Arial"/>
                <a:cs typeface="Arial"/>
              </a:defRPr>
            </a:lvl9pPr>
          </a:lstStyle>
          <a:p xmlns:a="http://schemas.openxmlformats.org/drawingml/2006/main">
            <a:pPr algn="l">
              <a:defRPr sz="4350" b="1">
                <a:solidFill>
                  <a:srgbClr val="165DAE"/>
                </a:solidFill>
              </a:defRPr>
            </a:pPr>
            <a:r>
              <a:rPr sz="4350" b="1">
                <a:solidFill>
                  <a:srgbClr val="165DAE"/>
                </a:solidFill>
                <a:latin typeface="Arial"/>
                <a:ea typeface="Arial"/>
                <a:cs typeface="Arial"/>
              </a:rPr>
              <a:t>14,000+</a:t>
            </a:r>
          </a:p>
        </p:txBody>
      </p:sp>
      <p:sp>
        <p:nvSpPr>
          <p:cNvPr id="27" name="">
            <a:extLst xmlns:a="http://schemas.openxmlformats.org/drawingml/2006/main">
              <a:ext uri="{FF2B5EF4-FFF2-40B4-BE49-F238E27FC236}">
                <a16:creationId xmlns:a16="http://schemas.microsoft.com/office/drawing/2014/main" id="{49DEC538-47CE-4320-85C0-D62A854780AB}"/>
              </a:ext>
            </a:extLst>
          </p:cNvPr>
          <p:cNvSpPr>
            <a:spLocks xmlns:a="http://schemas.openxmlformats.org/drawingml/2006/main" noGrp="1"/>
          </p:cNvSpPr>
          <p:nvPr/>
        </p:nvSpPr>
        <p:spPr>
          <a:xfrm xmlns:a="http://schemas.openxmlformats.org/drawingml/2006/main">
            <a:off x="9144000" y="5886450"/>
            <a:ext cx="3962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152047"/>
                </a:solidFill>
                <a:latin typeface="Arial"/>
                <a:ea typeface="Arial"/>
                <a:cs typeface="Arial"/>
              </a:defRPr>
            </a:defPPr>
            <a:lvl1pPr algn="l">
              <a:defRPr sz="1950" b="1">
                <a:solidFill>
                  <a:srgbClr val="152047"/>
                </a:solidFill>
                <a:latin typeface="Arial"/>
                <a:ea typeface="Arial"/>
                <a:cs typeface="Arial"/>
              </a:defRPr>
            </a:lvl1pPr>
            <a:lvl2pPr algn="l">
              <a:defRPr sz="1950" b="1">
                <a:solidFill>
                  <a:srgbClr val="152047"/>
                </a:solidFill>
                <a:latin typeface="Arial"/>
                <a:ea typeface="Arial"/>
                <a:cs typeface="Arial"/>
              </a:defRPr>
            </a:lvl2pPr>
            <a:lvl3pPr algn="l">
              <a:defRPr sz="1950" b="1">
                <a:solidFill>
                  <a:srgbClr val="152047"/>
                </a:solidFill>
                <a:latin typeface="Arial"/>
                <a:ea typeface="Arial"/>
                <a:cs typeface="Arial"/>
              </a:defRPr>
            </a:lvl3pPr>
            <a:lvl4pPr algn="l">
              <a:defRPr sz="1950" b="1">
                <a:solidFill>
                  <a:srgbClr val="152047"/>
                </a:solidFill>
                <a:latin typeface="Arial"/>
                <a:ea typeface="Arial"/>
                <a:cs typeface="Arial"/>
              </a:defRPr>
            </a:lvl4pPr>
            <a:lvl5pPr algn="l">
              <a:defRPr sz="1950" b="1">
                <a:solidFill>
                  <a:srgbClr val="152047"/>
                </a:solidFill>
                <a:latin typeface="Arial"/>
                <a:ea typeface="Arial"/>
                <a:cs typeface="Arial"/>
              </a:defRPr>
            </a:lvl5pPr>
            <a:lvl6pPr algn="l">
              <a:defRPr sz="1950" b="1">
                <a:solidFill>
                  <a:srgbClr val="152047"/>
                </a:solidFill>
                <a:latin typeface="Arial"/>
                <a:ea typeface="Arial"/>
                <a:cs typeface="Arial"/>
              </a:defRPr>
            </a:lvl6pPr>
            <a:lvl7pPr algn="l">
              <a:defRPr sz="1950" b="1">
                <a:solidFill>
                  <a:srgbClr val="152047"/>
                </a:solidFill>
                <a:latin typeface="Arial"/>
                <a:ea typeface="Arial"/>
                <a:cs typeface="Arial"/>
              </a:defRPr>
            </a:lvl7pPr>
            <a:lvl8pPr algn="l">
              <a:defRPr sz="1950" b="1">
                <a:solidFill>
                  <a:srgbClr val="152047"/>
                </a:solidFill>
                <a:latin typeface="Arial"/>
                <a:ea typeface="Arial"/>
                <a:cs typeface="Arial"/>
              </a:defRPr>
            </a:lvl8pPr>
            <a:lvl9pPr algn="l">
              <a:defRPr sz="1950" b="1">
                <a:solidFill>
                  <a:srgbClr val="152047"/>
                </a:solidFill>
                <a:latin typeface="Arial"/>
                <a:ea typeface="Arial"/>
                <a:cs typeface="Arial"/>
              </a:defRPr>
            </a:lvl9pPr>
          </a:lstStyle>
          <a:p xmlns:a="http://schemas.openxmlformats.org/drawingml/2006/main">
            <a:pPr algn="l">
              <a:defRPr sz="1950" b="1">
                <a:solidFill>
                  <a:srgbClr val="152047"/>
                </a:solidFill>
              </a:defRPr>
            </a:pPr>
            <a:r>
              <a:rPr sz="1950" b="1">
                <a:solidFill>
                  <a:srgbClr val="152047"/>
                </a:solidFill>
                <a:latin typeface="Arial"/>
                <a:ea typeface="Arial"/>
                <a:cs typeface="Arial"/>
              </a:rPr>
              <a:t>retail customers</a:t>
            </a:r>
          </a:p>
        </p:txBody>
      </p:sp>
      <p:sp>
        <p:nvSpPr>
          <p:cNvPr id="28" name="">
            <a:extLst xmlns:a="http://schemas.openxmlformats.org/drawingml/2006/main">
              <a:ext uri="{FF2B5EF4-FFF2-40B4-BE49-F238E27FC236}">
                <a16:creationId xmlns:a16="http://schemas.microsoft.com/office/drawing/2014/main" id="{3140E5AF-8D93-4802-AF6A-59CC5E62E855}"/>
              </a:ext>
            </a:extLst>
          </p:cNvPr>
          <p:cNvSpPr>
            <a:spLocks xmlns:a="http://schemas.openxmlformats.org/drawingml/2006/main" noGrp="1"/>
          </p:cNvSpPr>
          <p:nvPr/>
        </p:nvSpPr>
        <p:spPr>
          <a:xfrm xmlns:a="http://schemas.openxmlformats.org/drawingml/2006/main">
            <a:off x="9144000" y="6257925"/>
            <a:ext cx="3962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SAP Future of Retail</a:t>
            </a:r>
          </a:p>
        </p:txBody>
      </p:sp>
    </p:spTree>
    <p:extLst>
      <p:ext uri="{BB962C8B-B14F-4D97-AF65-F5344CB8AC3E}">
        <p14:creationId xmlns:p14="http://schemas.microsoft.com/office/powerpoint/2010/main" val="1432052352"/>
      </p:ext>
    </p:extLst>
  </p:cSld>
</p:sld>
</file>

<file path=ppt/slides/slide3.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8EA41FB-D615-41E5-B9F0-DF7831A4D77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0B2CB6-DF04-489C-91D8-B6E651E55FE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KEY ISSUES</a:t>
            </a:r>
          </a:p>
        </p:txBody>
      </p:sp>
      <p:sp>
        <p:nvSpPr>
          <p:cNvPr id="4" name="">
            <a:extLst xmlns:a="http://schemas.openxmlformats.org/drawingml/2006/main">
              <a:ext uri="{FF2B5EF4-FFF2-40B4-BE49-F238E27FC236}">
                <a16:creationId xmlns:a16="http://schemas.microsoft.com/office/drawing/2014/main" id="{8E5E975D-8B41-48A8-8990-B9C6804F045E}"/>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Three gaps delay the same decision</a:t>
            </a:r>
          </a:p>
        </p:txBody>
      </p:sp>
      <p:sp>
        <p:nvSpPr>
          <p:cNvPr id="5" name="">
            <a:extLst xmlns:a="http://schemas.openxmlformats.org/drawingml/2006/main">
              <a:ext uri="{FF2B5EF4-FFF2-40B4-BE49-F238E27FC236}">
                <a16:creationId xmlns:a16="http://schemas.microsoft.com/office/drawing/2014/main" id="{930F4F6D-8B84-444F-8BCF-7B486C53F33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Case-based problem hypothesis. Validate the frequency and cost through planner interviews and a pilot.</a:t>
            </a:r>
          </a:p>
        </p:txBody>
      </p:sp>
      <p:sp>
        <p:nvSpPr>
          <p:cNvPr id="6" name="">
            <a:extLst xmlns:a="http://schemas.openxmlformats.org/drawingml/2006/main">
              <a:ext uri="{FF2B5EF4-FFF2-40B4-BE49-F238E27FC236}">
                <a16:creationId xmlns:a16="http://schemas.microsoft.com/office/drawing/2014/main" id="{0C231509-535F-4C16-9D86-3A2872FF0F1D}"/>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21C390-7C47-497B-A273-1547A4295D31}"/>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67B87DD7-BCF8-4ED7-944B-994E4CB46EF3}"/>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30BB12-D608-4CD2-8FFA-15BAD7CFC73D}"/>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8F8A5CF9-433B-4E8D-9470-9C7D0315F0EC}"/>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3625ED-33A4-4F26-9075-48DC55A23C66}"/>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22467847-6813-41D4-96AE-FB39FD80BD42}"/>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52DD7C-A4B4-4C68-959D-AAA41A80AD4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0F4EDD72-A02E-4890-B272-691F92AFC3FA}"/>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D699B2-3547-499B-B514-12103DF9BDD7}"/>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5108CDEA-7F12-43C9-B16C-48D6AF1490C0}"/>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EB8CA0B6-FB1F-4147-8649-38B842BE90C2}"/>
              </a:ext>
            </a:extLst>
          </p:cNvPr>
          <p:cNvSpPr>
            <a:spLocks xmlns:a="http://schemas.openxmlformats.org/drawingml/2006/main" noGrp="1"/>
          </p:cNvSpPr>
          <p:nvPr/>
        </p:nvSpPr>
        <p:spPr>
          <a:xfrm xmlns:a="http://schemas.openxmlformats.org/drawingml/2006/main">
            <a:off x="457200" y="1476375"/>
            <a:ext cx="4095750" cy="2219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81930AEB-BF49-44F6-825E-56024D0518E1}"/>
              </a:ext>
            </a:extLst>
          </p:cNvPr>
          <p:cNvPicPr>
            <a:picLocks xmlns:a="http://schemas.openxmlformats.org/drawingml/2006/main" noChangeAspect="1"/>
          </p:cNvPicPr>
          <p:nvPr/>
        </p:nvPicPr>
        <p:blipFill>
          <a:blip xmlns:r="http://schemas.openxmlformats.org/officeDocument/2006/relationships" xmlns:a="http://schemas.openxmlformats.org/drawingml/2006/main" r:embed="R4d9253f9c4a94996"/>
          <a:srcRect xmlns:a="http://schemas.openxmlformats.org/drawingml/2006/main" l="17000" t="35000" r="30000" b="28000"/>
          <a:stretch xmlns:a="http://schemas.openxmlformats.org/drawingml/2006/main"/>
        </p:blipFill>
        <p:spPr>
          <a:xfrm xmlns:a="http://schemas.openxmlformats.org/drawingml/2006/main">
            <a:off x="457200" y="1530687"/>
            <a:ext cx="4095750" cy="2110702"/>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AD8D2A6F-404A-437C-9F95-140C78DE3DEF}"/>
              </a:ext>
            </a:extLst>
          </p:cNvPr>
          <p:cNvSpPr>
            <a:spLocks xmlns:a="http://schemas.openxmlformats.org/drawingml/2006/main" noGrp="1"/>
          </p:cNvSpPr>
          <p:nvPr/>
        </p:nvSpPr>
        <p:spPr>
          <a:xfrm xmlns:a="http://schemas.openxmlformats.org/drawingml/2006/main">
            <a:off x="457200"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625" b="1">
                <a:solidFill>
                  <a:srgbClr val="165DAE"/>
                </a:solidFill>
                <a:latin typeface="Arial"/>
                <a:ea typeface="Arial"/>
                <a:cs typeface="Arial"/>
              </a:defRPr>
            </a:defPPr>
            <a:lvl1pPr algn="l">
              <a:defRPr sz="2625" b="1">
                <a:solidFill>
                  <a:srgbClr val="165DAE"/>
                </a:solidFill>
                <a:latin typeface="Arial"/>
                <a:ea typeface="Arial"/>
                <a:cs typeface="Arial"/>
              </a:defRPr>
            </a:lvl1pPr>
            <a:lvl2pPr algn="l">
              <a:defRPr sz="2625" b="1">
                <a:solidFill>
                  <a:srgbClr val="165DAE"/>
                </a:solidFill>
                <a:latin typeface="Arial"/>
                <a:ea typeface="Arial"/>
                <a:cs typeface="Arial"/>
              </a:defRPr>
            </a:lvl2pPr>
            <a:lvl3pPr algn="l">
              <a:defRPr sz="2625" b="1">
                <a:solidFill>
                  <a:srgbClr val="165DAE"/>
                </a:solidFill>
                <a:latin typeface="Arial"/>
                <a:ea typeface="Arial"/>
                <a:cs typeface="Arial"/>
              </a:defRPr>
            </a:lvl3pPr>
            <a:lvl4pPr algn="l">
              <a:defRPr sz="2625" b="1">
                <a:solidFill>
                  <a:srgbClr val="165DAE"/>
                </a:solidFill>
                <a:latin typeface="Arial"/>
                <a:ea typeface="Arial"/>
                <a:cs typeface="Arial"/>
              </a:defRPr>
            </a:lvl4pPr>
            <a:lvl5pPr algn="l">
              <a:defRPr sz="2625" b="1">
                <a:solidFill>
                  <a:srgbClr val="165DAE"/>
                </a:solidFill>
                <a:latin typeface="Arial"/>
                <a:ea typeface="Arial"/>
                <a:cs typeface="Arial"/>
              </a:defRPr>
            </a:lvl5pPr>
            <a:lvl6pPr algn="l">
              <a:defRPr sz="2625" b="1">
                <a:solidFill>
                  <a:srgbClr val="165DAE"/>
                </a:solidFill>
                <a:latin typeface="Arial"/>
                <a:ea typeface="Arial"/>
                <a:cs typeface="Arial"/>
              </a:defRPr>
            </a:lvl6pPr>
            <a:lvl7pPr algn="l">
              <a:defRPr sz="2625" b="1">
                <a:solidFill>
                  <a:srgbClr val="165DAE"/>
                </a:solidFill>
                <a:latin typeface="Arial"/>
                <a:ea typeface="Arial"/>
                <a:cs typeface="Arial"/>
              </a:defRPr>
            </a:lvl7pPr>
            <a:lvl8pPr algn="l">
              <a:defRPr sz="2625" b="1">
                <a:solidFill>
                  <a:srgbClr val="165DAE"/>
                </a:solidFill>
                <a:latin typeface="Arial"/>
                <a:ea typeface="Arial"/>
                <a:cs typeface="Arial"/>
              </a:defRPr>
            </a:lvl8pPr>
            <a:lvl9pPr algn="l">
              <a:defRPr sz="2625" b="1">
                <a:solidFill>
                  <a:srgbClr val="165DAE"/>
                </a:solidFill>
                <a:latin typeface="Arial"/>
                <a:ea typeface="Arial"/>
                <a:cs typeface="Arial"/>
              </a:defRPr>
            </a:lvl9pPr>
          </a:lstStyle>
          <a:p xmlns:a="http://schemas.openxmlformats.org/drawingml/2006/main">
            <a:pPr algn="l">
              <a:defRPr sz="3225" b="1">
                <a:solidFill>
                  <a:srgbClr val="165DAE"/>
                </a:solidFill>
              </a:defRPr>
            </a:pPr>
            <a:r>
              <a:rPr sz="2625" b="1">
                <a:solidFill>
                  <a:srgbClr val="165DAE"/>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AA340103-920B-4B09-9915-3243F72A40C3}"/>
              </a:ext>
            </a:extLst>
          </p:cNvPr>
          <p:cNvSpPr>
            <a:spLocks xmlns:a="http://schemas.openxmlformats.org/drawingml/2006/main" noGrp="1"/>
          </p:cNvSpPr>
          <p:nvPr/>
        </p:nvSpPr>
        <p:spPr>
          <a:xfrm xmlns:a="http://schemas.openxmlformats.org/drawingml/2006/main">
            <a:off x="1219200" y="38576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52047"/>
                </a:solidFill>
                <a:latin typeface="Arial"/>
                <a:ea typeface="Arial"/>
                <a:cs typeface="Arial"/>
              </a:defRPr>
            </a:defPPr>
            <a:lvl1pPr algn="l">
              <a:defRPr sz="2175" b="1">
                <a:solidFill>
                  <a:srgbClr val="152047"/>
                </a:solidFill>
                <a:latin typeface="Arial"/>
                <a:ea typeface="Arial"/>
                <a:cs typeface="Arial"/>
              </a:defRPr>
            </a:lvl1pPr>
            <a:lvl2pPr algn="l">
              <a:defRPr sz="2175" b="1">
                <a:solidFill>
                  <a:srgbClr val="152047"/>
                </a:solidFill>
                <a:latin typeface="Arial"/>
                <a:ea typeface="Arial"/>
                <a:cs typeface="Arial"/>
              </a:defRPr>
            </a:lvl2pPr>
            <a:lvl3pPr algn="l">
              <a:defRPr sz="2175" b="1">
                <a:solidFill>
                  <a:srgbClr val="152047"/>
                </a:solidFill>
                <a:latin typeface="Arial"/>
                <a:ea typeface="Arial"/>
                <a:cs typeface="Arial"/>
              </a:defRPr>
            </a:lvl3pPr>
            <a:lvl4pPr algn="l">
              <a:defRPr sz="2175" b="1">
                <a:solidFill>
                  <a:srgbClr val="152047"/>
                </a:solidFill>
                <a:latin typeface="Arial"/>
                <a:ea typeface="Arial"/>
                <a:cs typeface="Arial"/>
              </a:defRPr>
            </a:lvl4pPr>
            <a:lvl5pPr algn="l">
              <a:defRPr sz="2175" b="1">
                <a:solidFill>
                  <a:srgbClr val="152047"/>
                </a:solidFill>
                <a:latin typeface="Arial"/>
                <a:ea typeface="Arial"/>
                <a:cs typeface="Arial"/>
              </a:defRPr>
            </a:lvl5pPr>
            <a:lvl6pPr algn="l">
              <a:defRPr sz="2175" b="1">
                <a:solidFill>
                  <a:srgbClr val="152047"/>
                </a:solidFill>
                <a:latin typeface="Arial"/>
                <a:ea typeface="Arial"/>
                <a:cs typeface="Arial"/>
              </a:defRPr>
            </a:lvl6pPr>
            <a:lvl7pPr algn="l">
              <a:defRPr sz="2175" b="1">
                <a:solidFill>
                  <a:srgbClr val="152047"/>
                </a:solidFill>
                <a:latin typeface="Arial"/>
                <a:ea typeface="Arial"/>
                <a:cs typeface="Arial"/>
              </a:defRPr>
            </a:lvl7pPr>
            <a:lvl8pPr algn="l">
              <a:defRPr sz="2175" b="1">
                <a:solidFill>
                  <a:srgbClr val="152047"/>
                </a:solidFill>
                <a:latin typeface="Arial"/>
                <a:ea typeface="Arial"/>
                <a:cs typeface="Arial"/>
              </a:defRPr>
            </a:lvl8pPr>
            <a:lvl9pPr algn="l">
              <a:defRPr sz="2175" b="1">
                <a:solidFill>
                  <a:srgbClr val="152047"/>
                </a:solidFill>
                <a:latin typeface="Arial"/>
                <a:ea typeface="Arial"/>
                <a:cs typeface="Arial"/>
              </a:defRPr>
            </a:lvl9pPr>
          </a:lstStyle>
          <a:p xmlns:a="http://schemas.openxmlformats.org/drawingml/2006/main">
            <a:pPr algn="l">
              <a:defRPr sz="2175" b="1">
                <a:solidFill>
                  <a:srgbClr val="152047"/>
                </a:solidFill>
              </a:defRPr>
            </a:pPr>
            <a:r>
              <a:rPr sz="2175" b="1">
                <a:solidFill>
                  <a:srgbClr val="152047"/>
                </a:solidFill>
                <a:latin typeface="Arial"/>
                <a:ea typeface="Arial"/>
                <a:cs typeface="Arial"/>
              </a:rPr>
              <a:t>Interest is invisible</a:t>
            </a:r>
          </a:p>
        </p:txBody>
      </p:sp>
      <p:sp>
        <p:nvSpPr>
          <p:cNvPr id="21" name="">
            <a:extLst xmlns:a="http://schemas.openxmlformats.org/drawingml/2006/main">
              <a:ext uri="{FF2B5EF4-FFF2-40B4-BE49-F238E27FC236}">
                <a16:creationId xmlns:a16="http://schemas.microsoft.com/office/drawing/2014/main" id="{2C9FA6E1-A570-4E74-B16F-9D5B98FDFF3C}"/>
              </a:ext>
            </a:extLst>
          </p:cNvPr>
          <p:cNvSpPr>
            <a:spLocks xmlns:a="http://schemas.openxmlformats.org/drawingml/2006/main" noGrp="1"/>
          </p:cNvSpPr>
          <p:nvPr/>
        </p:nvSpPr>
        <p:spPr>
          <a:xfrm xmlns:a="http://schemas.openxmlformats.org/drawingml/2006/main">
            <a:off x="485775" y="4924425"/>
            <a:ext cx="3962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2100" b="0">
                <a:solidFill>
                  <a:srgbClr val="152047"/>
                </a:solidFill>
              </a:defRPr>
            </a:pPr>
            <a:r>
              <a:rPr sz="1950" b="0">
                <a:solidFill>
                  <a:srgbClr val="152047"/>
                </a:solidFill>
                <a:latin typeface="Arial"/>
                <a:ea typeface="Arial"/>
                <a:cs typeface="Arial"/>
              </a:rPr>
              <a:t>Store teams see what sold, but not which sizes were tried and left behind.</a:t>
            </a:r>
          </a:p>
        </p:txBody>
      </p:sp>
      <p:sp>
        <p:nvSpPr>
          <p:cNvPr id="22" name="">
            <a:extLst xmlns:a="http://schemas.openxmlformats.org/drawingml/2006/main">
              <a:ext uri="{FF2B5EF4-FFF2-40B4-BE49-F238E27FC236}">
                <a16:creationId xmlns:a16="http://schemas.microsoft.com/office/drawing/2014/main" id="{CDC637E4-9624-4A5A-BF1F-020895D747EF}"/>
              </a:ext>
            </a:extLst>
          </p:cNvPr>
          <p:cNvSpPr>
            <a:spLocks xmlns:a="http://schemas.openxmlformats.org/drawingml/2006/main" noGrp="1"/>
          </p:cNvSpPr>
          <p:nvPr/>
        </p:nvSpPr>
        <p:spPr>
          <a:xfrm xmlns:a="http://schemas.openxmlformats.org/drawingml/2006/main">
            <a:off x="4810125" y="1476375"/>
            <a:ext cx="4095750" cy="2219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F4049EC1-5DCF-4222-ABCB-3CFDAB49F05B}"/>
              </a:ext>
            </a:extLst>
          </p:cNvPr>
          <p:cNvPicPr>
            <a:picLocks xmlns:a="http://schemas.openxmlformats.org/drawingml/2006/main" noChangeAspect="1"/>
          </p:cNvPicPr>
          <p:nvPr/>
        </p:nvPicPr>
        <p:blipFill>
          <a:blip xmlns:r="http://schemas.openxmlformats.org/officeDocument/2006/relationships" xmlns:a="http://schemas.openxmlformats.org/drawingml/2006/main" r:embed="R595452a4d9e14485"/>
          <a:srcRect xmlns:a="http://schemas.openxmlformats.org/drawingml/2006/main" l="17000" t="35000" r="30000" b="28000"/>
          <a:stretch xmlns:a="http://schemas.openxmlformats.org/drawingml/2006/main"/>
        </p:blipFill>
        <p:spPr>
          <a:xfrm xmlns:a="http://schemas.openxmlformats.org/drawingml/2006/main">
            <a:off x="4810125" y="1530687"/>
            <a:ext cx="4095750" cy="2110702"/>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57CC42D-1A9F-4023-AC9E-F196AD6FB699}"/>
              </a:ext>
            </a:extLst>
          </p:cNvPr>
          <p:cNvSpPr>
            <a:spLocks xmlns:a="http://schemas.openxmlformats.org/drawingml/2006/main" noGrp="1"/>
          </p:cNvSpPr>
          <p:nvPr/>
        </p:nvSpPr>
        <p:spPr>
          <a:xfrm xmlns:a="http://schemas.openxmlformats.org/drawingml/2006/main">
            <a:off x="4810125"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625" b="1">
                <a:solidFill>
                  <a:srgbClr val="165DAE"/>
                </a:solidFill>
                <a:latin typeface="Arial"/>
                <a:ea typeface="Arial"/>
                <a:cs typeface="Arial"/>
              </a:defRPr>
            </a:defPPr>
            <a:lvl1pPr algn="l">
              <a:defRPr sz="2625" b="1">
                <a:solidFill>
                  <a:srgbClr val="165DAE"/>
                </a:solidFill>
                <a:latin typeface="Arial"/>
                <a:ea typeface="Arial"/>
                <a:cs typeface="Arial"/>
              </a:defRPr>
            </a:lvl1pPr>
            <a:lvl2pPr algn="l">
              <a:defRPr sz="2625" b="1">
                <a:solidFill>
                  <a:srgbClr val="165DAE"/>
                </a:solidFill>
                <a:latin typeface="Arial"/>
                <a:ea typeface="Arial"/>
                <a:cs typeface="Arial"/>
              </a:defRPr>
            </a:lvl2pPr>
            <a:lvl3pPr algn="l">
              <a:defRPr sz="2625" b="1">
                <a:solidFill>
                  <a:srgbClr val="165DAE"/>
                </a:solidFill>
                <a:latin typeface="Arial"/>
                <a:ea typeface="Arial"/>
                <a:cs typeface="Arial"/>
              </a:defRPr>
            </a:lvl3pPr>
            <a:lvl4pPr algn="l">
              <a:defRPr sz="2625" b="1">
                <a:solidFill>
                  <a:srgbClr val="165DAE"/>
                </a:solidFill>
                <a:latin typeface="Arial"/>
                <a:ea typeface="Arial"/>
                <a:cs typeface="Arial"/>
              </a:defRPr>
            </a:lvl4pPr>
            <a:lvl5pPr algn="l">
              <a:defRPr sz="2625" b="1">
                <a:solidFill>
                  <a:srgbClr val="165DAE"/>
                </a:solidFill>
                <a:latin typeface="Arial"/>
                <a:ea typeface="Arial"/>
                <a:cs typeface="Arial"/>
              </a:defRPr>
            </a:lvl5pPr>
            <a:lvl6pPr algn="l">
              <a:defRPr sz="2625" b="1">
                <a:solidFill>
                  <a:srgbClr val="165DAE"/>
                </a:solidFill>
                <a:latin typeface="Arial"/>
                <a:ea typeface="Arial"/>
                <a:cs typeface="Arial"/>
              </a:defRPr>
            </a:lvl6pPr>
            <a:lvl7pPr algn="l">
              <a:defRPr sz="2625" b="1">
                <a:solidFill>
                  <a:srgbClr val="165DAE"/>
                </a:solidFill>
                <a:latin typeface="Arial"/>
                <a:ea typeface="Arial"/>
                <a:cs typeface="Arial"/>
              </a:defRPr>
            </a:lvl7pPr>
            <a:lvl8pPr algn="l">
              <a:defRPr sz="2625" b="1">
                <a:solidFill>
                  <a:srgbClr val="165DAE"/>
                </a:solidFill>
                <a:latin typeface="Arial"/>
                <a:ea typeface="Arial"/>
                <a:cs typeface="Arial"/>
              </a:defRPr>
            </a:lvl8pPr>
            <a:lvl9pPr algn="l">
              <a:defRPr sz="2625" b="1">
                <a:solidFill>
                  <a:srgbClr val="165DAE"/>
                </a:solidFill>
                <a:latin typeface="Arial"/>
                <a:ea typeface="Arial"/>
                <a:cs typeface="Arial"/>
              </a:defRPr>
            </a:lvl9pPr>
          </a:lstStyle>
          <a:p xmlns:a="http://schemas.openxmlformats.org/drawingml/2006/main">
            <a:pPr algn="l">
              <a:defRPr sz="3225" b="1">
                <a:solidFill>
                  <a:srgbClr val="165DAE"/>
                </a:solidFill>
              </a:defRPr>
            </a:pPr>
            <a:r>
              <a:rPr sz="2625" b="1">
                <a:solidFill>
                  <a:srgbClr val="165DAE"/>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E9E8515C-C65B-4375-BC5F-13D5D53637BA}"/>
              </a:ext>
            </a:extLst>
          </p:cNvPr>
          <p:cNvSpPr>
            <a:spLocks xmlns:a="http://schemas.openxmlformats.org/drawingml/2006/main" noGrp="1"/>
          </p:cNvSpPr>
          <p:nvPr/>
        </p:nvSpPr>
        <p:spPr>
          <a:xfrm xmlns:a="http://schemas.openxmlformats.org/drawingml/2006/main">
            <a:off x="5572125" y="38576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52047"/>
                </a:solidFill>
                <a:latin typeface="Arial"/>
                <a:ea typeface="Arial"/>
                <a:cs typeface="Arial"/>
              </a:defRPr>
            </a:defPPr>
            <a:lvl1pPr algn="l">
              <a:defRPr sz="2175" b="1">
                <a:solidFill>
                  <a:srgbClr val="152047"/>
                </a:solidFill>
                <a:latin typeface="Arial"/>
                <a:ea typeface="Arial"/>
                <a:cs typeface="Arial"/>
              </a:defRPr>
            </a:lvl1pPr>
            <a:lvl2pPr algn="l">
              <a:defRPr sz="2175" b="1">
                <a:solidFill>
                  <a:srgbClr val="152047"/>
                </a:solidFill>
                <a:latin typeface="Arial"/>
                <a:ea typeface="Arial"/>
                <a:cs typeface="Arial"/>
              </a:defRPr>
            </a:lvl2pPr>
            <a:lvl3pPr algn="l">
              <a:defRPr sz="2175" b="1">
                <a:solidFill>
                  <a:srgbClr val="152047"/>
                </a:solidFill>
                <a:latin typeface="Arial"/>
                <a:ea typeface="Arial"/>
                <a:cs typeface="Arial"/>
              </a:defRPr>
            </a:lvl3pPr>
            <a:lvl4pPr algn="l">
              <a:defRPr sz="2175" b="1">
                <a:solidFill>
                  <a:srgbClr val="152047"/>
                </a:solidFill>
                <a:latin typeface="Arial"/>
                <a:ea typeface="Arial"/>
                <a:cs typeface="Arial"/>
              </a:defRPr>
            </a:lvl4pPr>
            <a:lvl5pPr algn="l">
              <a:defRPr sz="2175" b="1">
                <a:solidFill>
                  <a:srgbClr val="152047"/>
                </a:solidFill>
                <a:latin typeface="Arial"/>
                <a:ea typeface="Arial"/>
                <a:cs typeface="Arial"/>
              </a:defRPr>
            </a:lvl5pPr>
            <a:lvl6pPr algn="l">
              <a:defRPr sz="2175" b="1">
                <a:solidFill>
                  <a:srgbClr val="152047"/>
                </a:solidFill>
                <a:latin typeface="Arial"/>
                <a:ea typeface="Arial"/>
                <a:cs typeface="Arial"/>
              </a:defRPr>
            </a:lvl6pPr>
            <a:lvl7pPr algn="l">
              <a:defRPr sz="2175" b="1">
                <a:solidFill>
                  <a:srgbClr val="152047"/>
                </a:solidFill>
                <a:latin typeface="Arial"/>
                <a:ea typeface="Arial"/>
                <a:cs typeface="Arial"/>
              </a:defRPr>
            </a:lvl7pPr>
            <a:lvl8pPr algn="l">
              <a:defRPr sz="2175" b="1">
                <a:solidFill>
                  <a:srgbClr val="152047"/>
                </a:solidFill>
                <a:latin typeface="Arial"/>
                <a:ea typeface="Arial"/>
                <a:cs typeface="Arial"/>
              </a:defRPr>
            </a:lvl8pPr>
            <a:lvl9pPr algn="l">
              <a:defRPr sz="2175" b="1">
                <a:solidFill>
                  <a:srgbClr val="152047"/>
                </a:solidFill>
                <a:latin typeface="Arial"/>
                <a:ea typeface="Arial"/>
                <a:cs typeface="Arial"/>
              </a:defRPr>
            </a:lvl9pPr>
          </a:lstStyle>
          <a:p xmlns:a="http://schemas.openxmlformats.org/drawingml/2006/main">
            <a:pPr algn="l">
              <a:defRPr sz="2175" b="1">
                <a:solidFill>
                  <a:srgbClr val="152047"/>
                </a:solidFill>
              </a:defRPr>
            </a:pPr>
            <a:r>
              <a:rPr sz="2175" b="1">
                <a:solidFill>
                  <a:srgbClr val="152047"/>
                </a:solidFill>
                <a:latin typeface="Arial"/>
                <a:ea typeface="Arial"/>
                <a:cs typeface="Arial"/>
              </a:rPr>
              <a:t>Unmet online demand disappears</a:t>
            </a:r>
          </a:p>
        </p:txBody>
      </p:sp>
      <p:sp>
        <p:nvSpPr>
          <p:cNvPr id="26" name="">
            <a:extLst xmlns:a="http://schemas.openxmlformats.org/drawingml/2006/main">
              <a:ext uri="{FF2B5EF4-FFF2-40B4-BE49-F238E27FC236}">
                <a16:creationId xmlns:a16="http://schemas.microsoft.com/office/drawing/2014/main" id="{FA66B0D0-0A7A-48EE-BD03-4240A9294CB8}"/>
              </a:ext>
            </a:extLst>
          </p:cNvPr>
          <p:cNvSpPr>
            <a:spLocks xmlns:a="http://schemas.openxmlformats.org/drawingml/2006/main" noGrp="1"/>
          </p:cNvSpPr>
          <p:nvPr/>
        </p:nvSpPr>
        <p:spPr>
          <a:xfrm xmlns:a="http://schemas.openxmlformats.org/drawingml/2006/main">
            <a:off x="4838700" y="4924425"/>
            <a:ext cx="3962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2100" b="0">
                <a:solidFill>
                  <a:srgbClr val="152047"/>
                </a:solidFill>
              </a:defRPr>
            </a:pPr>
            <a:r>
              <a:rPr sz="1950" b="0">
                <a:solidFill>
                  <a:srgbClr val="152047"/>
                </a:solidFill>
                <a:latin typeface="Arial"/>
                <a:ea typeface="Arial"/>
                <a:cs typeface="Arial"/>
              </a:rPr>
              <a:t>Searching an unavailable size can end without a sale or a restock request.</a:t>
            </a:r>
          </a:p>
        </p:txBody>
      </p:sp>
      <p:sp>
        <p:nvSpPr>
          <p:cNvPr id="27" name="">
            <a:extLst xmlns:a="http://schemas.openxmlformats.org/drawingml/2006/main">
              <a:ext uri="{FF2B5EF4-FFF2-40B4-BE49-F238E27FC236}">
                <a16:creationId xmlns:a16="http://schemas.microsoft.com/office/drawing/2014/main" id="{6E0F450F-F661-4467-91D1-40069AE704E1}"/>
              </a:ext>
            </a:extLst>
          </p:cNvPr>
          <p:cNvSpPr>
            <a:spLocks xmlns:a="http://schemas.openxmlformats.org/drawingml/2006/main" noGrp="1"/>
          </p:cNvSpPr>
          <p:nvPr/>
        </p:nvSpPr>
        <p:spPr>
          <a:xfrm xmlns:a="http://schemas.openxmlformats.org/drawingml/2006/main">
            <a:off x="9163050" y="1476375"/>
            <a:ext cx="4095750" cy="2219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BB26143F-4CDC-498E-8D43-B5AAD4D20BA6}"/>
              </a:ext>
            </a:extLst>
          </p:cNvPr>
          <p:cNvPicPr>
            <a:picLocks xmlns:a="http://schemas.openxmlformats.org/drawingml/2006/main" noChangeAspect="1"/>
          </p:cNvPicPr>
          <p:nvPr/>
        </p:nvPicPr>
        <p:blipFill>
          <a:blip xmlns:r="http://schemas.openxmlformats.org/officeDocument/2006/relationships" xmlns:a="http://schemas.openxmlformats.org/drawingml/2006/main" r:embed="R248f05baca66486f"/>
          <a:srcRect xmlns:a="http://schemas.openxmlformats.org/drawingml/2006/main" l="17000" t="20000" r="1000" b="12000"/>
          <a:stretch xmlns:a="http://schemas.openxmlformats.org/drawingml/2006/main"/>
        </p:blipFill>
        <p:spPr>
          <a:xfrm xmlns:a="http://schemas.openxmlformats.org/drawingml/2006/main">
            <a:off x="9398215" y="1476375"/>
            <a:ext cx="3625420" cy="2219325"/>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78148667-8A0C-4B27-981D-CA4EC4D1D937}"/>
              </a:ext>
            </a:extLst>
          </p:cNvPr>
          <p:cNvSpPr>
            <a:spLocks xmlns:a="http://schemas.openxmlformats.org/drawingml/2006/main" noGrp="1"/>
          </p:cNvSpPr>
          <p:nvPr/>
        </p:nvSpPr>
        <p:spPr>
          <a:xfrm xmlns:a="http://schemas.openxmlformats.org/drawingml/2006/main">
            <a:off x="9163050"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625" b="1">
                <a:solidFill>
                  <a:srgbClr val="165DAE"/>
                </a:solidFill>
                <a:latin typeface="Arial"/>
                <a:ea typeface="Arial"/>
                <a:cs typeface="Arial"/>
              </a:defRPr>
            </a:defPPr>
            <a:lvl1pPr algn="l">
              <a:defRPr sz="2625" b="1">
                <a:solidFill>
                  <a:srgbClr val="165DAE"/>
                </a:solidFill>
                <a:latin typeface="Arial"/>
                <a:ea typeface="Arial"/>
                <a:cs typeface="Arial"/>
              </a:defRPr>
            </a:lvl1pPr>
            <a:lvl2pPr algn="l">
              <a:defRPr sz="2625" b="1">
                <a:solidFill>
                  <a:srgbClr val="165DAE"/>
                </a:solidFill>
                <a:latin typeface="Arial"/>
                <a:ea typeface="Arial"/>
                <a:cs typeface="Arial"/>
              </a:defRPr>
            </a:lvl2pPr>
            <a:lvl3pPr algn="l">
              <a:defRPr sz="2625" b="1">
                <a:solidFill>
                  <a:srgbClr val="165DAE"/>
                </a:solidFill>
                <a:latin typeface="Arial"/>
                <a:ea typeface="Arial"/>
                <a:cs typeface="Arial"/>
              </a:defRPr>
            </a:lvl3pPr>
            <a:lvl4pPr algn="l">
              <a:defRPr sz="2625" b="1">
                <a:solidFill>
                  <a:srgbClr val="165DAE"/>
                </a:solidFill>
                <a:latin typeface="Arial"/>
                <a:ea typeface="Arial"/>
                <a:cs typeface="Arial"/>
              </a:defRPr>
            </a:lvl4pPr>
            <a:lvl5pPr algn="l">
              <a:defRPr sz="2625" b="1">
                <a:solidFill>
                  <a:srgbClr val="165DAE"/>
                </a:solidFill>
                <a:latin typeface="Arial"/>
                <a:ea typeface="Arial"/>
                <a:cs typeface="Arial"/>
              </a:defRPr>
            </a:lvl5pPr>
            <a:lvl6pPr algn="l">
              <a:defRPr sz="2625" b="1">
                <a:solidFill>
                  <a:srgbClr val="165DAE"/>
                </a:solidFill>
                <a:latin typeface="Arial"/>
                <a:ea typeface="Arial"/>
                <a:cs typeface="Arial"/>
              </a:defRPr>
            </a:lvl6pPr>
            <a:lvl7pPr algn="l">
              <a:defRPr sz="2625" b="1">
                <a:solidFill>
                  <a:srgbClr val="165DAE"/>
                </a:solidFill>
                <a:latin typeface="Arial"/>
                <a:ea typeface="Arial"/>
                <a:cs typeface="Arial"/>
              </a:defRPr>
            </a:lvl7pPr>
            <a:lvl8pPr algn="l">
              <a:defRPr sz="2625" b="1">
                <a:solidFill>
                  <a:srgbClr val="165DAE"/>
                </a:solidFill>
                <a:latin typeface="Arial"/>
                <a:ea typeface="Arial"/>
                <a:cs typeface="Arial"/>
              </a:defRPr>
            </a:lvl8pPr>
            <a:lvl9pPr algn="l">
              <a:defRPr sz="2625" b="1">
                <a:solidFill>
                  <a:srgbClr val="165DAE"/>
                </a:solidFill>
                <a:latin typeface="Arial"/>
                <a:ea typeface="Arial"/>
                <a:cs typeface="Arial"/>
              </a:defRPr>
            </a:lvl9pPr>
          </a:lstStyle>
          <a:p xmlns:a="http://schemas.openxmlformats.org/drawingml/2006/main">
            <a:pPr algn="l">
              <a:defRPr sz="2625" b="1">
                <a:solidFill>
                  <a:srgbClr val="165DAE"/>
                </a:solidFill>
              </a:defRPr>
            </a:pPr>
            <a:r>
              <a:rPr sz="2625" b="1">
                <a:solidFill>
                  <a:srgbClr val="165DAE"/>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61517C2D-1788-455C-A662-2BE23B67BC85}"/>
              </a:ext>
            </a:extLst>
          </p:cNvPr>
          <p:cNvSpPr>
            <a:spLocks xmlns:a="http://schemas.openxmlformats.org/drawingml/2006/main" noGrp="1"/>
          </p:cNvSpPr>
          <p:nvPr/>
        </p:nvSpPr>
        <p:spPr>
          <a:xfrm xmlns:a="http://schemas.openxmlformats.org/drawingml/2006/main">
            <a:off x="9925050" y="38576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52047"/>
                </a:solidFill>
                <a:latin typeface="Arial"/>
                <a:ea typeface="Arial"/>
                <a:cs typeface="Arial"/>
              </a:defRPr>
            </a:defPPr>
            <a:lvl1pPr algn="l">
              <a:defRPr sz="2175" b="1">
                <a:solidFill>
                  <a:srgbClr val="152047"/>
                </a:solidFill>
                <a:latin typeface="Arial"/>
                <a:ea typeface="Arial"/>
                <a:cs typeface="Arial"/>
              </a:defRPr>
            </a:lvl1pPr>
            <a:lvl2pPr algn="l">
              <a:defRPr sz="2175" b="1">
                <a:solidFill>
                  <a:srgbClr val="152047"/>
                </a:solidFill>
                <a:latin typeface="Arial"/>
                <a:ea typeface="Arial"/>
                <a:cs typeface="Arial"/>
              </a:defRPr>
            </a:lvl2pPr>
            <a:lvl3pPr algn="l">
              <a:defRPr sz="2175" b="1">
                <a:solidFill>
                  <a:srgbClr val="152047"/>
                </a:solidFill>
                <a:latin typeface="Arial"/>
                <a:ea typeface="Arial"/>
                <a:cs typeface="Arial"/>
              </a:defRPr>
            </a:lvl3pPr>
            <a:lvl4pPr algn="l">
              <a:defRPr sz="2175" b="1">
                <a:solidFill>
                  <a:srgbClr val="152047"/>
                </a:solidFill>
                <a:latin typeface="Arial"/>
                <a:ea typeface="Arial"/>
                <a:cs typeface="Arial"/>
              </a:defRPr>
            </a:lvl4pPr>
            <a:lvl5pPr algn="l">
              <a:defRPr sz="2175" b="1">
                <a:solidFill>
                  <a:srgbClr val="152047"/>
                </a:solidFill>
                <a:latin typeface="Arial"/>
                <a:ea typeface="Arial"/>
                <a:cs typeface="Arial"/>
              </a:defRPr>
            </a:lvl5pPr>
            <a:lvl6pPr algn="l">
              <a:defRPr sz="2175" b="1">
                <a:solidFill>
                  <a:srgbClr val="152047"/>
                </a:solidFill>
                <a:latin typeface="Arial"/>
                <a:ea typeface="Arial"/>
                <a:cs typeface="Arial"/>
              </a:defRPr>
            </a:lvl6pPr>
            <a:lvl7pPr algn="l">
              <a:defRPr sz="2175" b="1">
                <a:solidFill>
                  <a:srgbClr val="152047"/>
                </a:solidFill>
                <a:latin typeface="Arial"/>
                <a:ea typeface="Arial"/>
                <a:cs typeface="Arial"/>
              </a:defRPr>
            </a:lvl7pPr>
            <a:lvl8pPr algn="l">
              <a:defRPr sz="2175" b="1">
                <a:solidFill>
                  <a:srgbClr val="152047"/>
                </a:solidFill>
                <a:latin typeface="Arial"/>
                <a:ea typeface="Arial"/>
                <a:cs typeface="Arial"/>
              </a:defRPr>
            </a:lvl8pPr>
            <a:lvl9pPr algn="l">
              <a:defRPr sz="2175" b="1">
                <a:solidFill>
                  <a:srgbClr val="152047"/>
                </a:solidFill>
                <a:latin typeface="Arial"/>
                <a:ea typeface="Arial"/>
                <a:cs typeface="Arial"/>
              </a:defRPr>
            </a:lvl9pPr>
          </a:lstStyle>
          <a:p xmlns:a="http://schemas.openxmlformats.org/drawingml/2006/main">
            <a:pPr algn="l">
              <a:defRPr sz="2175" b="1">
                <a:solidFill>
                  <a:srgbClr val="152047"/>
                </a:solidFill>
              </a:defRPr>
            </a:pPr>
            <a:r>
              <a:rPr sz="2175" b="1">
                <a:solidFill>
                  <a:srgbClr val="152047"/>
                </a:solidFill>
                <a:latin typeface="Arial"/>
                <a:ea typeface="Arial"/>
                <a:cs typeface="Arial"/>
              </a:rPr>
              <a:t>Supply risk arrives without context</a:t>
            </a:r>
          </a:p>
        </p:txBody>
      </p:sp>
      <p:sp>
        <p:nvSpPr>
          <p:cNvPr id="31" name="">
            <a:extLst xmlns:a="http://schemas.openxmlformats.org/drawingml/2006/main">
              <a:ext uri="{FF2B5EF4-FFF2-40B4-BE49-F238E27FC236}">
                <a16:creationId xmlns:a16="http://schemas.microsoft.com/office/drawing/2014/main" id="{8E861EA6-4D29-41A4-A28E-A6F24713A0C6}"/>
              </a:ext>
            </a:extLst>
          </p:cNvPr>
          <p:cNvSpPr>
            <a:spLocks xmlns:a="http://schemas.openxmlformats.org/drawingml/2006/main" noGrp="1"/>
          </p:cNvSpPr>
          <p:nvPr/>
        </p:nvSpPr>
        <p:spPr>
          <a:xfrm xmlns:a="http://schemas.openxmlformats.org/drawingml/2006/main">
            <a:off x="9191625" y="4924425"/>
            <a:ext cx="3962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2100" b="0">
                <a:solidFill>
                  <a:srgbClr val="152047"/>
                </a:solidFill>
              </a:defRPr>
            </a:pPr>
            <a:r>
              <a:rPr sz="1950" b="0">
                <a:solidFill>
                  <a:srgbClr val="152047"/>
                </a:solidFill>
                <a:latin typeface="Arial"/>
                <a:ea typeface="Arial"/>
                <a:cs typeface="Arial"/>
              </a:rPr>
              <a:t>A price or delivery change needs to be traced to affected products, stores and margins.</a:t>
            </a:r>
          </a:p>
        </p:txBody>
      </p:sp>
    </p:spTree>
    <p:extLst>
      <p:ext uri="{BB962C8B-B14F-4D97-AF65-F5344CB8AC3E}">
        <p14:creationId xmlns:p14="http://schemas.microsoft.com/office/powerpoint/2010/main" val="812917261"/>
      </p:ext>
    </p:extLst>
  </p:cSld>
</p:sld>
</file>

<file path=ppt/slides/slide4.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3301E31-FF2A-4CD1-BB46-9BCBED5294BC}"/>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6A3797-34DA-45E4-A265-A09C4DD5237D}"/>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PART 1 · CUSTOMER STORY</a:t>
            </a:r>
          </a:p>
        </p:txBody>
      </p:sp>
      <p:sp>
        <p:nvSpPr>
          <p:cNvPr id="4" name="">
            <a:extLst xmlns:a="http://schemas.openxmlformats.org/drawingml/2006/main">
              <a:ext uri="{FF2B5EF4-FFF2-40B4-BE49-F238E27FC236}">
                <a16:creationId xmlns:a16="http://schemas.microsoft.com/office/drawing/2014/main" id="{6D18A37F-FCC5-4794-A36D-A7C2BFF2EC12}"/>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Meet Bob, before Retail Signal</a:t>
            </a:r>
          </a:p>
        </p:txBody>
      </p:sp>
      <p:sp>
        <p:nvSpPr>
          <p:cNvPr id="5" name="">
            <a:extLst xmlns:a="http://schemas.openxmlformats.org/drawingml/2006/main">
              <a:ext uri="{FF2B5EF4-FFF2-40B4-BE49-F238E27FC236}">
                <a16:creationId xmlns:a16="http://schemas.microsoft.com/office/drawing/2014/main" id="{94A680E2-1E5A-426B-92D0-5B8312D88F3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Bob is a fictional persona. Product, supplier and location figures are seeded demo records.</a:t>
            </a:r>
          </a:p>
        </p:txBody>
      </p:sp>
      <p:sp>
        <p:nvSpPr>
          <p:cNvPr id="6" name="">
            <a:extLst xmlns:a="http://schemas.openxmlformats.org/drawingml/2006/main">
              <a:ext uri="{FF2B5EF4-FFF2-40B4-BE49-F238E27FC236}">
                <a16:creationId xmlns:a16="http://schemas.microsoft.com/office/drawing/2014/main" id="{C352D05F-C71F-4D1A-BE70-8B10C304A62A}"/>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2296179-DFD3-439E-8F62-F7B790001EFF}"/>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BEDE99B-1860-4E65-9DCA-7EDAC8B362FE}"/>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37F6CF-35C3-4D3D-8DD3-432E3B1299F6}"/>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14911694-F112-48C6-9195-ADCA80A67A5D}"/>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023800-5A79-4369-8662-0E4DD79D7AB3}"/>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D74394DB-8EBC-4E8E-A3DA-79B6D9BCE206}"/>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7CE21B-B6D3-4348-A45E-9F5A95C6DD93}"/>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DEC7531-D87D-4574-AC29-57BA0082AD53}"/>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AF79CFE-1784-446B-A378-D8A461BE88FD}"/>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59A5A36B-FB85-4B1B-B951-681C3190365B}"/>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04</a:t>
            </a:r>
          </a:p>
        </p:txBody>
      </p:sp>
      <p:pic>
        <p:nvPicPr>
          <p:cNvPr id="17" name="">
            <a:extLst xmlns:a="http://schemas.openxmlformats.org/drawingml/2006/main">
              <a:ext uri="{FF2B5EF4-FFF2-40B4-BE49-F238E27FC236}">
                <a16:creationId xmlns:a16="http://schemas.microsoft.com/office/drawing/2014/main" id="{C24EA11B-5A0E-4D17-9DB8-19B9E90545EC}"/>
              </a:ext>
            </a:extLst>
          </p:cNvPr>
          <p:cNvPicPr>
            <a:picLocks xmlns:a="http://schemas.openxmlformats.org/drawingml/2006/main" noChangeAspect="1"/>
          </p:cNvPicPr>
          <p:nvPr/>
        </p:nvPicPr>
        <p:blipFill>
          <a:blip xmlns:r="http://schemas.openxmlformats.org/officeDocument/2006/relationships" xmlns:a="http://schemas.openxmlformats.org/drawingml/2006/main" r:embed="Rc824efbb81f14487"/>
          <a:srcRect xmlns:a="http://schemas.openxmlformats.org/drawingml/2006/main" l="0" t="2293" r="0" b="2293"/>
          <a:stretch xmlns:a="http://schemas.openxmlformats.org/drawingml/2006/main">
            <a:fillRect l="0" t="0" r="0" b="0"/>
          </a:stretch>
        </p:blipFill>
        <p:spPr>
          <a:xfrm xmlns:a="http://schemas.openxmlformats.org/drawingml/2006/main">
            <a:off x="457200" y="1495425"/>
            <a:ext cx="3905250" cy="3105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64C9AB7-F83D-47E7-B848-575376DAC469}"/>
              </a:ext>
            </a:extLst>
          </p:cNvPr>
          <p:cNvSpPr>
            <a:spLocks xmlns:a="http://schemas.openxmlformats.org/drawingml/2006/main" noGrp="1"/>
          </p:cNvSpPr>
          <p:nvPr/>
        </p:nvSpPr>
        <p:spPr>
          <a:xfrm xmlns:a="http://schemas.openxmlformats.org/drawingml/2006/main">
            <a:off x="504825" y="47720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750" b="1">
                <a:solidFill>
                  <a:srgbClr val="165DAE"/>
                </a:solidFill>
                <a:latin typeface="Arial"/>
                <a:ea typeface="Arial"/>
                <a:cs typeface="Arial"/>
              </a:defRPr>
            </a:defPPr>
            <a:lvl1pPr algn="l">
              <a:defRPr sz="3750" b="1">
                <a:solidFill>
                  <a:srgbClr val="165DAE"/>
                </a:solidFill>
                <a:latin typeface="Arial"/>
                <a:ea typeface="Arial"/>
                <a:cs typeface="Arial"/>
              </a:defRPr>
            </a:lvl1pPr>
            <a:lvl2pPr algn="l">
              <a:defRPr sz="3750" b="1">
                <a:solidFill>
                  <a:srgbClr val="165DAE"/>
                </a:solidFill>
                <a:latin typeface="Arial"/>
                <a:ea typeface="Arial"/>
                <a:cs typeface="Arial"/>
              </a:defRPr>
            </a:lvl2pPr>
            <a:lvl3pPr algn="l">
              <a:defRPr sz="3750" b="1">
                <a:solidFill>
                  <a:srgbClr val="165DAE"/>
                </a:solidFill>
                <a:latin typeface="Arial"/>
                <a:ea typeface="Arial"/>
                <a:cs typeface="Arial"/>
              </a:defRPr>
            </a:lvl3pPr>
            <a:lvl4pPr algn="l">
              <a:defRPr sz="3750" b="1">
                <a:solidFill>
                  <a:srgbClr val="165DAE"/>
                </a:solidFill>
                <a:latin typeface="Arial"/>
                <a:ea typeface="Arial"/>
                <a:cs typeface="Arial"/>
              </a:defRPr>
            </a:lvl4pPr>
            <a:lvl5pPr algn="l">
              <a:defRPr sz="3750" b="1">
                <a:solidFill>
                  <a:srgbClr val="165DAE"/>
                </a:solidFill>
                <a:latin typeface="Arial"/>
                <a:ea typeface="Arial"/>
                <a:cs typeface="Arial"/>
              </a:defRPr>
            </a:lvl5pPr>
            <a:lvl6pPr algn="l">
              <a:defRPr sz="3750" b="1">
                <a:solidFill>
                  <a:srgbClr val="165DAE"/>
                </a:solidFill>
                <a:latin typeface="Arial"/>
                <a:ea typeface="Arial"/>
                <a:cs typeface="Arial"/>
              </a:defRPr>
            </a:lvl6pPr>
            <a:lvl7pPr algn="l">
              <a:defRPr sz="3750" b="1">
                <a:solidFill>
                  <a:srgbClr val="165DAE"/>
                </a:solidFill>
                <a:latin typeface="Arial"/>
                <a:ea typeface="Arial"/>
                <a:cs typeface="Arial"/>
              </a:defRPr>
            </a:lvl7pPr>
            <a:lvl8pPr algn="l">
              <a:defRPr sz="3750" b="1">
                <a:solidFill>
                  <a:srgbClr val="165DAE"/>
                </a:solidFill>
                <a:latin typeface="Arial"/>
                <a:ea typeface="Arial"/>
                <a:cs typeface="Arial"/>
              </a:defRPr>
            </a:lvl8pPr>
            <a:lvl9pPr algn="l">
              <a:defRPr sz="3750" b="1">
                <a:solidFill>
                  <a:srgbClr val="165DAE"/>
                </a:solidFill>
                <a:latin typeface="Arial"/>
                <a:ea typeface="Arial"/>
                <a:cs typeface="Arial"/>
              </a:defRPr>
            </a:lvl9pPr>
          </a:lstStyle>
          <a:p xmlns:a="http://schemas.openxmlformats.org/drawingml/2006/main">
            <a:pPr algn="l">
              <a:defRPr sz="3750" b="1">
                <a:solidFill>
                  <a:srgbClr val="165DAE"/>
                </a:solidFill>
              </a:defRPr>
            </a:pPr>
            <a:r>
              <a:rPr sz="3750" b="1">
                <a:solidFill>
                  <a:srgbClr val="165DAE"/>
                </a:solidFill>
                <a:latin typeface="Arial"/>
                <a:ea typeface="Arial"/>
                <a:cs typeface="Arial"/>
              </a:rPr>
              <a:t>Bob</a:t>
            </a:r>
          </a:p>
        </p:txBody>
      </p:sp>
      <p:sp>
        <p:nvSpPr>
          <p:cNvPr id="19" name="">
            <a:extLst xmlns:a="http://schemas.openxmlformats.org/drawingml/2006/main">
              <a:ext uri="{FF2B5EF4-FFF2-40B4-BE49-F238E27FC236}">
                <a16:creationId xmlns:a16="http://schemas.microsoft.com/office/drawing/2014/main" id="{34E1692C-6D40-4CAA-9A92-8D86300B2AD5}"/>
              </a:ext>
            </a:extLst>
          </p:cNvPr>
          <p:cNvSpPr>
            <a:spLocks xmlns:a="http://schemas.openxmlformats.org/drawingml/2006/main" noGrp="1"/>
          </p:cNvSpPr>
          <p:nvPr/>
        </p:nvSpPr>
        <p:spPr>
          <a:xfrm xmlns:a="http://schemas.openxmlformats.org/drawingml/2006/main">
            <a:off x="523875" y="5467350"/>
            <a:ext cx="3676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Regional merchandise planner</a:t>
            </a:r>
          </a:p>
          <a:p xmlns:a="http://schemas.openxmlformats.org/drawingml/2006/main">
            <a:pPr algn="l">
              <a:defRPr sz="1950" b="0">
                <a:solidFill>
                  <a:srgbClr val="152047"/>
                </a:solidFill>
              </a:defRPr>
            </a:pPr>
            <a:r>
              <a:rPr sz="1950" b="0">
                <a:solidFill>
                  <a:srgbClr val="152047"/>
                </a:solidFill>
                <a:latin typeface="Arial"/>
                <a:ea typeface="Arial"/>
                <a:cs typeface="Arial"/>
              </a:rPr>
              <a:t>Fictional 100-store apparel retailer</a:t>
            </a:r>
          </a:p>
        </p:txBody>
      </p:sp>
      <p:sp>
        <p:nvSpPr>
          <p:cNvPr id="20" name="">
            <a:extLst xmlns:a="http://schemas.openxmlformats.org/drawingml/2006/main">
              <a:ext uri="{FF2B5EF4-FFF2-40B4-BE49-F238E27FC236}">
                <a16:creationId xmlns:a16="http://schemas.microsoft.com/office/drawing/2014/main" id="{494A8781-9E4B-4A31-9448-E94EA80FFE39}"/>
              </a:ext>
            </a:extLst>
          </p:cNvPr>
          <p:cNvSpPr>
            <a:spLocks xmlns:a="http://schemas.openxmlformats.org/drawingml/2006/main" noGrp="1"/>
          </p:cNvSpPr>
          <p:nvPr/>
        </p:nvSpPr>
        <p:spPr>
          <a:xfrm xmlns:a="http://schemas.openxmlformats.org/drawingml/2006/main">
            <a:off x="4810125" y="15621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8F3D03D-7095-4214-8ECA-F19320FC0608}"/>
              </a:ext>
            </a:extLst>
          </p:cNvPr>
          <p:cNvSpPr>
            <a:spLocks xmlns:a="http://schemas.openxmlformats.org/drawingml/2006/main" noGrp="1"/>
          </p:cNvSpPr>
          <p:nvPr/>
        </p:nvSpPr>
        <p:spPr>
          <a:xfrm xmlns:a="http://schemas.openxmlformats.org/drawingml/2006/main">
            <a:off x="4991100" y="1485900"/>
            <a:ext cx="8067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Sales look ordinary</a:t>
            </a:r>
          </a:p>
        </p:txBody>
      </p:sp>
      <p:sp>
        <p:nvSpPr>
          <p:cNvPr id="22" name="">
            <a:extLst xmlns:a="http://schemas.openxmlformats.org/drawingml/2006/main">
              <a:ext uri="{FF2B5EF4-FFF2-40B4-BE49-F238E27FC236}">
                <a16:creationId xmlns:a16="http://schemas.microsoft.com/office/drawing/2014/main" id="{780701A1-48F1-4AE4-91BA-13607B802EFC}"/>
              </a:ext>
            </a:extLst>
          </p:cNvPr>
          <p:cNvSpPr>
            <a:spLocks xmlns:a="http://schemas.openxmlformats.org/drawingml/2006/main" noGrp="1"/>
          </p:cNvSpPr>
          <p:nvPr/>
        </p:nvSpPr>
        <p:spPr>
          <a:xfrm xmlns:a="http://schemas.openxmlformats.org/drawingml/2006/main">
            <a:off x="4991100" y="1981200"/>
            <a:ext cx="8029575" cy="105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The cream medium top has only 8 units left in Vancouver.</a:t>
            </a:r>
          </a:p>
        </p:txBody>
      </p:sp>
      <p:sp>
        <p:nvSpPr>
          <p:cNvPr id="23" name="">
            <a:extLst xmlns:a="http://schemas.openxmlformats.org/drawingml/2006/main">
              <a:ext uri="{FF2B5EF4-FFF2-40B4-BE49-F238E27FC236}">
                <a16:creationId xmlns:a16="http://schemas.microsoft.com/office/drawing/2014/main" id="{96DB1D87-7A8C-4C2E-B9A7-1BD69D56A5B3}"/>
              </a:ext>
            </a:extLst>
          </p:cNvPr>
          <p:cNvSpPr>
            <a:spLocks xmlns:a="http://schemas.openxmlformats.org/drawingml/2006/main" noGrp="1"/>
          </p:cNvSpPr>
          <p:nvPr/>
        </p:nvSpPr>
        <p:spPr>
          <a:xfrm xmlns:a="http://schemas.openxmlformats.org/drawingml/2006/main">
            <a:off x="4810125" y="32131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A627C3E-66B6-4AFA-8E5A-70752C4FC7F5}"/>
              </a:ext>
            </a:extLst>
          </p:cNvPr>
          <p:cNvSpPr>
            <a:spLocks xmlns:a="http://schemas.openxmlformats.org/drawingml/2006/main" noGrp="1"/>
          </p:cNvSpPr>
          <p:nvPr/>
        </p:nvSpPr>
        <p:spPr>
          <a:xfrm xmlns:a="http://schemas.openxmlformats.org/drawingml/2006/main">
            <a:off x="4991100" y="3136900"/>
            <a:ext cx="8067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The signals live elsewhere</a:t>
            </a:r>
          </a:p>
        </p:txBody>
      </p:sp>
      <p:sp>
        <p:nvSpPr>
          <p:cNvPr id="25" name="">
            <a:extLst xmlns:a="http://schemas.openxmlformats.org/drawingml/2006/main">
              <a:ext uri="{FF2B5EF4-FFF2-40B4-BE49-F238E27FC236}">
                <a16:creationId xmlns:a16="http://schemas.microsoft.com/office/drawing/2014/main" id="{486E33BA-B145-4E8D-9D44-299FABEF4B71}"/>
              </a:ext>
            </a:extLst>
          </p:cNvPr>
          <p:cNvSpPr>
            <a:spLocks xmlns:a="http://schemas.openxmlformats.org/drawingml/2006/main" noGrp="1"/>
          </p:cNvSpPr>
          <p:nvPr/>
        </p:nvSpPr>
        <p:spPr>
          <a:xfrm xmlns:a="http://schemas.openxmlformats.org/drawingml/2006/main">
            <a:off x="4991100" y="3632200"/>
            <a:ext cx="8029575" cy="105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240 try-ons, 43 purchases and 162 out-of-stock sessions are not in his sales report.</a:t>
            </a:r>
          </a:p>
        </p:txBody>
      </p:sp>
      <p:sp>
        <p:nvSpPr>
          <p:cNvPr id="26" name="">
            <a:extLst xmlns:a="http://schemas.openxmlformats.org/drawingml/2006/main">
              <a:ext uri="{FF2B5EF4-FFF2-40B4-BE49-F238E27FC236}">
                <a16:creationId xmlns:a16="http://schemas.microsoft.com/office/drawing/2014/main" id="{1C78E718-AF56-4218-BAA9-607CF7F09EDB}"/>
              </a:ext>
            </a:extLst>
          </p:cNvPr>
          <p:cNvSpPr>
            <a:spLocks xmlns:a="http://schemas.openxmlformats.org/drawingml/2006/main" noGrp="1"/>
          </p:cNvSpPr>
          <p:nvPr/>
        </p:nvSpPr>
        <p:spPr>
          <a:xfrm xmlns:a="http://schemas.openxmlformats.org/drawingml/2006/main">
            <a:off x="4810125" y="48641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BE50136-194E-498E-AB00-DD65FD289B8D}"/>
              </a:ext>
            </a:extLst>
          </p:cNvPr>
          <p:cNvSpPr>
            <a:spLocks xmlns:a="http://schemas.openxmlformats.org/drawingml/2006/main" noGrp="1"/>
          </p:cNvSpPr>
          <p:nvPr/>
        </p:nvSpPr>
        <p:spPr>
          <a:xfrm xmlns:a="http://schemas.openxmlformats.org/drawingml/2006/main">
            <a:off x="4991100" y="4787900"/>
            <a:ext cx="8067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The replenishment misses the window</a:t>
            </a:r>
          </a:p>
        </p:txBody>
      </p:sp>
      <p:sp>
        <p:nvSpPr>
          <p:cNvPr id="28" name="">
            <a:extLst xmlns:a="http://schemas.openxmlformats.org/drawingml/2006/main">
              <a:ext uri="{FF2B5EF4-FFF2-40B4-BE49-F238E27FC236}">
                <a16:creationId xmlns:a16="http://schemas.microsoft.com/office/drawing/2014/main" id="{775E1136-414A-4F29-952F-E541757B4211}"/>
              </a:ext>
            </a:extLst>
          </p:cNvPr>
          <p:cNvSpPr>
            <a:spLocks xmlns:a="http://schemas.openxmlformats.org/drawingml/2006/main" noGrp="1"/>
          </p:cNvSpPr>
          <p:nvPr/>
        </p:nvSpPr>
        <p:spPr>
          <a:xfrm xmlns:a="http://schemas.openxmlformats.org/drawingml/2006/main">
            <a:off x="4991100" y="5283200"/>
            <a:ext cx="8029575" cy="105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The primary supplier needs 21 days; Bob still has to locate transferable stock.</a:t>
            </a:r>
          </a:p>
        </p:txBody>
      </p:sp>
    </p:spTree>
    <p:extLst>
      <p:ext uri="{BB962C8B-B14F-4D97-AF65-F5344CB8AC3E}">
        <p14:creationId xmlns:p14="http://schemas.microsoft.com/office/powerpoint/2010/main" val="1585720950"/>
      </p:ext>
    </p:extLst>
  </p:cSld>
</p:sld>
</file>

<file path=ppt/slides/slide5.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62B31D5-9640-4155-9A8C-F77E3C015F40}"/>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34BE92-9488-4588-B4D5-0CC28CC6CF2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RECOMMENDATION DEMO · 90 SECONDS</a:t>
            </a:r>
          </a:p>
        </p:txBody>
      </p:sp>
      <p:sp>
        <p:nvSpPr>
          <p:cNvPr id="4" name="">
            <a:extLst xmlns:a="http://schemas.openxmlformats.org/drawingml/2006/main">
              <a:ext uri="{FF2B5EF4-FFF2-40B4-BE49-F238E27FC236}">
                <a16:creationId xmlns:a16="http://schemas.microsoft.com/office/drawing/2014/main" id="{0BF6249A-B233-433A-A14F-CA3FCD646F79}"/>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One product, three connected parts</a:t>
            </a:r>
          </a:p>
        </p:txBody>
      </p:sp>
      <p:sp>
        <p:nvSpPr>
          <p:cNvPr id="5" name="">
            <a:extLst xmlns:a="http://schemas.openxmlformats.org/drawingml/2006/main">
              <a:ext uri="{FF2B5EF4-FFF2-40B4-BE49-F238E27FC236}">
                <a16:creationId xmlns:a16="http://schemas.microsoft.com/office/drawing/2014/main" id="{2BE61D29-3668-4914-9640-71075A5C0209}"/>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Working website with seeded records. Joule-inspired explanations and SAP execution are simulated.</a:t>
            </a:r>
          </a:p>
        </p:txBody>
      </p:sp>
      <p:sp>
        <p:nvSpPr>
          <p:cNvPr id="6" name="">
            <a:extLst xmlns:a="http://schemas.openxmlformats.org/drawingml/2006/main">
              <a:ext uri="{FF2B5EF4-FFF2-40B4-BE49-F238E27FC236}">
                <a16:creationId xmlns:a16="http://schemas.microsoft.com/office/drawing/2014/main" id="{D42D6F04-7DB9-4895-94F7-EDE6097D4447}"/>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F1E2A7-8909-48E0-B846-1A6E630E105B}"/>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80E1622-682D-4008-8C42-2DD75DAE2D0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5F0945-4923-4414-81A0-C9CDC52682B2}"/>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0F2C3CD6-3250-4C8B-9D16-AD4E71F08C6C}"/>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885A41-F466-4E74-B520-D6E3846FA0AB}"/>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429E9F2B-3BFD-4D4A-8DBD-E28032D3E82A}"/>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81347F-3804-409B-AA9B-044D33BCACEF}"/>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35162D7-D528-43AB-A4F2-F9F30F96DBAF}"/>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61F8615-3998-47A7-942C-4348689B002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E2298410-6D07-44B7-ACD0-EA3130411090}"/>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86A111EF-8D89-494A-9816-170A3D392A51}"/>
              </a:ext>
            </a:extLst>
          </p:cNvPr>
          <p:cNvSpPr>
            <a:spLocks xmlns:a="http://schemas.openxmlformats.org/drawingml/2006/main" noGrp="1"/>
          </p:cNvSpPr>
          <p:nvPr/>
        </p:nvSpPr>
        <p:spPr>
          <a:xfrm xmlns:a="http://schemas.openxmlformats.org/drawingml/2006/main">
            <a:off x="457200" y="1524000"/>
            <a:ext cx="3190875" cy="49530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48876A-B729-4AE8-83E7-FC466B30CFD3}"/>
              </a:ext>
            </a:extLst>
          </p:cNvPr>
          <p:cNvSpPr>
            <a:spLocks xmlns:a="http://schemas.openxmlformats.org/drawingml/2006/main" noGrp="1"/>
          </p:cNvSpPr>
          <p:nvPr/>
        </p:nvSpPr>
        <p:spPr>
          <a:xfrm xmlns:a="http://schemas.openxmlformats.org/drawingml/2006/main">
            <a:off x="590550" y="1552575"/>
            <a:ext cx="29241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The three parts</a:t>
            </a:r>
          </a:p>
        </p:txBody>
      </p:sp>
      <p:sp>
        <p:nvSpPr>
          <p:cNvPr id="19" name="">
            <a:extLst xmlns:a="http://schemas.openxmlformats.org/drawingml/2006/main">
              <a:ext uri="{FF2B5EF4-FFF2-40B4-BE49-F238E27FC236}">
                <a16:creationId xmlns:a16="http://schemas.microsoft.com/office/drawing/2014/main" id="{96752734-068D-4D82-A2BF-C9536B5F5989}"/>
              </a:ext>
            </a:extLst>
          </p:cNvPr>
          <p:cNvSpPr>
            <a:spLocks xmlns:a="http://schemas.openxmlformats.org/drawingml/2006/main" noGrp="1"/>
          </p:cNvSpPr>
          <p:nvPr/>
        </p:nvSpPr>
        <p:spPr>
          <a:xfrm xmlns:a="http://schemas.openxmlformats.org/drawingml/2006/main">
            <a:off x="514350" y="2228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65DAE"/>
                </a:solidFill>
                <a:latin typeface="Arial"/>
                <a:ea typeface="Arial"/>
                <a:cs typeface="Arial"/>
              </a:defRPr>
            </a:defPPr>
            <a:lvl1pPr algn="l">
              <a:defRPr sz="2550" b="1">
                <a:solidFill>
                  <a:srgbClr val="165DAE"/>
                </a:solidFill>
                <a:latin typeface="Arial"/>
                <a:ea typeface="Arial"/>
                <a:cs typeface="Arial"/>
              </a:defRPr>
            </a:lvl1pPr>
            <a:lvl2pPr algn="l">
              <a:defRPr sz="2550" b="1">
                <a:solidFill>
                  <a:srgbClr val="165DAE"/>
                </a:solidFill>
                <a:latin typeface="Arial"/>
                <a:ea typeface="Arial"/>
                <a:cs typeface="Arial"/>
              </a:defRPr>
            </a:lvl2pPr>
            <a:lvl3pPr algn="l">
              <a:defRPr sz="2550" b="1">
                <a:solidFill>
                  <a:srgbClr val="165DAE"/>
                </a:solidFill>
                <a:latin typeface="Arial"/>
                <a:ea typeface="Arial"/>
                <a:cs typeface="Arial"/>
              </a:defRPr>
            </a:lvl3pPr>
            <a:lvl4pPr algn="l">
              <a:defRPr sz="2550" b="1">
                <a:solidFill>
                  <a:srgbClr val="165DAE"/>
                </a:solidFill>
                <a:latin typeface="Arial"/>
                <a:ea typeface="Arial"/>
                <a:cs typeface="Arial"/>
              </a:defRPr>
            </a:lvl4pPr>
            <a:lvl5pPr algn="l">
              <a:defRPr sz="2550" b="1">
                <a:solidFill>
                  <a:srgbClr val="165DAE"/>
                </a:solidFill>
                <a:latin typeface="Arial"/>
                <a:ea typeface="Arial"/>
                <a:cs typeface="Arial"/>
              </a:defRPr>
            </a:lvl5pPr>
            <a:lvl6pPr algn="l">
              <a:defRPr sz="2550" b="1">
                <a:solidFill>
                  <a:srgbClr val="165DAE"/>
                </a:solidFill>
                <a:latin typeface="Arial"/>
                <a:ea typeface="Arial"/>
                <a:cs typeface="Arial"/>
              </a:defRPr>
            </a:lvl6pPr>
            <a:lvl7pPr algn="l">
              <a:defRPr sz="2550" b="1">
                <a:solidFill>
                  <a:srgbClr val="165DAE"/>
                </a:solidFill>
                <a:latin typeface="Arial"/>
                <a:ea typeface="Arial"/>
                <a:cs typeface="Arial"/>
              </a:defRPr>
            </a:lvl7pPr>
            <a:lvl8pPr algn="l">
              <a:defRPr sz="2550" b="1">
                <a:solidFill>
                  <a:srgbClr val="165DAE"/>
                </a:solidFill>
                <a:latin typeface="Arial"/>
                <a:ea typeface="Arial"/>
                <a:cs typeface="Arial"/>
              </a:defRPr>
            </a:lvl8pPr>
            <a:lvl9pPr algn="l">
              <a:defRPr sz="2550" b="1">
                <a:solidFill>
                  <a:srgbClr val="165DAE"/>
                </a:solidFill>
                <a:latin typeface="Arial"/>
                <a:ea typeface="Arial"/>
                <a:cs typeface="Arial"/>
              </a:defRPr>
            </a:lvl9pPr>
          </a:lstStyle>
          <a:p xmlns:a="http://schemas.openxmlformats.org/drawingml/2006/main">
            <a:pPr algn="l">
              <a:defRPr sz="2550" b="1">
                <a:solidFill>
                  <a:srgbClr val="165DAE"/>
                </a:solidFill>
              </a:defRPr>
            </a:pPr>
            <a:r>
              <a:rPr sz="2550" b="1">
                <a:solidFill>
                  <a:srgbClr val="165DAE"/>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4330F2FC-7A28-4BCC-95D4-CB7E08A6B9D8}"/>
              </a:ext>
            </a:extLst>
          </p:cNvPr>
          <p:cNvSpPr>
            <a:spLocks xmlns:a="http://schemas.openxmlformats.org/drawingml/2006/main" noGrp="1"/>
          </p:cNvSpPr>
          <p:nvPr/>
        </p:nvSpPr>
        <p:spPr>
          <a:xfrm xmlns:a="http://schemas.openxmlformats.org/drawingml/2006/main">
            <a:off x="1200150" y="2219325"/>
            <a:ext cx="2371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Fitting-room signals</a:t>
            </a:r>
          </a:p>
        </p:txBody>
      </p:sp>
      <p:sp>
        <p:nvSpPr>
          <p:cNvPr id="21" name="">
            <a:extLst xmlns:a="http://schemas.openxmlformats.org/drawingml/2006/main">
              <a:ext uri="{FF2B5EF4-FFF2-40B4-BE49-F238E27FC236}">
                <a16:creationId xmlns:a16="http://schemas.microsoft.com/office/drawing/2014/main" id="{1C6738C0-F884-47A7-924B-1B2414E5DC0A}"/>
              </a:ext>
            </a:extLst>
          </p:cNvPr>
          <p:cNvSpPr>
            <a:spLocks xmlns:a="http://schemas.openxmlformats.org/drawingml/2006/main" noGrp="1"/>
          </p:cNvSpPr>
          <p:nvPr/>
        </p:nvSpPr>
        <p:spPr>
          <a:xfrm xmlns:a="http://schemas.openxmlformats.org/drawingml/2006/main">
            <a:off x="1200150" y="3000375"/>
            <a:ext cx="237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725" b="0">
                <a:solidFill>
                  <a:srgbClr val="152047"/>
                </a:solidFill>
              </a:defRPr>
            </a:pPr>
            <a:r>
              <a:rPr sz="1650" b="0">
                <a:solidFill>
                  <a:srgbClr val="152047"/>
                </a:solidFill>
                <a:latin typeface="Arial"/>
                <a:ea typeface="Arial"/>
                <a:cs typeface="Arial"/>
              </a:rPr>
              <a:t>Reveal interest before purchase.</a:t>
            </a:r>
          </a:p>
        </p:txBody>
      </p:sp>
      <p:sp>
        <p:nvSpPr>
          <p:cNvPr id="22" name="">
            <a:extLst xmlns:a="http://schemas.openxmlformats.org/drawingml/2006/main">
              <a:ext uri="{FF2B5EF4-FFF2-40B4-BE49-F238E27FC236}">
                <a16:creationId xmlns:a16="http://schemas.microsoft.com/office/drawing/2014/main" id="{918AE18F-EAA1-4526-8EE2-A1865A3E0EA8}"/>
              </a:ext>
            </a:extLst>
          </p:cNvPr>
          <p:cNvSpPr>
            <a:spLocks xmlns:a="http://schemas.openxmlformats.org/drawingml/2006/main" noGrp="1"/>
          </p:cNvSpPr>
          <p:nvPr/>
        </p:nvSpPr>
        <p:spPr>
          <a:xfrm xmlns:a="http://schemas.openxmlformats.org/drawingml/2006/main">
            <a:off x="514350" y="36195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65DAE"/>
                </a:solidFill>
                <a:latin typeface="Arial"/>
                <a:ea typeface="Arial"/>
                <a:cs typeface="Arial"/>
              </a:defRPr>
            </a:defPPr>
            <a:lvl1pPr algn="l">
              <a:defRPr sz="2550" b="1">
                <a:solidFill>
                  <a:srgbClr val="165DAE"/>
                </a:solidFill>
                <a:latin typeface="Arial"/>
                <a:ea typeface="Arial"/>
                <a:cs typeface="Arial"/>
              </a:defRPr>
            </a:lvl1pPr>
            <a:lvl2pPr algn="l">
              <a:defRPr sz="2550" b="1">
                <a:solidFill>
                  <a:srgbClr val="165DAE"/>
                </a:solidFill>
                <a:latin typeface="Arial"/>
                <a:ea typeface="Arial"/>
                <a:cs typeface="Arial"/>
              </a:defRPr>
            </a:lvl2pPr>
            <a:lvl3pPr algn="l">
              <a:defRPr sz="2550" b="1">
                <a:solidFill>
                  <a:srgbClr val="165DAE"/>
                </a:solidFill>
                <a:latin typeface="Arial"/>
                <a:ea typeface="Arial"/>
                <a:cs typeface="Arial"/>
              </a:defRPr>
            </a:lvl3pPr>
            <a:lvl4pPr algn="l">
              <a:defRPr sz="2550" b="1">
                <a:solidFill>
                  <a:srgbClr val="165DAE"/>
                </a:solidFill>
                <a:latin typeface="Arial"/>
                <a:ea typeface="Arial"/>
                <a:cs typeface="Arial"/>
              </a:defRPr>
            </a:lvl4pPr>
            <a:lvl5pPr algn="l">
              <a:defRPr sz="2550" b="1">
                <a:solidFill>
                  <a:srgbClr val="165DAE"/>
                </a:solidFill>
                <a:latin typeface="Arial"/>
                <a:ea typeface="Arial"/>
                <a:cs typeface="Arial"/>
              </a:defRPr>
            </a:lvl5pPr>
            <a:lvl6pPr algn="l">
              <a:defRPr sz="2550" b="1">
                <a:solidFill>
                  <a:srgbClr val="165DAE"/>
                </a:solidFill>
                <a:latin typeface="Arial"/>
                <a:ea typeface="Arial"/>
                <a:cs typeface="Arial"/>
              </a:defRPr>
            </a:lvl6pPr>
            <a:lvl7pPr algn="l">
              <a:defRPr sz="2550" b="1">
                <a:solidFill>
                  <a:srgbClr val="165DAE"/>
                </a:solidFill>
                <a:latin typeface="Arial"/>
                <a:ea typeface="Arial"/>
                <a:cs typeface="Arial"/>
              </a:defRPr>
            </a:lvl7pPr>
            <a:lvl8pPr algn="l">
              <a:defRPr sz="2550" b="1">
                <a:solidFill>
                  <a:srgbClr val="165DAE"/>
                </a:solidFill>
                <a:latin typeface="Arial"/>
                <a:ea typeface="Arial"/>
                <a:cs typeface="Arial"/>
              </a:defRPr>
            </a:lvl8pPr>
            <a:lvl9pPr algn="l">
              <a:defRPr sz="2550" b="1">
                <a:solidFill>
                  <a:srgbClr val="165DAE"/>
                </a:solidFill>
                <a:latin typeface="Arial"/>
                <a:ea typeface="Arial"/>
                <a:cs typeface="Arial"/>
              </a:defRPr>
            </a:lvl9pPr>
          </a:lstStyle>
          <a:p xmlns:a="http://schemas.openxmlformats.org/drawingml/2006/main">
            <a:pPr algn="l">
              <a:defRPr sz="2550" b="1">
                <a:solidFill>
                  <a:srgbClr val="165DAE"/>
                </a:solidFill>
              </a:defRPr>
            </a:pPr>
            <a:r>
              <a:rPr sz="2550" b="1">
                <a:solidFill>
                  <a:srgbClr val="165DAE"/>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509913D7-9497-4398-8A34-39461F850996}"/>
              </a:ext>
            </a:extLst>
          </p:cNvPr>
          <p:cNvSpPr>
            <a:spLocks xmlns:a="http://schemas.openxmlformats.org/drawingml/2006/main" noGrp="1"/>
          </p:cNvSpPr>
          <p:nvPr/>
        </p:nvSpPr>
        <p:spPr>
          <a:xfrm xmlns:a="http://schemas.openxmlformats.org/drawingml/2006/main">
            <a:off x="1200150" y="3609975"/>
            <a:ext cx="2371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Out-of-stock demand</a:t>
            </a:r>
          </a:p>
        </p:txBody>
      </p:sp>
      <p:sp>
        <p:nvSpPr>
          <p:cNvPr id="24" name="">
            <a:extLst xmlns:a="http://schemas.openxmlformats.org/drawingml/2006/main">
              <a:ext uri="{FF2B5EF4-FFF2-40B4-BE49-F238E27FC236}">
                <a16:creationId xmlns:a16="http://schemas.microsoft.com/office/drawing/2014/main" id="{5EF470ED-66E3-4994-A5B7-E981EFE00807}"/>
              </a:ext>
            </a:extLst>
          </p:cNvPr>
          <p:cNvSpPr>
            <a:spLocks xmlns:a="http://schemas.openxmlformats.org/drawingml/2006/main" noGrp="1"/>
          </p:cNvSpPr>
          <p:nvPr/>
        </p:nvSpPr>
        <p:spPr>
          <a:xfrm xmlns:a="http://schemas.openxmlformats.org/drawingml/2006/main">
            <a:off x="1200150" y="4391025"/>
            <a:ext cx="237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725" b="0">
                <a:solidFill>
                  <a:srgbClr val="152047"/>
                </a:solidFill>
              </a:defRPr>
            </a:pPr>
            <a:r>
              <a:rPr sz="1650" b="0">
                <a:solidFill>
                  <a:srgbClr val="152047"/>
                </a:solidFill>
                <a:latin typeface="Arial"/>
                <a:ea typeface="Arial"/>
                <a:cs typeface="Arial"/>
              </a:rPr>
              <a:t>Qualify demand for unavailable sizes.</a:t>
            </a:r>
          </a:p>
        </p:txBody>
      </p:sp>
      <p:sp>
        <p:nvSpPr>
          <p:cNvPr id="25" name="">
            <a:extLst xmlns:a="http://schemas.openxmlformats.org/drawingml/2006/main">
              <a:ext uri="{FF2B5EF4-FFF2-40B4-BE49-F238E27FC236}">
                <a16:creationId xmlns:a16="http://schemas.microsoft.com/office/drawing/2014/main" id="{EF260C8A-8F2A-4C15-BDFD-12DB9D56E813}"/>
              </a:ext>
            </a:extLst>
          </p:cNvPr>
          <p:cNvSpPr>
            <a:spLocks xmlns:a="http://schemas.openxmlformats.org/drawingml/2006/main" noGrp="1"/>
          </p:cNvSpPr>
          <p:nvPr/>
        </p:nvSpPr>
        <p:spPr>
          <a:xfrm xmlns:a="http://schemas.openxmlformats.org/drawingml/2006/main">
            <a:off x="514350" y="50101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65DAE"/>
                </a:solidFill>
                <a:latin typeface="Arial"/>
                <a:ea typeface="Arial"/>
                <a:cs typeface="Arial"/>
              </a:defRPr>
            </a:defPPr>
            <a:lvl1pPr algn="l">
              <a:defRPr sz="2550" b="1">
                <a:solidFill>
                  <a:srgbClr val="165DAE"/>
                </a:solidFill>
                <a:latin typeface="Arial"/>
                <a:ea typeface="Arial"/>
                <a:cs typeface="Arial"/>
              </a:defRPr>
            </a:lvl1pPr>
            <a:lvl2pPr algn="l">
              <a:defRPr sz="2550" b="1">
                <a:solidFill>
                  <a:srgbClr val="165DAE"/>
                </a:solidFill>
                <a:latin typeface="Arial"/>
                <a:ea typeface="Arial"/>
                <a:cs typeface="Arial"/>
              </a:defRPr>
            </a:lvl2pPr>
            <a:lvl3pPr algn="l">
              <a:defRPr sz="2550" b="1">
                <a:solidFill>
                  <a:srgbClr val="165DAE"/>
                </a:solidFill>
                <a:latin typeface="Arial"/>
                <a:ea typeface="Arial"/>
                <a:cs typeface="Arial"/>
              </a:defRPr>
            </a:lvl3pPr>
            <a:lvl4pPr algn="l">
              <a:defRPr sz="2550" b="1">
                <a:solidFill>
                  <a:srgbClr val="165DAE"/>
                </a:solidFill>
                <a:latin typeface="Arial"/>
                <a:ea typeface="Arial"/>
                <a:cs typeface="Arial"/>
              </a:defRPr>
            </a:lvl4pPr>
            <a:lvl5pPr algn="l">
              <a:defRPr sz="2550" b="1">
                <a:solidFill>
                  <a:srgbClr val="165DAE"/>
                </a:solidFill>
                <a:latin typeface="Arial"/>
                <a:ea typeface="Arial"/>
                <a:cs typeface="Arial"/>
              </a:defRPr>
            </a:lvl5pPr>
            <a:lvl6pPr algn="l">
              <a:defRPr sz="2550" b="1">
                <a:solidFill>
                  <a:srgbClr val="165DAE"/>
                </a:solidFill>
                <a:latin typeface="Arial"/>
                <a:ea typeface="Arial"/>
                <a:cs typeface="Arial"/>
              </a:defRPr>
            </a:lvl6pPr>
            <a:lvl7pPr algn="l">
              <a:defRPr sz="2550" b="1">
                <a:solidFill>
                  <a:srgbClr val="165DAE"/>
                </a:solidFill>
                <a:latin typeface="Arial"/>
                <a:ea typeface="Arial"/>
                <a:cs typeface="Arial"/>
              </a:defRPr>
            </a:lvl7pPr>
            <a:lvl8pPr algn="l">
              <a:defRPr sz="2550" b="1">
                <a:solidFill>
                  <a:srgbClr val="165DAE"/>
                </a:solidFill>
                <a:latin typeface="Arial"/>
                <a:ea typeface="Arial"/>
                <a:cs typeface="Arial"/>
              </a:defRPr>
            </a:lvl8pPr>
            <a:lvl9pPr algn="l">
              <a:defRPr sz="2550" b="1">
                <a:solidFill>
                  <a:srgbClr val="165DAE"/>
                </a:solidFill>
                <a:latin typeface="Arial"/>
                <a:ea typeface="Arial"/>
                <a:cs typeface="Arial"/>
              </a:defRPr>
            </a:lvl9pPr>
          </a:lstStyle>
          <a:p xmlns:a="http://schemas.openxmlformats.org/drawingml/2006/main">
            <a:pPr algn="l">
              <a:defRPr sz="2550" b="1">
                <a:solidFill>
                  <a:srgbClr val="165DAE"/>
                </a:solidFill>
              </a:defRPr>
            </a:pPr>
            <a:r>
              <a:rPr sz="2550" b="1">
                <a:solidFill>
                  <a:srgbClr val="165DAE"/>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A661FE08-E7E3-4535-8751-AE7D3E25D12C}"/>
              </a:ext>
            </a:extLst>
          </p:cNvPr>
          <p:cNvSpPr>
            <a:spLocks xmlns:a="http://schemas.openxmlformats.org/drawingml/2006/main" noGrp="1"/>
          </p:cNvSpPr>
          <p:nvPr/>
        </p:nvSpPr>
        <p:spPr>
          <a:xfrm xmlns:a="http://schemas.openxmlformats.org/drawingml/2006/main">
            <a:off x="1200150" y="5000625"/>
            <a:ext cx="2371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Supply risk and response</a:t>
            </a:r>
          </a:p>
        </p:txBody>
      </p:sp>
      <p:sp>
        <p:nvSpPr>
          <p:cNvPr id="27" name="">
            <a:extLst xmlns:a="http://schemas.openxmlformats.org/drawingml/2006/main">
              <a:ext uri="{FF2B5EF4-FFF2-40B4-BE49-F238E27FC236}">
                <a16:creationId xmlns:a16="http://schemas.microsoft.com/office/drawing/2014/main" id="{D59D26A0-29FF-4F79-A79F-D59F34A3512E}"/>
              </a:ext>
            </a:extLst>
          </p:cNvPr>
          <p:cNvSpPr>
            <a:spLocks xmlns:a="http://schemas.openxmlformats.org/drawingml/2006/main" noGrp="1"/>
          </p:cNvSpPr>
          <p:nvPr/>
        </p:nvSpPr>
        <p:spPr>
          <a:xfrm xmlns:a="http://schemas.openxmlformats.org/drawingml/2006/main">
            <a:off x="1200150" y="5781675"/>
            <a:ext cx="237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725" b="0">
                <a:solidFill>
                  <a:srgbClr val="152047"/>
                </a:solidFill>
              </a:defRPr>
            </a:pPr>
            <a:r>
              <a:rPr sz="1650" b="0">
                <a:solidFill>
                  <a:srgbClr val="152047"/>
                </a:solidFill>
                <a:latin typeface="Arial"/>
                <a:ea typeface="Arial"/>
                <a:cs typeface="Arial"/>
              </a:rPr>
              <a:t>Explain exposure and compare a response.</a:t>
            </a:r>
          </a:p>
        </p:txBody>
      </p:sp>
      <p:sp>
        <p:nvSpPr>
          <p:cNvPr id="28" name="">
            <a:extLst xmlns:a="http://schemas.openxmlformats.org/drawingml/2006/main">
              <a:ext uri="{FF2B5EF4-FFF2-40B4-BE49-F238E27FC236}">
                <a16:creationId xmlns:a16="http://schemas.microsoft.com/office/drawing/2014/main" id="{3CDFA5DA-2B2B-404B-93FB-04BC8EC97BC1}"/>
              </a:ext>
            </a:extLst>
          </p:cNvPr>
          <p:cNvSpPr>
            <a:spLocks xmlns:a="http://schemas.openxmlformats.org/drawingml/2006/main" noGrp="1"/>
          </p:cNvSpPr>
          <p:nvPr/>
        </p:nvSpPr>
        <p:spPr>
          <a:xfrm xmlns:a="http://schemas.openxmlformats.org/drawingml/2006/main">
            <a:off x="4000500" y="1524000"/>
            <a:ext cx="9258300" cy="4810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59CEACE1-6A1F-435B-83D7-C7C8A849A2E5}"/>
              </a:ext>
            </a:extLst>
          </p:cNvPr>
          <p:cNvPicPr>
            <a:picLocks xmlns:a="http://schemas.openxmlformats.org/drawingml/2006/main" noChangeAspect="1"/>
          </p:cNvPicPr>
          <p:nvPr/>
        </p:nvPicPr>
        <p:blipFill>
          <a:blip xmlns:r="http://schemas.openxmlformats.org/officeDocument/2006/relationships" xmlns:a="http://schemas.openxmlformats.org/drawingml/2006/main" r:embed="R948c5fb65f5e478f"/>
          <a:srcRect xmlns:a="http://schemas.openxmlformats.org/drawingml/2006/main" l="16000" t="5000" r="0" b="40000"/>
          <a:stretch xmlns:a="http://schemas.openxmlformats.org/drawingml/2006/main"/>
        </p:blipFill>
        <p:spPr>
          <a:xfrm xmlns:a="http://schemas.openxmlformats.org/drawingml/2006/main">
            <a:off x="4000500" y="1691618"/>
            <a:ext cx="9258300" cy="4474888"/>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6C78D3A4-A081-42D1-AFED-65282C09717C}"/>
              </a:ext>
            </a:extLst>
          </p:cNvPr>
          <p:cNvSpPr>
            <a:spLocks xmlns:a="http://schemas.openxmlformats.org/drawingml/2006/main" noGrp="1"/>
          </p:cNvSpPr>
          <p:nvPr/>
        </p:nvSpPr>
        <p:spPr>
          <a:xfrm xmlns:a="http://schemas.openxmlformats.org/drawingml/2006/main">
            <a:off x="4152900" y="6343650"/>
            <a:ext cx="8963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1">
                <a:solidFill>
                  <a:srgbClr val="165DAE"/>
                </a:solidFill>
                <a:latin typeface="Arial"/>
                <a:ea typeface="Arial"/>
                <a:cs typeface="Arial"/>
              </a:defRPr>
            </a:defPPr>
            <a:lvl1pPr algn="l">
              <a:defRPr sz="1800" b="1">
                <a:solidFill>
                  <a:srgbClr val="165DAE"/>
                </a:solidFill>
                <a:latin typeface="Arial"/>
                <a:ea typeface="Arial"/>
                <a:cs typeface="Arial"/>
              </a:defRPr>
            </a:lvl1pPr>
            <a:lvl2pPr algn="l">
              <a:defRPr sz="1800" b="1">
                <a:solidFill>
                  <a:srgbClr val="165DAE"/>
                </a:solidFill>
                <a:latin typeface="Arial"/>
                <a:ea typeface="Arial"/>
                <a:cs typeface="Arial"/>
              </a:defRPr>
            </a:lvl2pPr>
            <a:lvl3pPr algn="l">
              <a:defRPr sz="1800" b="1">
                <a:solidFill>
                  <a:srgbClr val="165DAE"/>
                </a:solidFill>
                <a:latin typeface="Arial"/>
                <a:ea typeface="Arial"/>
                <a:cs typeface="Arial"/>
              </a:defRPr>
            </a:lvl3pPr>
            <a:lvl4pPr algn="l">
              <a:defRPr sz="1800" b="1">
                <a:solidFill>
                  <a:srgbClr val="165DAE"/>
                </a:solidFill>
                <a:latin typeface="Arial"/>
                <a:ea typeface="Arial"/>
                <a:cs typeface="Arial"/>
              </a:defRPr>
            </a:lvl4pPr>
            <a:lvl5pPr algn="l">
              <a:defRPr sz="1800" b="1">
                <a:solidFill>
                  <a:srgbClr val="165DAE"/>
                </a:solidFill>
                <a:latin typeface="Arial"/>
                <a:ea typeface="Arial"/>
                <a:cs typeface="Arial"/>
              </a:defRPr>
            </a:lvl5pPr>
            <a:lvl6pPr algn="l">
              <a:defRPr sz="1800" b="1">
                <a:solidFill>
                  <a:srgbClr val="165DAE"/>
                </a:solidFill>
                <a:latin typeface="Arial"/>
                <a:ea typeface="Arial"/>
                <a:cs typeface="Arial"/>
              </a:defRPr>
            </a:lvl6pPr>
            <a:lvl7pPr algn="l">
              <a:defRPr sz="1800" b="1">
                <a:solidFill>
                  <a:srgbClr val="165DAE"/>
                </a:solidFill>
                <a:latin typeface="Arial"/>
                <a:ea typeface="Arial"/>
                <a:cs typeface="Arial"/>
              </a:defRPr>
            </a:lvl7pPr>
            <a:lvl8pPr algn="l">
              <a:defRPr sz="1800" b="1">
                <a:solidFill>
                  <a:srgbClr val="165DAE"/>
                </a:solidFill>
                <a:latin typeface="Arial"/>
                <a:ea typeface="Arial"/>
                <a:cs typeface="Arial"/>
              </a:defRPr>
            </a:lvl8pPr>
            <a:lvl9pPr algn="l">
              <a:defRPr sz="1800" b="1">
                <a:solidFill>
                  <a:srgbClr val="165DAE"/>
                </a:solidFill>
                <a:latin typeface="Arial"/>
                <a:ea typeface="Arial"/>
                <a:cs typeface="Arial"/>
              </a:defRPr>
            </a:lvl9pPr>
          </a:lstStyle>
          <a:p xmlns:a="http://schemas.openxmlformats.org/drawingml/2006/main">
            <a:pPr algn="l">
              <a:defRPr sz="1800" b="1">
                <a:solidFill>
                  <a:srgbClr val="165DAE"/>
                </a:solidFill>
              </a:defRPr>
            </a:pPr>
            <a:r>
              <a:rPr sz="1800" b="1">
                <a:solidFill>
                  <a:srgbClr val="165DAE"/>
                </a:solidFill>
                <a:latin typeface="Arial"/>
                <a:ea typeface="Arial"/>
                <a:cs typeface="Arial"/>
              </a:rPr>
              <a:t>90-second demo: evidence, simulation and an approved response</a:t>
            </a:r>
          </a:p>
        </p:txBody>
      </p:sp>
    </p:spTree>
    <p:extLst>
      <p:ext uri="{BB962C8B-B14F-4D97-AF65-F5344CB8AC3E}">
        <p14:creationId xmlns:p14="http://schemas.microsoft.com/office/powerpoint/2010/main" val="1966165302"/>
      </p:ext>
    </p:extLst>
  </p:cSld>
</p:sld>
</file>

<file path=ppt/slides/slide6.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CD3D690-705D-483A-B88B-2862717848DD}"/>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F5FD22-B65E-426B-B52C-0F9334B2152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PART 1 · PROPOSED PARTNER MODEL</a:t>
            </a:r>
          </a:p>
        </p:txBody>
      </p:sp>
      <p:sp>
        <p:nvSpPr>
          <p:cNvPr id="4" name="">
            <a:extLst xmlns:a="http://schemas.openxmlformats.org/drawingml/2006/main">
              <a:ext uri="{FF2B5EF4-FFF2-40B4-BE49-F238E27FC236}">
                <a16:creationId xmlns:a16="http://schemas.microsoft.com/office/drawing/2014/main" id="{D2FEB009-B7DC-4A7A-A0C4-D41A01CE746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Hardware partners and regional delivery</a:t>
            </a:r>
          </a:p>
        </p:txBody>
      </p:sp>
      <p:sp>
        <p:nvSpPr>
          <p:cNvPr id="5" name="">
            <a:extLst xmlns:a="http://schemas.openxmlformats.org/drawingml/2006/main">
              <a:ext uri="{FF2B5EF4-FFF2-40B4-BE49-F238E27FC236}">
                <a16:creationId xmlns:a16="http://schemas.microsoft.com/office/drawing/2014/main" id="{A14E9510-C999-4539-AEE5-C8E865BA2B43}"/>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partners, not signed agreements. Availability, product authorization and RF certification require country-level checks.</a:t>
            </a:r>
          </a:p>
        </p:txBody>
      </p:sp>
      <p:sp>
        <p:nvSpPr>
          <p:cNvPr id="6" name="">
            <a:extLst xmlns:a="http://schemas.openxmlformats.org/drawingml/2006/main">
              <a:ext uri="{FF2B5EF4-FFF2-40B4-BE49-F238E27FC236}">
                <a16:creationId xmlns:a16="http://schemas.microsoft.com/office/drawing/2014/main" id="{555DA24D-F2AA-4815-9960-2EE98DF97FBB}"/>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D0F50A-255F-4FC5-8C1A-B12758EA3AC2}"/>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6180B3B0-62AA-4915-8F2C-92A540D979F2}"/>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8C2886-3B07-4331-BA63-DDE97B3947BB}"/>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D9A67F8C-A4A8-4842-9308-07B66930548A}"/>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306ECC-4F54-4249-82DA-CA639D4993D5}"/>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E3696464-9689-41A9-BEE4-31D8F294FC13}"/>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AE37EE6-0D5D-46EE-BA60-FF64026E9820}"/>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1CC427D-21FB-44B1-8004-EBB1830FBBDD}"/>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3A9FEA8-A638-4925-9808-E916DA978344}"/>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8AF102DB-512F-4FBC-BBF4-A0AC6BC28BF1}"/>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06</a:t>
            </a:r>
          </a:p>
        </p:txBody>
      </p:sp>
      <p:pic>
        <p:nvPicPr>
          <p:cNvPr id="17" name="">
            <a:extLst xmlns:a="http://schemas.openxmlformats.org/drawingml/2006/main">
              <a:ext uri="{FF2B5EF4-FFF2-40B4-BE49-F238E27FC236}">
                <a16:creationId xmlns:a16="http://schemas.microsoft.com/office/drawing/2014/main" id="{2976EBD9-FD22-467B-AD16-B7A37CE2EFA6}"/>
              </a:ext>
            </a:extLst>
          </p:cNvPr>
          <p:cNvPicPr>
            <a:picLocks xmlns:a="http://schemas.openxmlformats.org/drawingml/2006/main" noChangeAspect="1"/>
          </p:cNvPicPr>
          <p:nvPr/>
        </p:nvPicPr>
        <p:blipFill>
          <a:blip xmlns:r="http://schemas.openxmlformats.org/officeDocument/2006/relationships" xmlns:a="http://schemas.openxmlformats.org/drawingml/2006/main" r:embed="Rf5737b879bea4ae3"/>
          <a:srcRect xmlns:a="http://schemas.openxmlformats.org/drawingml/2006/main" l="0" t="4711" r="0" b="4711"/>
          <a:stretch xmlns:a="http://schemas.openxmlformats.org/drawingml/2006/main">
            <a:fillRect l="0" t="0" r="0" b="0"/>
          </a:stretch>
        </p:blipFill>
        <p:spPr>
          <a:xfrm xmlns:a="http://schemas.openxmlformats.org/drawingml/2006/main">
            <a:off x="457200" y="1476375"/>
            <a:ext cx="4448175" cy="26860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7C8A899-F8BB-490D-987D-0EDA580BC2F5}"/>
              </a:ext>
            </a:extLst>
          </p:cNvPr>
          <p:cNvSpPr>
            <a:spLocks xmlns:a="http://schemas.openxmlformats.org/drawingml/2006/main" noGrp="1"/>
          </p:cNvSpPr>
          <p:nvPr/>
        </p:nvSpPr>
        <p:spPr>
          <a:xfrm xmlns:a="http://schemas.openxmlformats.org/drawingml/2006/main">
            <a:off x="504825" y="4333875"/>
            <a:ext cx="4362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65DAE"/>
                </a:solidFill>
                <a:latin typeface="Arial"/>
                <a:ea typeface="Arial"/>
                <a:cs typeface="Arial"/>
              </a:defRPr>
            </a:defPPr>
            <a:lvl1pPr algn="l">
              <a:defRPr sz="2175" b="1">
                <a:solidFill>
                  <a:srgbClr val="165DAE"/>
                </a:solidFill>
                <a:latin typeface="Arial"/>
                <a:ea typeface="Arial"/>
                <a:cs typeface="Arial"/>
              </a:defRPr>
            </a:lvl1pPr>
            <a:lvl2pPr algn="l">
              <a:defRPr sz="2175" b="1">
                <a:solidFill>
                  <a:srgbClr val="165DAE"/>
                </a:solidFill>
                <a:latin typeface="Arial"/>
                <a:ea typeface="Arial"/>
                <a:cs typeface="Arial"/>
              </a:defRPr>
            </a:lvl2pPr>
            <a:lvl3pPr algn="l">
              <a:defRPr sz="2175" b="1">
                <a:solidFill>
                  <a:srgbClr val="165DAE"/>
                </a:solidFill>
                <a:latin typeface="Arial"/>
                <a:ea typeface="Arial"/>
                <a:cs typeface="Arial"/>
              </a:defRPr>
            </a:lvl3pPr>
            <a:lvl4pPr algn="l">
              <a:defRPr sz="2175" b="1">
                <a:solidFill>
                  <a:srgbClr val="165DAE"/>
                </a:solidFill>
                <a:latin typeface="Arial"/>
                <a:ea typeface="Arial"/>
                <a:cs typeface="Arial"/>
              </a:defRPr>
            </a:lvl4pPr>
            <a:lvl5pPr algn="l">
              <a:defRPr sz="2175" b="1">
                <a:solidFill>
                  <a:srgbClr val="165DAE"/>
                </a:solidFill>
                <a:latin typeface="Arial"/>
                <a:ea typeface="Arial"/>
                <a:cs typeface="Arial"/>
              </a:defRPr>
            </a:lvl5pPr>
            <a:lvl6pPr algn="l">
              <a:defRPr sz="2175" b="1">
                <a:solidFill>
                  <a:srgbClr val="165DAE"/>
                </a:solidFill>
                <a:latin typeface="Arial"/>
                <a:ea typeface="Arial"/>
                <a:cs typeface="Arial"/>
              </a:defRPr>
            </a:lvl6pPr>
            <a:lvl7pPr algn="l">
              <a:defRPr sz="2175" b="1">
                <a:solidFill>
                  <a:srgbClr val="165DAE"/>
                </a:solidFill>
                <a:latin typeface="Arial"/>
                <a:ea typeface="Arial"/>
                <a:cs typeface="Arial"/>
              </a:defRPr>
            </a:lvl7pPr>
            <a:lvl8pPr algn="l">
              <a:defRPr sz="2175" b="1">
                <a:solidFill>
                  <a:srgbClr val="165DAE"/>
                </a:solidFill>
                <a:latin typeface="Arial"/>
                <a:ea typeface="Arial"/>
                <a:cs typeface="Arial"/>
              </a:defRPr>
            </a:lvl8pPr>
            <a:lvl9pPr algn="l">
              <a:defRPr sz="2175" b="1">
                <a:solidFill>
                  <a:srgbClr val="165DAE"/>
                </a:solidFill>
                <a:latin typeface="Arial"/>
                <a:ea typeface="Arial"/>
                <a:cs typeface="Arial"/>
              </a:defRPr>
            </a:lvl9pPr>
          </a:lstStyle>
          <a:p xmlns:a="http://schemas.openxmlformats.org/drawingml/2006/main">
            <a:pPr algn="l">
              <a:defRPr sz="2175" b="1">
                <a:solidFill>
                  <a:srgbClr val="165DAE"/>
                </a:solidFill>
              </a:defRPr>
            </a:pPr>
            <a:r>
              <a:rPr sz="2175" b="1">
                <a:solidFill>
                  <a:srgbClr val="165DAE"/>
                </a:solidFill>
                <a:latin typeface="Arial"/>
                <a:ea typeface="Arial"/>
                <a:cs typeface="Arial"/>
              </a:rPr>
              <a:t>Proposed hardware partners</a:t>
            </a:r>
          </a:p>
        </p:txBody>
      </p:sp>
      <p:sp>
        <p:nvSpPr>
          <p:cNvPr id="19" name="">
            <a:extLst xmlns:a="http://schemas.openxmlformats.org/drawingml/2006/main">
              <a:ext uri="{FF2B5EF4-FFF2-40B4-BE49-F238E27FC236}">
                <a16:creationId xmlns:a16="http://schemas.microsoft.com/office/drawing/2014/main" id="{9E8F545B-1517-4756-BB92-A5B8919A9DD9}"/>
              </a:ext>
            </a:extLst>
          </p:cNvPr>
          <p:cNvSpPr>
            <a:spLocks xmlns:a="http://schemas.openxmlformats.org/drawingml/2006/main" noGrp="1"/>
          </p:cNvSpPr>
          <p:nvPr/>
        </p:nvSpPr>
        <p:spPr>
          <a:xfrm xmlns:a="http://schemas.openxmlformats.org/drawingml/2006/main">
            <a:off x="514350" y="5029200"/>
            <a:ext cx="4295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Zebra</a:t>
            </a:r>
          </a:p>
        </p:txBody>
      </p:sp>
      <p:sp>
        <p:nvSpPr>
          <p:cNvPr id="20" name="">
            <a:extLst xmlns:a="http://schemas.openxmlformats.org/drawingml/2006/main">
              <a:ext uri="{FF2B5EF4-FFF2-40B4-BE49-F238E27FC236}">
                <a16:creationId xmlns:a16="http://schemas.microsoft.com/office/drawing/2014/main" id="{1BF48DA9-A19B-4718-9583-0E4FE4089EDA}"/>
              </a:ext>
            </a:extLst>
          </p:cNvPr>
          <p:cNvSpPr>
            <a:spLocks xmlns:a="http://schemas.openxmlformats.org/drawingml/2006/main" noGrp="1"/>
          </p:cNvSpPr>
          <p:nvPr/>
        </p:nvSpPr>
        <p:spPr>
          <a:xfrm xmlns:a="http://schemas.openxmlformats.org/drawingml/2006/main">
            <a:off x="514350" y="5467350"/>
            <a:ext cx="4295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Fixed readers and antennas</a:t>
            </a:r>
          </a:p>
        </p:txBody>
      </p:sp>
      <p:sp>
        <p:nvSpPr>
          <p:cNvPr id="21" name="">
            <a:extLst xmlns:a="http://schemas.openxmlformats.org/drawingml/2006/main">
              <a:ext uri="{FF2B5EF4-FFF2-40B4-BE49-F238E27FC236}">
                <a16:creationId xmlns:a16="http://schemas.microsoft.com/office/drawing/2014/main" id="{71D0CC6B-B1D8-4521-A4CA-273373E5EB4A}"/>
              </a:ext>
            </a:extLst>
          </p:cNvPr>
          <p:cNvSpPr>
            <a:spLocks xmlns:a="http://schemas.openxmlformats.org/drawingml/2006/main" noGrp="1"/>
          </p:cNvSpPr>
          <p:nvPr/>
        </p:nvSpPr>
        <p:spPr>
          <a:xfrm xmlns:a="http://schemas.openxmlformats.org/drawingml/2006/main">
            <a:off x="514350" y="5895975"/>
            <a:ext cx="42957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Avery Dennison</a:t>
            </a:r>
          </a:p>
        </p:txBody>
      </p:sp>
      <p:sp>
        <p:nvSpPr>
          <p:cNvPr id="22" name="">
            <a:extLst xmlns:a="http://schemas.openxmlformats.org/drawingml/2006/main">
              <a:ext uri="{FF2B5EF4-FFF2-40B4-BE49-F238E27FC236}">
                <a16:creationId xmlns:a16="http://schemas.microsoft.com/office/drawing/2014/main" id="{7B79264A-36AB-4E34-BDDC-685369BC1447}"/>
              </a:ext>
            </a:extLst>
          </p:cNvPr>
          <p:cNvSpPr>
            <a:spLocks xmlns:a="http://schemas.openxmlformats.org/drawingml/2006/main" noGrp="1"/>
          </p:cNvSpPr>
          <p:nvPr/>
        </p:nvSpPr>
        <p:spPr>
          <a:xfrm xmlns:a="http://schemas.openxmlformats.org/drawingml/2006/main">
            <a:off x="514350" y="6305550"/>
            <a:ext cx="4295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Garment tags and inlays</a:t>
            </a:r>
          </a:p>
        </p:txBody>
      </p:sp>
      <p:graphicFrame>
        <p:nvGraphicFramePr>
          <p:cNvPr id="23" name="">
            <a:extLst xmlns:a="http://schemas.openxmlformats.org/drawingml/2006/main">
              <a:ext uri="{FF2B5EF4-FFF2-40B4-BE49-F238E27FC236}">
                <a16:creationId xmlns:a16="http://schemas.microsoft.com/office/drawing/2014/main" id="{AEEF065E-9FAC-464C-A265-2F1946724AF3}"/>
              </a:ext>
            </a:extLst>
          </p:cNvPr>
          <p:cNvGraphicFramePr/>
          <p:nvPr/>
        </p:nvGraphicFramePr>
        <p:xfrm>
          <a:off xmlns:a="http://schemas.openxmlformats.org/drawingml/2006/main" x="5219700" y="1476375"/>
          <a:ext xmlns:a="http://schemas.openxmlformats.org/drawingml/2006/main" cx="8039100" cy="5067300"/>
        </p:xfrm>
        <a:graphic xmlns:a="http://schemas.openxmlformats.org/drawingml/2006/main">
          <a:graphicData uri="http://schemas.openxmlformats.org/drawingml/2006/table">
            <a:tbl>
              <a:tblPr/>
              <a:tblGrid>
                <a:gridCol w="2572512"/>
                <a:gridCol w="2572512"/>
                <a:gridCol w="2894076"/>
              </a:tblGrid>
              <a:tr h="844550">
                <a:tc>
                  <a:txBody>
                    <a:bodyPr/>
                    <a:lstStyle/>
                    <a:p>
                      <a:r>
                        <a:rPr sz="1575" b="1">
                          <a:solidFill>
                            <a:srgbClr val="FFFFFF"/>
                          </a:solidFill>
                          <a:latin typeface="Arial"/>
                          <a:ea typeface="Arial"/>
                          <a:cs typeface="Arial"/>
                        </a:rPr>
                        <a:t>Region</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75" b="1">
                          <a:solidFill>
                            <a:srgbClr val="FFFFFF"/>
                          </a:solidFill>
                          <a:latin typeface="Arial"/>
                          <a:ea typeface="Arial"/>
                          <a:cs typeface="Arial"/>
                        </a:rPr>
                        <a:t>Proposed distribution lead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75" b="1">
                          <a:solidFill>
                            <a:srgbClr val="FFFFFF"/>
                          </a:solidFill>
                          <a:latin typeface="Arial"/>
                          <a:ea typeface="Arial"/>
                          <a:cs typeface="Arial"/>
                        </a:rPr>
                        <a:t>Deployment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44550">
                <a:tc>
                  <a:txBody>
                    <a:bodyPr/>
                    <a:lstStyle/>
                    <a:p>
                      <a:r>
                        <a:rPr sz="1575" b="1">
                          <a:solidFill>
                            <a:srgbClr val="FFFFFF"/>
                          </a:solidFill>
                          <a:latin typeface="Arial"/>
                          <a:ea typeface="Arial"/>
                          <a:cs typeface="Arial"/>
                        </a:rPr>
                        <a:t>North America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Ingram Micro</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575" b="1">
                          <a:solidFill>
                            <a:srgbClr val="FFFFFF"/>
                          </a:solidFill>
                          <a:latin typeface="Arial"/>
                          <a:ea typeface="Arial"/>
                          <a:cs typeface="Arial"/>
                        </a:rPr>
                        <a:t>Latin America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Ingram Micro</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75">
                          <a:solidFill>
                            <a:srgbClr val="152047"/>
                          </a:solidFill>
                          <a:latin typeface="Arial"/>
                          <a:ea typeface="Arial"/>
                          <a:cs typeface="Arial"/>
                        </a:rPr>
                        <a:t>Country-qualified integrators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575" b="1">
                          <a:solidFill>
                            <a:srgbClr val="FFFFFF"/>
                          </a:solidFill>
                          <a:latin typeface="Arial"/>
                          <a:ea typeface="Arial"/>
                          <a:cs typeface="Arial"/>
                        </a:rPr>
                        <a:t>Europe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TD SYNNEX</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575" b="1">
                          <a:solidFill>
                            <a:srgbClr val="FFFFFF"/>
                          </a:solidFill>
                          <a:latin typeface="Arial"/>
                          <a:ea typeface="Arial"/>
                          <a:cs typeface="Arial"/>
                        </a:rPr>
                        <a:t>Asia Pacific / Japan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TD SYNNEX</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575" b="1">
                          <a:solidFill>
                            <a:srgbClr val="FFFFFF"/>
                          </a:solidFill>
                          <a:latin typeface="Arial"/>
                          <a:ea typeface="Arial"/>
                          <a:cs typeface="Arial"/>
                        </a:rPr>
                        <a:t>India / Middle East / Africa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Redington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2121028778"/>
      </p:ext>
    </p:extLst>
  </p:cSld>
</p:sld>
</file>

<file path=ppt/slides/slide7.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F2AF73B-688E-460E-B6C1-57034CD556B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50E077-1924-4194-A42C-F70D5DC7132A}"/>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PART 2 · CUSTOMER STORY</a:t>
            </a:r>
          </a:p>
        </p:txBody>
      </p:sp>
      <p:sp>
        <p:nvSpPr>
          <p:cNvPr id="4" name="">
            <a:extLst xmlns:a="http://schemas.openxmlformats.org/drawingml/2006/main">
              <a:ext uri="{FF2B5EF4-FFF2-40B4-BE49-F238E27FC236}">
                <a16:creationId xmlns:a16="http://schemas.microsoft.com/office/drawing/2014/main" id="{E110F60A-A851-4F26-A865-F2438ADC2D3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Meet Bob, with a response he can explain</a:t>
            </a:r>
          </a:p>
        </p:txBody>
      </p:sp>
      <p:sp>
        <p:nvSpPr>
          <p:cNvPr id="5" name="">
            <a:extLst xmlns:a="http://schemas.openxmlformats.org/drawingml/2006/main">
              <a:ext uri="{FF2B5EF4-FFF2-40B4-BE49-F238E27FC236}">
                <a16:creationId xmlns:a16="http://schemas.microsoft.com/office/drawing/2014/main" id="{A17643C7-0AFE-4091-AFCE-1B2EA012584D}"/>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Simulation: 8 current units + 40 transfer units = 48 of 80 scenario units covered. Sales recovery is unproven.</a:t>
            </a:r>
          </a:p>
        </p:txBody>
      </p:sp>
      <p:sp>
        <p:nvSpPr>
          <p:cNvPr id="6" name="">
            <a:extLst xmlns:a="http://schemas.openxmlformats.org/drawingml/2006/main">
              <a:ext uri="{FF2B5EF4-FFF2-40B4-BE49-F238E27FC236}">
                <a16:creationId xmlns:a16="http://schemas.microsoft.com/office/drawing/2014/main" id="{59C2024B-F998-46EC-9393-70021642551B}"/>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E16008-B445-424D-8834-88B6EA118EC2}"/>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F9ACC56-C591-4FBD-ACF8-2269D0E5C7D6}"/>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9125F2-8DF7-4DDD-9A0A-B9053135AACF}"/>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83665B5C-214D-4DDB-B111-A414BC7B8BA4}"/>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4C115B-2B68-48D5-A809-B10E4FBBA0F4}"/>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6567C253-260B-42A5-9206-BA578D2B3B9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22C07E-BE40-41C3-A01E-8F3A57A23C80}"/>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EEE47125-F3BA-4290-B485-6AD48AE30042}"/>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7ED66E6-B9DA-41DD-B40C-974995B7DB33}"/>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83ED74BA-05BF-44B9-A0E7-921C3D85127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07</a:t>
            </a:r>
          </a:p>
        </p:txBody>
      </p:sp>
      <p:sp>
        <p:nvSpPr>
          <p:cNvPr id="17" name="">
            <a:extLst xmlns:a="http://schemas.openxmlformats.org/drawingml/2006/main">
              <a:ext uri="{FF2B5EF4-FFF2-40B4-BE49-F238E27FC236}">
                <a16:creationId xmlns:a16="http://schemas.microsoft.com/office/drawing/2014/main" id="{4C99918B-56C2-43B8-9B14-17DD6ACBF6A6}"/>
              </a:ext>
            </a:extLst>
          </p:cNvPr>
          <p:cNvSpPr>
            <a:spLocks xmlns:a="http://schemas.openxmlformats.org/drawingml/2006/main" noGrp="1"/>
          </p:cNvSpPr>
          <p:nvPr/>
        </p:nvSpPr>
        <p:spPr>
          <a:xfrm xmlns:a="http://schemas.openxmlformats.org/drawingml/2006/main">
            <a:off x="523875" y="161925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500" b="1">
                <a:solidFill>
                  <a:srgbClr val="165DAE"/>
                </a:solidFill>
                <a:latin typeface="Arial"/>
                <a:ea typeface="Arial"/>
                <a:cs typeface="Arial"/>
              </a:defRPr>
            </a:defPPr>
            <a:lvl1pPr algn="l">
              <a:defRPr sz="4500" b="1">
                <a:solidFill>
                  <a:srgbClr val="165DAE"/>
                </a:solidFill>
                <a:latin typeface="Arial"/>
                <a:ea typeface="Arial"/>
                <a:cs typeface="Arial"/>
              </a:defRPr>
            </a:lvl1pPr>
            <a:lvl2pPr algn="l">
              <a:defRPr sz="4500" b="1">
                <a:solidFill>
                  <a:srgbClr val="165DAE"/>
                </a:solidFill>
                <a:latin typeface="Arial"/>
                <a:ea typeface="Arial"/>
                <a:cs typeface="Arial"/>
              </a:defRPr>
            </a:lvl2pPr>
            <a:lvl3pPr algn="l">
              <a:defRPr sz="4500" b="1">
                <a:solidFill>
                  <a:srgbClr val="165DAE"/>
                </a:solidFill>
                <a:latin typeface="Arial"/>
                <a:ea typeface="Arial"/>
                <a:cs typeface="Arial"/>
              </a:defRPr>
            </a:lvl3pPr>
            <a:lvl4pPr algn="l">
              <a:defRPr sz="4500" b="1">
                <a:solidFill>
                  <a:srgbClr val="165DAE"/>
                </a:solidFill>
                <a:latin typeface="Arial"/>
                <a:ea typeface="Arial"/>
                <a:cs typeface="Arial"/>
              </a:defRPr>
            </a:lvl4pPr>
            <a:lvl5pPr algn="l">
              <a:defRPr sz="4500" b="1">
                <a:solidFill>
                  <a:srgbClr val="165DAE"/>
                </a:solidFill>
                <a:latin typeface="Arial"/>
                <a:ea typeface="Arial"/>
                <a:cs typeface="Arial"/>
              </a:defRPr>
            </a:lvl5pPr>
            <a:lvl6pPr algn="l">
              <a:defRPr sz="4500" b="1">
                <a:solidFill>
                  <a:srgbClr val="165DAE"/>
                </a:solidFill>
                <a:latin typeface="Arial"/>
                <a:ea typeface="Arial"/>
                <a:cs typeface="Arial"/>
              </a:defRPr>
            </a:lvl6pPr>
            <a:lvl7pPr algn="l">
              <a:defRPr sz="4500" b="1">
                <a:solidFill>
                  <a:srgbClr val="165DAE"/>
                </a:solidFill>
                <a:latin typeface="Arial"/>
                <a:ea typeface="Arial"/>
                <a:cs typeface="Arial"/>
              </a:defRPr>
            </a:lvl7pPr>
            <a:lvl8pPr algn="l">
              <a:defRPr sz="4500" b="1">
                <a:solidFill>
                  <a:srgbClr val="165DAE"/>
                </a:solidFill>
                <a:latin typeface="Arial"/>
                <a:ea typeface="Arial"/>
                <a:cs typeface="Arial"/>
              </a:defRPr>
            </a:lvl8pPr>
            <a:lvl9pPr algn="l">
              <a:defRPr sz="4500" b="1">
                <a:solidFill>
                  <a:srgbClr val="165DAE"/>
                </a:solidFill>
                <a:latin typeface="Arial"/>
                <a:ea typeface="Arial"/>
                <a:cs typeface="Arial"/>
              </a:defRPr>
            </a:lvl9pPr>
          </a:lstStyle>
          <a:p xmlns:a="http://schemas.openxmlformats.org/drawingml/2006/main">
            <a:pPr algn="l">
              <a:defRPr sz="4500" b="1">
                <a:solidFill>
                  <a:srgbClr val="165DAE"/>
                </a:solidFill>
              </a:defRPr>
            </a:pPr>
            <a:r>
              <a:rPr sz="4500" b="1">
                <a:solidFill>
                  <a:srgbClr val="165DAE"/>
                </a:solidFill>
                <a:latin typeface="Arial"/>
                <a:ea typeface="Arial"/>
                <a:cs typeface="Arial"/>
              </a:rPr>
              <a:t>10% to 60%</a:t>
            </a:r>
          </a:p>
        </p:txBody>
      </p:sp>
      <p:sp>
        <p:nvSpPr>
          <p:cNvPr id="18" name="">
            <a:extLst xmlns:a="http://schemas.openxmlformats.org/drawingml/2006/main">
              <a:ext uri="{FF2B5EF4-FFF2-40B4-BE49-F238E27FC236}">
                <a16:creationId xmlns:a16="http://schemas.microsoft.com/office/drawing/2014/main" id="{0FD1D4B7-F913-47AC-9614-2FB9D9899F78}"/>
              </a:ext>
            </a:extLst>
          </p:cNvPr>
          <p:cNvSpPr>
            <a:spLocks xmlns:a="http://schemas.openxmlformats.org/drawingml/2006/main" noGrp="1"/>
          </p:cNvSpPr>
          <p:nvPr/>
        </p:nvSpPr>
        <p:spPr>
          <a:xfrm xmlns:a="http://schemas.openxmlformats.org/drawingml/2006/main">
            <a:off x="533400" y="261937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Seven-day coverage in the transfer scenario</a:t>
            </a:r>
          </a:p>
        </p:txBody>
      </p:sp>
      <p:sp>
        <p:nvSpPr>
          <p:cNvPr id="19" name="">
            <a:extLst xmlns:a="http://schemas.openxmlformats.org/drawingml/2006/main">
              <a:ext uri="{FF2B5EF4-FFF2-40B4-BE49-F238E27FC236}">
                <a16:creationId xmlns:a16="http://schemas.microsoft.com/office/drawing/2014/main" id="{3B4F6052-0FAD-4DB7-9232-2119BFC6CB94}"/>
              </a:ext>
            </a:extLst>
          </p:cNvPr>
          <p:cNvSpPr>
            <a:spLocks xmlns:a="http://schemas.openxmlformats.org/drawingml/2006/main" noGrp="1"/>
          </p:cNvSpPr>
          <p:nvPr/>
        </p:nvSpPr>
        <p:spPr>
          <a:xfrm xmlns:a="http://schemas.openxmlformats.org/drawingml/2006/main">
            <a:off x="552450" y="3619500"/>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40 units</a:t>
            </a:r>
          </a:p>
        </p:txBody>
      </p:sp>
      <p:sp>
        <p:nvSpPr>
          <p:cNvPr id="20" name="">
            <a:extLst xmlns:a="http://schemas.openxmlformats.org/drawingml/2006/main">
              <a:ext uri="{FF2B5EF4-FFF2-40B4-BE49-F238E27FC236}">
                <a16:creationId xmlns:a16="http://schemas.microsoft.com/office/drawing/2014/main" id="{1DECD40C-C4C8-4879-BA74-682F39C84179}"/>
              </a:ext>
            </a:extLst>
          </p:cNvPr>
          <p:cNvSpPr>
            <a:spLocks xmlns:a="http://schemas.openxmlformats.org/drawingml/2006/main" noGrp="1"/>
          </p:cNvSpPr>
          <p:nvPr/>
        </p:nvSpPr>
        <p:spPr>
          <a:xfrm xmlns:a="http://schemas.openxmlformats.org/drawingml/2006/main">
            <a:off x="552450" y="4305300"/>
            <a:ext cx="4095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CAD 60 transfer cost</a:t>
            </a:r>
          </a:p>
          <a:p xmlns:a="http://schemas.openxmlformats.org/drawingml/2006/main">
            <a:pPr algn="l">
              <a:defRPr sz="2175" b="0">
                <a:solidFill>
                  <a:srgbClr val="152047"/>
                </a:solidFill>
              </a:defRPr>
            </a:pPr>
            <a:r>
              <a:rPr sz="2175" b="0">
                <a:solidFill>
                  <a:srgbClr val="152047"/>
                </a:solidFill>
                <a:latin typeface="Arial"/>
                <a:ea typeface="Arial"/>
                <a:cs typeface="Arial"/>
              </a:rPr>
              <a:t>2-day assumed transit</a:t>
            </a:r>
          </a:p>
        </p:txBody>
      </p:sp>
      <p:sp>
        <p:nvSpPr>
          <p:cNvPr id="21" name="">
            <a:extLst xmlns:a="http://schemas.openxmlformats.org/drawingml/2006/main">
              <a:ext uri="{FF2B5EF4-FFF2-40B4-BE49-F238E27FC236}">
                <a16:creationId xmlns:a16="http://schemas.microsoft.com/office/drawing/2014/main" id="{18571621-3B1A-4C3F-980F-522BECDD2588}"/>
              </a:ext>
            </a:extLst>
          </p:cNvPr>
          <p:cNvSpPr>
            <a:spLocks xmlns:a="http://schemas.openxmlformats.org/drawingml/2006/main" noGrp="1"/>
          </p:cNvSpPr>
          <p:nvPr/>
        </p:nvSpPr>
        <p:spPr>
          <a:xfrm xmlns:a="http://schemas.openxmlformats.org/drawingml/2006/main">
            <a:off x="552450" y="5610225"/>
            <a:ext cx="409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100" b="1">
                <a:solidFill>
                  <a:srgbClr val="152047"/>
                </a:solidFill>
              </a:defRPr>
            </a:pPr>
            <a:r>
              <a:rPr sz="2100" b="1">
                <a:solidFill>
                  <a:srgbClr val="152047"/>
                </a:solidFill>
                <a:latin typeface="Arial"/>
                <a:ea typeface="Arial"/>
                <a:cs typeface="Arial"/>
              </a:rPr>
              <a:t>32 units still uncovered</a:t>
            </a:r>
          </a:p>
        </p:txBody>
      </p:sp>
      <p:sp>
        <p:nvSpPr>
          <p:cNvPr id="22" name="">
            <a:extLst xmlns:a="http://schemas.openxmlformats.org/drawingml/2006/main">
              <a:ext uri="{FF2B5EF4-FFF2-40B4-BE49-F238E27FC236}">
                <a16:creationId xmlns:a16="http://schemas.microsoft.com/office/drawing/2014/main" id="{14A28BD1-E206-4995-863C-DAED76FDC2CB}"/>
              </a:ext>
            </a:extLst>
          </p:cNvPr>
          <p:cNvSpPr>
            <a:spLocks xmlns:a="http://schemas.openxmlformats.org/drawingml/2006/main" noGrp="1"/>
          </p:cNvSpPr>
          <p:nvPr/>
        </p:nvSpPr>
        <p:spPr>
          <a:xfrm xmlns:a="http://schemas.openxmlformats.org/drawingml/2006/main">
            <a:off x="5219700" y="1466850"/>
            <a:ext cx="8039100" cy="4562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EA44A59E-CCCB-47CE-BF41-DB1F50062B98}"/>
              </a:ext>
            </a:extLst>
          </p:cNvPr>
          <p:cNvPicPr>
            <a:picLocks xmlns:a="http://schemas.openxmlformats.org/drawingml/2006/main" noChangeAspect="1"/>
          </p:cNvPicPr>
          <p:nvPr/>
        </p:nvPicPr>
        <p:blipFill>
          <a:blip xmlns:r="http://schemas.openxmlformats.org/officeDocument/2006/relationships" xmlns:a="http://schemas.openxmlformats.org/drawingml/2006/main" r:embed="Rc4eb4d4beb7e4b18"/>
          <a:srcRect xmlns:a="http://schemas.openxmlformats.org/drawingml/2006/main" l="16000" t="55000" r="0" b="0"/>
          <a:stretch xmlns:a="http://schemas.openxmlformats.org/drawingml/2006/main"/>
        </p:blipFill>
        <p:spPr>
          <a:xfrm xmlns:a="http://schemas.openxmlformats.org/drawingml/2006/main">
            <a:off x="5219700" y="2158523"/>
            <a:ext cx="8039100" cy="3179129"/>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4CB5571-6900-4724-BF68-62EAA7DDA42A}"/>
              </a:ext>
            </a:extLst>
          </p:cNvPr>
          <p:cNvSpPr>
            <a:spLocks xmlns:a="http://schemas.openxmlformats.org/drawingml/2006/main" noGrp="1"/>
          </p:cNvSpPr>
          <p:nvPr/>
        </p:nvSpPr>
        <p:spPr>
          <a:xfrm xmlns:a="http://schemas.openxmlformats.org/drawingml/2006/main">
            <a:off x="5381625" y="61341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65DAE"/>
                </a:solidFill>
                <a:latin typeface="Arial"/>
                <a:ea typeface="Arial"/>
                <a:cs typeface="Arial"/>
              </a:defRPr>
            </a:defPPr>
            <a:lvl1pPr algn="l">
              <a:defRPr sz="1875" b="1">
                <a:solidFill>
                  <a:srgbClr val="165DAE"/>
                </a:solidFill>
                <a:latin typeface="Arial"/>
                <a:ea typeface="Arial"/>
                <a:cs typeface="Arial"/>
              </a:defRPr>
            </a:lvl1pPr>
            <a:lvl2pPr algn="l">
              <a:defRPr sz="1875" b="1">
                <a:solidFill>
                  <a:srgbClr val="165DAE"/>
                </a:solidFill>
                <a:latin typeface="Arial"/>
                <a:ea typeface="Arial"/>
                <a:cs typeface="Arial"/>
              </a:defRPr>
            </a:lvl2pPr>
            <a:lvl3pPr algn="l">
              <a:defRPr sz="1875" b="1">
                <a:solidFill>
                  <a:srgbClr val="165DAE"/>
                </a:solidFill>
                <a:latin typeface="Arial"/>
                <a:ea typeface="Arial"/>
                <a:cs typeface="Arial"/>
              </a:defRPr>
            </a:lvl3pPr>
            <a:lvl4pPr algn="l">
              <a:defRPr sz="1875" b="1">
                <a:solidFill>
                  <a:srgbClr val="165DAE"/>
                </a:solidFill>
                <a:latin typeface="Arial"/>
                <a:ea typeface="Arial"/>
                <a:cs typeface="Arial"/>
              </a:defRPr>
            </a:lvl4pPr>
            <a:lvl5pPr algn="l">
              <a:defRPr sz="1875" b="1">
                <a:solidFill>
                  <a:srgbClr val="165DAE"/>
                </a:solidFill>
                <a:latin typeface="Arial"/>
                <a:ea typeface="Arial"/>
                <a:cs typeface="Arial"/>
              </a:defRPr>
            </a:lvl5pPr>
            <a:lvl6pPr algn="l">
              <a:defRPr sz="1875" b="1">
                <a:solidFill>
                  <a:srgbClr val="165DAE"/>
                </a:solidFill>
                <a:latin typeface="Arial"/>
                <a:ea typeface="Arial"/>
                <a:cs typeface="Arial"/>
              </a:defRPr>
            </a:lvl6pPr>
            <a:lvl7pPr algn="l">
              <a:defRPr sz="1875" b="1">
                <a:solidFill>
                  <a:srgbClr val="165DAE"/>
                </a:solidFill>
                <a:latin typeface="Arial"/>
                <a:ea typeface="Arial"/>
                <a:cs typeface="Arial"/>
              </a:defRPr>
            </a:lvl7pPr>
            <a:lvl8pPr algn="l">
              <a:defRPr sz="1875" b="1">
                <a:solidFill>
                  <a:srgbClr val="165DAE"/>
                </a:solidFill>
                <a:latin typeface="Arial"/>
                <a:ea typeface="Arial"/>
                <a:cs typeface="Arial"/>
              </a:defRPr>
            </a:lvl8pPr>
            <a:lvl9pPr algn="l">
              <a:defRPr sz="1875" b="1">
                <a:solidFill>
                  <a:srgbClr val="165DAE"/>
                </a:solidFill>
                <a:latin typeface="Arial"/>
                <a:ea typeface="Arial"/>
                <a:cs typeface="Arial"/>
              </a:defRPr>
            </a:lvl9pPr>
          </a:lstStyle>
          <a:p xmlns:a="http://schemas.openxmlformats.org/drawingml/2006/main">
            <a:pPr algn="l">
              <a:defRPr sz="1875" b="1">
                <a:solidFill>
                  <a:srgbClr val="165DAE"/>
                </a:solidFill>
              </a:defRPr>
            </a:pPr>
            <a:r>
              <a:rPr sz="1875" b="1">
                <a:solidFill>
                  <a:srgbClr val="165DAE"/>
                </a:solidFill>
                <a:latin typeface="Arial"/>
                <a:ea typeface="Arial"/>
                <a:cs typeface="Arial"/>
              </a:rPr>
              <a:t>Bob can compare options, approve a transfer and confirm receipt.</a:t>
            </a:r>
          </a:p>
        </p:txBody>
      </p:sp>
    </p:spTree>
    <p:extLst>
      <p:ext uri="{BB962C8B-B14F-4D97-AF65-F5344CB8AC3E}">
        <p14:creationId xmlns:p14="http://schemas.microsoft.com/office/powerpoint/2010/main" val="1960684030"/>
      </p:ext>
    </p:extLst>
  </p:cSld>
</p:sld>
</file>

<file path=ppt/slides/slide8.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F1BE05-4D93-4722-B072-53E9EA8CB2BB}"/>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5C2383-5C80-41D2-85D8-925D7F387C39}"/>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MARKET RESEARCH</a:t>
            </a:r>
          </a:p>
        </p:txBody>
      </p:sp>
      <p:sp>
        <p:nvSpPr>
          <p:cNvPr id="4" name="">
            <a:extLst xmlns:a="http://schemas.openxmlformats.org/drawingml/2006/main">
              <a:ext uri="{FF2B5EF4-FFF2-40B4-BE49-F238E27FC236}">
                <a16:creationId xmlns:a16="http://schemas.microsoft.com/office/drawing/2014/main" id="{359ED833-BFEB-4DD4-B0E6-3AAFF627CBEE}"/>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The first buyers are SAP-connected apparel chains</a:t>
            </a:r>
          </a:p>
        </p:txBody>
      </p:sp>
      <p:sp>
        <p:nvSpPr>
          <p:cNvPr id="5" name="">
            <a:extLst xmlns:a="http://schemas.openxmlformats.org/drawingml/2006/main">
              <a:ext uri="{FF2B5EF4-FFF2-40B4-BE49-F238E27FC236}">
                <a16:creationId xmlns:a16="http://schemas.microsoft.com/office/drawing/2014/main" id="{09422539-1D91-4818-ACB3-FD06985F5D50}"/>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Account counts and contract values are planning assumptions, not verified market counts. 150 customers is 30% of the modeled SAM.</a:t>
            </a:r>
          </a:p>
        </p:txBody>
      </p:sp>
      <p:sp>
        <p:nvSpPr>
          <p:cNvPr id="6" name="">
            <a:extLst xmlns:a="http://schemas.openxmlformats.org/drawingml/2006/main">
              <a:ext uri="{FF2B5EF4-FFF2-40B4-BE49-F238E27FC236}">
                <a16:creationId xmlns:a16="http://schemas.microsoft.com/office/drawing/2014/main" id="{905C6CE8-F50A-480E-80DB-4EBD1EF355C6}"/>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F92564-B56E-4533-9B0C-018D6DB92153}"/>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6FFB596-54DD-465C-8F79-44AF014F647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9B5B68-1BDC-4D5A-B426-79AA57547C3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BC09E2D9-CA8B-4411-874D-5E9D12BBF42B}"/>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9F1B06-C2EE-460E-8129-F70FA3EC4A5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8783EDF9-B284-4E2A-A78A-55D6134221FF}"/>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9113E0-E30E-416B-8707-C59A2B3B6342}"/>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256441B-518F-442F-81E6-6B6FA65F0BE3}"/>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7E83FE-8DA1-4233-986B-5D4287D1EE9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01044935-FCDD-4DEF-A2F0-A7ED9327265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08</a:t>
            </a:r>
          </a:p>
        </p:txBody>
      </p:sp>
      <p:sp>
        <p:nvSpPr>
          <p:cNvPr id="17" name="">
            <a:extLst xmlns:a="http://schemas.openxmlformats.org/drawingml/2006/main">
              <a:ext uri="{FF2B5EF4-FFF2-40B4-BE49-F238E27FC236}">
                <a16:creationId xmlns:a16="http://schemas.microsoft.com/office/drawing/2014/main" id="{55BF71FD-CF22-4AF4-8B69-6970199E7187}"/>
              </a:ext>
            </a:extLst>
          </p:cNvPr>
          <p:cNvSpPr>
            <a:spLocks xmlns:a="http://schemas.openxmlformats.org/drawingml/2006/main" noGrp="1"/>
          </p:cNvSpPr>
          <p:nvPr/>
        </p:nvSpPr>
        <p:spPr>
          <a:xfrm xmlns:a="http://schemas.openxmlformats.org/drawingml/2006/main">
            <a:off x="552450" y="1590675"/>
            <a:ext cx="766762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Primary users: merchandise and inventory planners</a:t>
            </a:r>
          </a:p>
          <a:p xmlns:a="http://schemas.openxmlformats.org/drawingml/2006/main">
            <a:pPr algn="l">
              <a:defRPr sz="2175" b="0">
                <a:solidFill>
                  <a:srgbClr val="152047"/>
                </a:solidFill>
              </a:defRPr>
            </a:pPr>
            <a:r>
              <a:rPr sz="2175" b="0">
                <a:solidFill>
                  <a:srgbClr val="152047"/>
                </a:solidFill>
                <a:latin typeface="Arial"/>
                <a:ea typeface="Arial"/>
                <a:cs typeface="Arial"/>
              </a:rPr>
              <a:t>Economic buyer: COO / merchandising leader, with CFO approval</a:t>
            </a:r>
          </a:p>
          <a:p xmlns:a="http://schemas.openxmlformats.org/drawingml/2006/main">
            <a:pPr algn="l">
              <a:defRPr sz="2175" b="0">
                <a:solidFill>
                  <a:srgbClr val="152047"/>
                </a:solidFill>
              </a:defRPr>
            </a:pPr>
            <a:r>
              <a:rPr sz="2175" b="0">
                <a:solidFill>
                  <a:srgbClr val="152047"/>
                </a:solidFill>
                <a:latin typeface="Arial"/>
                <a:ea typeface="Arial"/>
                <a:cs typeface="Arial"/>
              </a:rPr>
              <a:t>First segment: 50–250 stores, online sales and reliable SKU-level stock</a:t>
            </a:r>
          </a:p>
        </p:txBody>
      </p:sp>
      <p:pic>
        <p:nvPicPr>
          <p:cNvPr id="18" name="">
            <a:extLst xmlns:a="http://schemas.openxmlformats.org/drawingml/2006/main">
              <a:ext uri="{FF2B5EF4-FFF2-40B4-BE49-F238E27FC236}">
                <a16:creationId xmlns:a16="http://schemas.microsoft.com/office/drawing/2014/main" id="{5FF008EF-B282-47B8-ABAF-0763311AC790}"/>
              </a:ext>
            </a:extLst>
          </p:cNvPr>
          <p:cNvPicPr>
            <a:picLocks xmlns:a="http://schemas.openxmlformats.org/drawingml/2006/main" noChangeAspect="1"/>
          </p:cNvPicPr>
          <p:nvPr/>
        </p:nvPicPr>
        <p:blipFill>
          <a:blip xmlns:r="http://schemas.openxmlformats.org/officeDocument/2006/relationships" xmlns:a="http://schemas.openxmlformats.org/drawingml/2006/main" r:embed="Re4275100481c411b"/>
          <a:srcRect xmlns:a="http://schemas.openxmlformats.org/drawingml/2006/main" l="0" t="5064" r="0" b="5064"/>
          <a:stretch xmlns:a="http://schemas.openxmlformats.org/drawingml/2006/main">
            <a:fillRect l="0" t="0" r="0" b="0"/>
          </a:stretch>
        </p:blipFill>
        <p:spPr>
          <a:xfrm xmlns:a="http://schemas.openxmlformats.org/drawingml/2006/main">
            <a:off x="8791575" y="1495425"/>
            <a:ext cx="4467225" cy="26765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2787E412-BDE4-48B8-B9E0-22A19FBBE16D}"/>
              </a:ext>
            </a:extLst>
          </p:cNvPr>
          <p:cNvSpPr>
            <a:spLocks xmlns:a="http://schemas.openxmlformats.org/drawingml/2006/main" noGrp="1"/>
          </p:cNvSpPr>
          <p:nvPr/>
        </p:nvSpPr>
        <p:spPr>
          <a:xfrm xmlns:a="http://schemas.openxmlformats.org/drawingml/2006/main">
            <a:off x="552450" y="4629150"/>
            <a:ext cx="3943350" cy="2857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AA68D44-0B76-436D-B694-A8D1984AB57A}"/>
              </a:ext>
            </a:extLst>
          </p:cNvPr>
          <p:cNvSpPr>
            <a:spLocks xmlns:a="http://schemas.openxmlformats.org/drawingml/2006/main" noGrp="1"/>
          </p:cNvSpPr>
          <p:nvPr/>
        </p:nvSpPr>
        <p:spPr>
          <a:xfrm xmlns:a="http://schemas.openxmlformats.org/drawingml/2006/main">
            <a:off x="552450" y="4857750"/>
            <a:ext cx="3981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CAD 1.40B</a:t>
            </a:r>
          </a:p>
        </p:txBody>
      </p:sp>
      <p:sp>
        <p:nvSpPr>
          <p:cNvPr id="21" name="">
            <a:extLst xmlns:a="http://schemas.openxmlformats.org/drawingml/2006/main">
              <a:ext uri="{FF2B5EF4-FFF2-40B4-BE49-F238E27FC236}">
                <a16:creationId xmlns:a16="http://schemas.microsoft.com/office/drawing/2014/main" id="{BDC6D7E9-3535-499A-A9E3-C31BE2AE3E44}"/>
              </a:ext>
            </a:extLst>
          </p:cNvPr>
          <p:cNvSpPr>
            <a:spLocks xmlns:a="http://schemas.openxmlformats.org/drawingml/2006/main" noGrp="1"/>
          </p:cNvSpPr>
          <p:nvPr/>
        </p:nvSpPr>
        <p:spPr>
          <a:xfrm xmlns:a="http://schemas.openxmlformats.org/drawingml/2006/main">
            <a:off x="552450" y="569595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52047"/>
                </a:solidFill>
                <a:latin typeface="Arial"/>
                <a:ea typeface="Arial"/>
                <a:cs typeface="Arial"/>
              </a:defRPr>
            </a:defPPr>
            <a:lvl1pPr algn="l">
              <a:defRPr sz="1875" b="1">
                <a:solidFill>
                  <a:srgbClr val="152047"/>
                </a:solidFill>
                <a:latin typeface="Arial"/>
                <a:ea typeface="Arial"/>
                <a:cs typeface="Arial"/>
              </a:defRPr>
            </a:lvl1pPr>
            <a:lvl2pPr algn="l">
              <a:defRPr sz="1875" b="1">
                <a:solidFill>
                  <a:srgbClr val="152047"/>
                </a:solidFill>
                <a:latin typeface="Arial"/>
                <a:ea typeface="Arial"/>
                <a:cs typeface="Arial"/>
              </a:defRPr>
            </a:lvl2pPr>
            <a:lvl3pPr algn="l">
              <a:defRPr sz="1875" b="1">
                <a:solidFill>
                  <a:srgbClr val="152047"/>
                </a:solidFill>
                <a:latin typeface="Arial"/>
                <a:ea typeface="Arial"/>
                <a:cs typeface="Arial"/>
              </a:defRPr>
            </a:lvl3pPr>
            <a:lvl4pPr algn="l">
              <a:defRPr sz="1875" b="1">
                <a:solidFill>
                  <a:srgbClr val="152047"/>
                </a:solidFill>
                <a:latin typeface="Arial"/>
                <a:ea typeface="Arial"/>
                <a:cs typeface="Arial"/>
              </a:defRPr>
            </a:lvl4pPr>
            <a:lvl5pPr algn="l">
              <a:defRPr sz="1875" b="1">
                <a:solidFill>
                  <a:srgbClr val="152047"/>
                </a:solidFill>
                <a:latin typeface="Arial"/>
                <a:ea typeface="Arial"/>
                <a:cs typeface="Arial"/>
              </a:defRPr>
            </a:lvl5pPr>
            <a:lvl6pPr algn="l">
              <a:defRPr sz="1875" b="1">
                <a:solidFill>
                  <a:srgbClr val="152047"/>
                </a:solidFill>
                <a:latin typeface="Arial"/>
                <a:ea typeface="Arial"/>
                <a:cs typeface="Arial"/>
              </a:defRPr>
            </a:lvl6pPr>
            <a:lvl7pPr algn="l">
              <a:defRPr sz="1875" b="1">
                <a:solidFill>
                  <a:srgbClr val="152047"/>
                </a:solidFill>
                <a:latin typeface="Arial"/>
                <a:ea typeface="Arial"/>
                <a:cs typeface="Arial"/>
              </a:defRPr>
            </a:lvl7pPr>
            <a:lvl8pPr algn="l">
              <a:defRPr sz="1875" b="1">
                <a:solidFill>
                  <a:srgbClr val="152047"/>
                </a:solidFill>
                <a:latin typeface="Arial"/>
                <a:ea typeface="Arial"/>
                <a:cs typeface="Arial"/>
              </a:defRPr>
            </a:lvl8pPr>
            <a:lvl9pPr algn="l">
              <a:defRPr sz="1875" b="1">
                <a:solidFill>
                  <a:srgbClr val="152047"/>
                </a:solidFill>
                <a:latin typeface="Arial"/>
                <a:ea typeface="Arial"/>
                <a:cs typeface="Arial"/>
              </a:defRPr>
            </a:lvl9pPr>
          </a:lstStyle>
          <a:p xmlns:a="http://schemas.openxmlformats.org/drawingml/2006/main">
            <a:pPr algn="l">
              <a:defRPr sz="1875" b="1">
                <a:solidFill>
                  <a:srgbClr val="152047"/>
                </a:solidFill>
              </a:defRPr>
            </a:pPr>
            <a:r>
              <a:rPr sz="1875" b="1">
                <a:solidFill>
                  <a:srgbClr val="152047"/>
                </a:solidFill>
                <a:latin typeface="Arial"/>
                <a:ea typeface="Arial"/>
                <a:cs typeface="Arial"/>
              </a:rPr>
              <a:t>Illustrative TAM</a:t>
            </a:r>
          </a:p>
        </p:txBody>
      </p:sp>
      <p:sp>
        <p:nvSpPr>
          <p:cNvPr id="22" name="">
            <a:extLst xmlns:a="http://schemas.openxmlformats.org/drawingml/2006/main">
              <a:ext uri="{FF2B5EF4-FFF2-40B4-BE49-F238E27FC236}">
                <a16:creationId xmlns:a16="http://schemas.microsoft.com/office/drawing/2014/main" id="{F456EFD4-BCBC-414B-9842-8067F0E4E08F}"/>
              </a:ext>
            </a:extLst>
          </p:cNvPr>
          <p:cNvSpPr>
            <a:spLocks xmlns:a="http://schemas.openxmlformats.org/drawingml/2006/main" noGrp="1"/>
          </p:cNvSpPr>
          <p:nvPr/>
        </p:nvSpPr>
        <p:spPr>
          <a:xfrm xmlns:a="http://schemas.openxmlformats.org/drawingml/2006/main">
            <a:off x="552450" y="6143625"/>
            <a:ext cx="3981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650" b="0">
                <a:solidFill>
                  <a:srgbClr val="152047"/>
                </a:solidFill>
              </a:defRPr>
            </a:pPr>
            <a:r>
              <a:rPr sz="1650" b="0">
                <a:solidFill>
                  <a:srgbClr val="152047"/>
                </a:solidFill>
                <a:latin typeface="Arial"/>
                <a:ea typeface="Arial"/>
                <a:cs typeface="Arial"/>
              </a:rPr>
              <a:t>4,000 eligible chains × CAD 350k/year</a:t>
            </a:r>
          </a:p>
        </p:txBody>
      </p:sp>
      <p:sp>
        <p:nvSpPr>
          <p:cNvPr id="23" name="">
            <a:extLst xmlns:a="http://schemas.openxmlformats.org/drawingml/2006/main">
              <a:ext uri="{FF2B5EF4-FFF2-40B4-BE49-F238E27FC236}">
                <a16:creationId xmlns:a16="http://schemas.microsoft.com/office/drawing/2014/main" id="{83E59AAA-FCF6-4386-A27F-9D3BF945115C}"/>
              </a:ext>
            </a:extLst>
          </p:cNvPr>
          <p:cNvSpPr>
            <a:spLocks xmlns:a="http://schemas.openxmlformats.org/drawingml/2006/main" noGrp="1"/>
          </p:cNvSpPr>
          <p:nvPr/>
        </p:nvSpPr>
        <p:spPr>
          <a:xfrm xmlns:a="http://schemas.openxmlformats.org/drawingml/2006/main">
            <a:off x="4848225" y="4629150"/>
            <a:ext cx="3943350" cy="2857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463996F-B472-4698-97DB-B17544671D5B}"/>
              </a:ext>
            </a:extLst>
          </p:cNvPr>
          <p:cNvSpPr>
            <a:spLocks xmlns:a="http://schemas.openxmlformats.org/drawingml/2006/main" noGrp="1"/>
          </p:cNvSpPr>
          <p:nvPr/>
        </p:nvSpPr>
        <p:spPr>
          <a:xfrm xmlns:a="http://schemas.openxmlformats.org/drawingml/2006/main">
            <a:off x="4848225" y="4857750"/>
            <a:ext cx="3981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CAD 175M</a:t>
            </a:r>
          </a:p>
        </p:txBody>
      </p:sp>
      <p:sp>
        <p:nvSpPr>
          <p:cNvPr id="25" name="">
            <a:extLst xmlns:a="http://schemas.openxmlformats.org/drawingml/2006/main">
              <a:ext uri="{FF2B5EF4-FFF2-40B4-BE49-F238E27FC236}">
                <a16:creationId xmlns:a16="http://schemas.microsoft.com/office/drawing/2014/main" id="{08116B78-A185-4C5B-8468-36D67350E42A}"/>
              </a:ext>
            </a:extLst>
          </p:cNvPr>
          <p:cNvSpPr>
            <a:spLocks xmlns:a="http://schemas.openxmlformats.org/drawingml/2006/main" noGrp="1"/>
          </p:cNvSpPr>
          <p:nvPr/>
        </p:nvSpPr>
        <p:spPr>
          <a:xfrm xmlns:a="http://schemas.openxmlformats.org/drawingml/2006/main">
            <a:off x="4848225" y="569595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52047"/>
                </a:solidFill>
                <a:latin typeface="Arial"/>
                <a:ea typeface="Arial"/>
                <a:cs typeface="Arial"/>
              </a:defRPr>
            </a:defPPr>
            <a:lvl1pPr algn="l">
              <a:defRPr sz="1875" b="1">
                <a:solidFill>
                  <a:srgbClr val="152047"/>
                </a:solidFill>
                <a:latin typeface="Arial"/>
                <a:ea typeface="Arial"/>
                <a:cs typeface="Arial"/>
              </a:defRPr>
            </a:lvl1pPr>
            <a:lvl2pPr algn="l">
              <a:defRPr sz="1875" b="1">
                <a:solidFill>
                  <a:srgbClr val="152047"/>
                </a:solidFill>
                <a:latin typeface="Arial"/>
                <a:ea typeface="Arial"/>
                <a:cs typeface="Arial"/>
              </a:defRPr>
            </a:lvl2pPr>
            <a:lvl3pPr algn="l">
              <a:defRPr sz="1875" b="1">
                <a:solidFill>
                  <a:srgbClr val="152047"/>
                </a:solidFill>
                <a:latin typeface="Arial"/>
                <a:ea typeface="Arial"/>
                <a:cs typeface="Arial"/>
              </a:defRPr>
            </a:lvl3pPr>
            <a:lvl4pPr algn="l">
              <a:defRPr sz="1875" b="1">
                <a:solidFill>
                  <a:srgbClr val="152047"/>
                </a:solidFill>
                <a:latin typeface="Arial"/>
                <a:ea typeface="Arial"/>
                <a:cs typeface="Arial"/>
              </a:defRPr>
            </a:lvl4pPr>
            <a:lvl5pPr algn="l">
              <a:defRPr sz="1875" b="1">
                <a:solidFill>
                  <a:srgbClr val="152047"/>
                </a:solidFill>
                <a:latin typeface="Arial"/>
                <a:ea typeface="Arial"/>
                <a:cs typeface="Arial"/>
              </a:defRPr>
            </a:lvl5pPr>
            <a:lvl6pPr algn="l">
              <a:defRPr sz="1875" b="1">
                <a:solidFill>
                  <a:srgbClr val="152047"/>
                </a:solidFill>
                <a:latin typeface="Arial"/>
                <a:ea typeface="Arial"/>
                <a:cs typeface="Arial"/>
              </a:defRPr>
            </a:lvl6pPr>
            <a:lvl7pPr algn="l">
              <a:defRPr sz="1875" b="1">
                <a:solidFill>
                  <a:srgbClr val="152047"/>
                </a:solidFill>
                <a:latin typeface="Arial"/>
                <a:ea typeface="Arial"/>
                <a:cs typeface="Arial"/>
              </a:defRPr>
            </a:lvl7pPr>
            <a:lvl8pPr algn="l">
              <a:defRPr sz="1875" b="1">
                <a:solidFill>
                  <a:srgbClr val="152047"/>
                </a:solidFill>
                <a:latin typeface="Arial"/>
                <a:ea typeface="Arial"/>
                <a:cs typeface="Arial"/>
              </a:defRPr>
            </a:lvl8pPr>
            <a:lvl9pPr algn="l">
              <a:defRPr sz="1875" b="1">
                <a:solidFill>
                  <a:srgbClr val="152047"/>
                </a:solidFill>
                <a:latin typeface="Arial"/>
                <a:ea typeface="Arial"/>
                <a:cs typeface="Arial"/>
              </a:defRPr>
            </a:lvl9pPr>
          </a:lstStyle>
          <a:p xmlns:a="http://schemas.openxmlformats.org/drawingml/2006/main">
            <a:pPr algn="l">
              <a:defRPr sz="1875" b="1">
                <a:solidFill>
                  <a:srgbClr val="152047"/>
                </a:solidFill>
              </a:defRPr>
            </a:pPr>
            <a:r>
              <a:rPr sz="1875" b="1">
                <a:solidFill>
                  <a:srgbClr val="152047"/>
                </a:solidFill>
                <a:latin typeface="Arial"/>
                <a:ea typeface="Arial"/>
                <a:cs typeface="Arial"/>
              </a:rPr>
              <a:t>Illustrative SAM</a:t>
            </a:r>
          </a:p>
        </p:txBody>
      </p:sp>
      <p:sp>
        <p:nvSpPr>
          <p:cNvPr id="26" name="">
            <a:extLst xmlns:a="http://schemas.openxmlformats.org/drawingml/2006/main">
              <a:ext uri="{FF2B5EF4-FFF2-40B4-BE49-F238E27FC236}">
                <a16:creationId xmlns:a16="http://schemas.microsoft.com/office/drawing/2014/main" id="{A66DE5FA-4B10-4CE9-BC84-05830EB5B315}"/>
              </a:ext>
            </a:extLst>
          </p:cNvPr>
          <p:cNvSpPr>
            <a:spLocks xmlns:a="http://schemas.openxmlformats.org/drawingml/2006/main" noGrp="1"/>
          </p:cNvSpPr>
          <p:nvPr/>
        </p:nvSpPr>
        <p:spPr>
          <a:xfrm xmlns:a="http://schemas.openxmlformats.org/drawingml/2006/main">
            <a:off x="4848225" y="6143625"/>
            <a:ext cx="3981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650" b="0">
                <a:solidFill>
                  <a:srgbClr val="152047"/>
                </a:solidFill>
              </a:defRPr>
            </a:pPr>
            <a:r>
              <a:rPr sz="1650" b="0">
                <a:solidFill>
                  <a:srgbClr val="152047"/>
                </a:solidFill>
                <a:latin typeface="Arial"/>
                <a:ea typeface="Arial"/>
                <a:cs typeface="Arial"/>
              </a:rPr>
              <a:t>500 initial serviceable chains × CAD 350k/year</a:t>
            </a:r>
          </a:p>
        </p:txBody>
      </p:sp>
      <p:sp>
        <p:nvSpPr>
          <p:cNvPr id="27" name="">
            <a:extLst xmlns:a="http://schemas.openxmlformats.org/drawingml/2006/main">
              <a:ext uri="{FF2B5EF4-FFF2-40B4-BE49-F238E27FC236}">
                <a16:creationId xmlns:a16="http://schemas.microsoft.com/office/drawing/2014/main" id="{8D810F3B-0721-49EB-8E11-D2EF858CB6BD}"/>
              </a:ext>
            </a:extLst>
          </p:cNvPr>
          <p:cNvSpPr>
            <a:spLocks xmlns:a="http://schemas.openxmlformats.org/drawingml/2006/main" noGrp="1"/>
          </p:cNvSpPr>
          <p:nvPr/>
        </p:nvSpPr>
        <p:spPr>
          <a:xfrm xmlns:a="http://schemas.openxmlformats.org/drawingml/2006/main">
            <a:off x="9144000" y="4629150"/>
            <a:ext cx="3943350" cy="2857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EC8C461-98AE-4617-8E80-02BDC18979B1}"/>
              </a:ext>
            </a:extLst>
          </p:cNvPr>
          <p:cNvSpPr>
            <a:spLocks xmlns:a="http://schemas.openxmlformats.org/drawingml/2006/main" noGrp="1"/>
          </p:cNvSpPr>
          <p:nvPr/>
        </p:nvSpPr>
        <p:spPr>
          <a:xfrm xmlns:a="http://schemas.openxmlformats.org/drawingml/2006/main">
            <a:off x="9144000" y="4857750"/>
            <a:ext cx="3981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CAD 52.5M</a:t>
            </a:r>
          </a:p>
        </p:txBody>
      </p:sp>
      <p:sp>
        <p:nvSpPr>
          <p:cNvPr id="29" name="">
            <a:extLst xmlns:a="http://schemas.openxmlformats.org/drawingml/2006/main">
              <a:ext uri="{FF2B5EF4-FFF2-40B4-BE49-F238E27FC236}">
                <a16:creationId xmlns:a16="http://schemas.microsoft.com/office/drawing/2014/main" id="{73A36309-D573-4ED0-BACA-0080E4E9B67E}"/>
              </a:ext>
            </a:extLst>
          </p:cNvPr>
          <p:cNvSpPr>
            <a:spLocks xmlns:a="http://schemas.openxmlformats.org/drawingml/2006/main" noGrp="1"/>
          </p:cNvSpPr>
          <p:nvPr/>
        </p:nvSpPr>
        <p:spPr>
          <a:xfrm xmlns:a="http://schemas.openxmlformats.org/drawingml/2006/main">
            <a:off x="9144000" y="569595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52047"/>
                </a:solidFill>
                <a:latin typeface="Arial"/>
                <a:ea typeface="Arial"/>
                <a:cs typeface="Arial"/>
              </a:defRPr>
            </a:defPPr>
            <a:lvl1pPr algn="l">
              <a:defRPr sz="1875" b="1">
                <a:solidFill>
                  <a:srgbClr val="152047"/>
                </a:solidFill>
                <a:latin typeface="Arial"/>
                <a:ea typeface="Arial"/>
                <a:cs typeface="Arial"/>
              </a:defRPr>
            </a:lvl1pPr>
            <a:lvl2pPr algn="l">
              <a:defRPr sz="1875" b="1">
                <a:solidFill>
                  <a:srgbClr val="152047"/>
                </a:solidFill>
                <a:latin typeface="Arial"/>
                <a:ea typeface="Arial"/>
                <a:cs typeface="Arial"/>
              </a:defRPr>
            </a:lvl2pPr>
            <a:lvl3pPr algn="l">
              <a:defRPr sz="1875" b="1">
                <a:solidFill>
                  <a:srgbClr val="152047"/>
                </a:solidFill>
                <a:latin typeface="Arial"/>
                <a:ea typeface="Arial"/>
                <a:cs typeface="Arial"/>
              </a:defRPr>
            </a:lvl3pPr>
            <a:lvl4pPr algn="l">
              <a:defRPr sz="1875" b="1">
                <a:solidFill>
                  <a:srgbClr val="152047"/>
                </a:solidFill>
                <a:latin typeface="Arial"/>
                <a:ea typeface="Arial"/>
                <a:cs typeface="Arial"/>
              </a:defRPr>
            </a:lvl4pPr>
            <a:lvl5pPr algn="l">
              <a:defRPr sz="1875" b="1">
                <a:solidFill>
                  <a:srgbClr val="152047"/>
                </a:solidFill>
                <a:latin typeface="Arial"/>
                <a:ea typeface="Arial"/>
                <a:cs typeface="Arial"/>
              </a:defRPr>
            </a:lvl5pPr>
            <a:lvl6pPr algn="l">
              <a:defRPr sz="1875" b="1">
                <a:solidFill>
                  <a:srgbClr val="152047"/>
                </a:solidFill>
                <a:latin typeface="Arial"/>
                <a:ea typeface="Arial"/>
                <a:cs typeface="Arial"/>
              </a:defRPr>
            </a:lvl6pPr>
            <a:lvl7pPr algn="l">
              <a:defRPr sz="1875" b="1">
                <a:solidFill>
                  <a:srgbClr val="152047"/>
                </a:solidFill>
                <a:latin typeface="Arial"/>
                <a:ea typeface="Arial"/>
                <a:cs typeface="Arial"/>
              </a:defRPr>
            </a:lvl7pPr>
            <a:lvl8pPr algn="l">
              <a:defRPr sz="1875" b="1">
                <a:solidFill>
                  <a:srgbClr val="152047"/>
                </a:solidFill>
                <a:latin typeface="Arial"/>
                <a:ea typeface="Arial"/>
                <a:cs typeface="Arial"/>
              </a:defRPr>
            </a:lvl8pPr>
            <a:lvl9pPr algn="l">
              <a:defRPr sz="1875" b="1">
                <a:solidFill>
                  <a:srgbClr val="152047"/>
                </a:solidFill>
                <a:latin typeface="Arial"/>
                <a:ea typeface="Arial"/>
                <a:cs typeface="Arial"/>
              </a:defRPr>
            </a:lvl9pPr>
          </a:lstStyle>
          <a:p xmlns:a="http://schemas.openxmlformats.org/drawingml/2006/main">
            <a:pPr algn="l">
              <a:defRPr sz="1875" b="1">
                <a:solidFill>
                  <a:srgbClr val="152047"/>
                </a:solidFill>
              </a:defRPr>
            </a:pPr>
            <a:r>
              <a:rPr sz="1875" b="1">
                <a:solidFill>
                  <a:srgbClr val="152047"/>
                </a:solidFill>
                <a:latin typeface="Arial"/>
                <a:ea typeface="Arial"/>
                <a:cs typeface="Arial"/>
              </a:rPr>
              <a:t>Year-3 ending ARR target</a:t>
            </a:r>
          </a:p>
        </p:txBody>
      </p:sp>
      <p:sp>
        <p:nvSpPr>
          <p:cNvPr id="30" name="">
            <a:extLst xmlns:a="http://schemas.openxmlformats.org/drawingml/2006/main">
              <a:ext uri="{FF2B5EF4-FFF2-40B4-BE49-F238E27FC236}">
                <a16:creationId xmlns:a16="http://schemas.microsoft.com/office/drawing/2014/main" id="{475E0935-D74B-4020-AD84-1D0A0BB591C6}"/>
              </a:ext>
            </a:extLst>
          </p:cNvPr>
          <p:cNvSpPr>
            <a:spLocks xmlns:a="http://schemas.openxmlformats.org/drawingml/2006/main" noGrp="1"/>
          </p:cNvSpPr>
          <p:nvPr/>
        </p:nvSpPr>
        <p:spPr>
          <a:xfrm xmlns:a="http://schemas.openxmlformats.org/drawingml/2006/main">
            <a:off x="9144000" y="6143625"/>
            <a:ext cx="3981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650" b="0">
                <a:solidFill>
                  <a:srgbClr val="152047"/>
                </a:solidFill>
              </a:defRPr>
            </a:pPr>
            <a:r>
              <a:rPr sz="1650" b="0">
                <a:solidFill>
                  <a:srgbClr val="152047"/>
                </a:solidFill>
                <a:latin typeface="Arial"/>
                <a:ea typeface="Arial"/>
                <a:cs typeface="Arial"/>
              </a:rPr>
              <a:t>150 customers × CAD 350k/year</a:t>
            </a:r>
          </a:p>
        </p:txBody>
      </p:sp>
    </p:spTree>
    <p:extLst>
      <p:ext uri="{BB962C8B-B14F-4D97-AF65-F5344CB8AC3E}">
        <p14:creationId xmlns:p14="http://schemas.microsoft.com/office/powerpoint/2010/main" val="1303289485"/>
      </p:ext>
    </p:extLst>
  </p:cSld>
</p:sld>
</file>

<file path=ppt/slides/slide9.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E6B54E-6820-418E-9369-C3CA49BF685C}"/>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833D2B-624A-4A3E-91B4-5BBB8A1A6FD8}"/>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COMPETITOR ANALYSIS</a:t>
            </a:r>
          </a:p>
        </p:txBody>
      </p:sp>
      <p:sp>
        <p:nvSpPr>
          <p:cNvPr id="4" name="">
            <a:extLst xmlns:a="http://schemas.openxmlformats.org/drawingml/2006/main">
              <a:ext uri="{FF2B5EF4-FFF2-40B4-BE49-F238E27FC236}">
                <a16:creationId xmlns:a16="http://schemas.microsoft.com/office/drawing/2014/main" id="{A7B212DE-A221-4EE2-A310-33000CB3A1C2}"/>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Competitors validate the need; integration decides the fit</a:t>
            </a:r>
          </a:p>
        </p:txBody>
      </p:sp>
      <p:sp>
        <p:nvSpPr>
          <p:cNvPr id="5" name="">
            <a:extLst xmlns:a="http://schemas.openxmlformats.org/drawingml/2006/main">
              <a:ext uri="{FF2B5EF4-FFF2-40B4-BE49-F238E27FC236}">
                <a16:creationId xmlns:a16="http://schemas.microsoft.com/office/drawing/2014/main" id="{26D55730-0AF7-4CE3-80E9-02F43FCBFB06}"/>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Qualitative positioning from public vendor descriptions. Competitors are commercial offerings; Retail Signal is a prototype.</a:t>
            </a:r>
          </a:p>
        </p:txBody>
      </p:sp>
      <p:sp>
        <p:nvSpPr>
          <p:cNvPr id="6" name="">
            <a:extLst xmlns:a="http://schemas.openxmlformats.org/drawingml/2006/main">
              <a:ext uri="{FF2B5EF4-FFF2-40B4-BE49-F238E27FC236}">
                <a16:creationId xmlns:a16="http://schemas.microsoft.com/office/drawing/2014/main" id="{950CB740-DCE8-4359-875C-5728FD96476F}"/>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FFE559-29F9-44A0-A9D8-C524CCD8CF4D}"/>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0FEEF5D9-B3D5-4363-9F17-33F4C8BF68B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450881-E7F8-4715-BBDF-A36D82E38BCF}"/>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9D11D42A-8D59-4148-A890-1AD3A46FD5D7}"/>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A1F285-74B9-4058-83A3-903455D95AA9}"/>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0C621AFB-F1EB-4451-8E91-1BF14FE4D22A}"/>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1F1677C-2C13-4977-AF2B-CA4D5EDF537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1ACDD53E-2987-4F0C-986F-B538576B8EB2}"/>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64B1D9-7DB3-4DC5-8440-C54014739F85}"/>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10B6AB8F-18E1-4977-BF5E-63FAE0CCE931}"/>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09</a:t>
            </a:r>
          </a:p>
        </p:txBody>
      </p:sp>
      <p:graphicFrame>
        <p:nvGraphicFramePr>
          <p:cNvPr id="17" name="">
            <a:extLst xmlns:a="http://schemas.openxmlformats.org/drawingml/2006/main">
              <a:ext uri="{FF2B5EF4-FFF2-40B4-BE49-F238E27FC236}">
                <a16:creationId xmlns:a16="http://schemas.microsoft.com/office/drawing/2014/main" id="{4A0F92B3-A97C-471F-B9FF-D07E98312D90}"/>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981075">
                <a:tc>
                  <a:txBody>
                    <a:bodyPr/>
                    <a:lstStyle/>
                    <a:p>
                      <a:r>
                        <a:rPr sz="1875" b="1">
                          <a:solidFill>
                            <a:srgbClr val="FFFFFF"/>
                          </a:solidFill>
                          <a:latin typeface="Arial"/>
                          <a:ea typeface="Arial"/>
                          <a:cs typeface="Arial"/>
                        </a:rPr>
                        <a:t>Alternative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Established strength</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Retail Signal’s proposed fit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981075">
                <a:tc>
                  <a:txBody>
                    <a:bodyPr/>
                    <a:lstStyle/>
                    <a:p>
                      <a:r>
                        <a:rPr sz="1875" b="1">
                          <a:solidFill>
                            <a:srgbClr val="FFFFFF"/>
                          </a:solidFill>
                          <a:latin typeface="Arial"/>
                          <a:ea typeface="Arial"/>
                          <a:cs typeface="Arial"/>
                        </a:rPr>
                        <a:t>Sensormatic TrueVUE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RFID inventory and fitting-room insight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Use equivalent event inputs in a wider decision workflow.</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Oracle Retail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Connected merchandising, inventory and AI planning</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Focus on retailers whose execution already runs on SAP.</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981075">
                <a:tc>
                  <a:txBody>
                    <a:bodyPr/>
                    <a:lstStyle/>
                    <a:p>
                      <a:r>
                        <a:rPr sz="1875" b="1">
                          <a:solidFill>
                            <a:srgbClr val="FFFFFF"/>
                          </a:solidFill>
                          <a:latin typeface="Arial"/>
                          <a:ea typeface="Arial"/>
                          <a:cs typeface="Arial"/>
                        </a:rPr>
                        <a:t>Blue Yonder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Retail planning, scenarios and network intelligence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Bring early intent to a concise SAP approval workflow.</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Existing SAP IBP / CAR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Demand planning and retail transaction context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Extend these products; reuse their planning and data services.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660722614"/>
      </p:ext>
    </p:extLst>
  </p:cSld>
</p:sld>
</file>

<file path=ppt/slides/slide10.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0A2865B-25E5-4865-B27A-95435E1D7646}"/>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B21D83-74B1-4962-B819-D66CB514AD38}"/>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COMPETITIVE ADVANTAGE</a:t>
            </a:r>
          </a:p>
        </p:txBody>
      </p:sp>
      <p:sp>
        <p:nvSpPr>
          <p:cNvPr id="4" name="">
            <a:extLst xmlns:a="http://schemas.openxmlformats.org/drawingml/2006/main">
              <a:ext uri="{FF2B5EF4-FFF2-40B4-BE49-F238E27FC236}">
                <a16:creationId xmlns:a16="http://schemas.microsoft.com/office/drawing/2014/main" id="{B7468D3E-ECB1-4CBD-8617-2D2626D20139}"/>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SAP’s ecosystem can shorten the path to action</a:t>
            </a:r>
          </a:p>
        </p:txBody>
      </p:sp>
      <p:sp>
        <p:nvSpPr>
          <p:cNvPr id="5" name="">
            <a:extLst xmlns:a="http://schemas.openxmlformats.org/drawingml/2006/main">
              <a:ext uri="{FF2B5EF4-FFF2-40B4-BE49-F238E27FC236}">
                <a16:creationId xmlns:a16="http://schemas.microsoft.com/office/drawing/2014/main" id="{AAE06559-5F75-4DD6-A96A-EC02F3EC5BAF}"/>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architecture. No live SAP integration or cross-customer training is present in this demo.</a:t>
            </a:r>
          </a:p>
        </p:txBody>
      </p:sp>
      <p:sp>
        <p:nvSpPr>
          <p:cNvPr id="6" name="">
            <a:extLst xmlns:a="http://schemas.openxmlformats.org/drawingml/2006/main">
              <a:ext uri="{FF2B5EF4-FFF2-40B4-BE49-F238E27FC236}">
                <a16:creationId xmlns:a16="http://schemas.microsoft.com/office/drawing/2014/main" id="{B5FD1B25-0F4E-40DE-95BF-67970DEA2314}"/>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63D503-A4E3-4CC8-B252-D6C182F2E35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1C8709E7-129B-4FC6-B4B3-8D9C0F2F023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6B38F1-80D5-4EFF-B51B-58B5A3A8DEE1}"/>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EF99532C-4137-48E9-87F5-05F9472418BF}"/>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CA5D8C-5D63-4B7D-9846-429483DCAEC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30D77BC0-F8D9-445A-A957-A7239E81527E}"/>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34D654F-435C-41B0-B935-0DCD150FE3C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6F1CA6A6-B1C4-429D-8A74-E0DCBBBE73C2}"/>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2E491E-8766-4DD6-9EA5-A3EF790788A7}"/>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4D1C4CE6-6BE7-4E80-B709-C01E39D9B5DA}"/>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10</a:t>
            </a:r>
          </a:p>
        </p:txBody>
      </p:sp>
      <p:sp>
        <p:nvSpPr>
          <p:cNvPr id="17" name="">
            <a:extLst xmlns:a="http://schemas.openxmlformats.org/drawingml/2006/main">
              <a:ext uri="{FF2B5EF4-FFF2-40B4-BE49-F238E27FC236}">
                <a16:creationId xmlns:a16="http://schemas.microsoft.com/office/drawing/2014/main" id="{89B55A89-BEEE-4ABF-8832-FBA59689C805}"/>
              </a:ext>
            </a:extLst>
          </p:cNvPr>
          <p:cNvSpPr>
            <a:spLocks xmlns:a="http://schemas.openxmlformats.org/drawingml/2006/main" noGrp="1"/>
          </p:cNvSpPr>
          <p:nvPr/>
        </p:nvSpPr>
        <p:spPr>
          <a:xfrm xmlns:a="http://schemas.openxmlformats.org/drawingml/2006/main">
            <a:off x="457200" y="1495425"/>
            <a:ext cx="6858000" cy="491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EE665DF7-DD35-4E1F-890F-13F7F9C559EE}"/>
              </a:ext>
            </a:extLst>
          </p:cNvPr>
          <p:cNvPicPr>
            <a:picLocks xmlns:a="http://schemas.openxmlformats.org/drawingml/2006/main" noChangeAspect="1"/>
          </p:cNvPicPr>
          <p:nvPr/>
        </p:nvPicPr>
        <p:blipFill>
          <a:blip xmlns:r="http://schemas.openxmlformats.org/officeDocument/2006/relationships" xmlns:a="http://schemas.openxmlformats.org/drawingml/2006/main" r:embed="Rec24137f5baa4cb7"/>
          <a:srcRect xmlns:a="http://schemas.openxmlformats.org/drawingml/2006/main" l="17000" t="5000" r="0" b="0"/>
          <a:stretch xmlns:a="http://schemas.openxmlformats.org/drawingml/2006/main"/>
        </p:blipFill>
        <p:spPr>
          <a:xfrm xmlns:a="http://schemas.openxmlformats.org/drawingml/2006/main">
            <a:off x="977683" y="1495425"/>
            <a:ext cx="5817034" cy="49149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A9F62AB-2B24-4BAA-80BD-9D4C6C65AE87}"/>
              </a:ext>
            </a:extLst>
          </p:cNvPr>
          <p:cNvSpPr>
            <a:spLocks xmlns:a="http://schemas.openxmlformats.org/drawingml/2006/main" noGrp="1"/>
          </p:cNvSpPr>
          <p:nvPr/>
        </p:nvSpPr>
        <p:spPr>
          <a:xfrm xmlns:a="http://schemas.openxmlformats.org/drawingml/2006/main">
            <a:off x="7715250" y="158115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6722BD-0883-4CCE-8EDC-33D57D302ADF}"/>
              </a:ext>
            </a:extLst>
          </p:cNvPr>
          <p:cNvSpPr>
            <a:spLocks xmlns:a="http://schemas.openxmlformats.org/drawingml/2006/main" noGrp="1"/>
          </p:cNvSpPr>
          <p:nvPr/>
        </p:nvSpPr>
        <p:spPr>
          <a:xfrm xmlns:a="http://schemas.openxmlformats.org/drawingml/2006/main">
            <a:off x="7896225" y="150495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Connected execution</a:t>
            </a:r>
          </a:p>
        </p:txBody>
      </p:sp>
      <p:sp>
        <p:nvSpPr>
          <p:cNvPr id="21" name="">
            <a:extLst xmlns:a="http://schemas.openxmlformats.org/drawingml/2006/main">
              <a:ext uri="{FF2B5EF4-FFF2-40B4-BE49-F238E27FC236}">
                <a16:creationId xmlns:a16="http://schemas.microsoft.com/office/drawing/2014/main" id="{74CAC8FE-325D-4923-936D-D24798296D79}"/>
              </a:ext>
            </a:extLst>
          </p:cNvPr>
          <p:cNvSpPr>
            <a:spLocks xmlns:a="http://schemas.openxmlformats.org/drawingml/2006/main" noGrp="1"/>
          </p:cNvSpPr>
          <p:nvPr/>
        </p:nvSpPr>
        <p:spPr>
          <a:xfrm xmlns:a="http://schemas.openxmlformats.org/drawingml/2006/main">
            <a:off x="7896225" y="2000250"/>
            <a:ext cx="516255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S/4HANA holds stock movements and purchasing. Commerce Cloud contributes online context. IBP supports planning.</a:t>
            </a:r>
          </a:p>
        </p:txBody>
      </p:sp>
      <p:sp>
        <p:nvSpPr>
          <p:cNvPr id="22" name="">
            <a:extLst xmlns:a="http://schemas.openxmlformats.org/drawingml/2006/main">
              <a:ext uri="{FF2B5EF4-FFF2-40B4-BE49-F238E27FC236}">
                <a16:creationId xmlns:a16="http://schemas.microsoft.com/office/drawing/2014/main" id="{9CF47071-5DC7-4505-8899-A233B78490C4}"/>
              </a:ext>
            </a:extLst>
          </p:cNvPr>
          <p:cNvSpPr>
            <a:spLocks xmlns:a="http://schemas.openxmlformats.org/drawingml/2006/main" noGrp="1"/>
          </p:cNvSpPr>
          <p:nvPr/>
        </p:nvSpPr>
        <p:spPr>
          <a:xfrm xmlns:a="http://schemas.openxmlformats.org/drawingml/2006/main">
            <a:off x="7715250" y="326072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46C8883-B566-4249-B7C6-6E52CE11ED38}"/>
              </a:ext>
            </a:extLst>
          </p:cNvPr>
          <p:cNvSpPr>
            <a:spLocks xmlns:a="http://schemas.openxmlformats.org/drawingml/2006/main" noGrp="1"/>
          </p:cNvSpPr>
          <p:nvPr/>
        </p:nvSpPr>
        <p:spPr>
          <a:xfrm xmlns:a="http://schemas.openxmlformats.org/drawingml/2006/main">
            <a:off x="7896225" y="3184525"/>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Consistent business context</a:t>
            </a:r>
          </a:p>
        </p:txBody>
      </p:sp>
      <p:sp>
        <p:nvSpPr>
          <p:cNvPr id="24" name="">
            <a:extLst xmlns:a="http://schemas.openxmlformats.org/drawingml/2006/main">
              <a:ext uri="{FF2B5EF4-FFF2-40B4-BE49-F238E27FC236}">
                <a16:creationId xmlns:a16="http://schemas.microsoft.com/office/drawing/2014/main" id="{EC53A38C-2F0B-408D-8C51-4A33E2C4C28A}"/>
              </a:ext>
            </a:extLst>
          </p:cNvPr>
          <p:cNvSpPr>
            <a:spLocks xmlns:a="http://schemas.openxmlformats.org/drawingml/2006/main" noGrp="1"/>
          </p:cNvSpPr>
          <p:nvPr/>
        </p:nvSpPr>
        <p:spPr>
          <a:xfrm xmlns:a="http://schemas.openxmlformats.org/drawingml/2006/main">
            <a:off x="7896225" y="3679825"/>
            <a:ext cx="516255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Authorized product, location, cost and supplier data can make recommendations more relevant to the retailer.</a:t>
            </a:r>
          </a:p>
        </p:txBody>
      </p:sp>
      <p:sp>
        <p:nvSpPr>
          <p:cNvPr id="25" name="">
            <a:extLst xmlns:a="http://schemas.openxmlformats.org/drawingml/2006/main">
              <a:ext uri="{FF2B5EF4-FFF2-40B4-BE49-F238E27FC236}">
                <a16:creationId xmlns:a16="http://schemas.microsoft.com/office/drawing/2014/main" id="{94DFAEB1-BC2E-4F91-A506-B8EE82A755F0}"/>
              </a:ext>
            </a:extLst>
          </p:cNvPr>
          <p:cNvSpPr>
            <a:spLocks xmlns:a="http://schemas.openxmlformats.org/drawingml/2006/main" noGrp="1"/>
          </p:cNvSpPr>
          <p:nvPr/>
        </p:nvSpPr>
        <p:spPr>
          <a:xfrm xmlns:a="http://schemas.openxmlformats.org/drawingml/2006/main">
            <a:off x="7715250" y="49403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DBAF4DC-4089-4BE9-819C-D0E93216182A}"/>
              </a:ext>
            </a:extLst>
          </p:cNvPr>
          <p:cNvSpPr>
            <a:spLocks xmlns:a="http://schemas.openxmlformats.org/drawingml/2006/main" noGrp="1"/>
          </p:cNvSpPr>
          <p:nvPr/>
        </p:nvSpPr>
        <p:spPr>
          <a:xfrm xmlns:a="http://schemas.openxmlformats.org/drawingml/2006/main">
            <a:off x="7896225" y="48641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Learning with permission</a:t>
            </a:r>
          </a:p>
        </p:txBody>
      </p:sp>
      <p:sp>
        <p:nvSpPr>
          <p:cNvPr id="27" name="">
            <a:extLst xmlns:a="http://schemas.openxmlformats.org/drawingml/2006/main">
              <a:ext uri="{FF2B5EF4-FFF2-40B4-BE49-F238E27FC236}">
                <a16:creationId xmlns:a16="http://schemas.microsoft.com/office/drawing/2014/main" id="{F53E532E-A41C-425F-B370-A777381B4D23}"/>
              </a:ext>
            </a:extLst>
          </p:cNvPr>
          <p:cNvSpPr>
            <a:spLocks xmlns:a="http://schemas.openxmlformats.org/drawingml/2006/main" noGrp="1"/>
          </p:cNvSpPr>
          <p:nvPr/>
        </p:nvSpPr>
        <p:spPr>
          <a:xfrm xmlns:a="http://schemas.openxmlformats.org/drawingml/2006/main">
            <a:off x="7896225" y="5359400"/>
            <a:ext cx="516255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SAP’s large client base creates a potential learning advantage, subject to contracts, consent and evaluation. More data alone does not prove better accuracy.</a:t>
            </a:r>
          </a:p>
        </p:txBody>
      </p:sp>
    </p:spTree>
    <p:extLst>
      <p:ext uri="{BB962C8B-B14F-4D97-AF65-F5344CB8AC3E}">
        <p14:creationId xmlns:p14="http://schemas.microsoft.com/office/powerpoint/2010/main" val="1530779112"/>
      </p:ext>
    </p:extLst>
  </p:cSld>
</p:sld>
</file>

<file path=ppt/slides/slide11.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0DA025-2B4E-4803-9CBB-50D020BDD216}"/>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58F871-424B-41E6-816C-2135CDC565A3}"/>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SWOT ANALYSIS</a:t>
            </a:r>
          </a:p>
        </p:txBody>
      </p:sp>
      <p:sp>
        <p:nvSpPr>
          <p:cNvPr id="4" name="">
            <a:extLst xmlns:a="http://schemas.openxmlformats.org/drawingml/2006/main">
              <a:ext uri="{FF2B5EF4-FFF2-40B4-BE49-F238E27FC236}">
                <a16:creationId xmlns:a16="http://schemas.microsoft.com/office/drawing/2014/main" id="{AC757C76-AC1E-4838-84E0-1736C94161FF}"/>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SWOT: a credible extension with execution risk</a:t>
            </a:r>
          </a:p>
        </p:txBody>
      </p:sp>
      <p:sp>
        <p:nvSpPr>
          <p:cNvPr id="5" name="">
            <a:extLst xmlns:a="http://schemas.openxmlformats.org/drawingml/2006/main">
              <a:ext uri="{FF2B5EF4-FFF2-40B4-BE49-F238E27FC236}">
                <a16:creationId xmlns:a16="http://schemas.microsoft.com/office/drawing/2014/main" id="{8B4BFFE9-B432-4043-99CE-2360C50ED674}"/>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Strategic assessment by Plus One Braincell; pilot evidence is needed to validate the opportunity.</a:t>
            </a:r>
          </a:p>
        </p:txBody>
      </p:sp>
      <p:sp>
        <p:nvSpPr>
          <p:cNvPr id="6" name="">
            <a:extLst xmlns:a="http://schemas.openxmlformats.org/drawingml/2006/main">
              <a:ext uri="{FF2B5EF4-FFF2-40B4-BE49-F238E27FC236}">
                <a16:creationId xmlns:a16="http://schemas.microsoft.com/office/drawing/2014/main" id="{4EBC1F51-9689-4501-A690-EE083C217054}"/>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6A4151-009F-47A3-9E38-47EA93B9C610}"/>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0A763EC-0D70-4D2E-99C5-938439D7266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011840-5CFB-4F18-B21B-BDA311F80B10}"/>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509D40F9-DE29-4E99-9DBB-1A1976FE793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A5C06C-5EFC-4D4F-9D33-36591CF15238}"/>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A22E6B93-CA81-4162-9204-31E3AB47FA82}"/>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CFA916-3079-47AA-96BB-EBC923C414C0}"/>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CFE70117-A600-467C-8F06-DA8EF2B1413D}"/>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EF2DC6A-6F6F-451C-AA2A-D25D3473E02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8B7DC58-4BA5-41F2-BC2B-8A95FD42F59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11</a:t>
            </a:r>
          </a:p>
        </p:txBody>
      </p:sp>
      <p:sp>
        <p:nvSpPr>
          <p:cNvPr id="17" name="">
            <a:extLst xmlns:a="http://schemas.openxmlformats.org/drawingml/2006/main">
              <a:ext uri="{FF2B5EF4-FFF2-40B4-BE49-F238E27FC236}">
                <a16:creationId xmlns:a16="http://schemas.microsoft.com/office/drawing/2014/main" id="{773C908C-B532-4216-B585-164C96995780}"/>
              </a:ext>
            </a:extLst>
          </p:cNvPr>
          <p:cNvSpPr>
            <a:spLocks xmlns:a="http://schemas.openxmlformats.org/drawingml/2006/main" noGrp="1"/>
          </p:cNvSpPr>
          <p:nvPr/>
        </p:nvSpPr>
        <p:spPr>
          <a:xfrm xmlns:a="http://schemas.openxmlformats.org/drawingml/2006/main">
            <a:off x="457200" y="15335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32E322-6379-4A26-93F9-7CBA264E193C}"/>
              </a:ext>
            </a:extLst>
          </p:cNvPr>
          <p:cNvSpPr>
            <a:spLocks xmlns:a="http://schemas.openxmlformats.org/drawingml/2006/main" noGrp="1"/>
          </p:cNvSpPr>
          <p:nvPr/>
        </p:nvSpPr>
        <p:spPr>
          <a:xfrm xmlns:a="http://schemas.openxmlformats.org/drawingml/2006/main">
            <a:off x="590550" y="15621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STRENGTHS</a:t>
            </a:r>
          </a:p>
        </p:txBody>
      </p:sp>
      <p:sp>
        <p:nvSpPr>
          <p:cNvPr id="19" name="">
            <a:extLst xmlns:a="http://schemas.openxmlformats.org/drawingml/2006/main">
              <a:ext uri="{FF2B5EF4-FFF2-40B4-BE49-F238E27FC236}">
                <a16:creationId xmlns:a16="http://schemas.microsoft.com/office/drawing/2014/main" id="{324F19C8-3763-495D-A405-67BFC380A035}"/>
              </a:ext>
            </a:extLst>
          </p:cNvPr>
          <p:cNvSpPr>
            <a:spLocks xmlns:a="http://schemas.openxmlformats.org/drawingml/2006/main" noGrp="1"/>
          </p:cNvSpPr>
          <p:nvPr/>
        </p:nvSpPr>
        <p:spPr>
          <a:xfrm xmlns:a="http://schemas.openxmlformats.org/drawingml/2006/main">
            <a:off x="457200" y="20859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52A492E-EFFE-4244-8A52-7407F14B9830}"/>
              </a:ext>
            </a:extLst>
          </p:cNvPr>
          <p:cNvSpPr>
            <a:spLocks xmlns:a="http://schemas.openxmlformats.org/drawingml/2006/main" noGrp="1"/>
          </p:cNvSpPr>
          <p:nvPr/>
        </p:nvSpPr>
        <p:spPr>
          <a:xfrm xmlns:a="http://schemas.openxmlformats.org/drawingml/2006/main">
            <a:off x="647700" y="23336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S</a:t>
            </a:r>
          </a:p>
        </p:txBody>
      </p:sp>
      <p:sp>
        <p:nvSpPr>
          <p:cNvPr id="21" name="">
            <a:extLst xmlns:a="http://schemas.openxmlformats.org/drawingml/2006/main">
              <a:ext uri="{FF2B5EF4-FFF2-40B4-BE49-F238E27FC236}">
                <a16:creationId xmlns:a16="http://schemas.microsoft.com/office/drawing/2014/main" id="{E1783128-3CF1-4CD5-B411-96FB7264E874}"/>
              </a:ext>
            </a:extLst>
          </p:cNvPr>
          <p:cNvSpPr>
            <a:spLocks xmlns:a="http://schemas.openxmlformats.org/drawingml/2006/main" noGrp="1"/>
          </p:cNvSpPr>
          <p:nvPr/>
        </p:nvSpPr>
        <p:spPr>
          <a:xfrm xmlns:a="http://schemas.openxmlformats.org/drawingml/2006/main">
            <a:off x="1676400" y="23241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Existing SAP workflows</a:t>
            </a:r>
          </a:p>
          <a:p xmlns:a="http://schemas.openxmlformats.org/drawingml/2006/main">
            <a:pPr algn="l">
              <a:defRPr sz="2175" b="0">
                <a:solidFill>
                  <a:srgbClr val="152047"/>
                </a:solidFill>
              </a:defRPr>
            </a:pPr>
            <a:r>
              <a:rPr sz="2175" b="0">
                <a:solidFill>
                  <a:srgbClr val="152047"/>
                </a:solidFill>
                <a:latin typeface="Arial"/>
                <a:ea typeface="Arial"/>
                <a:cs typeface="Arial"/>
              </a:rPr>
              <a:t>One evidence-to-action experience</a:t>
            </a:r>
          </a:p>
        </p:txBody>
      </p:sp>
      <p:sp>
        <p:nvSpPr>
          <p:cNvPr id="22" name="">
            <a:extLst xmlns:a="http://schemas.openxmlformats.org/drawingml/2006/main">
              <a:ext uri="{FF2B5EF4-FFF2-40B4-BE49-F238E27FC236}">
                <a16:creationId xmlns:a16="http://schemas.microsoft.com/office/drawing/2014/main" id="{5A28A437-5BCD-4A19-BD28-19FCDC7C73E4}"/>
              </a:ext>
            </a:extLst>
          </p:cNvPr>
          <p:cNvSpPr>
            <a:spLocks xmlns:a="http://schemas.openxmlformats.org/drawingml/2006/main" noGrp="1"/>
          </p:cNvSpPr>
          <p:nvPr/>
        </p:nvSpPr>
        <p:spPr>
          <a:xfrm xmlns:a="http://schemas.openxmlformats.org/drawingml/2006/main">
            <a:off x="6991350" y="15335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6D850B-B8A3-4C5D-A84D-2362088B2300}"/>
              </a:ext>
            </a:extLst>
          </p:cNvPr>
          <p:cNvSpPr>
            <a:spLocks xmlns:a="http://schemas.openxmlformats.org/drawingml/2006/main" noGrp="1"/>
          </p:cNvSpPr>
          <p:nvPr/>
        </p:nvSpPr>
        <p:spPr>
          <a:xfrm xmlns:a="http://schemas.openxmlformats.org/drawingml/2006/main">
            <a:off x="7124700" y="15621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WEAKNESSES</a:t>
            </a:r>
          </a:p>
        </p:txBody>
      </p:sp>
      <p:sp>
        <p:nvSpPr>
          <p:cNvPr id="24" name="">
            <a:extLst xmlns:a="http://schemas.openxmlformats.org/drawingml/2006/main">
              <a:ext uri="{FF2B5EF4-FFF2-40B4-BE49-F238E27FC236}">
                <a16:creationId xmlns:a16="http://schemas.microsoft.com/office/drawing/2014/main" id="{B4B5C349-498D-466A-9772-A0D5ACBFAD47}"/>
              </a:ext>
            </a:extLst>
          </p:cNvPr>
          <p:cNvSpPr>
            <a:spLocks xmlns:a="http://schemas.openxmlformats.org/drawingml/2006/main" noGrp="1"/>
          </p:cNvSpPr>
          <p:nvPr/>
        </p:nvSpPr>
        <p:spPr>
          <a:xfrm xmlns:a="http://schemas.openxmlformats.org/drawingml/2006/main">
            <a:off x="6991350" y="20859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259F40F-3DB1-4A90-9D30-7DBC8CA91C23}"/>
              </a:ext>
            </a:extLst>
          </p:cNvPr>
          <p:cNvSpPr>
            <a:spLocks xmlns:a="http://schemas.openxmlformats.org/drawingml/2006/main" noGrp="1"/>
          </p:cNvSpPr>
          <p:nvPr/>
        </p:nvSpPr>
        <p:spPr>
          <a:xfrm xmlns:a="http://schemas.openxmlformats.org/drawingml/2006/main">
            <a:off x="7181850" y="23336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W</a:t>
            </a:r>
          </a:p>
        </p:txBody>
      </p:sp>
      <p:sp>
        <p:nvSpPr>
          <p:cNvPr id="26" name="">
            <a:extLst xmlns:a="http://schemas.openxmlformats.org/drawingml/2006/main">
              <a:ext uri="{FF2B5EF4-FFF2-40B4-BE49-F238E27FC236}">
                <a16:creationId xmlns:a16="http://schemas.microsoft.com/office/drawing/2014/main" id="{8ABE2B0C-7C7D-44C9-90FE-336CF92368FA}"/>
              </a:ext>
            </a:extLst>
          </p:cNvPr>
          <p:cNvSpPr>
            <a:spLocks xmlns:a="http://schemas.openxmlformats.org/drawingml/2006/main" noGrp="1"/>
          </p:cNvSpPr>
          <p:nvPr/>
        </p:nvSpPr>
        <p:spPr>
          <a:xfrm xmlns:a="http://schemas.openxmlformats.org/drawingml/2006/main">
            <a:off x="8210550" y="23241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Prototype, not production</a:t>
            </a:r>
          </a:p>
          <a:p xmlns:a="http://schemas.openxmlformats.org/drawingml/2006/main">
            <a:pPr algn="l">
              <a:defRPr sz="2175" b="0">
                <a:solidFill>
                  <a:srgbClr val="152047"/>
                </a:solidFill>
              </a:defRPr>
            </a:pPr>
            <a:r>
              <a:rPr sz="2175" b="0">
                <a:solidFill>
                  <a:srgbClr val="152047"/>
                </a:solidFill>
                <a:latin typeface="Arial"/>
                <a:ea typeface="Arial"/>
                <a:cs typeface="Arial"/>
              </a:rPr>
              <a:t>Hardware and data-quality dependence</a:t>
            </a:r>
          </a:p>
        </p:txBody>
      </p:sp>
      <p:sp>
        <p:nvSpPr>
          <p:cNvPr id="27" name="">
            <a:extLst xmlns:a="http://schemas.openxmlformats.org/drawingml/2006/main">
              <a:ext uri="{FF2B5EF4-FFF2-40B4-BE49-F238E27FC236}">
                <a16:creationId xmlns:a16="http://schemas.microsoft.com/office/drawing/2014/main" id="{942D5355-57AF-4198-ADDD-E5E45BDAB5D9}"/>
              </a:ext>
            </a:extLst>
          </p:cNvPr>
          <p:cNvSpPr>
            <a:spLocks xmlns:a="http://schemas.openxmlformats.org/drawingml/2006/main" noGrp="1"/>
          </p:cNvSpPr>
          <p:nvPr/>
        </p:nvSpPr>
        <p:spPr>
          <a:xfrm xmlns:a="http://schemas.openxmlformats.org/drawingml/2006/main">
            <a:off x="457200" y="40100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ACE4680-8AC9-4CFD-A8A8-DDDC06A3655D}"/>
              </a:ext>
            </a:extLst>
          </p:cNvPr>
          <p:cNvSpPr>
            <a:spLocks xmlns:a="http://schemas.openxmlformats.org/drawingml/2006/main" noGrp="1"/>
          </p:cNvSpPr>
          <p:nvPr/>
        </p:nvSpPr>
        <p:spPr>
          <a:xfrm xmlns:a="http://schemas.openxmlformats.org/drawingml/2006/main">
            <a:off x="590550" y="40386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OPPORTUNITIES</a:t>
            </a:r>
          </a:p>
        </p:txBody>
      </p:sp>
      <p:sp>
        <p:nvSpPr>
          <p:cNvPr id="29" name="">
            <a:extLst xmlns:a="http://schemas.openxmlformats.org/drawingml/2006/main">
              <a:ext uri="{FF2B5EF4-FFF2-40B4-BE49-F238E27FC236}">
                <a16:creationId xmlns:a16="http://schemas.microsoft.com/office/drawing/2014/main" id="{9BC0B94D-756E-4655-8F0A-6E335CDEA52B}"/>
              </a:ext>
            </a:extLst>
          </p:cNvPr>
          <p:cNvSpPr>
            <a:spLocks xmlns:a="http://schemas.openxmlformats.org/drawingml/2006/main" noGrp="1"/>
          </p:cNvSpPr>
          <p:nvPr/>
        </p:nvSpPr>
        <p:spPr>
          <a:xfrm xmlns:a="http://schemas.openxmlformats.org/drawingml/2006/main">
            <a:off x="457200" y="45624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29064DC-708F-4A8E-B3C3-70B9BF402E53}"/>
              </a:ext>
            </a:extLst>
          </p:cNvPr>
          <p:cNvSpPr>
            <a:spLocks xmlns:a="http://schemas.openxmlformats.org/drawingml/2006/main" noGrp="1"/>
          </p:cNvSpPr>
          <p:nvPr/>
        </p:nvSpPr>
        <p:spPr>
          <a:xfrm xmlns:a="http://schemas.openxmlformats.org/drawingml/2006/main">
            <a:off x="647700" y="48101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O</a:t>
            </a:r>
          </a:p>
        </p:txBody>
      </p:sp>
      <p:sp>
        <p:nvSpPr>
          <p:cNvPr id="31" name="">
            <a:extLst xmlns:a="http://schemas.openxmlformats.org/drawingml/2006/main">
              <a:ext uri="{FF2B5EF4-FFF2-40B4-BE49-F238E27FC236}">
                <a16:creationId xmlns:a16="http://schemas.microsoft.com/office/drawing/2014/main" id="{1DBA173B-F1EF-4D3F-AE4D-70E26E69A37B}"/>
              </a:ext>
            </a:extLst>
          </p:cNvPr>
          <p:cNvSpPr>
            <a:spLocks xmlns:a="http://schemas.openxmlformats.org/drawingml/2006/main" noGrp="1"/>
          </p:cNvSpPr>
          <p:nvPr/>
        </p:nvSpPr>
        <p:spPr>
          <a:xfrm xmlns:a="http://schemas.openxmlformats.org/drawingml/2006/main">
            <a:off x="1676400" y="48006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Sell into SAP retail relationships</a:t>
            </a:r>
          </a:p>
          <a:p xmlns:a="http://schemas.openxmlformats.org/drawingml/2006/main">
            <a:pPr algn="l">
              <a:defRPr sz="2175" b="0">
                <a:solidFill>
                  <a:srgbClr val="152047"/>
                </a:solidFill>
              </a:defRPr>
            </a:pPr>
            <a:r>
              <a:rPr sz="2175" b="0">
                <a:solidFill>
                  <a:srgbClr val="152047"/>
                </a:solidFill>
                <a:latin typeface="Arial"/>
                <a:ea typeface="Arial"/>
                <a:cs typeface="Arial"/>
              </a:rPr>
              <a:t>Prove value on unavailable sizes</a:t>
            </a:r>
          </a:p>
        </p:txBody>
      </p:sp>
      <p:sp>
        <p:nvSpPr>
          <p:cNvPr id="32" name="">
            <a:extLst xmlns:a="http://schemas.openxmlformats.org/drawingml/2006/main">
              <a:ext uri="{FF2B5EF4-FFF2-40B4-BE49-F238E27FC236}">
                <a16:creationId xmlns:a16="http://schemas.microsoft.com/office/drawing/2014/main" id="{E9EE6F22-9639-481F-B460-E6DAEFDB2252}"/>
              </a:ext>
            </a:extLst>
          </p:cNvPr>
          <p:cNvSpPr>
            <a:spLocks xmlns:a="http://schemas.openxmlformats.org/drawingml/2006/main" noGrp="1"/>
          </p:cNvSpPr>
          <p:nvPr/>
        </p:nvSpPr>
        <p:spPr>
          <a:xfrm xmlns:a="http://schemas.openxmlformats.org/drawingml/2006/main">
            <a:off x="6991350" y="40100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01F93EB-8F97-4488-A7E3-20C2FDC6479C}"/>
              </a:ext>
            </a:extLst>
          </p:cNvPr>
          <p:cNvSpPr>
            <a:spLocks xmlns:a="http://schemas.openxmlformats.org/drawingml/2006/main" noGrp="1"/>
          </p:cNvSpPr>
          <p:nvPr/>
        </p:nvSpPr>
        <p:spPr>
          <a:xfrm xmlns:a="http://schemas.openxmlformats.org/drawingml/2006/main">
            <a:off x="7124700" y="40386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THREATS</a:t>
            </a:r>
          </a:p>
        </p:txBody>
      </p:sp>
      <p:sp>
        <p:nvSpPr>
          <p:cNvPr id="34" name="">
            <a:extLst xmlns:a="http://schemas.openxmlformats.org/drawingml/2006/main">
              <a:ext uri="{FF2B5EF4-FFF2-40B4-BE49-F238E27FC236}">
                <a16:creationId xmlns:a16="http://schemas.microsoft.com/office/drawing/2014/main" id="{7C339232-EE0D-4ED6-9032-45F65D0D67F5}"/>
              </a:ext>
            </a:extLst>
          </p:cNvPr>
          <p:cNvSpPr>
            <a:spLocks xmlns:a="http://schemas.openxmlformats.org/drawingml/2006/main" noGrp="1"/>
          </p:cNvSpPr>
          <p:nvPr/>
        </p:nvSpPr>
        <p:spPr>
          <a:xfrm xmlns:a="http://schemas.openxmlformats.org/drawingml/2006/main">
            <a:off x="6991350" y="45624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5FF85EB-48D4-486B-BDF2-82B2F856DDA6}"/>
              </a:ext>
            </a:extLst>
          </p:cNvPr>
          <p:cNvSpPr>
            <a:spLocks xmlns:a="http://schemas.openxmlformats.org/drawingml/2006/main" noGrp="1"/>
          </p:cNvSpPr>
          <p:nvPr/>
        </p:nvSpPr>
        <p:spPr>
          <a:xfrm xmlns:a="http://schemas.openxmlformats.org/drawingml/2006/main">
            <a:off x="7181850" y="48101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T</a:t>
            </a:r>
          </a:p>
        </p:txBody>
      </p:sp>
      <p:sp>
        <p:nvSpPr>
          <p:cNvPr id="36" name="">
            <a:extLst xmlns:a="http://schemas.openxmlformats.org/drawingml/2006/main">
              <a:ext uri="{FF2B5EF4-FFF2-40B4-BE49-F238E27FC236}">
                <a16:creationId xmlns:a16="http://schemas.microsoft.com/office/drawing/2014/main" id="{61A67C5C-9303-4863-A9C1-3D3F4CF98FCF}"/>
              </a:ext>
            </a:extLst>
          </p:cNvPr>
          <p:cNvSpPr>
            <a:spLocks xmlns:a="http://schemas.openxmlformats.org/drawingml/2006/main" noGrp="1"/>
          </p:cNvSpPr>
          <p:nvPr/>
        </p:nvSpPr>
        <p:spPr>
          <a:xfrm xmlns:a="http://schemas.openxmlformats.org/drawingml/2006/main">
            <a:off x="8210550" y="48006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Strong planning and RFID vendors</a:t>
            </a:r>
          </a:p>
          <a:p xmlns:a="http://schemas.openxmlformats.org/drawingml/2006/main">
            <a:pPr algn="l">
              <a:defRPr sz="2175" b="0">
                <a:solidFill>
                  <a:srgbClr val="152047"/>
                </a:solidFill>
              </a:defRPr>
            </a:pPr>
            <a:r>
              <a:rPr sz="2175" b="0">
                <a:solidFill>
                  <a:srgbClr val="152047"/>
                </a:solidFill>
                <a:latin typeface="Arial"/>
                <a:ea typeface="Arial"/>
                <a:cs typeface="Arial"/>
              </a:rPr>
              <a:t>Budget pressure and long sales cycles</a:t>
            </a:r>
          </a:p>
        </p:txBody>
      </p:sp>
    </p:spTree>
    <p:extLst>
      <p:ext uri="{BB962C8B-B14F-4D97-AF65-F5344CB8AC3E}">
        <p14:creationId xmlns:p14="http://schemas.microsoft.com/office/powerpoint/2010/main" val="23942001"/>
      </p:ext>
    </p:extLst>
  </p:cSld>
</p:sld>
</file>

<file path=ppt/slides/slide12.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8CB1CB-87A7-4B34-9460-41349AF5DFC7}"/>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0397D-6EEB-4E47-AD27-83E8C5942F38}"/>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DEPENDENCIES</a:t>
            </a:r>
          </a:p>
        </p:txBody>
      </p:sp>
      <p:sp>
        <p:nvSpPr>
          <p:cNvPr id="4" name="">
            <a:extLst xmlns:a="http://schemas.openxmlformats.org/drawingml/2006/main">
              <a:ext uri="{FF2B5EF4-FFF2-40B4-BE49-F238E27FC236}">
                <a16:creationId xmlns:a16="http://schemas.microsoft.com/office/drawing/2014/main" id="{2921185B-2789-47A6-8260-3112E50A39B6}"/>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Dependencies come before automation</a:t>
            </a:r>
          </a:p>
        </p:txBody>
      </p:sp>
      <p:sp>
        <p:nvSpPr>
          <p:cNvPr id="5" name="">
            <a:extLst xmlns:a="http://schemas.openxmlformats.org/drawingml/2006/main">
              <a:ext uri="{FF2B5EF4-FFF2-40B4-BE49-F238E27FC236}">
                <a16:creationId xmlns:a16="http://schemas.microsoft.com/office/drawing/2014/main" id="{A637A2A7-8D2F-4AE1-A0B6-0AFD00FF0D8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SAP roles: CAR = transaction context; S/4HANA = execution; Commerce = online channel; IBP = planning.</a:t>
            </a:r>
          </a:p>
        </p:txBody>
      </p:sp>
      <p:sp>
        <p:nvSpPr>
          <p:cNvPr id="6" name="">
            <a:extLst xmlns:a="http://schemas.openxmlformats.org/drawingml/2006/main">
              <a:ext uri="{FF2B5EF4-FFF2-40B4-BE49-F238E27FC236}">
                <a16:creationId xmlns:a16="http://schemas.microsoft.com/office/drawing/2014/main" id="{FA13DB55-ACE0-4F1E-B3E2-D38733105D33}"/>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4796BE-E4F3-4776-A854-52E2ADB04FD9}"/>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408B6D0-2467-42D1-B27E-9F18BD15892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2ED0F9-B6DE-4FF2-A3B0-8B1D2A208CA8}"/>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887A1953-3F63-4DAA-B5AA-B356FE7A64FC}"/>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949F8E-853C-4AF0-8339-613A899CF8E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04C5B0AC-4EF8-4D80-A224-505AF89F7342}"/>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9FA879-B8C9-4376-9454-B27309661798}"/>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7DB20450-3276-4E82-8DAC-AD3CA01B3048}"/>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4FC72C-681D-41E9-8CB1-71766B82279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AD020F85-D678-4866-AA73-FE41C2C22742}"/>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12</a:t>
            </a:r>
          </a:p>
        </p:txBody>
      </p:sp>
      <p:graphicFrame>
        <p:nvGraphicFramePr>
          <p:cNvPr id="17" name="">
            <a:extLst xmlns:a="http://schemas.openxmlformats.org/drawingml/2006/main">
              <a:ext uri="{FF2B5EF4-FFF2-40B4-BE49-F238E27FC236}">
                <a16:creationId xmlns:a16="http://schemas.microsoft.com/office/drawing/2014/main" id="{FE001B28-6563-429A-988D-476B7FA6B85A}"/>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981075">
                <a:tc>
                  <a:txBody>
                    <a:bodyPr/>
                    <a:lstStyle/>
                    <a:p>
                      <a:r>
                        <a:rPr sz="1875" b="1">
                          <a:solidFill>
                            <a:srgbClr val="FFFFFF"/>
                          </a:solidFill>
                          <a:latin typeface="Arial"/>
                          <a:ea typeface="Arial"/>
                          <a:cs typeface="Arial"/>
                        </a:rPr>
                        <a:t>Dependency</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Required before pilot actions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Owner</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981075">
                <a:tc>
                  <a:txBody>
                    <a:bodyPr/>
                    <a:lstStyle/>
                    <a:p>
                      <a:r>
                        <a:rPr sz="1875" b="1">
                          <a:solidFill>
                            <a:srgbClr val="FFFFFF"/>
                          </a:solidFill>
                          <a:latin typeface="Arial"/>
                          <a:ea typeface="Arial"/>
                          <a:cs typeface="Arial"/>
                        </a:rPr>
                        <a:t>Reliable shared records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Match SKU / size / location; reconcile stock and timestamps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Retail IT + data lead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Safe SAP integration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Tenant sandbox, supported interfaces, roles and audit trail</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SAP / retailer integration team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981075">
                <a:tc>
                  <a:txBody>
                    <a:bodyPr/>
                    <a:lstStyle/>
                    <a:p>
                      <a:r>
                        <a:rPr sz="1875" b="1">
                          <a:solidFill>
                            <a:srgbClr val="FFFFFF"/>
                          </a:solidFill>
                          <a:latin typeface="Arial"/>
                          <a:ea typeface="Arial"/>
                          <a:cs typeface="Arial"/>
                        </a:rPr>
                        <a:t>Qualified demand events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RFID zone tests; session deduplication; bot filtering</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Hardware + commerce teams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Commercial and privacy terms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Partner quotes, data agreement and retention policy</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Procurement + privacy lead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492830980"/>
      </p:ext>
    </p:extLst>
  </p:cSld>
</p:sld>
</file>

<file path=ppt/slides/slide13.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C24B8A-1A07-4001-89D8-8028B852E52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56C4A3-59A0-44D7-83E9-951A8F5753A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RISKS AND MITIGATIONS</a:t>
            </a:r>
          </a:p>
        </p:txBody>
      </p:sp>
      <p:sp>
        <p:nvSpPr>
          <p:cNvPr id="4" name="">
            <a:extLst xmlns:a="http://schemas.openxmlformats.org/drawingml/2006/main">
              <a:ext uri="{FF2B5EF4-FFF2-40B4-BE49-F238E27FC236}">
                <a16:creationId xmlns:a16="http://schemas.microsoft.com/office/drawing/2014/main" id="{4C1B2B89-943F-423B-8194-BAF6917AC6FB}"/>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Three risks could stop the pilot</a:t>
            </a:r>
          </a:p>
        </p:txBody>
      </p:sp>
      <p:sp>
        <p:nvSpPr>
          <p:cNvPr id="5" name="">
            <a:extLst xmlns:a="http://schemas.openxmlformats.org/drawingml/2006/main">
              <a:ext uri="{FF2B5EF4-FFF2-40B4-BE49-F238E27FC236}">
                <a16:creationId xmlns:a16="http://schemas.microsoft.com/office/drawing/2014/main" id="{94D54ED6-85E5-461E-B1A7-E8C5DA6008B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Risk owners: retail operations, privacy lead and CFO respectively. Thresholds are proposed pilot gates.</a:t>
            </a:r>
          </a:p>
        </p:txBody>
      </p:sp>
      <p:sp>
        <p:nvSpPr>
          <p:cNvPr id="6" name="">
            <a:extLst xmlns:a="http://schemas.openxmlformats.org/drawingml/2006/main">
              <a:ext uri="{FF2B5EF4-FFF2-40B4-BE49-F238E27FC236}">
                <a16:creationId xmlns:a16="http://schemas.microsoft.com/office/drawing/2014/main" id="{D2D64B78-4347-454E-A45D-37B86F061F1B}"/>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4AC490-0E60-4C21-93C3-37AE1FCD9203}"/>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BE614C9F-74A1-469B-A659-D5EB1F69BD7A}"/>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C4F4571-F053-411C-8F08-EE99C6248C0C}"/>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EA1E6F26-9436-4504-87ED-55B8BEF3F719}"/>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EFBAB2-C15E-45AA-964A-54ED69D5DAFB}"/>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EF5CE42C-8268-40DB-B69E-4AFE70B0E33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4D23D3-7941-494D-AA05-F5080C1D2DF4}"/>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F32D53AA-BA15-4A15-9ADD-BC2D9E86EDA5}"/>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2EEAF2-4D0D-4E64-8A57-FD11E074E513}"/>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E13CF565-D643-4956-B729-BEF4E6A62677}"/>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13</a:t>
            </a:r>
          </a:p>
        </p:txBody>
      </p:sp>
      <p:graphicFrame>
        <p:nvGraphicFramePr>
          <p:cNvPr id="17" name="">
            <a:extLst xmlns:a="http://schemas.openxmlformats.org/drawingml/2006/main">
              <a:ext uri="{FF2B5EF4-FFF2-40B4-BE49-F238E27FC236}">
                <a16:creationId xmlns:a16="http://schemas.microsoft.com/office/drawing/2014/main" id="{F1C6C70A-EFE0-4A12-AF66-927CBBF68336}"/>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1226344">
                <a:tc>
                  <a:txBody>
                    <a:bodyPr/>
                    <a:lstStyle/>
                    <a:p>
                      <a:r>
                        <a:rPr sz="1875" b="1">
                          <a:solidFill>
                            <a:srgbClr val="FFFFFF"/>
                          </a:solidFill>
                          <a:latin typeface="Arial"/>
                          <a:ea typeface="Arial"/>
                          <a:cs typeface="Arial"/>
                        </a:rPr>
                        <a:t>Risk</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Mitigation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Stop / review trigger</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1226344">
                <a:tc>
                  <a:txBody>
                    <a:bodyPr/>
                    <a:lstStyle/>
                    <a:p>
                      <a:r>
                        <a:rPr sz="1875" b="1">
                          <a:solidFill>
                            <a:srgbClr val="FFFFFF"/>
                          </a:solidFill>
                          <a:latin typeface="Arial"/>
                          <a:ea typeface="Arial"/>
                          <a:cs typeface="Arial"/>
                        </a:rPr>
                        <a:t>Wrong demand or stale stock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Confidence thresholds; fresh-stock check; planner approval; reconcile receipts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Stock mismatch &gt;2% or repeated bad transfers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226344">
                <a:tc>
                  <a:txBody>
                    <a:bodyPr/>
                    <a:lstStyle/>
                    <a:p>
                      <a:r>
                        <a:rPr sz="1875" b="1">
                          <a:solidFill>
                            <a:srgbClr val="FFFFFF"/>
                          </a:solidFill>
                          <a:latin typeface="Arial"/>
                          <a:ea typeface="Arial"/>
                          <a:cs typeface="Arial"/>
                        </a:rPr>
                        <a:t>Fitting-room privacy and trust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Garment events only; no cameras or identities; aggregate; short retention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Unresolved privacy concern or missing approval</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1226344">
                <a:tc>
                  <a:txBody>
                    <a:bodyPr/>
                    <a:lstStyle/>
                    <a:p>
                      <a:r>
                        <a:rPr sz="1875" b="1">
                          <a:solidFill>
                            <a:srgbClr val="FFFFFF"/>
                          </a:solidFill>
                          <a:latin typeface="Arial"/>
                          <a:ea typeface="Arial"/>
                          <a:cs typeface="Arial"/>
                        </a:rPr>
                        <a:t>Low adoption or weak economics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Planner co-design; top exceptions only; matched comparison; capped pilot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No response-time improvement or no path to positive value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908320990"/>
      </p:ext>
    </p:extLst>
  </p:cSld>
</p:sld>
</file>

<file path=ppt/slides/slide14.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AA75530-5336-42B7-B68B-10FBBCF60EA9}"/>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74DA73-1890-43CD-898A-3ECAD0085BD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STAKEHOLDER ALIGNMENT</a:t>
            </a:r>
          </a:p>
        </p:txBody>
      </p:sp>
      <p:sp>
        <p:nvSpPr>
          <p:cNvPr id="4" name="">
            <a:extLst xmlns:a="http://schemas.openxmlformats.org/drawingml/2006/main">
              <a:ext uri="{FF2B5EF4-FFF2-40B4-BE49-F238E27FC236}">
                <a16:creationId xmlns:a16="http://schemas.microsoft.com/office/drawing/2014/main" id="{00F5D40A-B4A8-486C-8CE2-F284695E1C5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Decision rights resolve competing stakeholder needs</a:t>
            </a:r>
          </a:p>
        </p:txBody>
      </p:sp>
      <p:sp>
        <p:nvSpPr>
          <p:cNvPr id="5" name="">
            <a:extLst xmlns:a="http://schemas.openxmlformats.org/drawingml/2006/main">
              <a:ext uri="{FF2B5EF4-FFF2-40B4-BE49-F238E27FC236}">
                <a16:creationId xmlns:a16="http://schemas.microsoft.com/office/drawing/2014/main" id="{164BD49D-A840-4FD7-9088-4E47EE43CEDA}"/>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Escalation: margin or reserve conflict → retail operations leader; data/privacy failure → pause affected actions.</a:t>
            </a:r>
          </a:p>
        </p:txBody>
      </p:sp>
      <p:sp>
        <p:nvSpPr>
          <p:cNvPr id="6" name="">
            <a:extLst xmlns:a="http://schemas.openxmlformats.org/drawingml/2006/main">
              <a:ext uri="{FF2B5EF4-FFF2-40B4-BE49-F238E27FC236}">
                <a16:creationId xmlns:a16="http://schemas.microsoft.com/office/drawing/2014/main" id="{FFE13567-0AA9-4233-98BC-45C3E189BB6C}"/>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92C379-5366-4D8E-A909-636B8C576FF3}"/>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D88BFFD4-D29C-469D-BDDB-D1735AB67387}"/>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6948B4-F1E5-4227-B66E-429A094CA48E}"/>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E1FDFE25-E6BA-4C61-B120-4F08D839CE2E}"/>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DC4703-C1E8-4DA0-A022-5A7724C2AFAE}"/>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4FB31351-BDDA-4130-8F94-13AB3B729E56}"/>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41BC7B-281D-428C-95CD-132424584B57}"/>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07A9115C-32E4-4ACF-9F80-103A61D69575}"/>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6F739EB-B317-41ED-860F-ACDE4E70DBA1}"/>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0651687F-9C20-414B-AA49-B3848BB66932}"/>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14</a:t>
            </a:r>
          </a:p>
        </p:txBody>
      </p:sp>
      <p:graphicFrame>
        <p:nvGraphicFramePr>
          <p:cNvPr id="17" name="">
            <a:extLst xmlns:a="http://schemas.openxmlformats.org/drawingml/2006/main">
              <a:ext uri="{FF2B5EF4-FFF2-40B4-BE49-F238E27FC236}">
                <a16:creationId xmlns:a16="http://schemas.microsoft.com/office/drawing/2014/main" id="{1EF0E1D6-D8F6-4B72-86C1-4781870ACC41}"/>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817563">
                <a:tc>
                  <a:txBody>
                    <a:bodyPr/>
                    <a:lstStyle/>
                    <a:p>
                      <a:r>
                        <a:rPr sz="1875" b="1">
                          <a:solidFill>
                            <a:srgbClr val="FFFFFF"/>
                          </a:solidFill>
                          <a:latin typeface="Arial"/>
                          <a:ea typeface="Arial"/>
                          <a:cs typeface="Arial"/>
                        </a:rPr>
                        <a:t>Stakeholder</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What they need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Decision / concession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17563">
                <a:tc>
                  <a:txBody>
                    <a:bodyPr/>
                    <a:lstStyle/>
                    <a:p>
                      <a:r>
                        <a:rPr sz="1875" b="1">
                          <a:solidFill>
                            <a:srgbClr val="FFFFFF"/>
                          </a:solidFill>
                          <a:latin typeface="Arial"/>
                          <a:ea typeface="Arial"/>
                          <a:cs typeface="Arial"/>
                        </a:rPr>
                        <a:t>Bob + store managers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Fast action without draining another store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Planner proposes; source manager protects reserve.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CFO / COO</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Value, margin and spending control</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CFO owns pilot gate and spending limits.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Retail IT + SAP product team</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Secure integration and a clear product boundary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Reuse IBP / CAR; IT can block stale or invalid data.</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Privacy + shoppers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No personal surveillance</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Privacy lead approves collection and retention.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Hardware / service partners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Commercial incentive and support clarity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Partners earn hardware and deployment revenue.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952490667"/>
      </p:ext>
    </p:extLst>
  </p:cSld>
</p:sld>
</file>

<file path=ppt/slides/slide15.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9075E9-701C-44C1-A856-A7B53A2F620E}"/>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4E453C-6497-4028-8C50-0383FB1F626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TRADE-OFFS AND LIMITATIONS</a:t>
            </a:r>
          </a:p>
        </p:txBody>
      </p:sp>
      <p:sp>
        <p:nvSpPr>
          <p:cNvPr id="4" name="">
            <a:extLst xmlns:a="http://schemas.openxmlformats.org/drawingml/2006/main">
              <a:ext uri="{FF2B5EF4-FFF2-40B4-BE49-F238E27FC236}">
                <a16:creationId xmlns:a16="http://schemas.microsoft.com/office/drawing/2014/main" id="{6354C1BC-A4B1-43DF-8BC8-8BDD21432BFE}"/>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Trade-offs are deliberate</a:t>
            </a:r>
          </a:p>
        </p:txBody>
      </p:sp>
      <p:sp>
        <p:nvSpPr>
          <p:cNvPr id="5" name="">
            <a:extLst xmlns:a="http://schemas.openxmlformats.org/drawingml/2006/main">
              <a:ext uri="{FF2B5EF4-FFF2-40B4-BE49-F238E27FC236}">
                <a16:creationId xmlns:a16="http://schemas.microsoft.com/office/drawing/2014/main" id="{8A222590-6560-492E-A429-43E28D2193A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Try-ons and searches indicate interest, not guaranteed purchases or the cause of non-purchase.</a:t>
            </a:r>
          </a:p>
        </p:txBody>
      </p:sp>
      <p:sp>
        <p:nvSpPr>
          <p:cNvPr id="6" name="">
            <a:extLst xmlns:a="http://schemas.openxmlformats.org/drawingml/2006/main">
              <a:ext uri="{FF2B5EF4-FFF2-40B4-BE49-F238E27FC236}">
                <a16:creationId xmlns:a16="http://schemas.microsoft.com/office/drawing/2014/main" id="{A7D66F25-AB0C-4DCF-9007-2608CF13339D}"/>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21BEC7-E4FD-4FB5-BE66-0FF8B1A65E9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47B576E-1C0F-4166-A6C8-84FBFF5723F0}"/>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DFD744-8B01-4E0F-8B18-3E6670FF489C}"/>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0EE40B53-81E7-4225-8520-7ABB6282074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ACAC3A-1C7C-477C-A952-0E705F8F5D2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8AE89BCA-61E4-4A06-B9AA-3C98DAB858AF}"/>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026DFF-0933-4189-B549-10CA3EA72771}"/>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BA29788-2196-462B-BC19-C92B84CDDD6C}"/>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6256A5-8271-4C9C-97DA-A79923D069A6}"/>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2F89CDC9-E0CE-48FE-9C8F-90C7B88D80A0}"/>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15</a:t>
            </a:r>
          </a:p>
        </p:txBody>
      </p:sp>
      <p:sp>
        <p:nvSpPr>
          <p:cNvPr id="17" name="">
            <a:extLst xmlns:a="http://schemas.openxmlformats.org/drawingml/2006/main">
              <a:ext uri="{FF2B5EF4-FFF2-40B4-BE49-F238E27FC236}">
                <a16:creationId xmlns:a16="http://schemas.microsoft.com/office/drawing/2014/main" id="{05F13C58-9FE5-4B94-9A97-F356B7D6F6E4}"/>
              </a:ext>
            </a:extLst>
          </p:cNvPr>
          <p:cNvSpPr>
            <a:spLocks xmlns:a="http://schemas.openxmlformats.org/drawingml/2006/main" noGrp="1"/>
          </p:cNvSpPr>
          <p:nvPr/>
        </p:nvSpPr>
        <p:spPr>
          <a:xfrm xmlns:a="http://schemas.openxmlformats.org/drawingml/2006/main">
            <a:off x="457200" y="153352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B5CE0A-CA9D-4964-BD74-546F2B64B522}"/>
              </a:ext>
            </a:extLst>
          </p:cNvPr>
          <p:cNvSpPr>
            <a:spLocks xmlns:a="http://schemas.openxmlformats.org/drawingml/2006/main" noGrp="1"/>
          </p:cNvSpPr>
          <p:nvPr/>
        </p:nvSpPr>
        <p:spPr>
          <a:xfrm xmlns:a="http://schemas.openxmlformats.org/drawingml/2006/main">
            <a:off x="638175" y="1457325"/>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Human approval</a:t>
            </a:r>
          </a:p>
        </p:txBody>
      </p:sp>
      <p:sp>
        <p:nvSpPr>
          <p:cNvPr id="19" name="">
            <a:extLst xmlns:a="http://schemas.openxmlformats.org/drawingml/2006/main">
              <a:ext uri="{FF2B5EF4-FFF2-40B4-BE49-F238E27FC236}">
                <a16:creationId xmlns:a16="http://schemas.microsoft.com/office/drawing/2014/main" id="{35E1DCE0-4A0B-4D47-8F64-D943F95CDB2E}"/>
              </a:ext>
            </a:extLst>
          </p:cNvPr>
          <p:cNvSpPr>
            <a:spLocks xmlns:a="http://schemas.openxmlformats.org/drawingml/2006/main" noGrp="1"/>
          </p:cNvSpPr>
          <p:nvPr/>
        </p:nvSpPr>
        <p:spPr>
          <a:xfrm xmlns:a="http://schemas.openxmlformats.org/drawingml/2006/main">
            <a:off x="638175" y="1952625"/>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Slower than full automation; safer while evidence is uncertain.</a:t>
            </a:r>
          </a:p>
        </p:txBody>
      </p:sp>
      <p:sp>
        <p:nvSpPr>
          <p:cNvPr id="20" name="">
            <a:extLst xmlns:a="http://schemas.openxmlformats.org/drawingml/2006/main">
              <a:ext uri="{FF2B5EF4-FFF2-40B4-BE49-F238E27FC236}">
                <a16:creationId xmlns:a16="http://schemas.microsoft.com/office/drawing/2014/main" id="{C65B17EB-65E5-4A0C-9730-828A9626E37E}"/>
              </a:ext>
            </a:extLst>
          </p:cNvPr>
          <p:cNvSpPr>
            <a:spLocks xmlns:a="http://schemas.openxmlformats.org/drawingml/2006/main" noGrp="1"/>
          </p:cNvSpPr>
          <p:nvPr/>
        </p:nvSpPr>
        <p:spPr>
          <a:xfrm xmlns:a="http://schemas.openxmlformats.org/drawingml/2006/main">
            <a:off x="457200" y="280035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719D571-E992-431E-98BA-437407E91907}"/>
              </a:ext>
            </a:extLst>
          </p:cNvPr>
          <p:cNvSpPr>
            <a:spLocks xmlns:a="http://schemas.openxmlformats.org/drawingml/2006/main" noGrp="1"/>
          </p:cNvSpPr>
          <p:nvPr/>
        </p:nvSpPr>
        <p:spPr>
          <a:xfrm xmlns:a="http://schemas.openxmlformats.org/drawingml/2006/main">
            <a:off x="638175" y="272415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Apparel and existing SAP users first</a:t>
            </a:r>
          </a:p>
        </p:txBody>
      </p:sp>
      <p:sp>
        <p:nvSpPr>
          <p:cNvPr id="22" name="">
            <a:extLst xmlns:a="http://schemas.openxmlformats.org/drawingml/2006/main">
              <a:ext uri="{FF2B5EF4-FFF2-40B4-BE49-F238E27FC236}">
                <a16:creationId xmlns:a16="http://schemas.microsoft.com/office/drawing/2014/main" id="{7EE3559B-0A87-4DB2-8BF0-DC9F9611695F}"/>
              </a:ext>
            </a:extLst>
          </p:cNvPr>
          <p:cNvSpPr>
            <a:spLocks xmlns:a="http://schemas.openxmlformats.org/drawingml/2006/main" noGrp="1"/>
          </p:cNvSpPr>
          <p:nvPr/>
        </p:nvSpPr>
        <p:spPr>
          <a:xfrm xmlns:a="http://schemas.openxmlformats.org/drawingml/2006/main">
            <a:off x="638175" y="3219450"/>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Narrower reach; lower initial workflow and data complexity.</a:t>
            </a:r>
          </a:p>
        </p:txBody>
      </p:sp>
      <p:sp>
        <p:nvSpPr>
          <p:cNvPr id="23" name="">
            <a:extLst xmlns:a="http://schemas.openxmlformats.org/drawingml/2006/main">
              <a:ext uri="{FF2B5EF4-FFF2-40B4-BE49-F238E27FC236}">
                <a16:creationId xmlns:a16="http://schemas.microsoft.com/office/drawing/2014/main" id="{ED1A810D-5DE1-409B-981D-5D997BA9E1E4}"/>
              </a:ext>
            </a:extLst>
          </p:cNvPr>
          <p:cNvSpPr>
            <a:spLocks xmlns:a="http://schemas.openxmlformats.org/drawingml/2006/main" noGrp="1"/>
          </p:cNvSpPr>
          <p:nvPr/>
        </p:nvSpPr>
        <p:spPr>
          <a:xfrm xmlns:a="http://schemas.openxmlformats.org/drawingml/2006/main">
            <a:off x="457200" y="406717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1A2834-5894-488E-94EC-2FF3FBF22369}"/>
              </a:ext>
            </a:extLst>
          </p:cNvPr>
          <p:cNvSpPr>
            <a:spLocks xmlns:a="http://schemas.openxmlformats.org/drawingml/2006/main" noGrp="1"/>
          </p:cNvSpPr>
          <p:nvPr/>
        </p:nvSpPr>
        <p:spPr>
          <a:xfrm xmlns:a="http://schemas.openxmlformats.org/drawingml/2006/main">
            <a:off x="638175" y="3990975"/>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RFID in selected stores</a:t>
            </a:r>
          </a:p>
        </p:txBody>
      </p:sp>
      <p:sp>
        <p:nvSpPr>
          <p:cNvPr id="25" name="">
            <a:extLst xmlns:a="http://schemas.openxmlformats.org/drawingml/2006/main">
              <a:ext uri="{FF2B5EF4-FFF2-40B4-BE49-F238E27FC236}">
                <a16:creationId xmlns:a16="http://schemas.microsoft.com/office/drawing/2014/main" id="{D1D2B051-1510-47F8-996D-985E109CDCE1}"/>
              </a:ext>
            </a:extLst>
          </p:cNvPr>
          <p:cNvSpPr>
            <a:spLocks xmlns:a="http://schemas.openxmlformats.org/drawingml/2006/main" noGrp="1"/>
          </p:cNvSpPr>
          <p:nvPr/>
        </p:nvSpPr>
        <p:spPr>
          <a:xfrm xmlns:a="http://schemas.openxmlformats.org/drawingml/2006/main">
            <a:off x="638175" y="4486275"/>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Less coverage; avoids outfitting every store before value is proven.</a:t>
            </a:r>
          </a:p>
        </p:txBody>
      </p:sp>
      <p:sp>
        <p:nvSpPr>
          <p:cNvPr id="26" name="">
            <a:extLst xmlns:a="http://schemas.openxmlformats.org/drawingml/2006/main">
              <a:ext uri="{FF2B5EF4-FFF2-40B4-BE49-F238E27FC236}">
                <a16:creationId xmlns:a16="http://schemas.microsoft.com/office/drawing/2014/main" id="{B80DAE22-AA4C-48CD-9D25-6890F29DE0B0}"/>
              </a:ext>
            </a:extLst>
          </p:cNvPr>
          <p:cNvSpPr>
            <a:spLocks xmlns:a="http://schemas.openxmlformats.org/drawingml/2006/main" noGrp="1"/>
          </p:cNvSpPr>
          <p:nvPr/>
        </p:nvSpPr>
        <p:spPr>
          <a:xfrm xmlns:a="http://schemas.openxmlformats.org/drawingml/2006/main">
            <a:off x="457200" y="53340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0220647-DEE3-4F3F-93EB-3D2A1A251520}"/>
              </a:ext>
            </a:extLst>
          </p:cNvPr>
          <p:cNvSpPr>
            <a:spLocks xmlns:a="http://schemas.openxmlformats.org/drawingml/2006/main" noGrp="1"/>
          </p:cNvSpPr>
          <p:nvPr/>
        </p:nvSpPr>
        <p:spPr>
          <a:xfrm xmlns:a="http://schemas.openxmlformats.org/drawingml/2006/main">
            <a:off x="638175" y="525780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Evidence before prediction</a:t>
            </a:r>
          </a:p>
        </p:txBody>
      </p:sp>
      <p:sp>
        <p:nvSpPr>
          <p:cNvPr id="28" name="">
            <a:extLst xmlns:a="http://schemas.openxmlformats.org/drawingml/2006/main">
              <a:ext uri="{FF2B5EF4-FFF2-40B4-BE49-F238E27FC236}">
                <a16:creationId xmlns:a16="http://schemas.microsoft.com/office/drawing/2014/main" id="{E86E9208-47B1-42DC-9A38-72E0FF69B077}"/>
              </a:ext>
            </a:extLst>
          </p:cNvPr>
          <p:cNvSpPr>
            <a:spLocks xmlns:a="http://schemas.openxmlformats.org/drawingml/2006/main" noGrp="1"/>
          </p:cNvSpPr>
          <p:nvPr/>
        </p:nvSpPr>
        <p:spPr>
          <a:xfrm xmlns:a="http://schemas.openxmlformats.org/drawingml/2006/main">
            <a:off x="638175" y="5753100"/>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The demo explains scenarios; live news prediction and autonomous procurement remain future work.</a:t>
            </a:r>
          </a:p>
        </p:txBody>
      </p:sp>
      <p:sp>
        <p:nvSpPr>
          <p:cNvPr id="29" name="">
            <a:extLst xmlns:a="http://schemas.openxmlformats.org/drawingml/2006/main">
              <a:ext uri="{FF2B5EF4-FFF2-40B4-BE49-F238E27FC236}">
                <a16:creationId xmlns:a16="http://schemas.microsoft.com/office/drawing/2014/main" id="{A54D45C8-9B26-4012-9DCC-B06AC7825E88}"/>
              </a:ext>
            </a:extLst>
          </p:cNvPr>
          <p:cNvSpPr>
            <a:spLocks xmlns:a="http://schemas.openxmlformats.org/drawingml/2006/main" noGrp="1"/>
          </p:cNvSpPr>
          <p:nvPr/>
        </p:nvSpPr>
        <p:spPr>
          <a:xfrm xmlns:a="http://schemas.openxmlformats.org/drawingml/2006/main">
            <a:off x="7239000" y="1495425"/>
            <a:ext cx="6019800" cy="4886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5B5CBF33-CF37-4579-8ECD-C3491EEB8376}"/>
              </a:ext>
            </a:extLst>
          </p:cNvPr>
          <p:cNvPicPr>
            <a:picLocks xmlns:a="http://schemas.openxmlformats.org/drawingml/2006/main" noChangeAspect="1"/>
          </p:cNvPicPr>
          <p:nvPr/>
        </p:nvPicPr>
        <p:blipFill>
          <a:blip xmlns:r="http://schemas.openxmlformats.org/officeDocument/2006/relationships" xmlns:a="http://schemas.openxmlformats.org/drawingml/2006/main" r:embed="R63104dc05a4445dc"/>
          <a:srcRect xmlns:a="http://schemas.openxmlformats.org/drawingml/2006/main" l="16000" t="5000" r="0" b="0"/>
          <a:stretch xmlns:a="http://schemas.openxmlformats.org/drawingml/2006/main"/>
        </p:blipFill>
        <p:spPr>
          <a:xfrm xmlns:a="http://schemas.openxmlformats.org/drawingml/2006/main">
            <a:off x="7322454" y="1495425"/>
            <a:ext cx="5852892" cy="4886325"/>
          </a:xfrm>
          <a:prstGeom xmlns:a="http://schemas.openxmlformats.org/drawingml/2006/main" prst="rect">
            <a:avLst/>
          </a:prstGeom>
        </p:spPr>
      </p:pic>
    </p:spTree>
    <p:extLst>
      <p:ext uri="{BB962C8B-B14F-4D97-AF65-F5344CB8AC3E}">
        <p14:creationId xmlns:p14="http://schemas.microsoft.com/office/powerpoint/2010/main" val="1543608229"/>
      </p:ext>
    </p:extLst>
  </p:cSld>
</p:sld>
</file>

<file path=ppt/slides/slide16.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2B3A7F-CB81-48B0-B629-927942F23523}"/>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66CED5-B5DD-426D-BAAA-C03D0BB7CEB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IMPLEMENTATION TIMELINE</a:t>
            </a:r>
          </a:p>
        </p:txBody>
      </p:sp>
      <p:sp>
        <p:nvSpPr>
          <p:cNvPr id="4" name="">
            <a:extLst xmlns:a="http://schemas.openxmlformats.org/drawingml/2006/main">
              <a:ext uri="{FF2B5EF4-FFF2-40B4-BE49-F238E27FC236}">
                <a16:creationId xmlns:a16="http://schemas.microsoft.com/office/drawing/2014/main" id="{2237D2EE-A117-43C0-9C4A-6BA7596F252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A 12-week pilot earns the right to scale</a:t>
            </a:r>
          </a:p>
        </p:txBody>
      </p:sp>
      <p:sp>
        <p:nvSpPr>
          <p:cNvPr id="5" name="">
            <a:extLst xmlns:a="http://schemas.openxmlformats.org/drawingml/2006/main">
              <a:ext uri="{FF2B5EF4-FFF2-40B4-BE49-F238E27FC236}">
                <a16:creationId xmlns:a16="http://schemas.microsoft.com/office/drawing/2014/main" id="{528C8C59-8A5E-45AF-85A7-FB2422408594}"/>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Resources: SAP product lead, 2 integration engineers, full-stack engineer, analyst, UX/change lead; retail and partner counterparts.</a:t>
            </a:r>
          </a:p>
        </p:txBody>
      </p:sp>
      <p:sp>
        <p:nvSpPr>
          <p:cNvPr id="6" name="">
            <a:extLst xmlns:a="http://schemas.openxmlformats.org/drawingml/2006/main">
              <a:ext uri="{FF2B5EF4-FFF2-40B4-BE49-F238E27FC236}">
                <a16:creationId xmlns:a16="http://schemas.microsoft.com/office/drawing/2014/main" id="{9818B982-DB3B-402D-BDAD-11CB3C4D98B5}"/>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50BCF6-9387-4B1D-99DC-0B7C6777958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5FFD8E7-E097-4590-9668-8649999508B0}"/>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989610-8370-43FF-A32A-FB8B1F0567C9}"/>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2A16973A-3C38-4AF3-9DCB-A0B200DE1315}"/>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D3E3FE-E529-4AB1-9C93-82CD54A8F568}"/>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77FAFA89-0AEE-4ABD-94DB-E810AAB3E03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937901-A378-41A0-904F-D2B0067472B1}"/>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4D40BCC1-0877-4E5D-87D1-C6EDDEDDE916}"/>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BC5290-555B-4A7A-B2A7-5B9148419D76}"/>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64E68298-E919-49A5-9044-F4D651105C4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16</a:t>
            </a:r>
          </a:p>
        </p:txBody>
      </p:sp>
      <p:sp>
        <p:nvSpPr>
          <p:cNvPr id="17" name="">
            <a:extLst xmlns:a="http://schemas.openxmlformats.org/drawingml/2006/main">
              <a:ext uri="{FF2B5EF4-FFF2-40B4-BE49-F238E27FC236}">
                <a16:creationId xmlns:a16="http://schemas.microsoft.com/office/drawing/2014/main" id="{83128391-D07B-42D0-9CDA-BEC0BD2A288C}"/>
              </a:ext>
            </a:extLst>
          </p:cNvPr>
          <p:cNvSpPr>
            <a:spLocks xmlns:a="http://schemas.openxmlformats.org/drawingml/2006/main" noGrp="1"/>
          </p:cNvSpPr>
          <p:nvPr/>
        </p:nvSpPr>
        <p:spPr>
          <a:xfrm xmlns:a="http://schemas.openxmlformats.org/drawingml/2006/main">
            <a:off x="762000" y="2190750"/>
            <a:ext cx="12068175" cy="4762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58B8FC-8FE6-4710-B654-BE4AA6FD0247}"/>
              </a:ext>
            </a:extLst>
          </p:cNvPr>
          <p:cNvSpPr>
            <a:spLocks xmlns:a="http://schemas.openxmlformats.org/drawingml/2006/main" noGrp="1"/>
          </p:cNvSpPr>
          <p:nvPr/>
        </p:nvSpPr>
        <p:spPr>
          <a:xfrm xmlns:a="http://schemas.openxmlformats.org/drawingml/2006/main">
            <a:off x="59055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19" name="">
            <a:extLst xmlns:a="http://schemas.openxmlformats.org/drawingml/2006/main">
              <a:ext uri="{FF2B5EF4-FFF2-40B4-BE49-F238E27FC236}">
                <a16:creationId xmlns:a16="http://schemas.microsoft.com/office/drawing/2014/main" id="{BB45A4E3-BF60-48EE-8CDC-3271AFFEDE23}"/>
              </a:ext>
            </a:extLst>
          </p:cNvPr>
          <p:cNvSpPr>
            <a:spLocks xmlns:a="http://schemas.openxmlformats.org/drawingml/2006/main" noGrp="1"/>
          </p:cNvSpPr>
          <p:nvPr/>
        </p:nvSpPr>
        <p:spPr>
          <a:xfrm xmlns:a="http://schemas.openxmlformats.org/drawingml/2006/main">
            <a:off x="55245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1–2</a:t>
            </a:r>
          </a:p>
        </p:txBody>
      </p:sp>
      <p:sp>
        <p:nvSpPr>
          <p:cNvPr id="20" name="">
            <a:extLst xmlns:a="http://schemas.openxmlformats.org/drawingml/2006/main">
              <a:ext uri="{FF2B5EF4-FFF2-40B4-BE49-F238E27FC236}">
                <a16:creationId xmlns:a16="http://schemas.microsoft.com/office/drawing/2014/main" id="{DCF0E297-C4F0-40D1-99C0-3672F147E59A}"/>
              </a:ext>
            </a:extLst>
          </p:cNvPr>
          <p:cNvSpPr>
            <a:spLocks xmlns:a="http://schemas.openxmlformats.org/drawingml/2006/main" noGrp="1"/>
          </p:cNvSpPr>
          <p:nvPr/>
        </p:nvSpPr>
        <p:spPr>
          <a:xfrm xmlns:a="http://schemas.openxmlformats.org/drawingml/2006/main">
            <a:off x="55245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Establish trust</a:t>
            </a:r>
          </a:p>
        </p:txBody>
      </p:sp>
      <p:sp>
        <p:nvSpPr>
          <p:cNvPr id="21" name="">
            <a:extLst xmlns:a="http://schemas.openxmlformats.org/drawingml/2006/main">
              <a:ext uri="{FF2B5EF4-FFF2-40B4-BE49-F238E27FC236}">
                <a16:creationId xmlns:a16="http://schemas.microsoft.com/office/drawing/2014/main" id="{6DB9CFA4-EE87-4F44-AAB6-DE0FA324A4C8}"/>
              </a:ext>
            </a:extLst>
          </p:cNvPr>
          <p:cNvSpPr>
            <a:spLocks xmlns:a="http://schemas.openxmlformats.org/drawingml/2006/main" noGrp="1"/>
          </p:cNvSpPr>
          <p:nvPr/>
        </p:nvSpPr>
        <p:spPr>
          <a:xfrm xmlns:a="http://schemas.openxmlformats.org/drawingml/2006/main">
            <a:off x="55245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5 planner interviews; baseline workflow; privacy and stock mapping.</a:t>
            </a:r>
          </a:p>
        </p:txBody>
      </p:sp>
      <p:sp>
        <p:nvSpPr>
          <p:cNvPr id="22" name="">
            <a:extLst xmlns:a="http://schemas.openxmlformats.org/drawingml/2006/main">
              <a:ext uri="{FF2B5EF4-FFF2-40B4-BE49-F238E27FC236}">
                <a16:creationId xmlns:a16="http://schemas.microsoft.com/office/drawing/2014/main" id="{90F3BC84-BD3B-451E-BD3D-9FC1BEDA6E64}"/>
              </a:ext>
            </a:extLst>
          </p:cNvPr>
          <p:cNvSpPr>
            <a:spLocks xmlns:a="http://schemas.openxmlformats.org/drawingml/2006/main" noGrp="1"/>
          </p:cNvSpPr>
          <p:nvPr/>
        </p:nvSpPr>
        <p:spPr>
          <a:xfrm xmlns:a="http://schemas.openxmlformats.org/drawingml/2006/main">
            <a:off x="381000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23" name="">
            <a:extLst xmlns:a="http://schemas.openxmlformats.org/drawingml/2006/main">
              <a:ext uri="{FF2B5EF4-FFF2-40B4-BE49-F238E27FC236}">
                <a16:creationId xmlns:a16="http://schemas.microsoft.com/office/drawing/2014/main" id="{8FD8B438-1B9E-431E-A5DE-EB08046CDE82}"/>
              </a:ext>
            </a:extLst>
          </p:cNvPr>
          <p:cNvSpPr>
            <a:spLocks xmlns:a="http://schemas.openxmlformats.org/drawingml/2006/main" noGrp="1"/>
          </p:cNvSpPr>
          <p:nvPr/>
        </p:nvSpPr>
        <p:spPr>
          <a:xfrm xmlns:a="http://schemas.openxmlformats.org/drawingml/2006/main">
            <a:off x="377190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3–5</a:t>
            </a:r>
          </a:p>
        </p:txBody>
      </p:sp>
      <p:sp>
        <p:nvSpPr>
          <p:cNvPr id="24" name="">
            <a:extLst xmlns:a="http://schemas.openxmlformats.org/drawingml/2006/main">
              <a:ext uri="{FF2B5EF4-FFF2-40B4-BE49-F238E27FC236}">
                <a16:creationId xmlns:a16="http://schemas.microsoft.com/office/drawing/2014/main" id="{2346F972-DEA6-4C56-8C81-5E84AE1AD8F6}"/>
              </a:ext>
            </a:extLst>
          </p:cNvPr>
          <p:cNvSpPr>
            <a:spLocks xmlns:a="http://schemas.openxmlformats.org/drawingml/2006/main" noGrp="1"/>
          </p:cNvSpPr>
          <p:nvPr/>
        </p:nvSpPr>
        <p:spPr>
          <a:xfrm xmlns:a="http://schemas.openxmlformats.org/drawingml/2006/main">
            <a:off x="377190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Connect demand</a:t>
            </a:r>
          </a:p>
        </p:txBody>
      </p:sp>
      <p:sp>
        <p:nvSpPr>
          <p:cNvPr id="25" name="">
            <a:extLst xmlns:a="http://schemas.openxmlformats.org/drawingml/2006/main">
              <a:ext uri="{FF2B5EF4-FFF2-40B4-BE49-F238E27FC236}">
                <a16:creationId xmlns:a16="http://schemas.microsoft.com/office/drawing/2014/main" id="{C0879AF3-2A23-4075-894B-710DC8CEB586}"/>
              </a:ext>
            </a:extLst>
          </p:cNvPr>
          <p:cNvSpPr>
            <a:spLocks xmlns:a="http://schemas.openxmlformats.org/drawingml/2006/main" noGrp="1"/>
          </p:cNvSpPr>
          <p:nvPr/>
        </p:nvSpPr>
        <p:spPr>
          <a:xfrm xmlns:a="http://schemas.openxmlformats.org/drawingml/2006/main">
            <a:off x="377190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Online signals and stock read-only; shadow recommendations; hardware zone tests.</a:t>
            </a:r>
          </a:p>
        </p:txBody>
      </p:sp>
      <p:sp>
        <p:nvSpPr>
          <p:cNvPr id="26" name="">
            <a:extLst xmlns:a="http://schemas.openxmlformats.org/drawingml/2006/main">
              <a:ext uri="{FF2B5EF4-FFF2-40B4-BE49-F238E27FC236}">
                <a16:creationId xmlns:a16="http://schemas.microsoft.com/office/drawing/2014/main" id="{83670E17-CED7-4BE5-80C0-81D6019E744E}"/>
              </a:ext>
            </a:extLst>
          </p:cNvPr>
          <p:cNvSpPr>
            <a:spLocks xmlns:a="http://schemas.openxmlformats.org/drawingml/2006/main" noGrp="1"/>
          </p:cNvSpPr>
          <p:nvPr/>
        </p:nvSpPr>
        <p:spPr>
          <a:xfrm xmlns:a="http://schemas.openxmlformats.org/drawingml/2006/main">
            <a:off x="702945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27" name="">
            <a:extLst xmlns:a="http://schemas.openxmlformats.org/drawingml/2006/main">
              <a:ext uri="{FF2B5EF4-FFF2-40B4-BE49-F238E27FC236}">
                <a16:creationId xmlns:a16="http://schemas.microsoft.com/office/drawing/2014/main" id="{DF906D87-BE7F-4B44-9339-F507381B50F1}"/>
              </a:ext>
            </a:extLst>
          </p:cNvPr>
          <p:cNvSpPr>
            <a:spLocks xmlns:a="http://schemas.openxmlformats.org/drawingml/2006/main" noGrp="1"/>
          </p:cNvSpPr>
          <p:nvPr/>
        </p:nvSpPr>
        <p:spPr>
          <a:xfrm xmlns:a="http://schemas.openxmlformats.org/drawingml/2006/main">
            <a:off x="699135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6–8</a:t>
            </a:r>
          </a:p>
        </p:txBody>
      </p:sp>
      <p:sp>
        <p:nvSpPr>
          <p:cNvPr id="28" name="">
            <a:extLst xmlns:a="http://schemas.openxmlformats.org/drawingml/2006/main">
              <a:ext uri="{FF2B5EF4-FFF2-40B4-BE49-F238E27FC236}">
                <a16:creationId xmlns:a16="http://schemas.microsoft.com/office/drawing/2014/main" id="{08E84181-3CC9-4503-8F60-5A2BA4E95ADE}"/>
              </a:ext>
            </a:extLst>
          </p:cNvPr>
          <p:cNvSpPr>
            <a:spLocks xmlns:a="http://schemas.openxmlformats.org/drawingml/2006/main" noGrp="1"/>
          </p:cNvSpPr>
          <p:nvPr/>
        </p:nvSpPr>
        <p:spPr>
          <a:xfrm xmlns:a="http://schemas.openxmlformats.org/drawingml/2006/main">
            <a:off x="699135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Approve limited actions</a:t>
            </a:r>
          </a:p>
        </p:txBody>
      </p:sp>
      <p:sp>
        <p:nvSpPr>
          <p:cNvPr id="29" name="">
            <a:extLst xmlns:a="http://schemas.openxmlformats.org/drawingml/2006/main">
              <a:ext uri="{FF2B5EF4-FFF2-40B4-BE49-F238E27FC236}">
                <a16:creationId xmlns:a16="http://schemas.microsoft.com/office/drawing/2014/main" id="{D2E8CF2C-8ED7-4690-AD0F-E928E0228A2C}"/>
              </a:ext>
            </a:extLst>
          </p:cNvPr>
          <p:cNvSpPr>
            <a:spLocks xmlns:a="http://schemas.openxmlformats.org/drawingml/2006/main" noGrp="1"/>
          </p:cNvSpPr>
          <p:nvPr/>
        </p:nvSpPr>
        <p:spPr>
          <a:xfrm xmlns:a="http://schemas.openxmlformats.org/drawingml/2006/main">
            <a:off x="699135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10 stores; controlled transfers; RFID evidence; reconcile all receipts.</a:t>
            </a:r>
          </a:p>
        </p:txBody>
      </p:sp>
      <p:sp>
        <p:nvSpPr>
          <p:cNvPr id="30" name="">
            <a:extLst xmlns:a="http://schemas.openxmlformats.org/drawingml/2006/main">
              <a:ext uri="{FF2B5EF4-FFF2-40B4-BE49-F238E27FC236}">
                <a16:creationId xmlns:a16="http://schemas.microsoft.com/office/drawing/2014/main" id="{CF233170-EE52-4F8F-B726-388CB6313482}"/>
              </a:ext>
            </a:extLst>
          </p:cNvPr>
          <p:cNvSpPr>
            <a:spLocks xmlns:a="http://schemas.openxmlformats.org/drawingml/2006/main" noGrp="1"/>
          </p:cNvSpPr>
          <p:nvPr/>
        </p:nvSpPr>
        <p:spPr>
          <a:xfrm xmlns:a="http://schemas.openxmlformats.org/drawingml/2006/main">
            <a:off x="1024890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31" name="">
            <a:extLst xmlns:a="http://schemas.openxmlformats.org/drawingml/2006/main">
              <a:ext uri="{FF2B5EF4-FFF2-40B4-BE49-F238E27FC236}">
                <a16:creationId xmlns:a16="http://schemas.microsoft.com/office/drawing/2014/main" id="{C931EE39-6677-4A83-A4B6-1493D3644675}"/>
              </a:ext>
            </a:extLst>
          </p:cNvPr>
          <p:cNvSpPr>
            <a:spLocks xmlns:a="http://schemas.openxmlformats.org/drawingml/2006/main" noGrp="1"/>
          </p:cNvSpPr>
          <p:nvPr/>
        </p:nvSpPr>
        <p:spPr>
          <a:xfrm xmlns:a="http://schemas.openxmlformats.org/drawingml/2006/main">
            <a:off x="1021080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9–12</a:t>
            </a:r>
          </a:p>
        </p:txBody>
      </p:sp>
      <p:sp>
        <p:nvSpPr>
          <p:cNvPr id="32" name="">
            <a:extLst xmlns:a="http://schemas.openxmlformats.org/drawingml/2006/main">
              <a:ext uri="{FF2B5EF4-FFF2-40B4-BE49-F238E27FC236}">
                <a16:creationId xmlns:a16="http://schemas.microsoft.com/office/drawing/2014/main" id="{EAF4CD9F-2740-43B8-83FF-905D1EF6E528}"/>
              </a:ext>
            </a:extLst>
          </p:cNvPr>
          <p:cNvSpPr>
            <a:spLocks xmlns:a="http://schemas.openxmlformats.org/drawingml/2006/main" noGrp="1"/>
          </p:cNvSpPr>
          <p:nvPr/>
        </p:nvSpPr>
        <p:spPr>
          <a:xfrm xmlns:a="http://schemas.openxmlformats.org/drawingml/2006/main">
            <a:off x="1021080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Measure and decide</a:t>
            </a:r>
          </a:p>
        </p:txBody>
      </p:sp>
      <p:sp>
        <p:nvSpPr>
          <p:cNvPr id="33" name="">
            <a:extLst xmlns:a="http://schemas.openxmlformats.org/drawingml/2006/main">
              <a:ext uri="{FF2B5EF4-FFF2-40B4-BE49-F238E27FC236}">
                <a16:creationId xmlns:a16="http://schemas.microsoft.com/office/drawing/2014/main" id="{72AC7AEC-A9FC-4D30-A43D-7A0B3FA0888A}"/>
              </a:ext>
            </a:extLst>
          </p:cNvPr>
          <p:cNvSpPr>
            <a:spLocks xmlns:a="http://schemas.openxmlformats.org/drawingml/2006/main" noGrp="1"/>
          </p:cNvSpPr>
          <p:nvPr/>
        </p:nvSpPr>
        <p:spPr>
          <a:xfrm xmlns:a="http://schemas.openxmlformats.org/drawingml/2006/main">
            <a:off x="1021080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Matched-store evaluation; cost scenarios; CFO / COO scale or stop gate.</a:t>
            </a:r>
          </a:p>
        </p:txBody>
      </p:sp>
    </p:spTree>
    <p:extLst>
      <p:ext uri="{BB962C8B-B14F-4D97-AF65-F5344CB8AC3E}">
        <p14:creationId xmlns:p14="http://schemas.microsoft.com/office/powerpoint/2010/main" val="1736785413"/>
      </p:ext>
    </p:extLst>
  </p:cSld>
</p:sld>
</file>

<file path=ppt/slides/slide17.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4F341E9-7B6E-4751-A12A-916BE7A0360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0BDFEE-D058-445A-B167-C5E80B7BD3B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PILOT KPIs</a:t>
            </a:r>
          </a:p>
        </p:txBody>
      </p:sp>
      <p:sp>
        <p:nvSpPr>
          <p:cNvPr id="4" name="">
            <a:extLst xmlns:a="http://schemas.openxmlformats.org/drawingml/2006/main">
              <a:ext uri="{FF2B5EF4-FFF2-40B4-BE49-F238E27FC236}">
                <a16:creationId xmlns:a16="http://schemas.microsoft.com/office/drawing/2014/main" id="{F52E1286-46AF-4DD5-8CB5-6D82639B0F1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Success means a faster, verified response</a:t>
            </a:r>
          </a:p>
        </p:txBody>
      </p:sp>
      <p:sp>
        <p:nvSpPr>
          <p:cNvPr id="5" name="">
            <a:extLst xmlns:a="http://schemas.openxmlformats.org/drawingml/2006/main">
              <a:ext uri="{FF2B5EF4-FFF2-40B4-BE49-F238E27FC236}">
                <a16:creationId xmlns:a16="http://schemas.microsoft.com/office/drawing/2014/main" id="{F52DF44A-ECFF-4F61-9E09-738E5F79EF6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Targets, not achieved results. Compare pilot with matched stores and pre-pilot baseline; report uncertainty.</a:t>
            </a:r>
          </a:p>
        </p:txBody>
      </p:sp>
      <p:sp>
        <p:nvSpPr>
          <p:cNvPr id="6" name="">
            <a:extLst xmlns:a="http://schemas.openxmlformats.org/drawingml/2006/main">
              <a:ext uri="{FF2B5EF4-FFF2-40B4-BE49-F238E27FC236}">
                <a16:creationId xmlns:a16="http://schemas.microsoft.com/office/drawing/2014/main" id="{1819C374-C11B-44D2-B55E-FFEDCF8BE05A}"/>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E9A9FC-E7E9-43BD-9BD3-F64A83EBC4FD}"/>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64CF0051-8F90-4E88-ADCA-962BFE89636A}"/>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463DB5-5E0E-4592-B904-D36516CE0394}"/>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635CF44D-A2D8-4F80-ABC0-575FBC496E9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88283A-C358-4DCD-A3CA-25228ABD5D8F}"/>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DBB7792B-3A32-45F3-BD6E-82E72BA26F9C}"/>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1116B0-5798-47B6-BB68-71DFF2BDFB0A}"/>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22B006F-C010-4423-AE32-EABEC8FBF921}"/>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38C544A-32AB-41A5-A6E9-2DFD6CBCDC0B}"/>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ED83CF99-04C6-4AC2-AB76-84F7BA8A383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17</a:t>
            </a:r>
          </a:p>
        </p:txBody>
      </p:sp>
      <p:sp>
        <p:nvSpPr>
          <p:cNvPr id="17" name="">
            <a:extLst xmlns:a="http://schemas.openxmlformats.org/drawingml/2006/main">
              <a:ext uri="{FF2B5EF4-FFF2-40B4-BE49-F238E27FC236}">
                <a16:creationId xmlns:a16="http://schemas.microsoft.com/office/drawing/2014/main" id="{25479EA8-FA07-43D1-B0FE-6A29AC65C254}"/>
              </a:ext>
            </a:extLst>
          </p:cNvPr>
          <p:cNvSpPr>
            <a:spLocks xmlns:a="http://schemas.openxmlformats.org/drawingml/2006/main" noGrp="1"/>
          </p:cNvSpPr>
          <p:nvPr/>
        </p:nvSpPr>
        <p:spPr>
          <a:xfrm xmlns:a="http://schemas.openxmlformats.org/drawingml/2006/main">
            <a:off x="552450" y="1952625"/>
            <a:ext cx="3962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7350" b="1">
                <a:solidFill>
                  <a:srgbClr val="165DAE"/>
                </a:solidFill>
                <a:latin typeface="Arial"/>
                <a:ea typeface="Arial"/>
                <a:cs typeface="Arial"/>
              </a:defRPr>
            </a:defPPr>
            <a:lvl1pPr algn="l">
              <a:defRPr sz="7350" b="1">
                <a:solidFill>
                  <a:srgbClr val="165DAE"/>
                </a:solidFill>
                <a:latin typeface="Arial"/>
                <a:ea typeface="Arial"/>
                <a:cs typeface="Arial"/>
              </a:defRPr>
            </a:lvl1pPr>
            <a:lvl2pPr algn="l">
              <a:defRPr sz="7350" b="1">
                <a:solidFill>
                  <a:srgbClr val="165DAE"/>
                </a:solidFill>
                <a:latin typeface="Arial"/>
                <a:ea typeface="Arial"/>
                <a:cs typeface="Arial"/>
              </a:defRPr>
            </a:lvl2pPr>
            <a:lvl3pPr algn="l">
              <a:defRPr sz="7350" b="1">
                <a:solidFill>
                  <a:srgbClr val="165DAE"/>
                </a:solidFill>
                <a:latin typeface="Arial"/>
                <a:ea typeface="Arial"/>
                <a:cs typeface="Arial"/>
              </a:defRPr>
            </a:lvl3pPr>
            <a:lvl4pPr algn="l">
              <a:defRPr sz="7350" b="1">
                <a:solidFill>
                  <a:srgbClr val="165DAE"/>
                </a:solidFill>
                <a:latin typeface="Arial"/>
                <a:ea typeface="Arial"/>
                <a:cs typeface="Arial"/>
              </a:defRPr>
            </a:lvl4pPr>
            <a:lvl5pPr algn="l">
              <a:defRPr sz="7350" b="1">
                <a:solidFill>
                  <a:srgbClr val="165DAE"/>
                </a:solidFill>
                <a:latin typeface="Arial"/>
                <a:ea typeface="Arial"/>
                <a:cs typeface="Arial"/>
              </a:defRPr>
            </a:lvl5pPr>
            <a:lvl6pPr algn="l">
              <a:defRPr sz="7350" b="1">
                <a:solidFill>
                  <a:srgbClr val="165DAE"/>
                </a:solidFill>
                <a:latin typeface="Arial"/>
                <a:ea typeface="Arial"/>
                <a:cs typeface="Arial"/>
              </a:defRPr>
            </a:lvl6pPr>
            <a:lvl7pPr algn="l">
              <a:defRPr sz="7350" b="1">
                <a:solidFill>
                  <a:srgbClr val="165DAE"/>
                </a:solidFill>
                <a:latin typeface="Arial"/>
                <a:ea typeface="Arial"/>
                <a:cs typeface="Arial"/>
              </a:defRPr>
            </a:lvl7pPr>
            <a:lvl8pPr algn="l">
              <a:defRPr sz="7350" b="1">
                <a:solidFill>
                  <a:srgbClr val="165DAE"/>
                </a:solidFill>
                <a:latin typeface="Arial"/>
                <a:ea typeface="Arial"/>
                <a:cs typeface="Arial"/>
              </a:defRPr>
            </a:lvl8pPr>
            <a:lvl9pPr algn="l">
              <a:defRPr sz="7350" b="1">
                <a:solidFill>
                  <a:srgbClr val="165DAE"/>
                </a:solidFill>
                <a:latin typeface="Arial"/>
                <a:ea typeface="Arial"/>
                <a:cs typeface="Arial"/>
              </a:defRPr>
            </a:lvl9pPr>
          </a:lstStyle>
          <a:p xmlns:a="http://schemas.openxmlformats.org/drawingml/2006/main">
            <a:pPr algn="l">
              <a:defRPr sz="7350" b="1">
                <a:solidFill>
                  <a:srgbClr val="165DAE"/>
                </a:solidFill>
              </a:defRPr>
            </a:pPr>
            <a:r>
              <a:rPr sz="7350" b="1">
                <a:solidFill>
                  <a:srgbClr val="165DAE"/>
                </a:solidFill>
                <a:latin typeface="Arial"/>
                <a:ea typeface="Arial"/>
                <a:cs typeface="Arial"/>
              </a:rPr>
              <a:t>−50%</a:t>
            </a:r>
          </a:p>
        </p:txBody>
      </p:sp>
      <p:sp>
        <p:nvSpPr>
          <p:cNvPr id="18" name="">
            <a:extLst xmlns:a="http://schemas.openxmlformats.org/drawingml/2006/main">
              <a:ext uri="{FF2B5EF4-FFF2-40B4-BE49-F238E27FC236}">
                <a16:creationId xmlns:a16="http://schemas.microsoft.com/office/drawing/2014/main" id="{BC273077-9867-4378-9F9A-A5144117FC67}"/>
              </a:ext>
            </a:extLst>
          </p:cNvPr>
          <p:cNvSpPr>
            <a:spLocks xmlns:a="http://schemas.openxmlformats.org/drawingml/2006/main" noGrp="1"/>
          </p:cNvSpPr>
          <p:nvPr/>
        </p:nvSpPr>
        <p:spPr>
          <a:xfrm xmlns:a="http://schemas.openxmlformats.org/drawingml/2006/main">
            <a:off x="552450" y="351472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400" b="1">
                <a:solidFill>
                  <a:srgbClr val="152047"/>
                </a:solidFill>
              </a:defRPr>
            </a:pPr>
            <a:r>
              <a:rPr sz="2100" b="1">
                <a:solidFill>
                  <a:srgbClr val="152047"/>
                </a:solidFill>
                <a:latin typeface="Arial"/>
                <a:ea typeface="Arial"/>
                <a:cs typeface="Arial"/>
              </a:rPr>
              <a:t>median response time</a:t>
            </a:r>
          </a:p>
        </p:txBody>
      </p:sp>
      <p:sp>
        <p:nvSpPr>
          <p:cNvPr id="19" name="">
            <a:extLst xmlns:a="http://schemas.openxmlformats.org/drawingml/2006/main">
              <a:ext uri="{FF2B5EF4-FFF2-40B4-BE49-F238E27FC236}">
                <a16:creationId xmlns:a16="http://schemas.microsoft.com/office/drawing/2014/main" id="{5F758434-F60A-45B6-B2D9-E0869E322CAE}"/>
              </a:ext>
            </a:extLst>
          </p:cNvPr>
          <p:cNvSpPr>
            <a:spLocks xmlns:a="http://schemas.openxmlformats.org/drawingml/2006/main" noGrp="1"/>
          </p:cNvSpPr>
          <p:nvPr/>
        </p:nvSpPr>
        <p:spPr>
          <a:xfrm xmlns:a="http://schemas.openxmlformats.org/drawingml/2006/main">
            <a:off x="552450" y="4314825"/>
            <a:ext cx="3962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Qualified signal → approved action</a:t>
            </a:r>
          </a:p>
        </p:txBody>
      </p:sp>
      <p:sp>
        <p:nvSpPr>
          <p:cNvPr id="20" name="">
            <a:extLst xmlns:a="http://schemas.openxmlformats.org/drawingml/2006/main">
              <a:ext uri="{FF2B5EF4-FFF2-40B4-BE49-F238E27FC236}">
                <a16:creationId xmlns:a16="http://schemas.microsoft.com/office/drawing/2014/main" id="{B0C96C0A-E7A0-4247-BB61-2715426238FF}"/>
              </a:ext>
            </a:extLst>
          </p:cNvPr>
          <p:cNvSpPr>
            <a:spLocks xmlns:a="http://schemas.openxmlformats.org/drawingml/2006/main" noGrp="1"/>
          </p:cNvSpPr>
          <p:nvPr/>
        </p:nvSpPr>
        <p:spPr>
          <a:xfrm xmlns:a="http://schemas.openxmlformats.org/drawingml/2006/main">
            <a:off x="4848225" y="1952625"/>
            <a:ext cx="3962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7350" b="1">
                <a:solidFill>
                  <a:srgbClr val="165DAE"/>
                </a:solidFill>
                <a:latin typeface="Arial"/>
                <a:ea typeface="Arial"/>
                <a:cs typeface="Arial"/>
              </a:defRPr>
            </a:defPPr>
            <a:lvl1pPr algn="l">
              <a:defRPr sz="7350" b="1">
                <a:solidFill>
                  <a:srgbClr val="165DAE"/>
                </a:solidFill>
                <a:latin typeface="Arial"/>
                <a:ea typeface="Arial"/>
                <a:cs typeface="Arial"/>
              </a:defRPr>
            </a:lvl1pPr>
            <a:lvl2pPr algn="l">
              <a:defRPr sz="7350" b="1">
                <a:solidFill>
                  <a:srgbClr val="165DAE"/>
                </a:solidFill>
                <a:latin typeface="Arial"/>
                <a:ea typeface="Arial"/>
                <a:cs typeface="Arial"/>
              </a:defRPr>
            </a:lvl2pPr>
            <a:lvl3pPr algn="l">
              <a:defRPr sz="7350" b="1">
                <a:solidFill>
                  <a:srgbClr val="165DAE"/>
                </a:solidFill>
                <a:latin typeface="Arial"/>
                <a:ea typeface="Arial"/>
                <a:cs typeface="Arial"/>
              </a:defRPr>
            </a:lvl3pPr>
            <a:lvl4pPr algn="l">
              <a:defRPr sz="7350" b="1">
                <a:solidFill>
                  <a:srgbClr val="165DAE"/>
                </a:solidFill>
                <a:latin typeface="Arial"/>
                <a:ea typeface="Arial"/>
                <a:cs typeface="Arial"/>
              </a:defRPr>
            </a:lvl4pPr>
            <a:lvl5pPr algn="l">
              <a:defRPr sz="7350" b="1">
                <a:solidFill>
                  <a:srgbClr val="165DAE"/>
                </a:solidFill>
                <a:latin typeface="Arial"/>
                <a:ea typeface="Arial"/>
                <a:cs typeface="Arial"/>
              </a:defRPr>
            </a:lvl5pPr>
            <a:lvl6pPr algn="l">
              <a:defRPr sz="7350" b="1">
                <a:solidFill>
                  <a:srgbClr val="165DAE"/>
                </a:solidFill>
                <a:latin typeface="Arial"/>
                <a:ea typeface="Arial"/>
                <a:cs typeface="Arial"/>
              </a:defRPr>
            </a:lvl6pPr>
            <a:lvl7pPr algn="l">
              <a:defRPr sz="7350" b="1">
                <a:solidFill>
                  <a:srgbClr val="165DAE"/>
                </a:solidFill>
                <a:latin typeface="Arial"/>
                <a:ea typeface="Arial"/>
                <a:cs typeface="Arial"/>
              </a:defRPr>
            </a:lvl7pPr>
            <a:lvl8pPr algn="l">
              <a:defRPr sz="7350" b="1">
                <a:solidFill>
                  <a:srgbClr val="165DAE"/>
                </a:solidFill>
                <a:latin typeface="Arial"/>
                <a:ea typeface="Arial"/>
                <a:cs typeface="Arial"/>
              </a:defRPr>
            </a:lvl8pPr>
            <a:lvl9pPr algn="l">
              <a:defRPr sz="7350" b="1">
                <a:solidFill>
                  <a:srgbClr val="165DAE"/>
                </a:solidFill>
                <a:latin typeface="Arial"/>
                <a:ea typeface="Arial"/>
                <a:cs typeface="Arial"/>
              </a:defRPr>
            </a:lvl9pPr>
          </a:lstStyle>
          <a:p xmlns:a="http://schemas.openxmlformats.org/drawingml/2006/main">
            <a:pPr algn="l">
              <a:defRPr sz="7350" b="1">
                <a:solidFill>
                  <a:srgbClr val="165DAE"/>
                </a:solidFill>
              </a:defRPr>
            </a:pPr>
            <a:r>
              <a:rPr sz="7350" b="1">
                <a:solidFill>
                  <a:srgbClr val="165DAE"/>
                </a:solidFill>
                <a:latin typeface="Arial"/>
                <a:ea typeface="Arial"/>
                <a:cs typeface="Arial"/>
              </a:rPr>
              <a:t>≥98%</a:t>
            </a:r>
          </a:p>
        </p:txBody>
      </p:sp>
      <p:sp>
        <p:nvSpPr>
          <p:cNvPr id="21" name="">
            <a:extLst xmlns:a="http://schemas.openxmlformats.org/drawingml/2006/main">
              <a:ext uri="{FF2B5EF4-FFF2-40B4-BE49-F238E27FC236}">
                <a16:creationId xmlns:a16="http://schemas.microsoft.com/office/drawing/2014/main" id="{4A2C416D-CA36-4267-8BF0-4B3643C5996F}"/>
              </a:ext>
            </a:extLst>
          </p:cNvPr>
          <p:cNvSpPr>
            <a:spLocks xmlns:a="http://schemas.openxmlformats.org/drawingml/2006/main" noGrp="1"/>
          </p:cNvSpPr>
          <p:nvPr/>
        </p:nvSpPr>
        <p:spPr>
          <a:xfrm xmlns:a="http://schemas.openxmlformats.org/drawingml/2006/main">
            <a:off x="4848225" y="351472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400" b="1">
                <a:solidFill>
                  <a:srgbClr val="152047"/>
                </a:solidFill>
              </a:defRPr>
            </a:pPr>
            <a:r>
              <a:rPr sz="2100" b="1">
                <a:solidFill>
                  <a:srgbClr val="152047"/>
                </a:solidFill>
                <a:latin typeface="Arial"/>
                <a:ea typeface="Arial"/>
                <a:cs typeface="Arial"/>
              </a:rPr>
              <a:t>inventory reconciliation</a:t>
            </a:r>
          </a:p>
        </p:txBody>
      </p:sp>
      <p:sp>
        <p:nvSpPr>
          <p:cNvPr id="22" name="">
            <a:extLst xmlns:a="http://schemas.openxmlformats.org/drawingml/2006/main">
              <a:ext uri="{FF2B5EF4-FFF2-40B4-BE49-F238E27FC236}">
                <a16:creationId xmlns:a16="http://schemas.microsoft.com/office/drawing/2014/main" id="{CA4907C8-1232-4034-8E32-3ED8B957E4AB}"/>
              </a:ext>
            </a:extLst>
          </p:cNvPr>
          <p:cNvSpPr>
            <a:spLocks xmlns:a="http://schemas.openxmlformats.org/drawingml/2006/main" noGrp="1"/>
          </p:cNvSpPr>
          <p:nvPr/>
        </p:nvSpPr>
        <p:spPr>
          <a:xfrm xmlns:a="http://schemas.openxmlformats.org/drawingml/2006/main">
            <a:off x="4848225" y="4314825"/>
            <a:ext cx="3962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Physical / recorded stock agreement</a:t>
            </a:r>
          </a:p>
        </p:txBody>
      </p:sp>
      <p:sp>
        <p:nvSpPr>
          <p:cNvPr id="23" name="">
            <a:extLst xmlns:a="http://schemas.openxmlformats.org/drawingml/2006/main">
              <a:ext uri="{FF2B5EF4-FFF2-40B4-BE49-F238E27FC236}">
                <a16:creationId xmlns:a16="http://schemas.microsoft.com/office/drawing/2014/main" id="{65FFB4C3-264A-4ABE-AB36-459EF8C3CA8C}"/>
              </a:ext>
            </a:extLst>
          </p:cNvPr>
          <p:cNvSpPr>
            <a:spLocks xmlns:a="http://schemas.openxmlformats.org/drawingml/2006/main" noGrp="1"/>
          </p:cNvSpPr>
          <p:nvPr/>
        </p:nvSpPr>
        <p:spPr>
          <a:xfrm xmlns:a="http://schemas.openxmlformats.org/drawingml/2006/main">
            <a:off x="9144000" y="1952625"/>
            <a:ext cx="3962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7350" b="1">
                <a:solidFill>
                  <a:srgbClr val="165DAE"/>
                </a:solidFill>
                <a:latin typeface="Arial"/>
                <a:ea typeface="Arial"/>
                <a:cs typeface="Arial"/>
              </a:defRPr>
            </a:defPPr>
            <a:lvl1pPr algn="l">
              <a:defRPr sz="7350" b="1">
                <a:solidFill>
                  <a:srgbClr val="165DAE"/>
                </a:solidFill>
                <a:latin typeface="Arial"/>
                <a:ea typeface="Arial"/>
                <a:cs typeface="Arial"/>
              </a:defRPr>
            </a:lvl1pPr>
            <a:lvl2pPr algn="l">
              <a:defRPr sz="7350" b="1">
                <a:solidFill>
                  <a:srgbClr val="165DAE"/>
                </a:solidFill>
                <a:latin typeface="Arial"/>
                <a:ea typeface="Arial"/>
                <a:cs typeface="Arial"/>
              </a:defRPr>
            </a:lvl2pPr>
            <a:lvl3pPr algn="l">
              <a:defRPr sz="7350" b="1">
                <a:solidFill>
                  <a:srgbClr val="165DAE"/>
                </a:solidFill>
                <a:latin typeface="Arial"/>
                <a:ea typeface="Arial"/>
                <a:cs typeface="Arial"/>
              </a:defRPr>
            </a:lvl3pPr>
            <a:lvl4pPr algn="l">
              <a:defRPr sz="7350" b="1">
                <a:solidFill>
                  <a:srgbClr val="165DAE"/>
                </a:solidFill>
                <a:latin typeface="Arial"/>
                <a:ea typeface="Arial"/>
                <a:cs typeface="Arial"/>
              </a:defRPr>
            </a:lvl4pPr>
            <a:lvl5pPr algn="l">
              <a:defRPr sz="7350" b="1">
                <a:solidFill>
                  <a:srgbClr val="165DAE"/>
                </a:solidFill>
                <a:latin typeface="Arial"/>
                <a:ea typeface="Arial"/>
                <a:cs typeface="Arial"/>
              </a:defRPr>
            </a:lvl5pPr>
            <a:lvl6pPr algn="l">
              <a:defRPr sz="7350" b="1">
                <a:solidFill>
                  <a:srgbClr val="165DAE"/>
                </a:solidFill>
                <a:latin typeface="Arial"/>
                <a:ea typeface="Arial"/>
                <a:cs typeface="Arial"/>
              </a:defRPr>
            </a:lvl6pPr>
            <a:lvl7pPr algn="l">
              <a:defRPr sz="7350" b="1">
                <a:solidFill>
                  <a:srgbClr val="165DAE"/>
                </a:solidFill>
                <a:latin typeface="Arial"/>
                <a:ea typeface="Arial"/>
                <a:cs typeface="Arial"/>
              </a:defRPr>
            </a:lvl7pPr>
            <a:lvl8pPr algn="l">
              <a:defRPr sz="7350" b="1">
                <a:solidFill>
                  <a:srgbClr val="165DAE"/>
                </a:solidFill>
                <a:latin typeface="Arial"/>
                <a:ea typeface="Arial"/>
                <a:cs typeface="Arial"/>
              </a:defRPr>
            </a:lvl8pPr>
            <a:lvl9pPr algn="l">
              <a:defRPr sz="7350" b="1">
                <a:solidFill>
                  <a:srgbClr val="165DAE"/>
                </a:solidFill>
                <a:latin typeface="Arial"/>
                <a:ea typeface="Arial"/>
                <a:cs typeface="Arial"/>
              </a:defRPr>
            </a:lvl9pPr>
          </a:lstStyle>
          <a:p xmlns:a="http://schemas.openxmlformats.org/drawingml/2006/main">
            <a:pPr algn="l">
              <a:defRPr sz="7350" b="1">
                <a:solidFill>
                  <a:srgbClr val="165DAE"/>
                </a:solidFill>
              </a:defRPr>
            </a:pPr>
            <a:r>
              <a:rPr sz="7350" b="1">
                <a:solidFill>
                  <a:srgbClr val="165DAE"/>
                </a:solidFill>
                <a:latin typeface="Arial"/>
                <a:ea typeface="Arial"/>
                <a:cs typeface="Arial"/>
              </a:rPr>
              <a:t>≥70%</a:t>
            </a:r>
          </a:p>
        </p:txBody>
      </p:sp>
      <p:sp>
        <p:nvSpPr>
          <p:cNvPr id="24" name="">
            <a:extLst xmlns:a="http://schemas.openxmlformats.org/drawingml/2006/main">
              <a:ext uri="{FF2B5EF4-FFF2-40B4-BE49-F238E27FC236}">
                <a16:creationId xmlns:a16="http://schemas.microsoft.com/office/drawing/2014/main" id="{14E21702-13BE-4EE8-9FEA-B87CD137FEE4}"/>
              </a:ext>
            </a:extLst>
          </p:cNvPr>
          <p:cNvSpPr>
            <a:spLocks xmlns:a="http://schemas.openxmlformats.org/drawingml/2006/main" noGrp="1"/>
          </p:cNvSpPr>
          <p:nvPr/>
        </p:nvSpPr>
        <p:spPr>
          <a:xfrm xmlns:a="http://schemas.openxmlformats.org/drawingml/2006/main">
            <a:off x="9144000" y="351472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400" b="1">
                <a:solidFill>
                  <a:srgbClr val="152047"/>
                </a:solidFill>
              </a:defRPr>
            </a:pPr>
            <a:r>
              <a:rPr sz="2100" b="1">
                <a:solidFill>
                  <a:srgbClr val="152047"/>
                </a:solidFill>
                <a:latin typeface="Arial"/>
                <a:ea typeface="Arial"/>
                <a:cs typeface="Arial"/>
              </a:rPr>
              <a:t>weekly planner use</a:t>
            </a:r>
          </a:p>
        </p:txBody>
      </p:sp>
      <p:sp>
        <p:nvSpPr>
          <p:cNvPr id="25" name="">
            <a:extLst xmlns:a="http://schemas.openxmlformats.org/drawingml/2006/main">
              <a:ext uri="{FF2B5EF4-FFF2-40B4-BE49-F238E27FC236}">
                <a16:creationId xmlns:a16="http://schemas.microsoft.com/office/drawing/2014/main" id="{F63A695C-4504-4803-BDFE-9FE12F0F588F}"/>
              </a:ext>
            </a:extLst>
          </p:cNvPr>
          <p:cNvSpPr>
            <a:spLocks xmlns:a="http://schemas.openxmlformats.org/drawingml/2006/main" noGrp="1"/>
          </p:cNvSpPr>
          <p:nvPr/>
        </p:nvSpPr>
        <p:spPr>
          <a:xfrm xmlns:a="http://schemas.openxmlformats.org/drawingml/2006/main">
            <a:off x="9144000" y="4314825"/>
            <a:ext cx="3962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Eligible pilot planners</a:t>
            </a:r>
          </a:p>
        </p:txBody>
      </p:sp>
      <p:sp>
        <p:nvSpPr>
          <p:cNvPr id="26" name="">
            <a:extLst xmlns:a="http://schemas.openxmlformats.org/drawingml/2006/main">
              <a:ext uri="{FF2B5EF4-FFF2-40B4-BE49-F238E27FC236}">
                <a16:creationId xmlns:a16="http://schemas.microsoft.com/office/drawing/2014/main" id="{F1DD46AD-17E3-48B1-8C43-D00D3D9CF0F6}"/>
              </a:ext>
            </a:extLst>
          </p:cNvPr>
          <p:cNvSpPr>
            <a:spLocks xmlns:a="http://schemas.openxmlformats.org/drawingml/2006/main" noGrp="1"/>
          </p:cNvSpPr>
          <p:nvPr/>
        </p:nvSpPr>
        <p:spPr>
          <a:xfrm xmlns:a="http://schemas.openxmlformats.org/drawingml/2006/main">
            <a:off x="457200" y="5543550"/>
            <a:ext cx="12801600" cy="9620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3A16ABF-CA4B-4A8B-BBF0-B31A5004C0A7}"/>
              </a:ext>
            </a:extLst>
          </p:cNvPr>
          <p:cNvSpPr>
            <a:spLocks xmlns:a="http://schemas.openxmlformats.org/drawingml/2006/main" noGrp="1"/>
          </p:cNvSpPr>
          <p:nvPr/>
        </p:nvSpPr>
        <p:spPr>
          <a:xfrm xmlns:a="http://schemas.openxmlformats.org/drawingml/2006/main">
            <a:off x="676275" y="5619750"/>
            <a:ext cx="12325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0">
                <a:solidFill>
                  <a:srgbClr val="152047"/>
                </a:solidFill>
                <a:latin typeface="Arial"/>
                <a:ea typeface="Arial"/>
                <a:cs typeface="Arial"/>
              </a:defRPr>
            </a:defPPr>
            <a:lvl1pPr algn="l">
              <a:defRPr sz="2100" b="0">
                <a:solidFill>
                  <a:srgbClr val="152047"/>
                </a:solidFill>
                <a:latin typeface="Arial"/>
                <a:ea typeface="Arial"/>
                <a:cs typeface="Arial"/>
              </a:defRPr>
            </a:lvl1pPr>
            <a:lvl2pPr algn="l">
              <a:defRPr sz="2100" b="0">
                <a:solidFill>
                  <a:srgbClr val="152047"/>
                </a:solidFill>
                <a:latin typeface="Arial"/>
                <a:ea typeface="Arial"/>
                <a:cs typeface="Arial"/>
              </a:defRPr>
            </a:lvl2pPr>
            <a:lvl3pPr algn="l">
              <a:defRPr sz="2100" b="0">
                <a:solidFill>
                  <a:srgbClr val="152047"/>
                </a:solidFill>
                <a:latin typeface="Arial"/>
                <a:ea typeface="Arial"/>
                <a:cs typeface="Arial"/>
              </a:defRPr>
            </a:lvl3pPr>
            <a:lvl4pPr algn="l">
              <a:defRPr sz="2100" b="0">
                <a:solidFill>
                  <a:srgbClr val="152047"/>
                </a:solidFill>
                <a:latin typeface="Arial"/>
                <a:ea typeface="Arial"/>
                <a:cs typeface="Arial"/>
              </a:defRPr>
            </a:lvl4pPr>
            <a:lvl5pPr algn="l">
              <a:defRPr sz="2100" b="0">
                <a:solidFill>
                  <a:srgbClr val="152047"/>
                </a:solidFill>
                <a:latin typeface="Arial"/>
                <a:ea typeface="Arial"/>
                <a:cs typeface="Arial"/>
              </a:defRPr>
            </a:lvl5pPr>
            <a:lvl6pPr algn="l">
              <a:defRPr sz="2100" b="0">
                <a:solidFill>
                  <a:srgbClr val="152047"/>
                </a:solidFill>
                <a:latin typeface="Arial"/>
                <a:ea typeface="Arial"/>
                <a:cs typeface="Arial"/>
              </a:defRPr>
            </a:lvl6pPr>
            <a:lvl7pPr algn="l">
              <a:defRPr sz="2100" b="0">
                <a:solidFill>
                  <a:srgbClr val="152047"/>
                </a:solidFill>
                <a:latin typeface="Arial"/>
                <a:ea typeface="Arial"/>
                <a:cs typeface="Arial"/>
              </a:defRPr>
            </a:lvl7pPr>
            <a:lvl8pPr algn="l">
              <a:defRPr sz="2100" b="0">
                <a:solidFill>
                  <a:srgbClr val="152047"/>
                </a:solidFill>
                <a:latin typeface="Arial"/>
                <a:ea typeface="Arial"/>
                <a:cs typeface="Arial"/>
              </a:defRPr>
            </a:lvl8pPr>
            <a:lvl9pPr algn="l">
              <a:defRPr sz="2100" b="0">
                <a:solidFill>
                  <a:srgbClr val="152047"/>
                </a:solidFill>
                <a:latin typeface="Arial"/>
                <a:ea typeface="Arial"/>
                <a:cs typeface="Arial"/>
              </a:defRPr>
            </a:lvl9pPr>
          </a:lstStyle>
          <a:p xmlns:a="http://schemas.openxmlformats.org/drawingml/2006/main">
            <a:pPr algn="l">
              <a:defRPr sz="2100" b="0">
                <a:solidFill>
                  <a:srgbClr val="152047"/>
                </a:solidFill>
              </a:defRPr>
            </a:pPr>
            <a:r>
              <a:rPr sz="2100" b="0">
                <a:solidFill>
                  <a:srgbClr val="152047"/>
                </a:solidFill>
                <a:latin typeface="Arial"/>
                <a:ea typeface="Arial"/>
                <a:cs typeface="Arial"/>
              </a:rPr>
              <a:t>Business gate: positive incremental contribution after transfer costs and returns, with a credible cash payback within 24 months at the negotiated price.</a:t>
            </a:r>
          </a:p>
        </p:txBody>
      </p:sp>
    </p:spTree>
    <p:extLst>
      <p:ext uri="{BB962C8B-B14F-4D97-AF65-F5344CB8AC3E}">
        <p14:creationId xmlns:p14="http://schemas.microsoft.com/office/powerpoint/2010/main" val="297682516"/>
      </p:ext>
    </p:extLst>
  </p:cSld>
</p:sld>
</file>

<file path=ppt/slides/slide18.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12EA5F-DF51-4946-A8C4-612AC877C4E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ED9409-C775-4CB8-8AB2-BEFC59224F4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FINANCIALS · PRICING AND REVENUE SPLIT</a:t>
            </a:r>
          </a:p>
        </p:txBody>
      </p:sp>
      <p:sp>
        <p:nvSpPr>
          <p:cNvPr id="4" name="">
            <a:extLst xmlns:a="http://schemas.openxmlformats.org/drawingml/2006/main">
              <a:ext uri="{FF2B5EF4-FFF2-40B4-BE49-F238E27FC236}">
                <a16:creationId xmlns:a16="http://schemas.microsoft.com/office/drawing/2014/main" id="{C0F3FBC8-A640-4CF2-BF59-57F58D8F015A}"/>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One subscription; partners earn the hardware work</a:t>
            </a:r>
          </a:p>
        </p:txBody>
      </p:sp>
      <p:sp>
        <p:nvSpPr>
          <p:cNvPr id="5" name="">
            <a:extLst xmlns:a="http://schemas.openxmlformats.org/drawingml/2006/main">
              <a:ext uri="{FF2B5EF4-FFF2-40B4-BE49-F238E27FC236}">
                <a16:creationId xmlns:a16="http://schemas.microsoft.com/office/drawing/2014/main" id="{608E1FB1-013A-431D-AA28-DEBEF62177D1}"/>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commercial model; quotes and accounting treatment unconfirmed. Existing tagged merchandise assumed; taxes and new tag programs excluded.</a:t>
            </a:r>
          </a:p>
        </p:txBody>
      </p:sp>
      <p:sp>
        <p:nvSpPr>
          <p:cNvPr id="6" name="">
            <a:extLst xmlns:a="http://schemas.openxmlformats.org/drawingml/2006/main">
              <a:ext uri="{FF2B5EF4-FFF2-40B4-BE49-F238E27FC236}">
                <a16:creationId xmlns:a16="http://schemas.microsoft.com/office/drawing/2014/main" id="{C27C87D9-BB34-4A94-8BD1-9163AEAD52F2}"/>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FB2010-1B1E-4B39-B58D-E97D68300034}"/>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DA5A3AB-5EB4-41D7-AAC5-D58FEA9DFF5A}"/>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34F666-5547-40D5-A249-22634226C3D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44E9D1A5-CBB1-468D-8CF6-2568943371E4}"/>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EBDC60-D67A-4EAF-8051-67AC90B62D53}"/>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2BC793AE-9A37-4623-8FCF-7136566DFFE8}"/>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BA88EC-05B5-46F0-B63C-688B59CBE5F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9C0AF96-ADAF-4B24-9F4C-474797BADA99}"/>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50F605-1923-43DB-9BE1-158ECBEC2560}"/>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1D98F59-0AE2-4368-A8B1-29E84E5BB8BB}"/>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18</a:t>
            </a:r>
          </a:p>
        </p:txBody>
      </p:sp>
      <p:sp>
        <p:nvSpPr>
          <p:cNvPr id="17" name="">
            <a:extLst xmlns:a="http://schemas.openxmlformats.org/drawingml/2006/main">
              <a:ext uri="{FF2B5EF4-FFF2-40B4-BE49-F238E27FC236}">
                <a16:creationId xmlns:a16="http://schemas.microsoft.com/office/drawing/2014/main" id="{F253867E-56D2-4B33-B51F-6B2EF8737CBC}"/>
              </a:ext>
            </a:extLst>
          </p:cNvPr>
          <p:cNvSpPr>
            <a:spLocks xmlns:a="http://schemas.openxmlformats.org/drawingml/2006/main" noGrp="1"/>
          </p:cNvSpPr>
          <p:nvPr/>
        </p:nvSpPr>
        <p:spPr>
          <a:xfrm xmlns:a="http://schemas.openxmlformats.org/drawingml/2006/main">
            <a:off x="571500" y="1419225"/>
            <a:ext cx="685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125" b="1">
                <a:solidFill>
                  <a:srgbClr val="165DAE"/>
                </a:solidFill>
                <a:latin typeface="Arial"/>
                <a:ea typeface="Arial"/>
                <a:cs typeface="Arial"/>
              </a:defRPr>
            </a:defPPr>
            <a:lvl1pPr algn="l">
              <a:defRPr sz="4125" b="1">
                <a:solidFill>
                  <a:srgbClr val="165DAE"/>
                </a:solidFill>
                <a:latin typeface="Arial"/>
                <a:ea typeface="Arial"/>
                <a:cs typeface="Arial"/>
              </a:defRPr>
            </a:lvl1pPr>
            <a:lvl2pPr algn="l">
              <a:defRPr sz="4125" b="1">
                <a:solidFill>
                  <a:srgbClr val="165DAE"/>
                </a:solidFill>
                <a:latin typeface="Arial"/>
                <a:ea typeface="Arial"/>
                <a:cs typeface="Arial"/>
              </a:defRPr>
            </a:lvl2pPr>
            <a:lvl3pPr algn="l">
              <a:defRPr sz="4125" b="1">
                <a:solidFill>
                  <a:srgbClr val="165DAE"/>
                </a:solidFill>
                <a:latin typeface="Arial"/>
                <a:ea typeface="Arial"/>
                <a:cs typeface="Arial"/>
              </a:defRPr>
            </a:lvl3pPr>
            <a:lvl4pPr algn="l">
              <a:defRPr sz="4125" b="1">
                <a:solidFill>
                  <a:srgbClr val="165DAE"/>
                </a:solidFill>
                <a:latin typeface="Arial"/>
                <a:ea typeface="Arial"/>
                <a:cs typeface="Arial"/>
              </a:defRPr>
            </a:lvl4pPr>
            <a:lvl5pPr algn="l">
              <a:defRPr sz="4125" b="1">
                <a:solidFill>
                  <a:srgbClr val="165DAE"/>
                </a:solidFill>
                <a:latin typeface="Arial"/>
                <a:ea typeface="Arial"/>
                <a:cs typeface="Arial"/>
              </a:defRPr>
            </a:lvl5pPr>
            <a:lvl6pPr algn="l">
              <a:defRPr sz="4125" b="1">
                <a:solidFill>
                  <a:srgbClr val="165DAE"/>
                </a:solidFill>
                <a:latin typeface="Arial"/>
                <a:ea typeface="Arial"/>
                <a:cs typeface="Arial"/>
              </a:defRPr>
            </a:lvl6pPr>
            <a:lvl7pPr algn="l">
              <a:defRPr sz="4125" b="1">
                <a:solidFill>
                  <a:srgbClr val="165DAE"/>
                </a:solidFill>
                <a:latin typeface="Arial"/>
                <a:ea typeface="Arial"/>
                <a:cs typeface="Arial"/>
              </a:defRPr>
            </a:lvl7pPr>
            <a:lvl8pPr algn="l">
              <a:defRPr sz="4125" b="1">
                <a:solidFill>
                  <a:srgbClr val="165DAE"/>
                </a:solidFill>
                <a:latin typeface="Arial"/>
                <a:ea typeface="Arial"/>
                <a:cs typeface="Arial"/>
              </a:defRPr>
            </a:lvl8pPr>
            <a:lvl9pPr algn="l">
              <a:defRPr sz="4125" b="1">
                <a:solidFill>
                  <a:srgbClr val="165DAE"/>
                </a:solidFill>
                <a:latin typeface="Arial"/>
                <a:ea typeface="Arial"/>
                <a:cs typeface="Arial"/>
              </a:defRPr>
            </a:lvl9pPr>
          </a:lstStyle>
          <a:p xmlns:a="http://schemas.openxmlformats.org/drawingml/2006/main">
            <a:pPr algn="l">
              <a:defRPr sz="4125" b="1">
                <a:solidFill>
                  <a:srgbClr val="165DAE"/>
                </a:solidFill>
              </a:defRPr>
            </a:pPr>
            <a:r>
              <a:rPr sz="4125" b="1">
                <a:solidFill>
                  <a:srgbClr val="165DAE"/>
                </a:solidFill>
                <a:latin typeface="Arial"/>
                <a:ea typeface="Arial"/>
                <a:cs typeface="Arial"/>
              </a:rPr>
              <a:t>CAD 350k / year</a:t>
            </a:r>
          </a:p>
        </p:txBody>
      </p:sp>
      <p:sp>
        <p:nvSpPr>
          <p:cNvPr id="18" name="">
            <a:extLst xmlns:a="http://schemas.openxmlformats.org/drawingml/2006/main">
              <a:ext uri="{FF2B5EF4-FFF2-40B4-BE49-F238E27FC236}">
                <a16:creationId xmlns:a16="http://schemas.microsoft.com/office/drawing/2014/main" id="{D9CBFA42-F7F7-4E92-A190-B1EB64C5C2D6}"/>
              </a:ext>
            </a:extLst>
          </p:cNvPr>
          <p:cNvSpPr>
            <a:spLocks xmlns:a="http://schemas.openxmlformats.org/drawingml/2006/main" noGrp="1"/>
          </p:cNvSpPr>
          <p:nvPr/>
        </p:nvSpPr>
        <p:spPr>
          <a:xfrm xmlns:a="http://schemas.openxmlformats.org/drawingml/2006/main">
            <a:off x="7810500" y="149542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Reference customer: 100 stores</a:t>
            </a:r>
          </a:p>
          <a:p xmlns:a="http://schemas.openxmlformats.org/drawingml/2006/main">
            <a:pPr algn="l">
              <a:defRPr sz="2025" b="0">
                <a:solidFill>
                  <a:srgbClr val="152047"/>
                </a:solidFill>
              </a:defRPr>
            </a:pPr>
            <a:r>
              <a:rPr sz="2025" b="0">
                <a:solidFill>
                  <a:srgbClr val="152047"/>
                </a:solidFill>
                <a:latin typeface="Arial"/>
                <a:ea typeface="Arial"/>
                <a:cs typeface="Arial"/>
              </a:rPr>
              <a:t>CAD 50k platform + CAD 3k per store</a:t>
            </a:r>
          </a:p>
        </p:txBody>
      </p:sp>
      <p:graphicFrame>
        <p:nvGraphicFramePr>
          <p:cNvPr id="19" name="">
            <a:extLst xmlns:a="http://schemas.openxmlformats.org/drawingml/2006/main">
              <a:ext uri="{FF2B5EF4-FFF2-40B4-BE49-F238E27FC236}">
                <a16:creationId xmlns:a16="http://schemas.microsoft.com/office/drawing/2014/main" id="{8D4B42BA-E021-4F11-87B8-5C013875A291}"/>
              </a:ext>
            </a:extLst>
          </p:cNvPr>
          <p:cNvGraphicFramePr/>
          <p:nvPr/>
        </p:nvGraphicFramePr>
        <p:xfrm>
          <a:off xmlns:a="http://schemas.openxmlformats.org/drawingml/2006/main" x="457200" y="2667000"/>
          <a:ext xmlns:a="http://schemas.openxmlformats.org/drawingml/2006/main" cx="12801600" cy="3686175"/>
        </p:xfrm>
        <a:graphic xmlns:a="http://schemas.openxmlformats.org/drawingml/2006/main">
          <a:graphicData uri="http://schemas.openxmlformats.org/drawingml/2006/table">
            <a:tbl>
              <a:tblPr/>
              <a:tblGrid>
                <a:gridCol w="4480560"/>
                <a:gridCol w="8321040"/>
              </a:tblGrid>
              <a:tr h="921544">
                <a:tc>
                  <a:txBody>
                    <a:bodyPr/>
                    <a:lstStyle/>
                    <a:p>
                      <a:r>
                        <a:rPr sz="1875" b="1">
                          <a:solidFill>
                            <a:srgbClr val="FFFFFF"/>
                          </a:solidFill>
                          <a:latin typeface="Arial"/>
                          <a:ea typeface="Arial"/>
                          <a:cs typeface="Arial"/>
                        </a:rPr>
                        <a:t>Illustrative charge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Recipient / split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921544">
                <a:tc>
                  <a:txBody>
                    <a:bodyPr/>
                    <a:lstStyle/>
                    <a:p>
                      <a:r>
                        <a:rPr sz="1875" b="1">
                          <a:solidFill>
                            <a:srgbClr val="FFFFFF"/>
                          </a:solidFill>
                          <a:latin typeface="Arial"/>
                          <a:ea typeface="Arial"/>
                          <a:cs typeface="Arial"/>
                        </a:rPr>
                        <a:t>CAD 8k per equipped store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OEM / tag supplier 62.5% · distributor 12.5% · installer 25%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21544">
                <a:tc>
                  <a:txBody>
                    <a:bodyPr/>
                    <a:lstStyle/>
                    <a:p>
                      <a:r>
                        <a:rPr sz="1875" b="1">
                          <a:solidFill>
                            <a:srgbClr val="FFFFFF"/>
                          </a:solidFill>
                          <a:latin typeface="Arial"/>
                          <a:ea typeface="Arial"/>
                          <a:cs typeface="Arial"/>
                        </a:rPr>
                        <a:t>CAD 75k customer onboarding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Delivery partner 80% · SAP coordination fee 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921544">
                <a:tc>
                  <a:txBody>
                    <a:bodyPr/>
                    <a:lstStyle/>
                    <a:p>
                      <a:r>
                        <a:rPr sz="1875" b="1">
                          <a:solidFill>
                            <a:srgbClr val="FFFFFF"/>
                          </a:solidFill>
                          <a:latin typeface="Arial"/>
                          <a:ea typeface="Arial"/>
                          <a:cs typeface="Arial"/>
                        </a:rPr>
                        <a:t>Annual product subscription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SAP 100%; partner hardware invoiced separately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2058258968"/>
      </p:ext>
    </p:extLst>
  </p:cSld>
</p:sld>
</file>

<file path=ppt/slides/slide19.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8F1AF89-A7FC-4D2E-B6B2-0F2186A040E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68A98D-DE3A-480C-A763-39713200D0A2}"/>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FINANCIALS · REFERENCE CUSTOMER</a:t>
            </a:r>
          </a:p>
        </p:txBody>
      </p:sp>
      <p:sp>
        <p:nvSpPr>
          <p:cNvPr id="4" name="">
            <a:extLst xmlns:a="http://schemas.openxmlformats.org/drawingml/2006/main">
              <a:ext uri="{FF2B5EF4-FFF2-40B4-BE49-F238E27FC236}">
                <a16:creationId xmlns:a16="http://schemas.microsoft.com/office/drawing/2014/main" id="{99E3EA4B-B46A-4B49-B741-1FCD946D344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Retailer value must clear the cash-only test</a:t>
            </a:r>
          </a:p>
        </p:txBody>
      </p:sp>
      <p:sp>
        <p:nvSpPr>
          <p:cNvPr id="5" name="">
            <a:extLst xmlns:a="http://schemas.openxmlformats.org/drawingml/2006/main">
              <a:ext uri="{FF2B5EF4-FFF2-40B4-BE49-F238E27FC236}">
                <a16:creationId xmlns:a16="http://schemas.microsoft.com/office/drawing/2014/main" id="{9D3362DB-8DA8-4735-8077-1DE87BE7AB89}"/>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Illustrative steady-state annual benefits; not measured. Base cash-only payback misses the 24-month scale gate.</a:t>
            </a:r>
          </a:p>
        </p:txBody>
      </p:sp>
      <p:sp>
        <p:nvSpPr>
          <p:cNvPr id="6" name="">
            <a:extLst xmlns:a="http://schemas.openxmlformats.org/drawingml/2006/main">
              <a:ext uri="{FF2B5EF4-FFF2-40B4-BE49-F238E27FC236}">
                <a16:creationId xmlns:a16="http://schemas.microsoft.com/office/drawing/2014/main" id="{3D080044-796B-4D33-AA84-83A1629FE434}"/>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B11096-BC81-4BE3-9EDE-514BA856E628}"/>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E832DDA-F9E2-4A2B-991A-A69B54D60707}"/>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2E05B8-C53D-4458-9A91-C56D16DE963D}"/>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F1E83F7B-5214-40FA-A935-B725C9606186}"/>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AAA830-FEAF-42AD-93E8-BF3F0D772BE6}"/>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36F7CB98-6D16-47E9-BAC6-968BDA43A5AD}"/>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EE8058-D844-4F21-9D1D-2C1031F7AEC5}"/>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125BA187-1E8E-4036-AEB5-51BB67CCE6E0}"/>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B2D9D88-D711-4D66-B113-38959369C8C9}"/>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8E012EBA-D6F9-48CC-BCF7-F8AC827BF21C}"/>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19</a:t>
            </a:r>
          </a:p>
        </p:txBody>
      </p:sp>
      <p:graphicFrame>
        <p:nvGraphicFramePr>
          <p:cNvPr id="17" name="">
            <a:extLst xmlns:a="http://schemas.openxmlformats.org/drawingml/2006/main">
              <a:ext uri="{FF2B5EF4-FFF2-40B4-BE49-F238E27FC236}">
                <a16:creationId xmlns:a16="http://schemas.microsoft.com/office/drawing/2014/main" id="{B9D88831-843C-46F0-8D58-13C79B00F6A4}"/>
              </a:ext>
            </a:extLst>
          </p:cNvPr>
          <p:cNvGraphicFramePr/>
          <p:nvPr/>
        </p:nvGraphicFramePr>
        <p:xfrm>
          <a:off xmlns:a="http://schemas.openxmlformats.org/drawingml/2006/main" x="457200" y="1524000"/>
          <a:ext xmlns:a="http://schemas.openxmlformats.org/drawingml/2006/main" cx="12801600" cy="3343275"/>
        </p:xfrm>
        <a:graphic xmlns:a="http://schemas.openxmlformats.org/drawingml/2006/main">
          <a:graphicData uri="http://schemas.openxmlformats.org/drawingml/2006/table">
            <a:tbl>
              <a:tblPr/>
              <a:tblGrid>
                <a:gridCol w="3968496"/>
                <a:gridCol w="2176272"/>
                <a:gridCol w="6656832"/>
              </a:tblGrid>
              <a:tr h="668655">
                <a:tc>
                  <a:txBody>
                    <a:bodyPr/>
                    <a:lstStyle/>
                    <a:p>
                      <a:r>
                        <a:rPr sz="1725" b="1">
                          <a:solidFill>
                            <a:srgbClr val="FFFFFF"/>
                          </a:solidFill>
                          <a:latin typeface="Arial"/>
                          <a:ea typeface="Arial"/>
                          <a:cs typeface="Arial"/>
                        </a:rPr>
                        <a:t>Annual value / cost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Basis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668655">
                <a:tc>
                  <a:txBody>
                    <a:bodyPr/>
                    <a:lstStyle/>
                    <a:p>
                      <a:r>
                        <a:rPr sz="1725" b="1">
                          <a:solidFill>
                            <a:srgbClr val="FFFFFF"/>
                          </a:solidFill>
                          <a:latin typeface="Arial"/>
                          <a:ea typeface="Arial"/>
                          <a:cs typeface="Arial"/>
                        </a:rPr>
                        <a:t>Recovered-sales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450,000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 of CAD 100M sales × 45% contribution margin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68655">
                <a:tc>
                  <a:txBody>
                    <a:bodyPr/>
                    <a:lstStyle/>
                    <a:p>
                      <a:r>
                        <a:rPr sz="1725" b="1">
                          <a:solidFill>
                            <a:srgbClr val="FFFFFF"/>
                          </a:solidFill>
                          <a:latin typeface="Arial"/>
                          <a:ea typeface="Arial"/>
                          <a:cs typeface="Arial"/>
                        </a:rPr>
                        <a:t>Planner / store capacity freed</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364,000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 h/store/week × 100 × 52 × CAD 35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68655">
                <a:tc>
                  <a:txBody>
                    <a:bodyPr/>
                    <a:lstStyle/>
                    <a:p>
                      <a:r>
                        <a:rPr sz="1725" b="1">
                          <a:solidFill>
                            <a:srgbClr val="FFFFFF"/>
                          </a:solidFill>
                          <a:latin typeface="Arial"/>
                          <a:ea typeface="Arial"/>
                          <a:cs typeface="Arial"/>
                        </a:rPr>
                        <a:t>Subscription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100-store reference price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68655">
                <a:tc>
                  <a:txBody>
                    <a:bodyPr/>
                    <a:lstStyle/>
                    <a:p>
                      <a:r>
                        <a:rPr sz="1725" b="1">
                          <a:solidFill>
                            <a:srgbClr val="FFFFFF"/>
                          </a:solidFill>
                          <a:latin typeface="Arial"/>
                          <a:ea typeface="Arial"/>
                          <a:cs typeface="Arial"/>
                        </a:rPr>
                        <a:t>Upfront deployment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235,000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20 RFID stores × CAD 8k + CAD 75k onboarding</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8" name="">
            <a:extLst xmlns:a="http://schemas.openxmlformats.org/drawingml/2006/main">
              <a:ext uri="{FF2B5EF4-FFF2-40B4-BE49-F238E27FC236}">
                <a16:creationId xmlns:a16="http://schemas.microsoft.com/office/drawing/2014/main" id="{80EC5160-4676-4E5B-8FC4-06FF9B312F44}"/>
              </a:ext>
            </a:extLst>
          </p:cNvPr>
          <p:cNvSpPr>
            <a:spLocks xmlns:a="http://schemas.openxmlformats.org/drawingml/2006/main" noGrp="1"/>
          </p:cNvSpPr>
          <p:nvPr/>
        </p:nvSpPr>
        <p:spPr>
          <a:xfrm xmlns:a="http://schemas.openxmlformats.org/drawingml/2006/main">
            <a:off x="457200" y="5153025"/>
            <a:ext cx="6276975" cy="428625"/>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36B058-F8CD-4FC6-9DD5-FACCBED0F468}"/>
              </a:ext>
            </a:extLst>
          </p:cNvPr>
          <p:cNvSpPr>
            <a:spLocks xmlns:a="http://schemas.openxmlformats.org/drawingml/2006/main" noGrp="1"/>
          </p:cNvSpPr>
          <p:nvPr/>
        </p:nvSpPr>
        <p:spPr>
          <a:xfrm xmlns:a="http://schemas.openxmlformats.org/drawingml/2006/main">
            <a:off x="590550" y="5181600"/>
            <a:ext cx="6010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economic payback</a:t>
            </a:r>
          </a:p>
        </p:txBody>
      </p:sp>
      <p:sp>
        <p:nvSpPr>
          <p:cNvPr id="20" name="">
            <a:extLst xmlns:a="http://schemas.openxmlformats.org/drawingml/2006/main">
              <a:ext uri="{FF2B5EF4-FFF2-40B4-BE49-F238E27FC236}">
                <a16:creationId xmlns:a16="http://schemas.microsoft.com/office/drawing/2014/main" id="{7A41501A-3D93-4FF3-8095-47C824793CF4}"/>
              </a:ext>
            </a:extLst>
          </p:cNvPr>
          <p:cNvSpPr>
            <a:spLocks xmlns:a="http://schemas.openxmlformats.org/drawingml/2006/main" noGrp="1"/>
          </p:cNvSpPr>
          <p:nvPr/>
        </p:nvSpPr>
        <p:spPr>
          <a:xfrm xmlns:a="http://schemas.openxmlformats.org/drawingml/2006/main">
            <a:off x="609600" y="562927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75" b="1">
                <a:solidFill>
                  <a:srgbClr val="165DAE"/>
                </a:solidFill>
                <a:latin typeface="Arial"/>
                <a:ea typeface="Arial"/>
                <a:cs typeface="Arial"/>
              </a:defRPr>
            </a:defPPr>
            <a:lvl1pPr algn="l">
              <a:defRPr sz="3075" b="1">
                <a:solidFill>
                  <a:srgbClr val="165DAE"/>
                </a:solidFill>
                <a:latin typeface="Arial"/>
                <a:ea typeface="Arial"/>
                <a:cs typeface="Arial"/>
              </a:defRPr>
            </a:lvl1pPr>
            <a:lvl2pPr algn="l">
              <a:defRPr sz="3075" b="1">
                <a:solidFill>
                  <a:srgbClr val="165DAE"/>
                </a:solidFill>
                <a:latin typeface="Arial"/>
                <a:ea typeface="Arial"/>
                <a:cs typeface="Arial"/>
              </a:defRPr>
            </a:lvl2pPr>
            <a:lvl3pPr algn="l">
              <a:defRPr sz="3075" b="1">
                <a:solidFill>
                  <a:srgbClr val="165DAE"/>
                </a:solidFill>
                <a:latin typeface="Arial"/>
                <a:ea typeface="Arial"/>
                <a:cs typeface="Arial"/>
              </a:defRPr>
            </a:lvl3pPr>
            <a:lvl4pPr algn="l">
              <a:defRPr sz="3075" b="1">
                <a:solidFill>
                  <a:srgbClr val="165DAE"/>
                </a:solidFill>
                <a:latin typeface="Arial"/>
                <a:ea typeface="Arial"/>
                <a:cs typeface="Arial"/>
              </a:defRPr>
            </a:lvl4pPr>
            <a:lvl5pPr algn="l">
              <a:defRPr sz="3075" b="1">
                <a:solidFill>
                  <a:srgbClr val="165DAE"/>
                </a:solidFill>
                <a:latin typeface="Arial"/>
                <a:ea typeface="Arial"/>
                <a:cs typeface="Arial"/>
              </a:defRPr>
            </a:lvl5pPr>
            <a:lvl6pPr algn="l">
              <a:defRPr sz="3075" b="1">
                <a:solidFill>
                  <a:srgbClr val="165DAE"/>
                </a:solidFill>
                <a:latin typeface="Arial"/>
                <a:ea typeface="Arial"/>
                <a:cs typeface="Arial"/>
              </a:defRPr>
            </a:lvl6pPr>
            <a:lvl7pPr algn="l">
              <a:defRPr sz="3075" b="1">
                <a:solidFill>
                  <a:srgbClr val="165DAE"/>
                </a:solidFill>
                <a:latin typeface="Arial"/>
                <a:ea typeface="Arial"/>
                <a:cs typeface="Arial"/>
              </a:defRPr>
            </a:lvl7pPr>
            <a:lvl8pPr algn="l">
              <a:defRPr sz="3075" b="1">
                <a:solidFill>
                  <a:srgbClr val="165DAE"/>
                </a:solidFill>
                <a:latin typeface="Arial"/>
                <a:ea typeface="Arial"/>
                <a:cs typeface="Arial"/>
              </a:defRPr>
            </a:lvl8pPr>
            <a:lvl9pPr algn="l">
              <a:defRPr sz="3075" b="1">
                <a:solidFill>
                  <a:srgbClr val="165DAE"/>
                </a:solidFill>
                <a:latin typeface="Arial"/>
                <a:ea typeface="Arial"/>
                <a:cs typeface="Arial"/>
              </a:defRPr>
            </a:lvl9pPr>
          </a:lstStyle>
          <a:p xmlns:a="http://schemas.openxmlformats.org/drawingml/2006/main">
            <a:pPr algn="l">
              <a:defRPr sz="3075" b="1">
                <a:solidFill>
                  <a:srgbClr val="165DAE"/>
                </a:solidFill>
              </a:defRPr>
            </a:pPr>
            <a:r>
              <a:rPr sz="3075" b="1">
                <a:solidFill>
                  <a:srgbClr val="165DAE"/>
                </a:solidFill>
                <a:latin typeface="Arial"/>
                <a:ea typeface="Arial"/>
                <a:cs typeface="Arial"/>
              </a:rPr>
              <a:t>6.1 months</a:t>
            </a:r>
          </a:p>
        </p:txBody>
      </p:sp>
      <p:sp>
        <p:nvSpPr>
          <p:cNvPr id="21" name="">
            <a:extLst xmlns:a="http://schemas.openxmlformats.org/drawingml/2006/main">
              <a:ext uri="{FF2B5EF4-FFF2-40B4-BE49-F238E27FC236}">
                <a16:creationId xmlns:a16="http://schemas.microsoft.com/office/drawing/2014/main" id="{BDACE7C3-9341-4306-82A2-74B1DDEE73FE}"/>
              </a:ext>
            </a:extLst>
          </p:cNvPr>
          <p:cNvSpPr>
            <a:spLocks xmlns:a="http://schemas.openxmlformats.org/drawingml/2006/main" noGrp="1"/>
          </p:cNvSpPr>
          <p:nvPr/>
        </p:nvSpPr>
        <p:spPr>
          <a:xfrm xmlns:a="http://schemas.openxmlformats.org/drawingml/2006/main">
            <a:off x="3248025" y="5610225"/>
            <a:ext cx="3295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Includes value of time freed</a:t>
            </a:r>
          </a:p>
        </p:txBody>
      </p:sp>
      <p:sp>
        <p:nvSpPr>
          <p:cNvPr id="22" name="">
            <a:extLst xmlns:a="http://schemas.openxmlformats.org/drawingml/2006/main">
              <a:ext uri="{FF2B5EF4-FFF2-40B4-BE49-F238E27FC236}">
                <a16:creationId xmlns:a16="http://schemas.microsoft.com/office/drawing/2014/main" id="{E30B5A4E-7382-488B-9F5F-5A7540FF4D52}"/>
              </a:ext>
            </a:extLst>
          </p:cNvPr>
          <p:cNvSpPr>
            <a:spLocks xmlns:a="http://schemas.openxmlformats.org/drawingml/2006/main" noGrp="1"/>
          </p:cNvSpPr>
          <p:nvPr/>
        </p:nvSpPr>
        <p:spPr>
          <a:xfrm xmlns:a="http://schemas.openxmlformats.org/drawingml/2006/main">
            <a:off x="6981825" y="5153025"/>
            <a:ext cx="6276975" cy="428625"/>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8FE232D-BA37-4277-BC91-438D42234671}"/>
              </a:ext>
            </a:extLst>
          </p:cNvPr>
          <p:cNvSpPr>
            <a:spLocks xmlns:a="http://schemas.openxmlformats.org/drawingml/2006/main" noGrp="1"/>
          </p:cNvSpPr>
          <p:nvPr/>
        </p:nvSpPr>
        <p:spPr>
          <a:xfrm xmlns:a="http://schemas.openxmlformats.org/drawingml/2006/main">
            <a:off x="7115175" y="5181600"/>
            <a:ext cx="6010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cash-only payback</a:t>
            </a:r>
          </a:p>
        </p:txBody>
      </p:sp>
      <p:sp>
        <p:nvSpPr>
          <p:cNvPr id="24" name="">
            <a:extLst xmlns:a="http://schemas.openxmlformats.org/drawingml/2006/main">
              <a:ext uri="{FF2B5EF4-FFF2-40B4-BE49-F238E27FC236}">
                <a16:creationId xmlns:a16="http://schemas.microsoft.com/office/drawing/2014/main" id="{D8635F4A-E566-49C5-9DBC-D356D67477BF}"/>
              </a:ext>
            </a:extLst>
          </p:cNvPr>
          <p:cNvSpPr>
            <a:spLocks xmlns:a="http://schemas.openxmlformats.org/drawingml/2006/main" noGrp="1"/>
          </p:cNvSpPr>
          <p:nvPr/>
        </p:nvSpPr>
        <p:spPr>
          <a:xfrm xmlns:a="http://schemas.openxmlformats.org/drawingml/2006/main">
            <a:off x="7134225" y="562927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75" b="1">
                <a:solidFill>
                  <a:srgbClr val="A33F2F"/>
                </a:solidFill>
                <a:latin typeface="Arial"/>
                <a:ea typeface="Arial"/>
                <a:cs typeface="Arial"/>
              </a:defRPr>
            </a:defPPr>
            <a:lvl1pPr algn="l">
              <a:defRPr sz="3075" b="1">
                <a:solidFill>
                  <a:srgbClr val="A33F2F"/>
                </a:solidFill>
                <a:latin typeface="Arial"/>
                <a:ea typeface="Arial"/>
                <a:cs typeface="Arial"/>
              </a:defRPr>
            </a:lvl1pPr>
            <a:lvl2pPr algn="l">
              <a:defRPr sz="3075" b="1">
                <a:solidFill>
                  <a:srgbClr val="A33F2F"/>
                </a:solidFill>
                <a:latin typeface="Arial"/>
                <a:ea typeface="Arial"/>
                <a:cs typeface="Arial"/>
              </a:defRPr>
            </a:lvl2pPr>
            <a:lvl3pPr algn="l">
              <a:defRPr sz="3075" b="1">
                <a:solidFill>
                  <a:srgbClr val="A33F2F"/>
                </a:solidFill>
                <a:latin typeface="Arial"/>
                <a:ea typeface="Arial"/>
                <a:cs typeface="Arial"/>
              </a:defRPr>
            </a:lvl3pPr>
            <a:lvl4pPr algn="l">
              <a:defRPr sz="3075" b="1">
                <a:solidFill>
                  <a:srgbClr val="A33F2F"/>
                </a:solidFill>
                <a:latin typeface="Arial"/>
                <a:ea typeface="Arial"/>
                <a:cs typeface="Arial"/>
              </a:defRPr>
            </a:lvl4pPr>
            <a:lvl5pPr algn="l">
              <a:defRPr sz="3075" b="1">
                <a:solidFill>
                  <a:srgbClr val="A33F2F"/>
                </a:solidFill>
                <a:latin typeface="Arial"/>
                <a:ea typeface="Arial"/>
                <a:cs typeface="Arial"/>
              </a:defRPr>
            </a:lvl5pPr>
            <a:lvl6pPr algn="l">
              <a:defRPr sz="3075" b="1">
                <a:solidFill>
                  <a:srgbClr val="A33F2F"/>
                </a:solidFill>
                <a:latin typeface="Arial"/>
                <a:ea typeface="Arial"/>
                <a:cs typeface="Arial"/>
              </a:defRPr>
            </a:lvl6pPr>
            <a:lvl7pPr algn="l">
              <a:defRPr sz="3075" b="1">
                <a:solidFill>
                  <a:srgbClr val="A33F2F"/>
                </a:solidFill>
                <a:latin typeface="Arial"/>
                <a:ea typeface="Arial"/>
                <a:cs typeface="Arial"/>
              </a:defRPr>
            </a:lvl7pPr>
            <a:lvl8pPr algn="l">
              <a:defRPr sz="3075" b="1">
                <a:solidFill>
                  <a:srgbClr val="A33F2F"/>
                </a:solidFill>
                <a:latin typeface="Arial"/>
                <a:ea typeface="Arial"/>
                <a:cs typeface="Arial"/>
              </a:defRPr>
            </a:lvl8pPr>
            <a:lvl9pPr algn="l">
              <a:defRPr sz="3075" b="1">
                <a:solidFill>
                  <a:srgbClr val="A33F2F"/>
                </a:solidFill>
                <a:latin typeface="Arial"/>
                <a:ea typeface="Arial"/>
                <a:cs typeface="Arial"/>
              </a:defRPr>
            </a:lvl9pPr>
          </a:lstStyle>
          <a:p xmlns:a="http://schemas.openxmlformats.org/drawingml/2006/main">
            <a:pPr algn="l">
              <a:defRPr sz="3075" b="1">
                <a:solidFill>
                  <a:srgbClr val="165DAE"/>
                </a:solidFill>
              </a:defRPr>
            </a:pPr>
            <a:r>
              <a:rPr sz="3075" b="1">
                <a:solidFill>
                  <a:srgbClr val="A33F2F"/>
                </a:solidFill>
                <a:latin typeface="Arial"/>
                <a:ea typeface="Arial"/>
                <a:cs typeface="Arial"/>
              </a:rPr>
              <a:t>28.2 months</a:t>
            </a:r>
          </a:p>
        </p:txBody>
      </p:sp>
      <p:sp>
        <p:nvSpPr>
          <p:cNvPr id="25" name="">
            <a:extLst xmlns:a="http://schemas.openxmlformats.org/drawingml/2006/main">
              <a:ext uri="{FF2B5EF4-FFF2-40B4-BE49-F238E27FC236}">
                <a16:creationId xmlns:a16="http://schemas.microsoft.com/office/drawing/2014/main" id="{352420AB-B0AA-4922-8AB9-14CB2B415DCB}"/>
              </a:ext>
            </a:extLst>
          </p:cNvPr>
          <p:cNvSpPr>
            <a:spLocks xmlns:a="http://schemas.openxmlformats.org/drawingml/2006/main" noGrp="1"/>
          </p:cNvSpPr>
          <p:nvPr/>
        </p:nvSpPr>
        <p:spPr>
          <a:xfrm xmlns:a="http://schemas.openxmlformats.org/drawingml/2006/main">
            <a:off x="9772650" y="5610225"/>
            <a:ext cx="3295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Excludes time unless cash is saved</a:t>
            </a:r>
          </a:p>
        </p:txBody>
      </p:sp>
    </p:spTree>
    <p:extLst>
      <p:ext uri="{BB962C8B-B14F-4D97-AF65-F5344CB8AC3E}">
        <p14:creationId xmlns:p14="http://schemas.microsoft.com/office/powerpoint/2010/main" val="1764304131"/>
      </p:ext>
    </p:extLst>
  </p:cSld>
</p:sld>
</file>

<file path=ppt/slides/slide20.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DA8DD3-40B2-4CC1-9488-3D7B718E5E8E}"/>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50634B-D26D-42CC-B6EB-ED203B518C6C}"/>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FINANCIALS · SAP PRODUCT SCENARIO</a:t>
            </a:r>
          </a:p>
        </p:txBody>
      </p:sp>
      <p:sp>
        <p:nvSpPr>
          <p:cNvPr id="4" name="">
            <a:extLst xmlns:a="http://schemas.openxmlformats.org/drawingml/2006/main">
              <a:ext uri="{FF2B5EF4-FFF2-40B4-BE49-F238E27FC236}">
                <a16:creationId xmlns:a16="http://schemas.microsoft.com/office/drawing/2014/main" id="{E8412ED2-C1CC-4C6C-A17B-036C70371CBC}"/>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SAP’s base scenario reaches CAD 38.1M in year 3</a:t>
            </a:r>
          </a:p>
        </p:txBody>
      </p:sp>
      <p:sp>
        <p:nvSpPr>
          <p:cNvPr id="5" name="">
            <a:extLst xmlns:a="http://schemas.openxmlformats.org/drawingml/2006/main">
              <a:ext uri="{FF2B5EF4-FFF2-40B4-BE49-F238E27FC236}">
                <a16:creationId xmlns:a16="http://schemas.microsoft.com/office/drawing/2014/main" id="{ECFE721F-6264-4B6C-B857-8D991F45F93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Illustrative, not SAP guidance. Midyear customer wins, no churn, CAD 350k/customer/year; hardware pass-through excluded.</a:t>
            </a:r>
          </a:p>
        </p:txBody>
      </p:sp>
      <p:sp>
        <p:nvSpPr>
          <p:cNvPr id="6" name="">
            <a:extLst xmlns:a="http://schemas.openxmlformats.org/drawingml/2006/main">
              <a:ext uri="{FF2B5EF4-FFF2-40B4-BE49-F238E27FC236}">
                <a16:creationId xmlns:a16="http://schemas.microsoft.com/office/drawing/2014/main" id="{900161A8-5259-4F07-980B-E258238C1D90}"/>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B9B94D-6DB9-484E-9318-AC25CAFE9407}"/>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0656C059-FA0F-4D88-849F-358224CDB87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602EF0-0606-48B7-8A79-698F5AD4977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24398E0A-E4E8-43F2-B0C2-AD56A2DBE802}"/>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F54C8-3674-429B-9A81-A40AB0F21777}"/>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C7933B37-F11A-4977-8B6E-DFBFD441AF8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5815F2-174B-4CDD-A1B1-DFA069F23CDB}"/>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A2BFCC0-3C6E-4AEE-B399-18BD6A5DAF84}"/>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9A35C2-6B1B-4114-925D-8AB46789ABC8}"/>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2BA4F3C-A181-4AF5-8CEB-E4780A3A5172}"/>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20</a:t>
            </a:r>
          </a:p>
        </p:txBody>
      </p:sp>
      <p:graphicFrame>
        <p:nvGraphicFramePr>
          <p:cNvPr id="17" name="Chart">
            <a:extLst xmlns:a="http://schemas.openxmlformats.org/drawingml/2006/main">
              <a:ext uri="{FF2B5EF4-FFF2-40B4-BE49-F238E27FC236}">
                <a16:creationId xmlns:a16="http://schemas.microsoft.com/office/drawing/2014/main" id="{EF173A4D-AFE9-4F8F-8A67-539DB13F34F4}"/>
              </a:ext>
            </a:extLst>
          </p:cNvPr>
          <p:cNvGraphicFramePr/>
          <p:nvPr/>
        </p:nvGraphicFramePr>
        <p:xfrm>
          <a:off xmlns:a="http://schemas.openxmlformats.org/drawingml/2006/main" x="457200" y="1524000"/>
          <a:ext xmlns:a="http://schemas.openxmlformats.org/drawingml/2006/main" cx="5162550" cy="4762500"/>
        </p:xfrm>
        <a:graphic xmlns:a="http://schemas.openxmlformats.org/drawingml/2006/main">
          <a:graphicData uri="http://schemas.openxmlformats.org/drawingml/2006/chart">
            <c:chart xmlns:r="http://schemas.openxmlformats.org/officeDocument/2006/relationships" xmlns:c="http://schemas.openxmlformats.org/drawingml/2006/chart" r:id="Rbf1dbb5398374731"/>
          </a:graphicData>
        </a:graphic>
      </p:graphicFrame>
      <p:graphicFrame>
        <p:nvGraphicFramePr>
          <p:cNvPr id="18" name="">
            <a:extLst xmlns:a="http://schemas.openxmlformats.org/drawingml/2006/main">
              <a:ext uri="{FF2B5EF4-FFF2-40B4-BE49-F238E27FC236}">
                <a16:creationId xmlns:a16="http://schemas.microsoft.com/office/drawing/2014/main" id="{2DC63D10-2839-463B-83F7-C6F64FCEEBF7}"/>
              </a:ext>
            </a:extLst>
          </p:cNvPr>
          <p:cNvGraphicFramePr/>
          <p:nvPr/>
        </p:nvGraphicFramePr>
        <p:xfrm>
          <a:off xmlns:a="http://schemas.openxmlformats.org/drawingml/2006/main" x="5905500" y="1476375"/>
          <a:ext xmlns:a="http://schemas.openxmlformats.org/drawingml/2006/main" cx="7353300" cy="5057775"/>
        </p:xfrm>
        <a:graphic xmlns:a="http://schemas.openxmlformats.org/drawingml/2006/main">
          <a:graphicData uri="http://schemas.openxmlformats.org/drawingml/2006/table">
            <a:tbl>
              <a:tblPr/>
              <a:tblGrid>
                <a:gridCol w="3308985"/>
                <a:gridCol w="1347860"/>
                <a:gridCol w="1347860"/>
                <a:gridCol w="1348595"/>
              </a:tblGrid>
              <a:tr h="561975">
                <a:tc>
                  <a:txBody>
                    <a:bodyPr/>
                    <a:lstStyle/>
                    <a:p>
                      <a:r>
                        <a:rPr sz="1500" b="1">
                          <a:solidFill>
                            <a:srgbClr val="FFFFFF"/>
                          </a:solidFill>
                          <a:latin typeface="Arial"/>
                          <a:ea typeface="Arial"/>
                          <a:cs typeface="Arial"/>
                        </a:rPr>
                        <a:t>CAD millions, unless noted</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00" b="1">
                          <a:solidFill>
                            <a:srgbClr val="FFFFFF"/>
                          </a:solidFill>
                          <a:latin typeface="Arial"/>
                          <a:ea typeface="Arial"/>
                          <a:cs typeface="Arial"/>
                        </a:rPr>
                        <a:t>Year 1</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00" b="1">
                          <a:solidFill>
                            <a:srgbClr val="FFFFFF"/>
                          </a:solidFill>
                          <a:latin typeface="Arial"/>
                          <a:ea typeface="Arial"/>
                          <a:cs typeface="Arial"/>
                        </a:rPr>
                        <a:t>Year 2</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00" b="1">
                          <a:solidFill>
                            <a:srgbClr val="FFFFFF"/>
                          </a:solidFill>
                          <a:latin typeface="Arial"/>
                          <a:ea typeface="Arial"/>
                          <a:cs typeface="Arial"/>
                        </a:rPr>
                        <a:t>Year 3</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561975">
                <a:tc>
                  <a:txBody>
                    <a:bodyPr/>
                    <a:lstStyle/>
                    <a:p>
                      <a:r>
                        <a:rPr sz="1500" b="1">
                          <a:solidFill>
                            <a:srgbClr val="FFFFFF"/>
                          </a:solidFill>
                          <a:latin typeface="Arial"/>
                          <a:ea typeface="Arial"/>
                          <a:cs typeface="Arial"/>
                        </a:rPr>
                        <a:t>Ending customers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60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Average active customers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40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105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61975">
                <a:tc>
                  <a:txBody>
                    <a:bodyPr/>
                    <a:lstStyle/>
                    <a:p>
                      <a:r>
                        <a:rPr sz="1500" b="1">
                          <a:solidFill>
                            <a:srgbClr val="FFFFFF"/>
                          </a:solidFill>
                          <a:latin typeface="Arial"/>
                          <a:ea typeface="Arial"/>
                          <a:cs typeface="Arial"/>
                        </a:rPr>
                        <a:t>Subscription revenue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3.50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14.00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36.75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Net onboarding fee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0.30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0.60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1.35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61975">
                <a:tc>
                  <a:txBody>
                    <a:bodyPr/>
                    <a:lstStyle/>
                    <a:p>
                      <a:r>
                        <a:rPr sz="1500" b="1">
                          <a:solidFill>
                            <a:srgbClr val="FFFFFF"/>
                          </a:solidFill>
                          <a:latin typeface="Arial"/>
                          <a:ea typeface="Arial"/>
                          <a:cs typeface="Arial"/>
                        </a:rPr>
                        <a:t>Total modeled SAP revenue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3.80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14.60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38.10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Hosting / support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(0.88)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(3.50)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(9.19)</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61975">
                <a:tc>
                  <a:txBody>
                    <a:bodyPr/>
                    <a:lstStyle/>
                    <a:p>
                      <a:r>
                        <a:rPr sz="1500" b="1">
                          <a:solidFill>
                            <a:srgbClr val="FFFFFF"/>
                          </a:solidFill>
                          <a:latin typeface="Arial"/>
                          <a:ea typeface="Arial"/>
                          <a:cs typeface="Arial"/>
                        </a:rPr>
                        <a:t>Product / sales / operations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(5.00)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(6.00)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(8.00)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Operating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(2.08)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5.10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20.91</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2138318552"/>
      </p:ext>
    </p:extLst>
  </p:cSld>
</p:sld>
</file>

<file path=ppt/slides/slide21.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7B96B9A-B381-4C6E-8154-D2159AF9FE07}"/>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4D32FE-DE1C-41D5-A1DE-FEECCDCDC8F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VALUE PROPOSITION</a:t>
            </a:r>
          </a:p>
        </p:txBody>
      </p:sp>
      <p:sp>
        <p:nvSpPr>
          <p:cNvPr id="4" name="">
            <a:extLst xmlns:a="http://schemas.openxmlformats.org/drawingml/2006/main">
              <a:ext uri="{FF2B5EF4-FFF2-40B4-BE49-F238E27FC236}">
                <a16:creationId xmlns:a16="http://schemas.microsoft.com/office/drawing/2014/main" id="{D7647E31-9D1E-4A0A-976F-5F686CE47FBF}"/>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Earlier evidence is useful only when teams can act</a:t>
            </a:r>
          </a:p>
        </p:txBody>
      </p:sp>
      <p:sp>
        <p:nvSpPr>
          <p:cNvPr id="5" name="">
            <a:extLst xmlns:a="http://schemas.openxmlformats.org/drawingml/2006/main">
              <a:ext uri="{FF2B5EF4-FFF2-40B4-BE49-F238E27FC236}">
                <a16:creationId xmlns:a16="http://schemas.microsoft.com/office/drawing/2014/main" id="{E7E785E6-5187-476E-91F8-16C5EAF980E5}"/>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One SAP Retail Signal subscription. Shared evidence, shared inventory context and a traceable response.</a:t>
            </a:r>
          </a:p>
        </p:txBody>
      </p:sp>
      <p:sp>
        <p:nvSpPr>
          <p:cNvPr id="6" name="">
            <a:extLst xmlns:a="http://schemas.openxmlformats.org/drawingml/2006/main">
              <a:ext uri="{FF2B5EF4-FFF2-40B4-BE49-F238E27FC236}">
                <a16:creationId xmlns:a16="http://schemas.microsoft.com/office/drawing/2014/main" id="{3EE2EE61-C281-43D5-8059-2254E36E8C5E}"/>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8950DB-B3FF-4D95-8316-DAB8CD72E78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5DC3175-C2BB-4747-B370-CC96F7BA66C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3FFB5D-030A-498C-9B34-AB3F5D8BE9B4}"/>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C9FDDFC0-F1E4-4C42-9D5D-D06C099E6795}"/>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A482A3-7F5C-4876-B9BC-9B5FF58A1BE4}"/>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C073E8DB-3E81-45DA-A9FE-05EFDB3831DB}"/>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A444EA-FB4A-4E6D-8F92-38DCEA333498}"/>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DD55D783-B987-4857-BC9C-9E7C0C6C8C41}"/>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76FAB25-8B95-4AB0-B985-FBA79A9C7B1A}"/>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C48469DD-4C22-462B-B68B-138280B2217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21</a:t>
            </a:r>
          </a:p>
        </p:txBody>
      </p:sp>
      <p:pic>
        <p:nvPicPr>
          <p:cNvPr id="17" name="">
            <a:extLst xmlns:a="http://schemas.openxmlformats.org/drawingml/2006/main">
              <a:ext uri="{FF2B5EF4-FFF2-40B4-BE49-F238E27FC236}">
                <a16:creationId xmlns:a16="http://schemas.microsoft.com/office/drawing/2014/main" id="{C5354B8D-F6FA-435A-AFFD-35DDF1625F45}"/>
              </a:ext>
            </a:extLst>
          </p:cNvPr>
          <p:cNvPicPr>
            <a:picLocks xmlns:a="http://schemas.openxmlformats.org/drawingml/2006/main" noChangeAspect="1"/>
          </p:cNvPicPr>
          <p:nvPr/>
        </p:nvPicPr>
        <p:blipFill>
          <a:blip xmlns:r="http://schemas.openxmlformats.org/officeDocument/2006/relationships" xmlns:a="http://schemas.openxmlformats.org/drawingml/2006/main" r:embed="Reabaa5537b1a4637"/>
          <a:srcRect xmlns:a="http://schemas.openxmlformats.org/drawingml/2006/main" l="44000" t="0" r="0" b="0"/>
          <a:stretch xmlns:a="http://schemas.openxmlformats.org/drawingml/2006/main">
            <a:fillRect l="0" t="0" r="0" b="0"/>
          </a:stretch>
        </p:blipFill>
        <p:spPr>
          <a:xfrm xmlns:a="http://schemas.openxmlformats.org/drawingml/2006/main">
            <a:off x="457200" y="1600200"/>
            <a:ext cx="4762500" cy="4800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BD0E883-9A09-4137-B7AE-63832F92CBA7}"/>
              </a:ext>
            </a:extLst>
          </p:cNvPr>
          <p:cNvSpPr>
            <a:spLocks xmlns:a="http://schemas.openxmlformats.org/drawingml/2006/main" noGrp="1"/>
          </p:cNvSpPr>
          <p:nvPr/>
        </p:nvSpPr>
        <p:spPr>
          <a:xfrm xmlns:a="http://schemas.openxmlformats.org/drawingml/2006/main">
            <a:off x="5667375" y="157162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8DC22A-A978-4CF7-BECC-E4870E2ECEFD}"/>
              </a:ext>
            </a:extLst>
          </p:cNvPr>
          <p:cNvSpPr>
            <a:spLocks xmlns:a="http://schemas.openxmlformats.org/drawingml/2006/main" noGrp="1"/>
          </p:cNvSpPr>
          <p:nvPr/>
        </p:nvSpPr>
        <p:spPr>
          <a:xfrm xmlns:a="http://schemas.openxmlformats.org/drawingml/2006/main">
            <a:off x="5848350" y="1495425"/>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Bob</a:t>
            </a:r>
          </a:p>
        </p:txBody>
      </p:sp>
      <p:sp>
        <p:nvSpPr>
          <p:cNvPr id="20" name="">
            <a:extLst xmlns:a="http://schemas.openxmlformats.org/drawingml/2006/main">
              <a:ext uri="{FF2B5EF4-FFF2-40B4-BE49-F238E27FC236}">
                <a16:creationId xmlns:a16="http://schemas.microsoft.com/office/drawing/2014/main" id="{5A1BE13D-FAD6-4723-BF23-6FB6223EFFAB}"/>
              </a:ext>
            </a:extLst>
          </p:cNvPr>
          <p:cNvSpPr>
            <a:spLocks xmlns:a="http://schemas.openxmlformats.org/drawingml/2006/main" noGrp="1"/>
          </p:cNvSpPr>
          <p:nvPr/>
        </p:nvSpPr>
        <p:spPr>
          <a:xfrm xmlns:a="http://schemas.openxmlformats.org/drawingml/2006/main">
            <a:off x="5848350" y="1990725"/>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A prioritized decision with evidence, alternatives and a visible owner.</a:t>
            </a:r>
          </a:p>
        </p:txBody>
      </p:sp>
      <p:sp>
        <p:nvSpPr>
          <p:cNvPr id="21" name="">
            <a:extLst xmlns:a="http://schemas.openxmlformats.org/drawingml/2006/main">
              <a:ext uri="{FF2B5EF4-FFF2-40B4-BE49-F238E27FC236}">
                <a16:creationId xmlns:a16="http://schemas.microsoft.com/office/drawing/2014/main" id="{DE3DFE75-2A0F-4B24-BE06-C84E60C977ED}"/>
              </a:ext>
            </a:extLst>
          </p:cNvPr>
          <p:cNvSpPr>
            <a:spLocks xmlns:a="http://schemas.openxmlformats.org/drawingml/2006/main" noGrp="1"/>
          </p:cNvSpPr>
          <p:nvPr/>
        </p:nvSpPr>
        <p:spPr>
          <a:xfrm xmlns:a="http://schemas.openxmlformats.org/drawingml/2006/main">
            <a:off x="5667375" y="2831306"/>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197E02B-1E1B-46BF-9BB5-A036C6D21BED}"/>
              </a:ext>
            </a:extLst>
          </p:cNvPr>
          <p:cNvSpPr>
            <a:spLocks xmlns:a="http://schemas.openxmlformats.org/drawingml/2006/main" noGrp="1"/>
          </p:cNvSpPr>
          <p:nvPr/>
        </p:nvSpPr>
        <p:spPr>
          <a:xfrm xmlns:a="http://schemas.openxmlformats.org/drawingml/2006/main">
            <a:off x="5848350" y="2755106"/>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the retailer</a:t>
            </a:r>
          </a:p>
        </p:txBody>
      </p:sp>
      <p:sp>
        <p:nvSpPr>
          <p:cNvPr id="23" name="">
            <a:extLst xmlns:a="http://schemas.openxmlformats.org/drawingml/2006/main">
              <a:ext uri="{FF2B5EF4-FFF2-40B4-BE49-F238E27FC236}">
                <a16:creationId xmlns:a16="http://schemas.microsoft.com/office/drawing/2014/main" id="{6631885E-5AD5-4E66-A928-703200258054}"/>
              </a:ext>
            </a:extLst>
          </p:cNvPr>
          <p:cNvSpPr>
            <a:spLocks xmlns:a="http://schemas.openxmlformats.org/drawingml/2006/main" noGrp="1"/>
          </p:cNvSpPr>
          <p:nvPr/>
        </p:nvSpPr>
        <p:spPr>
          <a:xfrm xmlns:a="http://schemas.openxmlformats.org/drawingml/2006/main">
            <a:off x="5848350" y="3250406"/>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Better availability and margin discipline, measured against the cost of responding.</a:t>
            </a:r>
          </a:p>
        </p:txBody>
      </p:sp>
      <p:sp>
        <p:nvSpPr>
          <p:cNvPr id="24" name="">
            <a:extLst xmlns:a="http://schemas.openxmlformats.org/drawingml/2006/main">
              <a:ext uri="{FF2B5EF4-FFF2-40B4-BE49-F238E27FC236}">
                <a16:creationId xmlns:a16="http://schemas.microsoft.com/office/drawing/2014/main" id="{959D3ABF-6711-4480-8AAF-DCCA6244DDBF}"/>
              </a:ext>
            </a:extLst>
          </p:cNvPr>
          <p:cNvSpPr>
            <a:spLocks xmlns:a="http://schemas.openxmlformats.org/drawingml/2006/main" noGrp="1"/>
          </p:cNvSpPr>
          <p:nvPr/>
        </p:nvSpPr>
        <p:spPr>
          <a:xfrm xmlns:a="http://schemas.openxmlformats.org/drawingml/2006/main">
            <a:off x="5667375" y="4090988"/>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6028C40-A011-46C2-BEB1-7BEE66A8D48D}"/>
              </a:ext>
            </a:extLst>
          </p:cNvPr>
          <p:cNvSpPr>
            <a:spLocks xmlns:a="http://schemas.openxmlformats.org/drawingml/2006/main" noGrp="1"/>
          </p:cNvSpPr>
          <p:nvPr/>
        </p:nvSpPr>
        <p:spPr>
          <a:xfrm xmlns:a="http://schemas.openxmlformats.org/drawingml/2006/main">
            <a:off x="5848350" y="4014788"/>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shoppers</a:t>
            </a:r>
          </a:p>
        </p:txBody>
      </p:sp>
      <p:sp>
        <p:nvSpPr>
          <p:cNvPr id="26" name="">
            <a:extLst xmlns:a="http://schemas.openxmlformats.org/drawingml/2006/main">
              <a:ext uri="{FF2B5EF4-FFF2-40B4-BE49-F238E27FC236}">
                <a16:creationId xmlns:a16="http://schemas.microsoft.com/office/drawing/2014/main" id="{91FDBD7D-2F10-451B-AE7B-3EBAC65FA2AC}"/>
              </a:ext>
            </a:extLst>
          </p:cNvPr>
          <p:cNvSpPr>
            <a:spLocks xmlns:a="http://schemas.openxmlformats.org/drawingml/2006/main" noGrp="1"/>
          </p:cNvSpPr>
          <p:nvPr/>
        </p:nvSpPr>
        <p:spPr>
          <a:xfrm xmlns:a="http://schemas.openxmlformats.org/drawingml/2006/main">
            <a:off x="5848350" y="4510088"/>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A better chance of finding the right size, without personal fitting-room surveillance.</a:t>
            </a:r>
          </a:p>
        </p:txBody>
      </p:sp>
      <p:sp>
        <p:nvSpPr>
          <p:cNvPr id="27" name="">
            <a:extLst xmlns:a="http://schemas.openxmlformats.org/drawingml/2006/main">
              <a:ext uri="{FF2B5EF4-FFF2-40B4-BE49-F238E27FC236}">
                <a16:creationId xmlns:a16="http://schemas.microsoft.com/office/drawing/2014/main" id="{1A615B3F-6A6E-4EEA-8995-760AEF571BFE}"/>
              </a:ext>
            </a:extLst>
          </p:cNvPr>
          <p:cNvSpPr>
            <a:spLocks xmlns:a="http://schemas.openxmlformats.org/drawingml/2006/main" noGrp="1"/>
          </p:cNvSpPr>
          <p:nvPr/>
        </p:nvSpPr>
        <p:spPr>
          <a:xfrm xmlns:a="http://schemas.openxmlformats.org/drawingml/2006/main">
            <a:off x="5667375" y="5350669"/>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DCD7F6D-6C1D-431B-8799-B70103FAC48E}"/>
              </a:ext>
            </a:extLst>
          </p:cNvPr>
          <p:cNvSpPr>
            <a:spLocks xmlns:a="http://schemas.openxmlformats.org/drawingml/2006/main" noGrp="1"/>
          </p:cNvSpPr>
          <p:nvPr/>
        </p:nvSpPr>
        <p:spPr>
          <a:xfrm xmlns:a="http://schemas.openxmlformats.org/drawingml/2006/main">
            <a:off x="5848350" y="5274469"/>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SAP</a:t>
            </a:r>
          </a:p>
        </p:txBody>
      </p:sp>
      <p:sp>
        <p:nvSpPr>
          <p:cNvPr id="29" name="">
            <a:extLst xmlns:a="http://schemas.openxmlformats.org/drawingml/2006/main">
              <a:ext uri="{FF2B5EF4-FFF2-40B4-BE49-F238E27FC236}">
                <a16:creationId xmlns:a16="http://schemas.microsoft.com/office/drawing/2014/main" id="{99066824-6108-47B2-8F0B-259BAD251ED8}"/>
              </a:ext>
            </a:extLst>
          </p:cNvPr>
          <p:cNvSpPr>
            <a:spLocks xmlns:a="http://schemas.openxmlformats.org/drawingml/2006/main" noGrp="1"/>
          </p:cNvSpPr>
          <p:nvPr/>
        </p:nvSpPr>
        <p:spPr>
          <a:xfrm xmlns:a="http://schemas.openxmlformats.org/drawingml/2006/main">
            <a:off x="5848350" y="5769769"/>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A focused extension of existing retail workflows and recurring software revenue.</a:t>
            </a:r>
          </a:p>
        </p:txBody>
      </p:sp>
    </p:spTree>
    <p:extLst>
      <p:ext uri="{BB962C8B-B14F-4D97-AF65-F5344CB8AC3E}">
        <p14:creationId xmlns:p14="http://schemas.microsoft.com/office/powerpoint/2010/main" val="1970473925"/>
      </p:ext>
    </p:extLst>
  </p:cSld>
</p:sld>
</file>

<file path=ppt/slides/slide22.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2B41F3D-3F5F-44D7-877E-2AAA49A8A3D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72E8FD-680E-4356-82F5-DB73F581A217}"/>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CALL TO ACTION</a:t>
            </a:r>
          </a:p>
        </p:txBody>
      </p:sp>
      <p:sp>
        <p:nvSpPr>
          <p:cNvPr id="4" name="">
            <a:extLst xmlns:a="http://schemas.openxmlformats.org/drawingml/2006/main">
              <a:ext uri="{FF2B5EF4-FFF2-40B4-BE49-F238E27FC236}">
                <a16:creationId xmlns:a16="http://schemas.microsoft.com/office/drawing/2014/main" id="{02EC7C65-310A-4A6D-91FD-9DA5CB97A7EA}"/>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A pilot decision, with a clear scale gate</a:t>
            </a:r>
          </a:p>
        </p:txBody>
      </p:sp>
      <p:sp>
        <p:nvSpPr>
          <p:cNvPr id="5" name="">
            <a:extLst xmlns:a="http://schemas.openxmlformats.org/drawingml/2006/main">
              <a:ext uri="{FF2B5EF4-FFF2-40B4-BE49-F238E27FC236}">
                <a16:creationId xmlns:a16="http://schemas.microsoft.com/office/drawing/2014/main" id="{A07F59FD-F98C-4D1F-86E8-BF874AAA019A}"/>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Pilot budget included in year-one operating spend. Funding, customer participation and partners remain proposed.</a:t>
            </a:r>
          </a:p>
        </p:txBody>
      </p:sp>
      <p:sp>
        <p:nvSpPr>
          <p:cNvPr id="6" name="">
            <a:extLst xmlns:a="http://schemas.openxmlformats.org/drawingml/2006/main">
              <a:ext uri="{FF2B5EF4-FFF2-40B4-BE49-F238E27FC236}">
                <a16:creationId xmlns:a16="http://schemas.microsoft.com/office/drawing/2014/main" id="{76EA58F6-C8CC-46F2-A093-D1FFA7AB939A}"/>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56C8D2-C6E6-423C-B139-788371A705C0}"/>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5464075-6D7B-4DEB-9B6A-7D0457DFE5A2}"/>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E60F6E-5776-4F23-9429-1302AE193E98}"/>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3DD81882-ABED-4514-AA01-67D112C37AE7}"/>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3395A0-D878-4494-9E8C-FDC40AD2CB9D}"/>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7CF80D47-9BE8-4A10-8C08-95FAC0CCA9A5}"/>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4DC4AD-BFF5-4875-9B35-5CA2C3CE063E}"/>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2831DAFC-7FC3-41D2-8B41-543F143D0BBD}"/>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75E936-B590-4AC2-85B5-39168BF29926}"/>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38C32759-DF06-4392-8170-3345BCE976A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22</a:t>
            </a:r>
          </a:p>
        </p:txBody>
      </p:sp>
      <p:pic>
        <p:nvPicPr>
          <p:cNvPr id="17" name="">
            <a:extLst xmlns:a="http://schemas.openxmlformats.org/drawingml/2006/main">
              <a:ext uri="{FF2B5EF4-FFF2-40B4-BE49-F238E27FC236}">
                <a16:creationId xmlns:a16="http://schemas.microsoft.com/office/drawing/2014/main" id="{C3B08D0C-71C9-49EE-BB21-7173A20482B2}"/>
              </a:ext>
            </a:extLst>
          </p:cNvPr>
          <p:cNvPicPr>
            <a:picLocks xmlns:a="http://schemas.openxmlformats.org/drawingml/2006/main" noChangeAspect="1"/>
          </p:cNvPicPr>
          <p:nvPr/>
        </p:nvPicPr>
        <p:blipFill>
          <a:blip xmlns:r="http://schemas.openxmlformats.org/officeDocument/2006/relationships" xmlns:a="http://schemas.openxmlformats.org/drawingml/2006/main" r:embed="R23f424a3667948bc"/>
          <a:srcRect xmlns:a="http://schemas.openxmlformats.org/drawingml/2006/main" l="14799" t="0" r="14799" b="0"/>
          <a:stretch xmlns:a="http://schemas.openxmlformats.org/drawingml/2006/main">
            <a:fillRect l="0" t="0" r="0" b="0"/>
          </a:stretch>
        </p:blipFill>
        <p:spPr>
          <a:xfrm xmlns:a="http://schemas.openxmlformats.org/drawingml/2006/main">
            <a:off x="6943725" y="1476375"/>
            <a:ext cx="6315075" cy="5048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2F696CF-ADFF-41CE-B1A7-7DBBD1CAE61F}"/>
              </a:ext>
            </a:extLst>
          </p:cNvPr>
          <p:cNvSpPr>
            <a:spLocks xmlns:a="http://schemas.openxmlformats.org/drawingml/2006/main" noGrp="1"/>
          </p:cNvSpPr>
          <p:nvPr/>
        </p:nvSpPr>
        <p:spPr>
          <a:xfrm xmlns:a="http://schemas.openxmlformats.org/drawingml/2006/main">
            <a:off x="523875" y="1628775"/>
            <a:ext cx="61055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625" b="1">
                <a:solidFill>
                  <a:srgbClr val="165DAE"/>
                </a:solidFill>
                <a:latin typeface="Arial"/>
                <a:ea typeface="Arial"/>
                <a:cs typeface="Arial"/>
              </a:defRPr>
            </a:defPPr>
            <a:lvl1pPr algn="l">
              <a:defRPr sz="5625" b="1">
                <a:solidFill>
                  <a:srgbClr val="165DAE"/>
                </a:solidFill>
                <a:latin typeface="Arial"/>
                <a:ea typeface="Arial"/>
                <a:cs typeface="Arial"/>
              </a:defRPr>
            </a:lvl1pPr>
            <a:lvl2pPr algn="l">
              <a:defRPr sz="5625" b="1">
                <a:solidFill>
                  <a:srgbClr val="165DAE"/>
                </a:solidFill>
                <a:latin typeface="Arial"/>
                <a:ea typeface="Arial"/>
                <a:cs typeface="Arial"/>
              </a:defRPr>
            </a:lvl2pPr>
            <a:lvl3pPr algn="l">
              <a:defRPr sz="5625" b="1">
                <a:solidFill>
                  <a:srgbClr val="165DAE"/>
                </a:solidFill>
                <a:latin typeface="Arial"/>
                <a:ea typeface="Arial"/>
                <a:cs typeface="Arial"/>
              </a:defRPr>
            </a:lvl3pPr>
            <a:lvl4pPr algn="l">
              <a:defRPr sz="5625" b="1">
                <a:solidFill>
                  <a:srgbClr val="165DAE"/>
                </a:solidFill>
                <a:latin typeface="Arial"/>
                <a:ea typeface="Arial"/>
                <a:cs typeface="Arial"/>
              </a:defRPr>
            </a:lvl4pPr>
            <a:lvl5pPr algn="l">
              <a:defRPr sz="5625" b="1">
                <a:solidFill>
                  <a:srgbClr val="165DAE"/>
                </a:solidFill>
                <a:latin typeface="Arial"/>
                <a:ea typeface="Arial"/>
                <a:cs typeface="Arial"/>
              </a:defRPr>
            </a:lvl5pPr>
            <a:lvl6pPr algn="l">
              <a:defRPr sz="5625" b="1">
                <a:solidFill>
                  <a:srgbClr val="165DAE"/>
                </a:solidFill>
                <a:latin typeface="Arial"/>
                <a:ea typeface="Arial"/>
                <a:cs typeface="Arial"/>
              </a:defRPr>
            </a:lvl6pPr>
            <a:lvl7pPr algn="l">
              <a:defRPr sz="5625" b="1">
                <a:solidFill>
                  <a:srgbClr val="165DAE"/>
                </a:solidFill>
                <a:latin typeface="Arial"/>
                <a:ea typeface="Arial"/>
                <a:cs typeface="Arial"/>
              </a:defRPr>
            </a:lvl7pPr>
            <a:lvl8pPr algn="l">
              <a:defRPr sz="5625" b="1">
                <a:solidFill>
                  <a:srgbClr val="165DAE"/>
                </a:solidFill>
                <a:latin typeface="Arial"/>
                <a:ea typeface="Arial"/>
                <a:cs typeface="Arial"/>
              </a:defRPr>
            </a:lvl8pPr>
            <a:lvl9pPr algn="l">
              <a:defRPr sz="5625" b="1">
                <a:solidFill>
                  <a:srgbClr val="165DAE"/>
                </a:solidFill>
                <a:latin typeface="Arial"/>
                <a:ea typeface="Arial"/>
                <a:cs typeface="Arial"/>
              </a:defRPr>
            </a:lvl9pPr>
          </a:lstStyle>
          <a:p xmlns:a="http://schemas.openxmlformats.org/drawingml/2006/main">
            <a:pPr algn="l">
              <a:defRPr sz="5625" b="1">
                <a:solidFill>
                  <a:srgbClr val="165DAE"/>
                </a:solidFill>
              </a:defRPr>
            </a:pPr>
            <a:r>
              <a:rPr sz="5625" b="1">
                <a:solidFill>
                  <a:srgbClr val="165DAE"/>
                </a:solidFill>
                <a:latin typeface="Arial"/>
                <a:ea typeface="Arial"/>
                <a:cs typeface="Arial"/>
              </a:rPr>
              <a:t>CAD 250k</a:t>
            </a:r>
          </a:p>
        </p:txBody>
      </p:sp>
      <p:sp>
        <p:nvSpPr>
          <p:cNvPr id="19" name="">
            <a:extLst xmlns:a="http://schemas.openxmlformats.org/drawingml/2006/main">
              <a:ext uri="{FF2B5EF4-FFF2-40B4-BE49-F238E27FC236}">
                <a16:creationId xmlns:a16="http://schemas.microsoft.com/office/drawing/2014/main" id="{DC8D5726-F82D-4E3C-B0DA-8D6015CAC04B}"/>
              </a:ext>
            </a:extLst>
          </p:cNvPr>
          <p:cNvSpPr>
            <a:spLocks xmlns:a="http://schemas.openxmlformats.org/drawingml/2006/main" noGrp="1"/>
          </p:cNvSpPr>
          <p:nvPr/>
        </p:nvSpPr>
        <p:spPr>
          <a:xfrm xmlns:a="http://schemas.openxmlformats.org/drawingml/2006/main">
            <a:off x="542925" y="2914650"/>
            <a:ext cx="59721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325" b="1">
                <a:solidFill>
                  <a:srgbClr val="152047"/>
                </a:solidFill>
                <a:latin typeface="Arial"/>
                <a:ea typeface="Arial"/>
                <a:cs typeface="Arial"/>
              </a:defRPr>
            </a:defPPr>
            <a:lvl1pPr algn="l">
              <a:defRPr sz="2325" b="1">
                <a:solidFill>
                  <a:srgbClr val="152047"/>
                </a:solidFill>
                <a:latin typeface="Arial"/>
                <a:ea typeface="Arial"/>
                <a:cs typeface="Arial"/>
              </a:defRPr>
            </a:lvl1pPr>
            <a:lvl2pPr algn="l">
              <a:defRPr sz="2325" b="1">
                <a:solidFill>
                  <a:srgbClr val="152047"/>
                </a:solidFill>
                <a:latin typeface="Arial"/>
                <a:ea typeface="Arial"/>
                <a:cs typeface="Arial"/>
              </a:defRPr>
            </a:lvl2pPr>
            <a:lvl3pPr algn="l">
              <a:defRPr sz="2325" b="1">
                <a:solidFill>
                  <a:srgbClr val="152047"/>
                </a:solidFill>
                <a:latin typeface="Arial"/>
                <a:ea typeface="Arial"/>
                <a:cs typeface="Arial"/>
              </a:defRPr>
            </a:lvl3pPr>
            <a:lvl4pPr algn="l">
              <a:defRPr sz="2325" b="1">
                <a:solidFill>
                  <a:srgbClr val="152047"/>
                </a:solidFill>
                <a:latin typeface="Arial"/>
                <a:ea typeface="Arial"/>
                <a:cs typeface="Arial"/>
              </a:defRPr>
            </a:lvl4pPr>
            <a:lvl5pPr algn="l">
              <a:defRPr sz="2325" b="1">
                <a:solidFill>
                  <a:srgbClr val="152047"/>
                </a:solidFill>
                <a:latin typeface="Arial"/>
                <a:ea typeface="Arial"/>
                <a:cs typeface="Arial"/>
              </a:defRPr>
            </a:lvl5pPr>
            <a:lvl6pPr algn="l">
              <a:defRPr sz="2325" b="1">
                <a:solidFill>
                  <a:srgbClr val="152047"/>
                </a:solidFill>
                <a:latin typeface="Arial"/>
                <a:ea typeface="Arial"/>
                <a:cs typeface="Arial"/>
              </a:defRPr>
            </a:lvl6pPr>
            <a:lvl7pPr algn="l">
              <a:defRPr sz="2325" b="1">
                <a:solidFill>
                  <a:srgbClr val="152047"/>
                </a:solidFill>
                <a:latin typeface="Arial"/>
                <a:ea typeface="Arial"/>
                <a:cs typeface="Arial"/>
              </a:defRPr>
            </a:lvl7pPr>
            <a:lvl8pPr algn="l">
              <a:defRPr sz="2325" b="1">
                <a:solidFill>
                  <a:srgbClr val="152047"/>
                </a:solidFill>
                <a:latin typeface="Arial"/>
                <a:ea typeface="Arial"/>
                <a:cs typeface="Arial"/>
              </a:defRPr>
            </a:lvl8pPr>
            <a:lvl9pPr algn="l">
              <a:defRPr sz="2325" b="1">
                <a:solidFill>
                  <a:srgbClr val="152047"/>
                </a:solidFill>
                <a:latin typeface="Arial"/>
                <a:ea typeface="Arial"/>
                <a:cs typeface="Arial"/>
              </a:defRPr>
            </a:lvl9pPr>
          </a:lstStyle>
          <a:p xmlns:a="http://schemas.openxmlformats.org/drawingml/2006/main">
            <a:pPr algn="l">
              <a:defRPr sz="2325" b="1">
                <a:solidFill>
                  <a:srgbClr val="152047"/>
                </a:solidFill>
              </a:defRPr>
            </a:pPr>
            <a:r>
              <a:rPr sz="2325" b="1">
                <a:solidFill>
                  <a:srgbClr val="152047"/>
                </a:solidFill>
                <a:latin typeface="Arial"/>
                <a:ea typeface="Arial"/>
                <a:cs typeface="Arial"/>
              </a:rPr>
              <a:t>SAP-funded pilot proposal</a:t>
            </a:r>
          </a:p>
          <a:p xmlns:a="http://schemas.openxmlformats.org/drawingml/2006/main">
            <a:pPr algn="l">
              <a:defRPr sz="2325" b="1">
                <a:solidFill>
                  <a:srgbClr val="152047"/>
                </a:solidFill>
              </a:defRPr>
            </a:pPr>
            <a:r>
              <a:rPr sz="2325" b="1">
                <a:solidFill>
                  <a:srgbClr val="152047"/>
                </a:solidFill>
                <a:latin typeface="Arial"/>
                <a:ea typeface="Arial"/>
                <a:cs typeface="Arial"/>
              </a:rPr>
              <a:t>12 weeks · 10 stores · one apparel design partner</a:t>
            </a:r>
          </a:p>
        </p:txBody>
      </p:sp>
      <p:sp>
        <p:nvSpPr>
          <p:cNvPr id="20" name="">
            <a:extLst xmlns:a="http://schemas.openxmlformats.org/drawingml/2006/main">
              <a:ext uri="{FF2B5EF4-FFF2-40B4-BE49-F238E27FC236}">
                <a16:creationId xmlns:a16="http://schemas.microsoft.com/office/drawing/2014/main" id="{26FB6DC4-52A2-4870-80CE-04E252349FED}"/>
              </a:ext>
            </a:extLst>
          </p:cNvPr>
          <p:cNvSpPr>
            <a:spLocks xmlns:a="http://schemas.openxmlformats.org/drawingml/2006/main" noGrp="1"/>
          </p:cNvSpPr>
          <p:nvPr/>
        </p:nvSpPr>
        <p:spPr>
          <a:xfrm xmlns:a="http://schemas.openxmlformats.org/drawingml/2006/main">
            <a:off x="552450" y="4410075"/>
            <a:ext cx="591502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Approve a capped pilot, name the retail sponsor and agree access to a sandbox.</a:t>
            </a:r>
          </a:p>
          <a:p xmlns:a="http://schemas.openxmlformats.org/drawingml/2006/main">
            <a:r>
              <a:t/>
            </a:r>
          </a:p>
          <a:p xmlns:a="http://schemas.openxmlformats.org/drawingml/2006/main">
            <a:pPr algn="l">
              <a:defRPr sz="2175" b="0">
                <a:solidFill>
                  <a:srgbClr val="152047"/>
                </a:solidFill>
              </a:defRPr>
            </a:pPr>
            <a:r>
              <a:rPr sz="2175" b="0">
                <a:solidFill>
                  <a:srgbClr val="152047"/>
                </a:solidFill>
                <a:latin typeface="Arial"/>
                <a:ea typeface="Arial"/>
                <a:cs typeface="Arial"/>
              </a:rPr>
              <a:t>Scale when response time improves, stock reconciles and cash payback meets the 24-month gate.</a:t>
            </a:r>
          </a:p>
        </p:txBody>
      </p:sp>
    </p:spTree>
    <p:extLst>
      <p:ext uri="{BB962C8B-B14F-4D97-AF65-F5344CB8AC3E}">
        <p14:creationId xmlns:p14="http://schemas.microsoft.com/office/powerpoint/2010/main" val="58223122"/>
      </p:ext>
    </p:extLst>
  </p:cSld>
</p:sld>
</file>

<file path=ppt/slides/slide23.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C91C32-9622-4EA0-8032-EB5D8725572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9336CF-8CFF-40A4-848D-4678AECC4AD6}"/>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01</a:t>
            </a:r>
          </a:p>
        </p:txBody>
      </p:sp>
      <p:sp>
        <p:nvSpPr>
          <p:cNvPr id="4" name="">
            <a:extLst xmlns:a="http://schemas.openxmlformats.org/drawingml/2006/main">
              <a:ext uri="{FF2B5EF4-FFF2-40B4-BE49-F238E27FC236}">
                <a16:creationId xmlns:a16="http://schemas.microsoft.com/office/drawing/2014/main" id="{764D2CA0-3554-4AEF-8245-04B30C90CC07}"/>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Financial assumptions and boundaries</a:t>
            </a:r>
          </a:p>
        </p:txBody>
      </p:sp>
      <p:sp>
        <p:nvSpPr>
          <p:cNvPr id="5" name="">
            <a:extLst xmlns:a="http://schemas.openxmlformats.org/drawingml/2006/main">
              <a:ext uri="{FF2B5EF4-FFF2-40B4-BE49-F238E27FC236}">
                <a16:creationId xmlns:a16="http://schemas.microsoft.com/office/drawing/2014/main" id="{64FC655E-30FF-4DC0-860F-01EC044E81E7}"/>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38A56905-0DAF-4B39-9638-2347CF27345F}"/>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1A660112-0D37-47AD-8BCD-BF80C09275F5}"/>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95D27350-9885-4750-AAC9-88A3BA19357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23</a:t>
            </a:r>
          </a:p>
        </p:txBody>
      </p:sp>
      <p:graphicFrame>
        <p:nvGraphicFramePr>
          <p:cNvPr id="9" name="">
            <a:extLst xmlns:a="http://schemas.openxmlformats.org/drawingml/2006/main">
              <a:ext uri="{FF2B5EF4-FFF2-40B4-BE49-F238E27FC236}">
                <a16:creationId xmlns:a16="http://schemas.microsoft.com/office/drawing/2014/main" id="{BD9406E7-95D4-4A9C-905F-49258D5C43BF}"/>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700768">
                <a:tc>
                  <a:txBody>
                    <a:bodyPr/>
                    <a:lstStyle/>
                    <a:p>
                      <a:r>
                        <a:rPr sz="1725" b="1">
                          <a:solidFill>
                            <a:srgbClr val="FFFFFF"/>
                          </a:solidFill>
                          <a:latin typeface="Arial"/>
                          <a:ea typeface="Arial"/>
                          <a:cs typeface="Arial"/>
                        </a:rPr>
                        <a:t>Input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Base assumption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Validation required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Currency / reference customer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100 stores; CAD 100M annual sales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Retailer finance data</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Product price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50k platform + CAD 3k/store/year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Willingness-to-pay and procurement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RFID footprint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 of 100 stores; CAD 8k/store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Vendor quote; already tagged inventory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Onboarding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75k total; CAD 15k retained by SAP</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Partner scope and signed contract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Retailer uplift /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 sales; 45% incremental contribution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Matched-store test; net of returns and variable costs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Freed time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 hours/store/week; CAD 35/hour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Time study and redeployment plan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427557598"/>
      </p:ext>
    </p:extLst>
  </p:cSld>
</p:sld>
</file>

<file path=ppt/slides/slide24.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9AE5A9A-41FF-49B0-BE82-7807466F585E}"/>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397473-861A-431F-A629-39EDA8A188FA}"/>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02</a:t>
            </a:r>
          </a:p>
        </p:txBody>
      </p:sp>
      <p:sp>
        <p:nvSpPr>
          <p:cNvPr id="4" name="">
            <a:extLst xmlns:a="http://schemas.openxmlformats.org/drawingml/2006/main">
              <a:ext uri="{FF2B5EF4-FFF2-40B4-BE49-F238E27FC236}">
                <a16:creationId xmlns:a16="http://schemas.microsoft.com/office/drawing/2014/main" id="{E680C5AA-4042-44EE-83A2-B2E675E818B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Retailer calculations: value and payback</a:t>
            </a:r>
          </a:p>
        </p:txBody>
      </p:sp>
      <p:sp>
        <p:nvSpPr>
          <p:cNvPr id="5" name="">
            <a:extLst xmlns:a="http://schemas.openxmlformats.org/drawingml/2006/main">
              <a:ext uri="{FF2B5EF4-FFF2-40B4-BE49-F238E27FC236}">
                <a16:creationId xmlns:a16="http://schemas.microsoft.com/office/drawing/2014/main" id="{7053DCE1-12BB-44E9-8AF7-183D332685C0}"/>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Simple payback assumes steady-state benefits from day 1; ramp-up lengthens realized payback.</a:t>
            </a:r>
          </a:p>
        </p:txBody>
      </p:sp>
      <p:sp>
        <p:nvSpPr>
          <p:cNvPr id="6" name="">
            <a:extLst xmlns:a="http://schemas.openxmlformats.org/drawingml/2006/main">
              <a:ext uri="{FF2B5EF4-FFF2-40B4-BE49-F238E27FC236}">
                <a16:creationId xmlns:a16="http://schemas.microsoft.com/office/drawing/2014/main" id="{0A44D5B9-4F18-4EB0-8473-CA26DA6A7AB3}"/>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C4DD27F6-7541-4D58-94BB-9F725DE92A7A}"/>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4511FFC3-AD42-40F8-8775-38B1047BDC61}"/>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24</a:t>
            </a:r>
          </a:p>
        </p:txBody>
      </p:sp>
      <p:graphicFrame>
        <p:nvGraphicFramePr>
          <p:cNvPr id="9" name="">
            <a:extLst xmlns:a="http://schemas.openxmlformats.org/drawingml/2006/main">
              <a:ext uri="{FF2B5EF4-FFF2-40B4-BE49-F238E27FC236}">
                <a16:creationId xmlns:a16="http://schemas.microsoft.com/office/drawing/2014/main" id="{69D87AB9-ECB0-4C39-981B-462A8365C3BF}"/>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613172">
                <a:tc>
                  <a:txBody>
                    <a:bodyPr/>
                    <a:lstStyle/>
                    <a:p>
                      <a:r>
                        <a:rPr sz="1725" b="1">
                          <a:solidFill>
                            <a:srgbClr val="FFFFFF"/>
                          </a:solidFill>
                          <a:latin typeface="Arial"/>
                          <a:ea typeface="Arial"/>
                          <a:cs typeface="Arial"/>
                        </a:rPr>
                        <a:t>Calculation</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Formula</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 / result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613172">
                <a:tc>
                  <a:txBody>
                    <a:bodyPr/>
                    <a:lstStyle/>
                    <a:p>
                      <a:r>
                        <a:rPr sz="1725" b="1">
                          <a:solidFill>
                            <a:srgbClr val="FFFFFF"/>
                          </a:solidFill>
                          <a:latin typeface="Arial"/>
                          <a:ea typeface="Arial"/>
                          <a:cs typeface="Arial"/>
                        </a:rPr>
                        <a:t>Recovered sales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100,000,000 × 1.0%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1,000,000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13172">
                <a:tc>
                  <a:txBody>
                    <a:bodyPr/>
                    <a:lstStyle/>
                    <a:p>
                      <a:r>
                        <a:rPr sz="1725" b="1">
                          <a:solidFill>
                            <a:srgbClr val="FFFFFF"/>
                          </a:solidFill>
                          <a:latin typeface="Arial"/>
                          <a:ea typeface="Arial"/>
                          <a:cs typeface="Arial"/>
                        </a:rPr>
                        <a:t>Incremental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1,000,000 × 45%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13172">
                <a:tc>
                  <a:txBody>
                    <a:bodyPr/>
                    <a:lstStyle/>
                    <a:p>
                      <a:r>
                        <a:rPr sz="1725" b="1">
                          <a:solidFill>
                            <a:srgbClr val="FFFFFF"/>
                          </a:solidFill>
                          <a:latin typeface="Arial"/>
                          <a:ea typeface="Arial"/>
                          <a:cs typeface="Arial"/>
                        </a:rPr>
                        <a:t>Capacity value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100 × 2 × 52 × 35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364,000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13172">
                <a:tc>
                  <a:txBody>
                    <a:bodyPr/>
                    <a:lstStyle/>
                    <a:p>
                      <a:r>
                        <a:rPr sz="1725" b="1">
                          <a:solidFill>
                            <a:srgbClr val="FFFFFF"/>
                          </a:solidFill>
                          <a:latin typeface="Arial"/>
                          <a:ea typeface="Arial"/>
                          <a:cs typeface="Arial"/>
                        </a:rPr>
                        <a:t>Annual economic value net of fee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450,000 + 364,000 − 350,000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464,000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13172">
                <a:tc>
                  <a:txBody>
                    <a:bodyPr/>
                    <a:lstStyle/>
                    <a:p>
                      <a:r>
                        <a:rPr sz="1725" b="1">
                          <a:solidFill>
                            <a:srgbClr val="FFFFFF"/>
                          </a:solidFill>
                          <a:latin typeface="Arial"/>
                          <a:ea typeface="Arial"/>
                          <a:cs typeface="Arial"/>
                        </a:rPr>
                        <a:t>Annual cash-only value net of fee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450,000 − 350,000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100,000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13172">
                <a:tc>
                  <a:txBody>
                    <a:bodyPr/>
                    <a:lstStyle/>
                    <a:p>
                      <a:r>
                        <a:rPr sz="1725" b="1">
                          <a:solidFill>
                            <a:srgbClr val="FFFFFF"/>
                          </a:solidFill>
                          <a:latin typeface="Arial"/>
                          <a:ea typeface="Arial"/>
                          <a:cs typeface="Arial"/>
                        </a:rPr>
                        <a:t>Upfront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 × 8,000 + 75,000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235,000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13172">
                <a:tc>
                  <a:txBody>
                    <a:bodyPr/>
                    <a:lstStyle/>
                    <a:p>
                      <a:r>
                        <a:rPr sz="1725" b="1">
                          <a:solidFill>
                            <a:srgbClr val="FFFFFF"/>
                          </a:solidFill>
                          <a:latin typeface="Arial"/>
                          <a:ea typeface="Arial"/>
                          <a:cs typeface="Arial"/>
                        </a:rPr>
                        <a:t>Payback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235,000 ÷ annual net × 12</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6.1 months economic / 28.2 cash</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1379364239"/>
      </p:ext>
    </p:extLst>
  </p:cSld>
</p:sld>
</file>

<file path=ppt/slides/slide25.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588568A-DBDF-4C31-8F04-9C12E86CDCAF}"/>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5B4484-087B-4428-BA50-CCAB21F7E399}"/>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03</a:t>
            </a:r>
          </a:p>
        </p:txBody>
      </p:sp>
      <p:sp>
        <p:nvSpPr>
          <p:cNvPr id="4" name="">
            <a:extLst xmlns:a="http://schemas.openxmlformats.org/drawingml/2006/main">
              <a:ext uri="{FF2B5EF4-FFF2-40B4-BE49-F238E27FC236}">
                <a16:creationId xmlns:a16="http://schemas.microsoft.com/office/drawing/2014/main" id="{F69B53AA-9FE4-40EC-B517-0C18BA106ED0}"/>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Retailer sensitivity and break-even</a:t>
            </a:r>
          </a:p>
        </p:txBody>
      </p:sp>
      <p:sp>
        <p:nvSpPr>
          <p:cNvPr id="5" name="">
            <a:extLst xmlns:a="http://schemas.openxmlformats.org/drawingml/2006/main">
              <a:ext uri="{FF2B5EF4-FFF2-40B4-BE49-F238E27FC236}">
                <a16:creationId xmlns:a16="http://schemas.microsoft.com/office/drawing/2014/main" id="{C375EFD4-9A6E-4A66-86E7-1DE24C2AC14D}"/>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F5D134F9-2973-4461-907B-47AE880A1C44}"/>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0D554D2-3CBB-4793-BEB4-03EA86F0530A}"/>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AB9E0496-868C-444A-ABE9-B83CDCB6C6C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25</a:t>
            </a:r>
          </a:p>
        </p:txBody>
      </p:sp>
      <p:graphicFrame>
        <p:nvGraphicFramePr>
          <p:cNvPr id="9" name="">
            <a:extLst xmlns:a="http://schemas.openxmlformats.org/drawingml/2006/main">
              <a:ext uri="{FF2B5EF4-FFF2-40B4-BE49-F238E27FC236}">
                <a16:creationId xmlns:a16="http://schemas.microsoft.com/office/drawing/2014/main" id="{9684BF99-DC3A-4B11-A51F-B7F12BDD90AB}"/>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5504688"/>
                <a:gridCol w="2432304"/>
                <a:gridCol w="2432304"/>
                <a:gridCol w="2432304"/>
              </a:tblGrid>
              <a:tr h="769620">
                <a:tc>
                  <a:txBody>
                    <a:bodyPr/>
                    <a:lstStyle/>
                    <a:p>
                      <a:r>
                        <a:rPr sz="1875" b="1">
                          <a:solidFill>
                            <a:srgbClr val="FFFFFF"/>
                          </a:solidFill>
                          <a:latin typeface="Arial"/>
                          <a:ea typeface="Arial"/>
                          <a:cs typeface="Arial"/>
                        </a:rPr>
                        <a:t>Recovered sales uplift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Annual cash net after fee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Cash-only payback</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Economic payback</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0.5%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125k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No payback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11.8 months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1.0% · base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100k</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28.2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6.1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1.5%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325k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8.7 months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4.1 months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2.0%</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550k</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5.1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3.1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20B6F219-82A7-4783-BA84-F93619E0793E}"/>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Renewal cash break-even: 0.778% sales uplift.</a:t>
            </a:r>
          </a:p>
          <a:p xmlns:a="http://schemas.openxmlformats.org/drawingml/2006/main">
            <a:pPr algn="l">
              <a:defRPr sz="1950" b="0">
                <a:solidFill>
                  <a:srgbClr val="152047"/>
                </a:solidFill>
              </a:defRPr>
            </a:pPr>
            <a:r>
              <a:rPr sz="1950" b="0">
                <a:solidFill>
                  <a:srgbClr val="152047"/>
                </a:solidFill>
                <a:latin typeface="Arial"/>
                <a:ea typeface="Arial"/>
                <a:cs typeface="Arial"/>
              </a:rPr>
              <a:t>24-month cash payback gate: 1.039% uplift.</a:t>
            </a:r>
          </a:p>
          <a:p xmlns:a="http://schemas.openxmlformats.org/drawingml/2006/main">
            <a:pPr algn="l">
              <a:defRPr sz="1950" b="0">
                <a:solidFill>
                  <a:srgbClr val="152047"/>
                </a:solidFill>
              </a:defRPr>
            </a:pPr>
            <a:r>
              <a:rPr sz="1950" b="0">
                <a:solidFill>
                  <a:srgbClr val="152047"/>
                </a:solidFill>
                <a:latin typeface="Arial"/>
                <a:ea typeface="Arial"/>
                <a:cs typeface="Arial"/>
              </a:rPr>
              <a:t>First-year cash break-even: 1.300% uplift.</a:t>
            </a:r>
          </a:p>
        </p:txBody>
      </p:sp>
    </p:spTree>
    <p:extLst>
      <p:ext uri="{BB962C8B-B14F-4D97-AF65-F5344CB8AC3E}">
        <p14:creationId xmlns:p14="http://schemas.microsoft.com/office/powerpoint/2010/main" val="869714120"/>
      </p:ext>
    </p:extLst>
  </p:cSld>
</p:sld>
</file>

<file path=ppt/slides/slide26.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08EB219-9C93-4316-8337-0064B9E13D8C}"/>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690DC5-B07B-4C58-B208-9CF84B9F4D10}"/>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04</a:t>
            </a:r>
          </a:p>
        </p:txBody>
      </p:sp>
      <p:sp>
        <p:nvSpPr>
          <p:cNvPr id="4" name="">
            <a:extLst xmlns:a="http://schemas.openxmlformats.org/drawingml/2006/main">
              <a:ext uri="{FF2B5EF4-FFF2-40B4-BE49-F238E27FC236}">
                <a16:creationId xmlns:a16="http://schemas.microsoft.com/office/drawing/2014/main" id="{5798E82B-97BD-4299-91C5-09295CCAA4E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Recommendation 1: proposed money flow</a:t>
            </a:r>
          </a:p>
        </p:txBody>
      </p:sp>
      <p:sp>
        <p:nvSpPr>
          <p:cNvPr id="5" name="">
            <a:extLst xmlns:a="http://schemas.openxmlformats.org/drawingml/2006/main">
              <a:ext uri="{FF2B5EF4-FFF2-40B4-BE49-F238E27FC236}">
                <a16:creationId xmlns:a16="http://schemas.microsoft.com/office/drawing/2014/main" id="{AEB022C0-0928-44BD-97AB-35404A8E84FE}"/>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Illustrative allocations, not manufacturer prices or signed commercial terms. No hardware revenue booked by SAP.</a:t>
            </a:r>
          </a:p>
        </p:txBody>
      </p:sp>
      <p:sp>
        <p:nvSpPr>
          <p:cNvPr id="6" name="">
            <a:extLst xmlns:a="http://schemas.openxmlformats.org/drawingml/2006/main">
              <a:ext uri="{FF2B5EF4-FFF2-40B4-BE49-F238E27FC236}">
                <a16:creationId xmlns:a16="http://schemas.microsoft.com/office/drawing/2014/main" id="{82A2DC58-7F56-4F9A-92CE-B5DB484B8487}"/>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C83FE7A6-0D4A-44DD-AE17-093BC73BBDC8}"/>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0A0576E3-DEB2-448C-B0AC-551F2749158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26</a:t>
            </a:r>
          </a:p>
        </p:txBody>
      </p:sp>
      <p:graphicFrame>
        <p:nvGraphicFramePr>
          <p:cNvPr id="9" name="">
            <a:extLst xmlns:a="http://schemas.openxmlformats.org/drawingml/2006/main">
              <a:ext uri="{FF2B5EF4-FFF2-40B4-BE49-F238E27FC236}">
                <a16:creationId xmlns:a16="http://schemas.microsoft.com/office/drawing/2014/main" id="{F7A6C825-8AF4-45ED-99CC-C11A3A032FAE}"/>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4608576"/>
                <a:gridCol w="4480560"/>
                <a:gridCol w="1920240"/>
                <a:gridCol w="1792224"/>
              </a:tblGrid>
              <a:tr h="700768">
                <a:tc>
                  <a:txBody>
                    <a:bodyPr/>
                    <a:lstStyle/>
                    <a:p>
                      <a:r>
                        <a:rPr sz="1725" b="1">
                          <a:solidFill>
                            <a:srgbClr val="FFFFFF"/>
                          </a:solidFill>
                          <a:latin typeface="Arial"/>
                          <a:ea typeface="Arial"/>
                          <a:cs typeface="Arial"/>
                        </a:rPr>
                        <a:t>Customer charge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Recipient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Share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One store hardware + install: CAD 8k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OEM / tag-equipment supplier</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5,000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62.5%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Same invoice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Regional distributor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12.5%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Same invoice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Installation / device-support partner</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Customer onboarding: CAD 75k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Delivery / integration partner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60,000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80.0%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Same onboarding scope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SAP coordination fee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15,000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Reference subscription: CAD 350k/year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SAP</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350,000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387160061"/>
      </p:ext>
    </p:extLst>
  </p:cSld>
</p:sld>
</file>

<file path=ppt/slides/slide27.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4805CFB-58F8-4B45-B6A3-D33396F055C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DA6E5C-09AF-4A1A-A4F5-2D6B6664C89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05</a:t>
            </a:r>
          </a:p>
        </p:txBody>
      </p:sp>
      <p:sp>
        <p:nvSpPr>
          <p:cNvPr id="4" name="">
            <a:extLst xmlns:a="http://schemas.openxmlformats.org/drawingml/2006/main">
              <a:ext uri="{FF2B5EF4-FFF2-40B4-BE49-F238E27FC236}">
                <a16:creationId xmlns:a16="http://schemas.microsoft.com/office/drawing/2014/main" id="{BC62FDFD-60EC-4043-8D78-8E970D592E4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 revenue and cost formulas</a:t>
            </a:r>
          </a:p>
        </p:txBody>
      </p:sp>
      <p:sp>
        <p:nvSpPr>
          <p:cNvPr id="5" name="">
            <a:extLst xmlns:a="http://schemas.openxmlformats.org/drawingml/2006/main">
              <a:ext uri="{FF2B5EF4-FFF2-40B4-BE49-F238E27FC236}">
                <a16:creationId xmlns:a16="http://schemas.microsoft.com/office/drawing/2014/main" id="{40303304-6A19-4A20-862C-4D653B43352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4F4AF24A-9817-4646-9BB6-924E7B06106B}"/>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9169645A-F909-4019-B909-01A601900B88}"/>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7222BBCD-B249-4ED6-A973-6789AC26774F}"/>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27</a:t>
            </a:r>
          </a:p>
        </p:txBody>
      </p:sp>
      <p:graphicFrame>
        <p:nvGraphicFramePr>
          <p:cNvPr id="9" name="">
            <a:extLst xmlns:a="http://schemas.openxmlformats.org/drawingml/2006/main">
              <a:ext uri="{FF2B5EF4-FFF2-40B4-BE49-F238E27FC236}">
                <a16:creationId xmlns:a16="http://schemas.microsoft.com/office/drawing/2014/main" id="{8756CFA7-45A0-418A-A443-AD27E0868CCC}"/>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5504688"/>
                <a:gridCol w="2432304"/>
                <a:gridCol w="2432304"/>
                <a:gridCol w="2432304"/>
              </a:tblGrid>
              <a:tr h="545042">
                <a:tc>
                  <a:txBody>
                    <a:bodyPr/>
                    <a:lstStyle/>
                    <a:p>
                      <a:r>
                        <a:rPr sz="1725" b="1">
                          <a:solidFill>
                            <a:srgbClr val="FFFFFF"/>
                          </a:solidFill>
                          <a:latin typeface="Arial"/>
                          <a:ea typeface="Arial"/>
                          <a:cs typeface="Arial"/>
                        </a:rPr>
                        <a:t>Metric</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Year 1</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Year 2</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Year 3</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545042">
                <a:tc>
                  <a:txBody>
                    <a:bodyPr/>
                    <a:lstStyle/>
                    <a:p>
                      <a:r>
                        <a:rPr sz="1725" b="1">
                          <a:solidFill>
                            <a:srgbClr val="FFFFFF"/>
                          </a:solidFill>
                          <a:latin typeface="Arial"/>
                          <a:ea typeface="Arial"/>
                          <a:cs typeface="Arial"/>
                        </a:rPr>
                        <a:t>Beginning / new / ending accounts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 / 20 / 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 / 40 / 60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60 / 90 / 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Average accounts: begin + ½ new</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105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45042">
                <a:tc>
                  <a:txBody>
                    <a:bodyPr/>
                    <a:lstStyle/>
                    <a:p>
                      <a:r>
                        <a:rPr sz="1725" b="1">
                          <a:solidFill>
                            <a:srgbClr val="FFFFFF"/>
                          </a:solidFill>
                          <a:latin typeface="Arial"/>
                          <a:ea typeface="Arial"/>
                          <a:cs typeface="Arial"/>
                        </a:rPr>
                        <a:t>SaaS: average × CAD 350k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3.500M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14.000M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36.750M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Net service: new × CAD 15k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0.300M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0.600M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1.350M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45042">
                <a:tc>
                  <a:txBody>
                    <a:bodyPr/>
                    <a:lstStyle/>
                    <a:p>
                      <a:r>
                        <a:rPr sz="1725" b="1">
                          <a:solidFill>
                            <a:srgbClr val="FFFFFF"/>
                          </a:solidFill>
                          <a:latin typeface="Arial"/>
                          <a:ea typeface="Arial"/>
                          <a:cs typeface="Arial"/>
                        </a:rPr>
                        <a:t>Variable cost: SaaS × 25%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0.875M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3.500M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9.1875M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Fixed product / sales / operations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5.000M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6.000M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8.000M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45042">
                <a:tc>
                  <a:txBody>
                    <a:bodyPr/>
                    <a:lstStyle/>
                    <a:p>
                      <a:r>
                        <a:rPr sz="1725" b="1">
                          <a:solidFill>
                            <a:srgbClr val="FFFFFF"/>
                          </a:solidFill>
                          <a:latin typeface="Arial"/>
                          <a:ea typeface="Arial"/>
                          <a:cs typeface="Arial"/>
                        </a:rPr>
                        <a:t>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−2.075M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5.100M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20.9125M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Cumulative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−2.075M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3.025M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23.9375M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68555073"/>
      </p:ext>
    </p:extLst>
  </p:cSld>
</p:sld>
</file>

<file path=ppt/slides/slide28.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2B6817-F4C6-41A4-B55C-96CF948719F2}"/>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D04C14-7B1B-45A5-9BA7-BD18F43922A0}"/>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06</a:t>
            </a:r>
          </a:p>
        </p:txBody>
      </p:sp>
      <p:sp>
        <p:nvSpPr>
          <p:cNvPr id="4" name="">
            <a:extLst xmlns:a="http://schemas.openxmlformats.org/drawingml/2006/main">
              <a:ext uri="{FF2B5EF4-FFF2-40B4-BE49-F238E27FC236}">
                <a16:creationId xmlns:a16="http://schemas.microsoft.com/office/drawing/2014/main" id="{F8D134CB-7CB4-4B00-AA70-A8159C53593C}"/>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 downside and concentration risk</a:t>
            </a:r>
          </a:p>
        </p:txBody>
      </p:sp>
      <p:sp>
        <p:nvSpPr>
          <p:cNvPr id="5" name="">
            <a:extLst xmlns:a="http://schemas.openxmlformats.org/drawingml/2006/main">
              <a:ext uri="{FF2B5EF4-FFF2-40B4-BE49-F238E27FC236}">
                <a16:creationId xmlns:a16="http://schemas.microsoft.com/office/drawing/2014/main" id="{2DD21E5F-E4F2-4AF7-9A11-BC20FDFCE35E}"/>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Scenario analysis, not forecasts. Zero churn is optimistic; renewal, sales cycles and cloud usage require validation.</a:t>
            </a:r>
          </a:p>
        </p:txBody>
      </p:sp>
      <p:sp>
        <p:nvSpPr>
          <p:cNvPr id="6" name="">
            <a:extLst xmlns:a="http://schemas.openxmlformats.org/drawingml/2006/main">
              <a:ext uri="{FF2B5EF4-FFF2-40B4-BE49-F238E27FC236}">
                <a16:creationId xmlns:a16="http://schemas.microsoft.com/office/drawing/2014/main" id="{968D27C7-389A-4772-8A74-B082F95EF31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525204FB-706D-4171-BC23-AA60225290B3}"/>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A33881C4-F8F2-4961-970B-15E5A94C3F6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28</a:t>
            </a:r>
          </a:p>
        </p:txBody>
      </p:sp>
      <p:graphicFrame>
        <p:nvGraphicFramePr>
          <p:cNvPr id="9" name="">
            <a:extLst xmlns:a="http://schemas.openxmlformats.org/drawingml/2006/main">
              <a:ext uri="{FF2B5EF4-FFF2-40B4-BE49-F238E27FC236}">
                <a16:creationId xmlns:a16="http://schemas.microsoft.com/office/drawing/2014/main" id="{A04CF712-7276-4B8A-A85E-92DE2757CE0D}"/>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5504688"/>
                <a:gridCol w="2432304"/>
                <a:gridCol w="2432304"/>
                <a:gridCol w="2432304"/>
              </a:tblGrid>
              <a:tr h="769620">
                <a:tc>
                  <a:txBody>
                    <a:bodyPr/>
                    <a:lstStyle/>
                    <a:p>
                      <a:r>
                        <a:rPr sz="1875" b="1">
                          <a:solidFill>
                            <a:srgbClr val="FFFFFF"/>
                          </a:solidFill>
                          <a:latin typeface="Arial"/>
                          <a:ea typeface="Arial"/>
                          <a:cs typeface="Arial"/>
                        </a:rPr>
                        <a:t>Scenario</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Year-3 ending accounts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Year-3 contribution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3-year cumulative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Base: 20 / 60 / 150</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20.91M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23.94M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Slower wins: 10 / 40 / 80</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80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8.35M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5.83M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Price CAD 300k; variable cost 35%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13.83M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13.48M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Stalled after 20 customers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2.75M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5.58M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02A68101-5F89-4119-B296-DB48227FD0D8}"/>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Renewal-only break-even at CAD 6M fixed spend:</a:t>
            </a:r>
          </a:p>
          <a:p xmlns:a="http://schemas.openxmlformats.org/drawingml/2006/main">
            <a:pPr algn="l">
              <a:defRPr sz="1950" b="0">
                <a:solidFill>
                  <a:srgbClr val="152047"/>
                </a:solidFill>
              </a:defRPr>
            </a:pPr>
            <a:r>
              <a:rPr sz="1950" b="0">
                <a:solidFill>
                  <a:srgbClr val="152047"/>
                </a:solidFill>
                <a:latin typeface="Arial"/>
                <a:ea typeface="Arial"/>
                <a:cs typeface="Arial"/>
              </a:rPr>
              <a:t>CAD 6M ÷ (CAD 350k × 75%) = 22.9 full-year accounts.</a:t>
            </a:r>
          </a:p>
        </p:txBody>
      </p:sp>
    </p:spTree>
    <p:extLst>
      <p:ext uri="{BB962C8B-B14F-4D97-AF65-F5344CB8AC3E}">
        <p14:creationId xmlns:p14="http://schemas.microsoft.com/office/powerpoint/2010/main" val="639937897"/>
      </p:ext>
    </p:extLst>
  </p:cSld>
</p:sld>
</file>

<file path=ppt/slides/slide29.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34B57B5-759B-4D2E-918F-8594CC3B549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584C06-47D9-4CAC-B946-C4960921474D}"/>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07</a:t>
            </a:r>
          </a:p>
        </p:txBody>
      </p:sp>
      <p:sp>
        <p:nvSpPr>
          <p:cNvPr id="4" name="">
            <a:extLst xmlns:a="http://schemas.openxmlformats.org/drawingml/2006/main">
              <a:ext uri="{FF2B5EF4-FFF2-40B4-BE49-F238E27FC236}">
                <a16:creationId xmlns:a16="http://schemas.microsoft.com/office/drawing/2014/main" id="{D65BA877-2E09-4CF3-B8F3-F9663E9B110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Pilot funding and release gates</a:t>
            </a:r>
          </a:p>
        </p:txBody>
      </p:sp>
      <p:sp>
        <p:nvSpPr>
          <p:cNvPr id="5" name="">
            <a:extLst xmlns:a="http://schemas.openxmlformats.org/drawingml/2006/main">
              <a:ext uri="{FF2B5EF4-FFF2-40B4-BE49-F238E27FC236}">
                <a16:creationId xmlns:a16="http://schemas.microsoft.com/office/drawing/2014/main" id="{F9573A3E-29DC-4E35-894C-1AAE53DBE010}"/>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DF7CD0D9-4028-4066-B2EC-5B6A85898242}"/>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DE9F034-0770-4C3A-B13D-FB953177A610}"/>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E7A5655F-AA4E-42B1-AA11-81C31161943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29</a:t>
            </a:r>
          </a:p>
        </p:txBody>
      </p:sp>
      <p:graphicFrame>
        <p:nvGraphicFramePr>
          <p:cNvPr id="9" name="">
            <a:extLst xmlns:a="http://schemas.openxmlformats.org/drawingml/2006/main">
              <a:ext uri="{FF2B5EF4-FFF2-40B4-BE49-F238E27FC236}">
                <a16:creationId xmlns:a16="http://schemas.microsoft.com/office/drawing/2014/main" id="{1F23A47D-A1C8-46EA-8E60-514B0804EC3D}"/>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700768">
                <a:tc>
                  <a:txBody>
                    <a:bodyPr/>
                    <a:lstStyle/>
                    <a:p>
                      <a:r>
                        <a:rPr sz="1725" b="1">
                          <a:solidFill>
                            <a:srgbClr val="FFFFFF"/>
                          </a:solidFill>
                          <a:latin typeface="Arial"/>
                          <a:ea typeface="Arial"/>
                          <a:cs typeface="Arial"/>
                        </a:rPr>
                        <a:t>Use of funds</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Release condition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10-store hardware trial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80,000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Zone accuracy and partner quote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Integration engineering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80,000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Sandbox, fields and access approved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Product + measurement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Baseline and matched-store design agreed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Training + adoption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Named planners and store champions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Contingency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Sponsor approval for actual need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Total pilot proposal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Capped; included in Year-1 fixed spending</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763742239"/>
      </p:ext>
    </p:extLst>
  </p:cSld>
</p:sld>
</file>

<file path=ppt/slides/slide30.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CB3AA9-4F3E-4C63-9D30-D22CEB099D29}"/>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647D7E-3D11-4AA3-856B-E83A005CC29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08</a:t>
            </a:r>
          </a:p>
        </p:txBody>
      </p:sp>
      <p:sp>
        <p:nvSpPr>
          <p:cNvPr id="4" name="">
            <a:extLst xmlns:a="http://schemas.openxmlformats.org/drawingml/2006/main">
              <a:ext uri="{FF2B5EF4-FFF2-40B4-BE49-F238E27FC236}">
                <a16:creationId xmlns:a16="http://schemas.microsoft.com/office/drawing/2014/main" id="{B1F705EF-73E5-419A-BD59-42DB169D0B4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What is implemented today</a:t>
            </a:r>
          </a:p>
        </p:txBody>
      </p:sp>
      <p:sp>
        <p:nvSpPr>
          <p:cNvPr id="5" name="">
            <a:extLst xmlns:a="http://schemas.openxmlformats.org/drawingml/2006/main">
              <a:ext uri="{FF2B5EF4-FFF2-40B4-BE49-F238E27FC236}">
                <a16:creationId xmlns:a16="http://schemas.microsoft.com/office/drawing/2014/main" id="{39892B28-0F94-4030-8384-35D40F448F0B}"/>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React + TypeScript + UI5 interface. SAP-like styling does not itself establish SAP integration.</a:t>
            </a:r>
          </a:p>
        </p:txBody>
      </p:sp>
      <p:sp>
        <p:nvSpPr>
          <p:cNvPr id="6" name="">
            <a:extLst xmlns:a="http://schemas.openxmlformats.org/drawingml/2006/main">
              <a:ext uri="{FF2B5EF4-FFF2-40B4-BE49-F238E27FC236}">
                <a16:creationId xmlns:a16="http://schemas.microsoft.com/office/drawing/2014/main" id="{6786EE17-3653-4C7D-B1E1-A321B3FE134C}"/>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A6897089-5DEC-4189-ABC7-9E1E1CD1CE70}"/>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2CC4E2CB-BB0F-4FB7-80D7-B28BA58FAB6A}"/>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30</a:t>
            </a:r>
          </a:p>
        </p:txBody>
      </p:sp>
      <p:graphicFrame>
        <p:nvGraphicFramePr>
          <p:cNvPr id="9" name="">
            <a:extLst xmlns:a="http://schemas.openxmlformats.org/drawingml/2006/main">
              <a:ext uri="{FF2B5EF4-FFF2-40B4-BE49-F238E27FC236}">
                <a16:creationId xmlns:a16="http://schemas.microsoft.com/office/drawing/2014/main" id="{F39E5072-0F94-45BA-ACED-1F8A047D2BD9}"/>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817563">
                <a:tc>
                  <a:txBody>
                    <a:bodyPr/>
                    <a:lstStyle/>
                    <a:p>
                      <a:r>
                        <a:rPr sz="1875" b="1">
                          <a:solidFill>
                            <a:srgbClr val="FFFFFF"/>
                          </a:solidFill>
                          <a:latin typeface="Arial"/>
                          <a:ea typeface="Arial"/>
                          <a:cs typeface="Arial"/>
                        </a:rPr>
                        <a:t>Capability</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Working prototype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Needed for production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17563">
                <a:tc>
                  <a:txBody>
                    <a:bodyPr/>
                    <a:lstStyle/>
                    <a:p>
                      <a:r>
                        <a:rPr sz="1875" b="1">
                          <a:solidFill>
                            <a:srgbClr val="FFFFFF"/>
                          </a:solidFill>
                          <a:latin typeface="Arial"/>
                          <a:ea typeface="Arial"/>
                          <a:cs typeface="Arial"/>
                        </a:rPr>
                        <a:t>Demand evidence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Seeded try-ons, purchases and qualified digital aggregates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Live RFID and commerce collection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Supply and cost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Selectable network, editable demo rates, public benchmarks, shortage simulation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Validated supplier / material / logistics feeds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Assistant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Deterministic explanations and calculations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Authorized SAP Joule orchestration and evaluation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Execution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Local proposal → approve → issue → receipt lifecycle</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Authenticated SAP tenant APIs, permissions and reconciliation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Storage / security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Browser-local demo state; no business database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Tenant database, identity, access controls and audit storage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1001215327"/>
      </p:ext>
    </p:extLst>
  </p:cSld>
</p:sld>
</file>

<file path=ppt/slides/slide31.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FDB23F-50A2-4167-AD9A-D632FBB0DD5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329131-9BAE-4E15-880A-D9D2978076FA}"/>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09</a:t>
            </a:r>
          </a:p>
        </p:txBody>
      </p:sp>
      <p:sp>
        <p:nvSpPr>
          <p:cNvPr id="4" name="">
            <a:extLst xmlns:a="http://schemas.openxmlformats.org/drawingml/2006/main">
              <a:ext uri="{FF2B5EF4-FFF2-40B4-BE49-F238E27FC236}">
                <a16:creationId xmlns:a16="http://schemas.microsoft.com/office/drawing/2014/main" id="{E08C8028-F2DB-48BE-A468-8ED414D150D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Proposed SAP integration responsibilities</a:t>
            </a:r>
          </a:p>
        </p:txBody>
      </p:sp>
      <p:sp>
        <p:nvSpPr>
          <p:cNvPr id="5" name="">
            <a:extLst xmlns:a="http://schemas.openxmlformats.org/drawingml/2006/main">
              <a:ext uri="{FF2B5EF4-FFF2-40B4-BE49-F238E27FC236}">
                <a16:creationId xmlns:a16="http://schemas.microsoft.com/office/drawing/2014/main" id="{B4001A26-A40E-4C65-9F7B-8FBD92B4A17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Required products and licenses depend on the retailer’s landscape. Reuse existing planning instead of replacing it.</a:t>
            </a:r>
          </a:p>
        </p:txBody>
      </p:sp>
      <p:sp>
        <p:nvSpPr>
          <p:cNvPr id="6" name="">
            <a:extLst xmlns:a="http://schemas.openxmlformats.org/drawingml/2006/main">
              <a:ext uri="{FF2B5EF4-FFF2-40B4-BE49-F238E27FC236}">
                <a16:creationId xmlns:a16="http://schemas.microsoft.com/office/drawing/2014/main" id="{39D91ABB-D2DD-454F-B114-6713D35516FA}"/>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31DB3338-C66F-4488-8E4C-34E2DDD14439}"/>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637B51CE-1004-4D61-A2AD-FF0C5C8950C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31</a:t>
            </a:r>
          </a:p>
        </p:txBody>
      </p:sp>
      <p:graphicFrame>
        <p:nvGraphicFramePr>
          <p:cNvPr id="9" name="">
            <a:extLst xmlns:a="http://schemas.openxmlformats.org/drawingml/2006/main">
              <a:ext uri="{FF2B5EF4-FFF2-40B4-BE49-F238E27FC236}">
                <a16:creationId xmlns:a16="http://schemas.microsoft.com/office/drawing/2014/main" id="{14F8514D-3D91-4BAA-B0CF-8AF1798D6B62}"/>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700768">
                <a:tc>
                  <a:txBody>
                    <a:bodyPr/>
                    <a:lstStyle/>
                    <a:p>
                      <a:r>
                        <a:rPr sz="1725" b="1">
                          <a:solidFill>
                            <a:srgbClr val="FFFFFF"/>
                          </a:solidFill>
                          <a:latin typeface="Arial"/>
                          <a:ea typeface="Arial"/>
                          <a:cs typeface="Arial"/>
                        </a:rPr>
                        <a:t>SAP application / service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Role in the proposed product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Current status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SAP CAR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Shared sales and retail inventory context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Seeded inputs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SAP S/4HANA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Purchasing, stock transport, issue and receipt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Local workflow simulation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SAP Commerce Cloud</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Online events and sellable availability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Seeded events / shared demo stock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SAP IBP</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Planning scenarios and approved planning handoff</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Export / mapping concept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BTP / Integration Suite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Secure interfaces, event routing and monitoring</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Production design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SAP Joule / Business AI</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Explain evidence and call approved business actions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Joule-inspired deterministic demo</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027773782"/>
      </p:ext>
    </p:extLst>
  </p:cSld>
</p:sld>
</file>

<file path=ppt/slides/slide32.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FC5EF2F-D1D2-4B0E-BDCA-34F5E0D7F168}"/>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6D52D7-2508-4D1A-ADDA-8EA7C7E8FF62}"/>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10</a:t>
            </a:r>
          </a:p>
        </p:txBody>
      </p:sp>
      <p:sp>
        <p:nvSpPr>
          <p:cNvPr id="4" name="">
            <a:extLst xmlns:a="http://schemas.openxmlformats.org/drawingml/2006/main">
              <a:ext uri="{FF2B5EF4-FFF2-40B4-BE49-F238E27FC236}">
                <a16:creationId xmlns:a16="http://schemas.microsoft.com/office/drawing/2014/main" id="{27CFC52D-B515-496E-BED6-270189F60B79}"/>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The transfer demo: conservation of inventory</a:t>
            </a:r>
          </a:p>
        </p:txBody>
      </p:sp>
      <p:sp>
        <p:nvSpPr>
          <p:cNvPr id="5" name="">
            <a:extLst xmlns:a="http://schemas.openxmlformats.org/drawingml/2006/main">
              <a:ext uri="{FF2B5EF4-FFF2-40B4-BE49-F238E27FC236}">
                <a16:creationId xmlns:a16="http://schemas.microsoft.com/office/drawing/2014/main" id="{EDE0434F-748F-4379-98B0-1DFFF598AFDE}"/>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CAD 60 transfer cost = 40 × CAD 1.50/unit. Two-day transit is an assumption; the 9-day alternative misses the 7-day window.</a:t>
            </a:r>
          </a:p>
        </p:txBody>
      </p:sp>
      <p:sp>
        <p:nvSpPr>
          <p:cNvPr id="6" name="">
            <a:extLst xmlns:a="http://schemas.openxmlformats.org/drawingml/2006/main">
              <a:ext uri="{FF2B5EF4-FFF2-40B4-BE49-F238E27FC236}">
                <a16:creationId xmlns:a16="http://schemas.microsoft.com/office/drawing/2014/main" id="{631F1FAC-AD25-4F34-987B-A52523679BE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A54FA16F-00C9-4860-B25D-8B585D19450E}"/>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93DC96E0-095E-4E9D-AAFF-388699349548}"/>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32</a:t>
            </a:r>
          </a:p>
        </p:txBody>
      </p:sp>
      <p:graphicFrame>
        <p:nvGraphicFramePr>
          <p:cNvPr id="9" name="">
            <a:extLst xmlns:a="http://schemas.openxmlformats.org/drawingml/2006/main">
              <a:ext uri="{FF2B5EF4-FFF2-40B4-BE49-F238E27FC236}">
                <a16:creationId xmlns:a16="http://schemas.microsoft.com/office/drawing/2014/main" id="{14697E11-2A15-4EBE-A195-D5F3F4A2BF8B}"/>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5504688"/>
                <a:gridCol w="2432304"/>
                <a:gridCol w="2432304"/>
                <a:gridCol w="2432304"/>
              </a:tblGrid>
              <a:tr h="769620">
                <a:tc>
                  <a:txBody>
                    <a:bodyPr/>
                    <a:lstStyle/>
                    <a:p>
                      <a:r>
                        <a:rPr sz="1875" b="1">
                          <a:solidFill>
                            <a:srgbClr val="FFFFFF"/>
                          </a:solidFill>
                          <a:latin typeface="Arial"/>
                          <a:ea typeface="Arial"/>
                          <a:cs typeface="Arial"/>
                        </a:rPr>
                        <a:t>Step</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Burnaby physical</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In transit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Vancouver sellable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Before proposal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76</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8</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40-unit proposal / approval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76</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Goods issue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36</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40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8</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Goods receipt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36</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48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EF63EBF7-920C-4651-B0F7-133A0BC2581E}"/>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The proposal reserves 40 available units and preserves Burnaby’s 36-unit reserve.</a:t>
            </a:r>
          </a:p>
          <a:p xmlns:a="http://schemas.openxmlformats.org/drawingml/2006/main">
            <a:pPr algn="l">
              <a:defRPr sz="1950" b="0">
                <a:solidFill>
                  <a:srgbClr val="152047"/>
                </a:solidFill>
              </a:defRPr>
            </a:pPr>
            <a:r>
              <a:rPr sz="1950" b="0">
                <a:solidFill>
                  <a:srgbClr val="152047"/>
                </a:solidFill>
                <a:latin typeface="Arial"/>
                <a:ea typeface="Arial"/>
                <a:cs typeface="Arial"/>
              </a:rPr>
              <a:t>The scenario covers 48 / 80 = 60%; 32 units remain uncovered.</a:t>
            </a:r>
          </a:p>
        </p:txBody>
      </p:sp>
    </p:spTree>
    <p:extLst>
      <p:ext uri="{BB962C8B-B14F-4D97-AF65-F5344CB8AC3E}">
        <p14:creationId xmlns:p14="http://schemas.microsoft.com/office/powerpoint/2010/main" val="1172460677"/>
      </p:ext>
    </p:extLst>
  </p:cSld>
</p:sld>
</file>

<file path=ppt/slides/slide33.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CFF42B-38F0-483A-A372-8745FFABBDB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C03CF9-2929-4B82-96B2-0990532E3699}"/>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11</a:t>
            </a:r>
          </a:p>
        </p:txBody>
      </p:sp>
      <p:sp>
        <p:nvSpPr>
          <p:cNvPr id="4" name="">
            <a:extLst xmlns:a="http://schemas.openxmlformats.org/drawingml/2006/main">
              <a:ext uri="{FF2B5EF4-FFF2-40B4-BE49-F238E27FC236}">
                <a16:creationId xmlns:a16="http://schemas.microsoft.com/office/drawing/2014/main" id="{5E1F6BDD-4777-44AD-9135-045EED6FB0F2}"/>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Demand calculations and inference limits</a:t>
            </a:r>
          </a:p>
        </p:txBody>
      </p:sp>
      <p:sp>
        <p:nvSpPr>
          <p:cNvPr id="5" name="">
            <a:extLst xmlns:a="http://schemas.openxmlformats.org/drawingml/2006/main">
              <a:ext uri="{FF2B5EF4-FFF2-40B4-BE49-F238E27FC236}">
                <a16:creationId xmlns:a16="http://schemas.microsoft.com/office/drawing/2014/main" id="{3941FA88-C0D6-48A1-A780-6BB1A107902D}"/>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A5061B18-ED2F-4267-B420-44AE376E96BC}"/>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103BDA3-EAC8-456C-BEB7-FF5313D4EBFF}"/>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20FEF926-957F-40BD-ACCC-9AA918BD0C3A}"/>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33</a:t>
            </a:r>
          </a:p>
        </p:txBody>
      </p:sp>
      <p:graphicFrame>
        <p:nvGraphicFramePr>
          <p:cNvPr id="9" name="">
            <a:extLst xmlns:a="http://schemas.openxmlformats.org/drawingml/2006/main">
              <a:ext uri="{FF2B5EF4-FFF2-40B4-BE49-F238E27FC236}">
                <a16:creationId xmlns:a16="http://schemas.microsoft.com/office/drawing/2014/main" id="{DC78E74B-1043-45AD-AB7C-86C12E72EF84}"/>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3456432"/>
                <a:gridCol w="4992624"/>
                <a:gridCol w="4352544"/>
              </a:tblGrid>
              <a:tr h="769620">
                <a:tc>
                  <a:txBody>
                    <a:bodyPr/>
                    <a:lstStyle/>
                    <a:p>
                      <a:r>
                        <a:rPr sz="1875" b="1">
                          <a:solidFill>
                            <a:srgbClr val="FFFFFF"/>
                          </a:solidFill>
                          <a:latin typeface="Arial"/>
                          <a:ea typeface="Arial"/>
                          <a:cs typeface="Arial"/>
                        </a:rPr>
                        <a:t>Signal</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Calculation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What it can establish</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Try-on conversion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43 ÷ 240 = 17.9%; 32% baseline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Conversion is lower; cause still needs investigation.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Online shortage scenario</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floor(162 sessions × 15%) = 24 units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A quantity to test, not 24 confirmed orders.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Gross online exposure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24 × CAD 39 = CAD 936</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Illustrative retail value before uncertainty.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Estimated foregone online sales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936 × 70% = CAD 655.20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Depends on the explicit lost-sale assumption.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D4BA9AF0-9F0C-4783-B7CB-DF056AFED651}"/>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Qualify session + SKU pairs; exclude bots and repeated events.</a:t>
            </a:r>
          </a:p>
          <a:p xmlns:a="http://schemas.openxmlformats.org/drawingml/2006/main">
            <a:pPr algn="l">
              <a:defRPr sz="1950" b="0">
                <a:solidFill>
                  <a:srgbClr val="152047"/>
                </a:solidFill>
              </a:defRPr>
            </a:pPr>
            <a:r>
              <a:rPr sz="1950" b="0">
                <a:solidFill>
                  <a:srgbClr val="152047"/>
                </a:solidFill>
                <a:latin typeface="Arial"/>
                <a:ea typeface="Arial"/>
                <a:cs typeface="Arial"/>
              </a:rPr>
              <a:t>Do not add store and online signals into a unique customer total.</a:t>
            </a:r>
          </a:p>
        </p:txBody>
      </p:sp>
    </p:spTree>
    <p:extLst>
      <p:ext uri="{BB962C8B-B14F-4D97-AF65-F5344CB8AC3E}">
        <p14:creationId xmlns:p14="http://schemas.microsoft.com/office/powerpoint/2010/main" val="1018767239"/>
      </p:ext>
    </p:extLst>
  </p:cSld>
</p:sld>
</file>

<file path=ppt/slides/slide34.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70EE02-82E0-4C28-81C3-5E5BC2F5A331}"/>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69BA65-C51A-4691-95CB-20A2F0BB1DD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12</a:t>
            </a:r>
          </a:p>
        </p:txBody>
      </p:sp>
      <p:sp>
        <p:nvSpPr>
          <p:cNvPr id="4" name="">
            <a:extLst xmlns:a="http://schemas.openxmlformats.org/drawingml/2006/main">
              <a:ext uri="{FF2B5EF4-FFF2-40B4-BE49-F238E27FC236}">
                <a16:creationId xmlns:a16="http://schemas.microsoft.com/office/drawing/2014/main" id="{E15A2A60-7A65-4D20-A82B-7E78298B965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Gas-shortage demo: unit cost and cohort impact</a:t>
            </a:r>
          </a:p>
        </p:txBody>
      </p:sp>
      <p:sp>
        <p:nvSpPr>
          <p:cNvPr id="5" name="">
            <a:extLst xmlns:a="http://schemas.openxmlformats.org/drawingml/2006/main">
              <a:ext uri="{FF2B5EF4-FFF2-40B4-BE49-F238E27FC236}">
                <a16:creationId xmlns:a16="http://schemas.microsoft.com/office/drawing/2014/main" id="{370FCF2A-6C99-49E5-A87B-2B260AE4711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MMBtu = million British thermal units, an energy measure. Production reduction and price increase are independent assumptions.</a:t>
            </a:r>
          </a:p>
        </p:txBody>
      </p:sp>
      <p:sp>
        <p:nvSpPr>
          <p:cNvPr id="6" name="">
            <a:extLst xmlns:a="http://schemas.openxmlformats.org/drawingml/2006/main">
              <a:ext uri="{FF2B5EF4-FFF2-40B4-BE49-F238E27FC236}">
                <a16:creationId xmlns:a16="http://schemas.microsoft.com/office/drawing/2014/main" id="{0FDC4A8F-3A61-4576-BFB4-3800BD9463E3}"/>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2315F50D-78A3-4C34-AC72-5F719565B5C0}"/>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09EF1676-3FB2-4B8A-B65D-640E45100D38}"/>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34</a:t>
            </a:r>
          </a:p>
        </p:txBody>
      </p:sp>
      <p:graphicFrame>
        <p:nvGraphicFramePr>
          <p:cNvPr id="9" name="">
            <a:extLst xmlns:a="http://schemas.openxmlformats.org/drawingml/2006/main">
              <a:ext uri="{FF2B5EF4-FFF2-40B4-BE49-F238E27FC236}">
                <a16:creationId xmlns:a16="http://schemas.microsoft.com/office/drawing/2014/main" id="{6E213F30-8F1B-415F-864D-958F9C3B8A93}"/>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968496"/>
                <a:gridCol w="8833104"/>
              </a:tblGrid>
              <a:tr h="700768">
                <a:tc>
                  <a:txBody>
                    <a:bodyPr/>
                    <a:lstStyle/>
                    <a:p>
                      <a:r>
                        <a:rPr sz="1725" b="1">
                          <a:solidFill>
                            <a:srgbClr val="FFFFFF"/>
                          </a:solidFill>
                          <a:latin typeface="Arial"/>
                          <a:ea typeface="Arial"/>
                          <a:cs typeface="Arial"/>
                        </a:rPr>
                        <a:t>Input / result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Illustrative scenario</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Shock assumptions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25% less input supply; +30% input price; +7 days; 30-day horizon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Cream top energy uplift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0.12 MMBtu × CAD 5.80/MMBtu × 30% × 100% pass-through = CAD 0.2088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Cream top landed cost / margin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13.50 → 13.71; 65.38% → 64.85% at CAD 39 retail</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Completed new-production cohort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Added cost CAD 208.22; weighted margin 68.20% → 67.89%</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Deferred production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329 of 1,309 planned new units; not assumed permanently lost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Planning-cohort profit reduction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15,339.50 on deferred units + CAD 208.22 added cost = CAD 15,547.72</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728116644"/>
      </p:ext>
    </p:extLst>
  </p:cSld>
</p:sld>
</file>

<file path=ppt/slides/slide35.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3E8A37-82D1-488D-98B3-62BAFA842011}"/>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DC572E-EEC6-4C17-8017-14DFF86EB5A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13</a:t>
            </a:r>
          </a:p>
        </p:txBody>
      </p:sp>
      <p:sp>
        <p:nvSpPr>
          <p:cNvPr id="4" name="">
            <a:extLst xmlns:a="http://schemas.openxmlformats.org/drawingml/2006/main">
              <a:ext uri="{FF2B5EF4-FFF2-40B4-BE49-F238E27FC236}">
                <a16:creationId xmlns:a16="http://schemas.microsoft.com/office/drawing/2014/main" id="{B5BE5EC4-90D4-40EA-835F-9783A5BAD118}"/>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Sources: case, market and SAP context</a:t>
            </a:r>
          </a:p>
        </p:txBody>
      </p:sp>
      <p:sp>
        <p:nvSpPr>
          <p:cNvPr id="5" name="">
            <a:extLst xmlns:a="http://schemas.openxmlformats.org/drawingml/2006/main">
              <a:ext uri="{FF2B5EF4-FFF2-40B4-BE49-F238E27FC236}">
                <a16:creationId xmlns:a16="http://schemas.microsoft.com/office/drawing/2014/main" id="{0DF6D6F7-6D72-407A-9085-1F0B2676CD09}"/>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Accessed 25 Oct 2026. The Launchpad’s valuation and H1 revenue figures are omitted because they are unnecessary to the investment case.</a:t>
            </a:r>
          </a:p>
        </p:txBody>
      </p:sp>
      <p:sp>
        <p:nvSpPr>
          <p:cNvPr id="6" name="">
            <a:extLst xmlns:a="http://schemas.openxmlformats.org/drawingml/2006/main">
              <a:ext uri="{FF2B5EF4-FFF2-40B4-BE49-F238E27FC236}">
                <a16:creationId xmlns:a16="http://schemas.microsoft.com/office/drawing/2014/main" id="{7A596046-96CE-43AF-904A-DA347143104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1E7D3B96-B91F-4736-924C-A50545CDAFC5}"/>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075F91F9-7AA0-44BD-BD8B-35767F065DFB}"/>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35</a:t>
            </a:r>
          </a:p>
        </p:txBody>
      </p:sp>
      <p:graphicFrame>
        <p:nvGraphicFramePr>
          <p:cNvPr id="9" name="">
            <a:extLst xmlns:a="http://schemas.openxmlformats.org/drawingml/2006/main">
              <a:ext uri="{FF2B5EF4-FFF2-40B4-BE49-F238E27FC236}">
                <a16:creationId xmlns:a16="http://schemas.microsoft.com/office/drawing/2014/main" id="{4669592A-4BCB-4111-804A-9D21B6EB5F08}"/>
              </a:ext>
            </a:extLst>
          </p:cNvPr>
          <p:cNvGraphicFramePr/>
          <p:nvPr/>
        </p:nvGraphicFramePr>
        <p:xfrm>
          <a:off xmlns:a="http://schemas.openxmlformats.org/drawingml/2006/main" x="457200" y="1457325"/>
          <a:ext xmlns:a="http://schemas.openxmlformats.org/drawingml/2006/main" cx="12801600" cy="5067300"/>
        </p:xfrm>
        <a:graphic xmlns:a="http://schemas.openxmlformats.org/drawingml/2006/main">
          <a:graphicData uri="http://schemas.openxmlformats.org/drawingml/2006/table">
            <a:tbl>
              <a:tblPr/>
              <a:tblGrid>
                <a:gridCol w="2944368"/>
                <a:gridCol w="9857232"/>
              </a:tblGrid>
              <a:tr h="844550">
                <a:tc>
                  <a:txBody>
                    <a:bodyPr/>
                    <a:lstStyle/>
                    <a:p>
                      <a:r>
                        <a:rPr sz="1425" b="1">
                          <a:solidFill>
                            <a:srgbClr val="FFFFFF"/>
                          </a:solidFill>
                          <a:latin typeface="Arial"/>
                          <a:ea typeface="Arial"/>
                          <a:cs typeface="Arial"/>
                        </a:rPr>
                        <a:t>Reference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425" b="1">
                          <a:solidFill>
                            <a:srgbClr val="FFFFFF"/>
                          </a:solidFill>
                          <a:latin typeface="Arial"/>
                          <a:ea typeface="Arial"/>
                          <a:cs typeface="Arial"/>
                        </a:rPr>
                        <a:t>Source and scope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44550">
                <a:tc>
                  <a:txBody>
                    <a:bodyPr/>
                    <a:lstStyle/>
                    <a:p>
                      <a:r>
                        <a:rPr sz="1425" b="1">
                          <a:solidFill>
                            <a:srgbClr val="FFFFFF"/>
                          </a:solidFill>
                          <a:latin typeface="Arial"/>
                          <a:ea typeface="Arial"/>
                          <a:cs typeface="Arial"/>
                        </a:rPr>
                        <a:t>S1 · Product+ case package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Supplied PDF, pp. 3–5. Challenge, user roles, SAP customer/country baseline.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425" b="1">
                          <a:solidFill>
                            <a:srgbClr val="FFFFFF"/>
                          </a:solidFill>
                          <a:latin typeface="Arial"/>
                          <a:ea typeface="Arial"/>
                          <a:cs typeface="Arial"/>
                        </a:rPr>
                        <a:t>S2 · Plus One Braincell Launchpad</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Supplied PDF, recommendations 1–3 and source bibliography. Team 463980.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425" b="1">
                          <a:solidFill>
                            <a:srgbClr val="FFFFFF"/>
                          </a:solidFill>
                          <a:latin typeface="Arial"/>
                          <a:ea typeface="Arial"/>
                          <a:cs typeface="Arial"/>
                        </a:rPr>
                        <a:t>S3 · SAP Future of Retail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https://www.sap.com/engage/future-of-retail.html</a:t>
                      </a:r>
                    </a:p>
                    <a:p>
                      <a:r>
                        <a:rPr sz="1425">
                          <a:solidFill>
                            <a:srgbClr val="152047"/>
                          </a:solidFill>
                          <a:latin typeface="Arial"/>
                          <a:ea typeface="Arial"/>
                          <a:cs typeface="Arial"/>
                        </a:rPr>
                        <a:t>14,000+ retail customers; broader footprint, not eligible apparel accounts.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425" b="1">
                          <a:solidFill>
                            <a:srgbClr val="FFFFFF"/>
                          </a:solidFill>
                          <a:latin typeface="Arial"/>
                          <a:ea typeface="Arial"/>
                          <a:cs typeface="Arial"/>
                        </a:rPr>
                        <a:t>S4 · Shopify fashion industry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https://www.shopify.com/uk/enterprise/blog/ecommerce-fashion-industry</a:t>
                      </a:r>
                    </a:p>
                    <a:p>
                      <a:r>
                        <a:rPr sz="1425">
                          <a:solidFill>
                            <a:srgbClr val="152047"/>
                          </a:solidFill>
                          <a:latin typeface="Arial"/>
                          <a:ea typeface="Arial"/>
                          <a:cs typeface="Arial"/>
                        </a:rPr>
                        <a:t>2026 fashion e-commerce projection, citing Statista; different scope from apparel sales.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425" b="1">
                          <a:solidFill>
                            <a:srgbClr val="FFFFFF"/>
                          </a:solidFill>
                          <a:latin typeface="Arial"/>
                          <a:ea typeface="Arial"/>
                          <a:cs typeface="Arial"/>
                        </a:rPr>
                        <a:t>S5 · McKinsey agentic commerce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https://www.mckinsey.com/capabilities/quantumblack/our-insights/the-agentic-commerce-opportunity-how-ai-agents-are-ushering-in-a-new-era-for-consumers-and-merchants</a:t>
                      </a:r>
                    </a:p>
                    <a:p>
                      <a:r>
                        <a:rPr sz="1425">
                          <a:solidFill>
                            <a:srgbClr val="152047"/>
                          </a:solidFill>
                          <a:latin typeface="Arial"/>
                          <a:ea typeface="Arial"/>
                          <a:cs typeface="Arial"/>
                        </a:rPr>
                        <a:t>US$3–5T goods commerce by 2030 is context, not software TAM.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58969640"/>
      </p:ext>
    </p:extLst>
  </p:cSld>
</p:sld>
</file>

<file path=ppt/slides/slide36.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113231-7562-4581-ACBB-0C28367CB851}"/>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214D39-4EE4-48FD-ADBF-2B599767A416}"/>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14</a:t>
            </a:r>
          </a:p>
        </p:txBody>
      </p:sp>
      <p:sp>
        <p:nvSpPr>
          <p:cNvPr id="4" name="">
            <a:extLst xmlns:a="http://schemas.openxmlformats.org/drawingml/2006/main">
              <a:ext uri="{FF2B5EF4-FFF2-40B4-BE49-F238E27FC236}">
                <a16:creationId xmlns:a16="http://schemas.microsoft.com/office/drawing/2014/main" id="{5C2DD44F-4775-4418-93A6-959E4CD65953}"/>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Sources: SAP applications and AI governance</a:t>
            </a:r>
          </a:p>
        </p:txBody>
      </p:sp>
      <p:sp>
        <p:nvSpPr>
          <p:cNvPr id="5" name="">
            <a:extLst xmlns:a="http://schemas.openxmlformats.org/drawingml/2006/main">
              <a:ext uri="{FF2B5EF4-FFF2-40B4-BE49-F238E27FC236}">
                <a16:creationId xmlns:a16="http://schemas.microsoft.com/office/drawing/2014/main" id="{7B158293-BC60-4EBC-88FB-936B0D2F67D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Accessed 25 Oct 2026. Product capabilities are vendor descriptions; proposed integrations are not completed integrations.</a:t>
            </a:r>
          </a:p>
        </p:txBody>
      </p:sp>
      <p:sp>
        <p:nvSpPr>
          <p:cNvPr id="6" name="">
            <a:extLst xmlns:a="http://schemas.openxmlformats.org/drawingml/2006/main">
              <a:ext uri="{FF2B5EF4-FFF2-40B4-BE49-F238E27FC236}">
                <a16:creationId xmlns:a16="http://schemas.microsoft.com/office/drawing/2014/main" id="{43234BB9-9ACB-47A3-810D-413D0B7D6046}"/>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DA5CB5B-C3EB-4DE8-A7B5-D2C6EAA25667}"/>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3576CBE3-015A-4D26-97CE-F6ED1F4FEC3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36</a:t>
            </a:r>
          </a:p>
        </p:txBody>
      </p:sp>
      <p:graphicFrame>
        <p:nvGraphicFramePr>
          <p:cNvPr id="9" name="">
            <a:extLst xmlns:a="http://schemas.openxmlformats.org/drawingml/2006/main">
              <a:ext uri="{FF2B5EF4-FFF2-40B4-BE49-F238E27FC236}">
                <a16:creationId xmlns:a16="http://schemas.microsoft.com/office/drawing/2014/main" id="{01B62C7B-2549-45F0-BDDC-683ABFDA1659}"/>
              </a:ext>
            </a:extLst>
          </p:cNvPr>
          <p:cNvGraphicFramePr/>
          <p:nvPr/>
        </p:nvGraphicFramePr>
        <p:xfrm>
          <a:off xmlns:a="http://schemas.openxmlformats.org/drawingml/2006/main" x="457200" y="1457325"/>
          <a:ext xmlns:a="http://schemas.openxmlformats.org/drawingml/2006/main" cx="12801600" cy="5067300"/>
        </p:xfrm>
        <a:graphic xmlns:a="http://schemas.openxmlformats.org/drawingml/2006/main">
          <a:graphicData uri="http://schemas.openxmlformats.org/drawingml/2006/table">
            <a:tbl>
              <a:tblPr/>
              <a:tblGrid>
                <a:gridCol w="2944368"/>
                <a:gridCol w="9857232"/>
              </a:tblGrid>
              <a:tr h="1013460">
                <a:tc>
                  <a:txBody>
                    <a:bodyPr/>
                    <a:lstStyle/>
                    <a:p>
                      <a:r>
                        <a:rPr sz="1425" b="1">
                          <a:solidFill>
                            <a:srgbClr val="FFFFFF"/>
                          </a:solidFill>
                          <a:latin typeface="Arial"/>
                          <a:ea typeface="Arial"/>
                          <a:cs typeface="Arial"/>
                        </a:rPr>
                        <a:t>Reference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425" b="1">
                          <a:solidFill>
                            <a:srgbClr val="FFFFFF"/>
                          </a:solidFill>
                          <a:latin typeface="Arial"/>
                          <a:ea typeface="Arial"/>
                          <a:cs typeface="Arial"/>
                        </a:rPr>
                        <a:t>Source and scope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1013460">
                <a:tc>
                  <a:txBody>
                    <a:bodyPr/>
                    <a:lstStyle/>
                    <a:p>
                      <a:r>
                        <a:rPr sz="1425" b="1">
                          <a:solidFill>
                            <a:srgbClr val="FFFFFF"/>
                          </a:solidFill>
                          <a:latin typeface="Arial"/>
                          <a:ea typeface="Arial"/>
                          <a:cs typeface="Arial"/>
                        </a:rPr>
                        <a:t>S6 · Customer Activity Repository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https://www.sap.com/products/crm/customer-activity-repository.html</a:t>
                      </a:r>
                    </a:p>
                    <a:p>
                      <a:r>
                        <a:rPr sz="1425">
                          <a:solidFill>
                            <a:srgbClr val="152047"/>
                          </a:solidFill>
                          <a:latin typeface="Arial"/>
                          <a:ea typeface="Arial"/>
                          <a:cs typeface="Arial"/>
                        </a:rPr>
                        <a:t>Transaction, demand and inventory context.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S7 · Commerce / planning / execution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https://www.sap.com/products/crm/commerce-cloud.html</a:t>
                      </a:r>
                    </a:p>
                    <a:p>
                      <a:r>
                        <a:rPr sz="1425">
                          <a:solidFill>
                            <a:srgbClr val="152047"/>
                          </a:solidFill>
                          <a:latin typeface="Arial"/>
                          <a:ea typeface="Arial"/>
                          <a:cs typeface="Arial"/>
                        </a:rPr>
                        <a:t>https://www.sap.com/products/scm/integrated-business-planning.html</a:t>
                      </a:r>
                    </a:p>
                    <a:p>
                      <a:r>
                        <a:rPr sz="1425">
                          <a:solidFill>
                            <a:srgbClr val="152047"/>
                          </a:solidFill>
                          <a:latin typeface="Arial"/>
                          <a:ea typeface="Arial"/>
                          <a:cs typeface="Arial"/>
                        </a:rPr>
                        <a:t>https://learning.sap.com/products/s4hana-cloud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1013460">
                <a:tc>
                  <a:txBody>
                    <a:bodyPr/>
                    <a:lstStyle/>
                    <a:p>
                      <a:r>
                        <a:rPr sz="1425" b="1">
                          <a:solidFill>
                            <a:srgbClr val="FFFFFF"/>
                          </a:solidFill>
                          <a:latin typeface="Arial"/>
                          <a:ea typeface="Arial"/>
                          <a:cs typeface="Arial"/>
                        </a:rPr>
                        <a:t>S8 · Integration Suite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https://www.sap.com/products/technology-platform/integration-suite.html</a:t>
                      </a:r>
                    </a:p>
                    <a:p>
                      <a:r>
                        <a:rPr sz="1425">
                          <a:solidFill>
                            <a:srgbClr val="152047"/>
                          </a:solidFill>
                          <a:latin typeface="Arial"/>
                          <a:ea typeface="Arial"/>
                          <a:cs typeface="Arial"/>
                        </a:rPr>
                        <a:t>Controlled SAP and third-party integration; actual tenant mapping still required.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S9 · AI data handling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https://www.sap.com/products/artificial-intelligence/ai-ethics.html</a:t>
                      </a:r>
                    </a:p>
                    <a:p>
                      <a:r>
                        <a:rPr sz="1425">
                          <a:solidFill>
                            <a:srgbClr val="152047"/>
                          </a:solidFill>
                          <a:latin typeface="Arial"/>
                          <a:ea typeface="Arial"/>
                          <a:cs typeface="Arial"/>
                        </a:rPr>
                        <a:t>https://learning.sap.com/courses/building-confidence-in-ai-with-sap/does-ai-train-on-my-data</a:t>
                      </a:r>
                    </a:p>
                    <a:p>
                      <a:r>
                        <a:rPr sz="1425">
                          <a:solidFill>
                            <a:srgbClr val="152047"/>
                          </a:solidFill>
                          <a:latin typeface="Arial"/>
                          <a:ea typeface="Arial"/>
                          <a:cs typeface="Arial"/>
                        </a:rPr>
                        <a:t>Use depends on agreements and service settings; external model training is restricted.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447847524"/>
      </p:ext>
    </p:extLst>
  </p:cSld>
</p:sld>
</file>

<file path=ppt/slides/slide37.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F8D75C-5DBE-443B-9580-F706B460750B}"/>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CA8200-6151-45E4-A714-B4F91C868D6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15</a:t>
            </a:r>
          </a:p>
        </p:txBody>
      </p:sp>
      <p:sp>
        <p:nvSpPr>
          <p:cNvPr id="4" name="">
            <a:extLst xmlns:a="http://schemas.openxmlformats.org/drawingml/2006/main">
              <a:ext uri="{FF2B5EF4-FFF2-40B4-BE49-F238E27FC236}">
                <a16:creationId xmlns:a16="http://schemas.microsoft.com/office/drawing/2014/main" id="{A634D9E1-B9D1-4F7A-B6A4-5DE919E3DCE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Sources: hardware, distribution and competition</a:t>
            </a:r>
          </a:p>
        </p:txBody>
      </p:sp>
      <p:sp>
        <p:nvSpPr>
          <p:cNvPr id="5" name="">
            <a:extLst xmlns:a="http://schemas.openxmlformats.org/drawingml/2006/main">
              <a:ext uri="{FF2B5EF4-FFF2-40B4-BE49-F238E27FC236}">
                <a16:creationId xmlns:a16="http://schemas.microsoft.com/office/drawing/2014/main" id="{96886A60-1C8A-4C0C-B8F3-730DD18F2725}"/>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Sources establish capabilities and geographic presence, not a signed Retail Signal partnership or a completed feature audit.</a:t>
            </a:r>
          </a:p>
        </p:txBody>
      </p:sp>
      <p:sp>
        <p:nvSpPr>
          <p:cNvPr id="6" name="">
            <a:extLst xmlns:a="http://schemas.openxmlformats.org/drawingml/2006/main">
              <a:ext uri="{FF2B5EF4-FFF2-40B4-BE49-F238E27FC236}">
                <a16:creationId xmlns:a16="http://schemas.microsoft.com/office/drawing/2014/main" id="{623E0334-AAF6-41C6-934F-910F1BC9F0B1}"/>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B5984FB-B01A-4DFA-8355-DFADF47E1F04}"/>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7815E7F5-F76D-42D9-B089-B428834B1E58}"/>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37</a:t>
            </a:r>
          </a:p>
        </p:txBody>
      </p:sp>
      <p:graphicFrame>
        <p:nvGraphicFramePr>
          <p:cNvPr id="9" name="">
            <a:extLst xmlns:a="http://schemas.openxmlformats.org/drawingml/2006/main">
              <a:ext uri="{FF2B5EF4-FFF2-40B4-BE49-F238E27FC236}">
                <a16:creationId xmlns:a16="http://schemas.microsoft.com/office/drawing/2014/main" id="{8E40991F-DDD0-49C0-9FB1-F57A5D8B1D66}"/>
              </a:ext>
            </a:extLst>
          </p:cNvPr>
          <p:cNvGraphicFramePr/>
          <p:nvPr/>
        </p:nvGraphicFramePr>
        <p:xfrm>
          <a:off xmlns:a="http://schemas.openxmlformats.org/drawingml/2006/main" x="457200" y="1457325"/>
          <a:ext xmlns:a="http://schemas.openxmlformats.org/drawingml/2006/main" cx="12801600" cy="5067300"/>
        </p:xfrm>
        <a:graphic xmlns:a="http://schemas.openxmlformats.org/drawingml/2006/main">
          <a:graphicData uri="http://schemas.openxmlformats.org/drawingml/2006/table">
            <a:tbl>
              <a:tblPr/>
              <a:tblGrid>
                <a:gridCol w="2944368"/>
                <a:gridCol w="9857232"/>
              </a:tblGrid>
              <a:tr h="1013460">
                <a:tc>
                  <a:txBody>
                    <a:bodyPr/>
                    <a:lstStyle/>
                    <a:p>
                      <a:r>
                        <a:rPr sz="1425" b="1">
                          <a:solidFill>
                            <a:srgbClr val="FFFFFF"/>
                          </a:solidFill>
                          <a:latin typeface="Arial"/>
                          <a:ea typeface="Arial"/>
                          <a:cs typeface="Arial"/>
                        </a:rPr>
                        <a:t>Reference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425" b="1">
                          <a:solidFill>
                            <a:srgbClr val="FFFFFF"/>
                          </a:solidFill>
                          <a:latin typeface="Arial"/>
                          <a:ea typeface="Arial"/>
                          <a:cs typeface="Arial"/>
                        </a:rPr>
                        <a:t>Source and scope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1013460">
                <a:tc>
                  <a:txBody>
                    <a:bodyPr/>
                    <a:lstStyle/>
                    <a:p>
                      <a:r>
                        <a:rPr sz="1425" b="1">
                          <a:solidFill>
                            <a:srgbClr val="FFFFFF"/>
                          </a:solidFill>
                          <a:latin typeface="Arial"/>
                          <a:ea typeface="Arial"/>
                          <a:cs typeface="Arial"/>
                        </a:rPr>
                        <a:t>S10 · Hardware capability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https://www.zebra.com/us/en/products/rfid/rfid-readers.html</a:t>
                      </a:r>
                    </a:p>
                    <a:p>
                      <a:r>
                        <a:rPr sz="1425">
                          <a:solidFill>
                            <a:srgbClr val="152047"/>
                          </a:solidFill>
                          <a:latin typeface="Arial"/>
                          <a:ea typeface="Arial"/>
                          <a:cs typeface="Arial"/>
                        </a:rPr>
                        <a:t>https://rfid.averydennison.com/en/home/industry-segments/retail/apparel-and-fashion.html</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S11 · Regional presence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Ingram Micro: global locations</a:t>
                      </a:r>
                    </a:p>
                    <a:p>
                      <a:r>
                        <a:rPr sz="1425">
                          <a:solidFill>
                            <a:srgbClr val="152047"/>
                          </a:solidFill>
                          <a:latin typeface="Arial"/>
                          <a:ea typeface="Arial"/>
                          <a:cs typeface="Arial"/>
                        </a:rPr>
                        <a:t>TD SYNNEX: regional coverage</a:t>
                      </a:r>
                    </a:p>
                    <a:p>
                      <a:r>
                        <a:rPr sz="1425">
                          <a:solidFill>
                            <a:srgbClr val="152047"/>
                          </a:solidFill>
                          <a:latin typeface="Arial"/>
                          <a:ea typeface="Arial"/>
                          <a:cs typeface="Arial"/>
                        </a:rPr>
                        <a:t>Redington: global presence</a:t>
                      </a:r>
                    </a:p>
                    <a:p>
                      <a:r>
                        <a:rPr sz="1425">
                          <a:solidFill>
                            <a:srgbClr val="152047"/>
                          </a:solidFill>
                          <a:latin typeface="Arial"/>
                          <a:ea typeface="Arial"/>
                          <a:cs typeface="Arial"/>
                        </a:rPr>
                        <a:t>Full links in speaker notes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1013460">
                <a:tc>
                  <a:txBody>
                    <a:bodyPr/>
                    <a:lstStyle/>
                    <a:p>
                      <a:r>
                        <a:rPr sz="1425" b="1">
                          <a:solidFill>
                            <a:srgbClr val="FFFFFF"/>
                          </a:solidFill>
                          <a:latin typeface="Arial"/>
                          <a:ea typeface="Arial"/>
                          <a:cs typeface="Arial"/>
                        </a:rPr>
                        <a:t>S12 · Competitors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https://www.sensormatic.com/de_de/TrueVUE-Inventory-Intel/TrueVUE-Fitting-Room</a:t>
                      </a:r>
                    </a:p>
                    <a:p>
                      <a:r>
                        <a:rPr sz="1425">
                          <a:solidFill>
                            <a:srgbClr val="152047"/>
                          </a:solidFill>
                          <a:latin typeface="Arial"/>
                          <a:ea typeface="Arial"/>
                          <a:cs typeface="Arial"/>
                        </a:rPr>
                        <a:t>https://www.oracle.com/retail/</a:t>
                      </a:r>
                    </a:p>
                    <a:p>
                      <a:r>
                        <a:rPr sz="1425">
                          <a:solidFill>
                            <a:srgbClr val="152047"/>
                          </a:solidFill>
                          <a:latin typeface="Arial"/>
                          <a:ea typeface="Arial"/>
                          <a:cs typeface="Arial"/>
                        </a:rPr>
                        <a:t>https://blueyonder.com/solutions/retail-planning</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S13 · Prototype and public reference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Current local Retail Signal website, captured 25 Oct 2026.</a:t>
                      </a:r>
                    </a:p>
                    <a:p>
                      <a:r>
                        <a:rPr sz="1425">
                          <a:solidFill>
                            <a:srgbClr val="152047"/>
                          </a:solidFill>
                          <a:latin typeface="Arial"/>
                          <a:ea typeface="Arial"/>
                          <a:cs typeface="Arial"/>
                        </a:rPr>
                        <a:t>https://fred.stlouisfed.org/series/PNGASUSUSDM</a:t>
                      </a:r>
                    </a:p>
                    <a:p>
                      <a:r>
                        <a:rPr sz="1425">
                          <a:solidFill>
                            <a:srgbClr val="152047"/>
                          </a:solidFill>
                          <a:latin typeface="Arial"/>
                          <a:ea typeface="Arial"/>
                          <a:cs typeface="Arial"/>
                        </a:rPr>
                        <a:t>Public commodity observations are not supplier quotes.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2031467967"/>
      </p:ext>
    </p:extLst>
  </p:cSld>
</p:sld>
</file>

<file path=ppt/slides/slide38.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38709C-D2AC-48B5-96EB-65602955BD19}"/>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C6EC84-28A2-4D5A-B617-C54BDF6BEA4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16</a:t>
            </a:r>
          </a:p>
        </p:txBody>
      </p:sp>
      <p:sp>
        <p:nvSpPr>
          <p:cNvPr id="4" name="">
            <a:extLst xmlns:a="http://schemas.openxmlformats.org/drawingml/2006/main">
              <a:ext uri="{FF2B5EF4-FFF2-40B4-BE49-F238E27FC236}">
                <a16:creationId xmlns:a16="http://schemas.microsoft.com/office/drawing/2014/main" id="{A0BBA942-CBDF-4B0C-947E-4565EDC88496}"/>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Evaluation coverage and Q&amp;A</a:t>
            </a:r>
          </a:p>
        </p:txBody>
      </p:sp>
      <p:sp>
        <p:nvSpPr>
          <p:cNvPr id="5" name="">
            <a:extLst xmlns:a="http://schemas.openxmlformats.org/drawingml/2006/main">
              <a:ext uri="{FF2B5EF4-FFF2-40B4-BE49-F238E27FC236}">
                <a16:creationId xmlns:a16="http://schemas.microsoft.com/office/drawing/2014/main" id="{EDC6CC7C-3EA8-4662-BCE0-C9681DB4084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54AB42AE-D5D0-4D89-9B2E-75F34238A94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9C3FCB5A-FA1C-4BD0-91FC-70053EF8C364}"/>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9F7C4467-AF8B-4311-BC56-A83C0A1FA5E7}"/>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38</a:t>
            </a:r>
          </a:p>
        </p:txBody>
      </p:sp>
      <p:graphicFrame>
        <p:nvGraphicFramePr>
          <p:cNvPr id="9" name="">
            <a:extLst xmlns:a="http://schemas.openxmlformats.org/drawingml/2006/main">
              <a:ext uri="{FF2B5EF4-FFF2-40B4-BE49-F238E27FC236}">
                <a16:creationId xmlns:a16="http://schemas.microsoft.com/office/drawing/2014/main" id="{EA45B088-A50E-42D0-A8F3-F527DE8F9E47}"/>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584448"/>
                <a:gridCol w="1536192"/>
                <a:gridCol w="7680960"/>
              </a:tblGrid>
              <a:tr h="700768">
                <a:tc>
                  <a:txBody>
                    <a:bodyPr/>
                    <a:lstStyle/>
                    <a:p>
                      <a:r>
                        <a:rPr sz="1725" b="1">
                          <a:solidFill>
                            <a:srgbClr val="FFFFFF"/>
                          </a:solidFill>
                          <a:latin typeface="Arial"/>
                          <a:ea typeface="Arial"/>
                          <a:cs typeface="Arial"/>
                        </a:rPr>
                        <a:t>Evaluation criterion</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Weight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Where addressed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Problem definition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Specific planner, current workflow, Bob before; pilot baseline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Product solution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Three parts, feature priorities, competitors and retailer economics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Prototype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Working website walkthrough; evidence → simulate → approve → receive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Implementation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12-week plan, resources, dependencies, risks and KPI gates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Stakeholder alignment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Decision rights, privacy, CFO cash gate, partner incentives and limits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Presentation / Q&amp;A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480-second main flow; financial formulas and sources in appendix</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516901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2026-10-25T08:14:50.1310000Z</dcterms:created>
  <dcterms:modified xsi:type="dcterms:W3CDTF">2026-10-25T08:14:50.1310000Z</dcterms:modified>
</coreProperties>
</file>